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roximaNov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Aquí discutir que por un lado es prácticamente imposible ir con el computador siempre conectado, y si dan como solucion el uso de bluetooth, decir que durante las competencia está prohibido el uso de cualquier tipo de comunicación inalámbrica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Preguntar si alguien sabe lo que hay en la imagen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Aquí indicar que el buzzer tiene marcado cuál de las 2 patitas es la positiva (la que se conecta a un pin digital), además la más larga también es la positiva. Aquí pueden experimentar con sonidos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11" Type="http://schemas.openxmlformats.org/officeDocument/2006/relationships/image" Target="../media/image8.png"/><Relationship Id="rId10" Type="http://schemas.openxmlformats.org/officeDocument/2006/relationships/image" Target="../media/image15.png"/><Relationship Id="rId9" Type="http://schemas.openxmlformats.org/officeDocument/2006/relationships/image" Target="../media/image23.jp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8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238" y="-4750"/>
            <a:ext cx="3967136" cy="12208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2297353" y="1829250"/>
            <a:ext cx="4549543" cy="1853207"/>
            <a:chOff x="3690762" y="2215834"/>
            <a:chExt cx="4698000" cy="2328150"/>
          </a:xfrm>
        </p:grpSpPr>
        <p:sp>
          <p:nvSpPr>
            <p:cNvPr id="56" name="Google Shape;56;p13"/>
            <p:cNvSpPr txBox="1"/>
            <p:nvPr/>
          </p:nvSpPr>
          <p:spPr>
            <a:xfrm>
              <a:off x="3690762" y="2215834"/>
              <a:ext cx="4698000" cy="10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8575" lIns="68575" spcFirstLastPara="1" rIns="68575" wrap="square" tIns="68575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rPr b="0" i="0" lang="es" sz="39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Sesión N° 6</a:t>
              </a:r>
              <a:endParaRPr b="0" i="0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90762" y="3460984"/>
              <a:ext cx="4698000" cy="10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Clubes de Ciencia y Tecnología</a:t>
              </a:r>
              <a:endParaRPr b="0" i="0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" sz="16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LÍNEA VELOCISTA</a:t>
              </a:r>
              <a:endParaRPr b="1" i="0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690762" y="3244845"/>
              <a:ext cx="4698000" cy="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15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388325" y="1017725"/>
            <a:ext cx="5929800" cy="2423400"/>
          </a:xfrm>
          <a:prstGeom prst="cloudCallout">
            <a:avLst>
              <a:gd fmla="val 51093" name="adj1"/>
              <a:gd fmla="val 65398" name="adj2"/>
            </a:avLst>
          </a:prstGeom>
          <a:solidFill>
            <a:srgbClr val="FFC00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es un seguidor proporcional simple?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es un seguidor PID?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617650" y="1061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Recapitulación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8125" y="3278375"/>
            <a:ext cx="1825875" cy="18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ChatGPT Image 22 sept 2026, 09_02_27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0525" y="667950"/>
            <a:ext cx="4267199" cy="42671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4572000" y="297425"/>
            <a:ext cx="4228800" cy="2543700"/>
          </a:xfrm>
          <a:prstGeom prst="wedgeRoundRectCallout">
            <a:avLst>
              <a:gd fmla="val -75996" name="adj1"/>
              <a:gd fmla="val 60409" name="adj2"/>
              <a:gd fmla="val 0" name="adj3"/>
            </a:avLst>
          </a:prstGeom>
          <a:solidFill>
            <a:srgbClr val="0233A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Ahora que tenemos un seguidor de lineas completo nos falta una última contenido por aprender…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2617650" y="1061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Marcas laterales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520700" y="546825"/>
            <a:ext cx="636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 pistas de competencia poseen 2 tipos de marcas laterales a lo largo del trayecto: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1034575" y="1819088"/>
            <a:ext cx="4378625" cy="2060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>
            <a:endCxn id="81" idx="1"/>
          </p:cNvCxnSpPr>
          <p:nvPr/>
        </p:nvCxnSpPr>
        <p:spPr>
          <a:xfrm flipH="1" rot="10800000">
            <a:off x="1397900" y="4191350"/>
            <a:ext cx="4380000" cy="1356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16"/>
          <p:cNvSpPr/>
          <p:nvPr/>
        </p:nvSpPr>
        <p:spPr>
          <a:xfrm>
            <a:off x="5777900" y="3343850"/>
            <a:ext cx="2750100" cy="1695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Marcas Derechas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Sólo hay 2 en toda la pista y marcan el inicio y fin. El robot debe ser capaz de detenerse por su cuenta una vez que logra dar una vuelta al circuito.</a:t>
            </a:r>
            <a:endParaRPr b="0" i="0" sz="1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2" name="Google Shape;82;p16"/>
          <p:cNvCxnSpPr>
            <a:endCxn id="83" idx="1"/>
          </p:cNvCxnSpPr>
          <p:nvPr/>
        </p:nvCxnSpPr>
        <p:spPr>
          <a:xfrm flipH="1" rot="10800000">
            <a:off x="722575" y="2226225"/>
            <a:ext cx="4980000" cy="432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16"/>
          <p:cNvSpPr/>
          <p:nvPr/>
        </p:nvSpPr>
        <p:spPr>
          <a:xfrm>
            <a:off x="5702575" y="1378725"/>
            <a:ext cx="2750100" cy="1695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Marcas Izquierda</a:t>
            </a:r>
            <a:endParaRPr b="1" i="0" sz="1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Hay una marca izquierda cada vez que existe un cambio de curvatura en la pista, es útil para que el robot sepa cuando se acerca a una curva.</a:t>
            </a:r>
            <a:endParaRPr b="0" i="0" sz="1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4" name="Google Shape;84;p16"/>
          <p:cNvCxnSpPr>
            <a:endCxn id="83" idx="1"/>
          </p:cNvCxnSpPr>
          <p:nvPr/>
        </p:nvCxnSpPr>
        <p:spPr>
          <a:xfrm>
            <a:off x="1884775" y="1256325"/>
            <a:ext cx="3817800" cy="969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2297700" y="106150"/>
            <a:ext cx="454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Sensores Laterales: QTR-1A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9813" y="937588"/>
            <a:ext cx="1412974" cy="141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7"/>
          <p:cNvCxnSpPr/>
          <p:nvPr/>
        </p:nvCxnSpPr>
        <p:spPr>
          <a:xfrm>
            <a:off x="3704863" y="1637775"/>
            <a:ext cx="1901700" cy="1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3" name="Google Shape;93;p17"/>
          <p:cNvSpPr/>
          <p:nvPr/>
        </p:nvSpPr>
        <p:spPr>
          <a:xfrm>
            <a:off x="4572000" y="2627900"/>
            <a:ext cx="4416600" cy="1917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diferencia del siguelineas, para utilizar este sensor no es necesario usar la librería. Se puede utilizar el sensor directamente como cualquier otro con la clásica lectura análoga</a:t>
            </a:r>
            <a:endParaRPr b="0" i="0" sz="1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26175" y="2940200"/>
            <a:ext cx="412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También es un sensor infrarrojo y es el mismo tipo que nuestra placa siguelineas, sólo que en este caso es un sensor individual.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4">
            <a:alphaModFix/>
          </a:blip>
          <a:srcRect b="29689" l="28816" r="29643" t="29729"/>
          <a:stretch/>
        </p:blipFill>
        <p:spPr>
          <a:xfrm>
            <a:off x="1831213" y="817063"/>
            <a:ext cx="1693100" cy="16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31277" l="19745" r="17250" t="29240"/>
          <a:stretch/>
        </p:blipFill>
        <p:spPr>
          <a:xfrm rot="5400000">
            <a:off x="1464525" y="2580200"/>
            <a:ext cx="2407250" cy="15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 rotWithShape="1">
          <a:blip r:embed="rId3">
            <a:alphaModFix/>
          </a:blip>
          <a:srcRect b="31277" l="19745" r="17250" t="29240"/>
          <a:stretch/>
        </p:blipFill>
        <p:spPr>
          <a:xfrm rot="5400000">
            <a:off x="5605100" y="2580200"/>
            <a:ext cx="2407250" cy="15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6074475" y="4626400"/>
            <a:ext cx="1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Derecha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1933900" y="4538100"/>
            <a:ext cx="1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Izquierda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5" name="Google Shape;105;p18"/>
          <p:cNvCxnSpPr/>
          <p:nvPr/>
        </p:nvCxnSpPr>
        <p:spPr>
          <a:xfrm>
            <a:off x="2242950" y="1882100"/>
            <a:ext cx="4116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flipH="1" rot="10800000">
            <a:off x="4138750" y="1368400"/>
            <a:ext cx="4200" cy="51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6359500" y="1890375"/>
            <a:ext cx="15900" cy="60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2250975" y="1890225"/>
            <a:ext cx="0" cy="56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8"/>
          <p:cNvSpPr txBox="1"/>
          <p:nvPr/>
        </p:nvSpPr>
        <p:spPr>
          <a:xfrm>
            <a:off x="3406600" y="968100"/>
            <a:ext cx="1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GND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0" name="Google Shape;110;p18"/>
          <p:cNvCxnSpPr/>
          <p:nvPr/>
        </p:nvCxnSpPr>
        <p:spPr>
          <a:xfrm>
            <a:off x="2670250" y="1625188"/>
            <a:ext cx="4116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flipH="1" rot="10800000">
            <a:off x="4822675" y="1384588"/>
            <a:ext cx="4200" cy="24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8"/>
          <p:cNvCxnSpPr/>
          <p:nvPr/>
        </p:nvCxnSpPr>
        <p:spPr>
          <a:xfrm rot="10800000">
            <a:off x="6800600" y="1633463"/>
            <a:ext cx="2100" cy="81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8"/>
          <p:cNvCxnSpPr/>
          <p:nvPr/>
        </p:nvCxnSpPr>
        <p:spPr>
          <a:xfrm rot="10800000">
            <a:off x="2668375" y="1617375"/>
            <a:ext cx="15900" cy="85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8"/>
          <p:cNvSpPr txBox="1"/>
          <p:nvPr/>
        </p:nvSpPr>
        <p:spPr>
          <a:xfrm>
            <a:off x="4090525" y="968100"/>
            <a:ext cx="1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VCC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 flipH="1" rot="10800000">
            <a:off x="3133575" y="1127775"/>
            <a:ext cx="8100" cy="1372200"/>
          </a:xfrm>
          <a:prstGeom prst="straightConnector1">
            <a:avLst/>
          </a:prstGeom>
          <a:noFill/>
          <a:ln cap="flat" cmpd="sng" w="28575">
            <a:solidFill>
              <a:srgbClr val="FA8A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8"/>
          <p:cNvCxnSpPr/>
          <p:nvPr/>
        </p:nvCxnSpPr>
        <p:spPr>
          <a:xfrm flipH="1" rot="10800000">
            <a:off x="7276150" y="1127775"/>
            <a:ext cx="8100" cy="1372200"/>
          </a:xfrm>
          <a:prstGeom prst="straightConnector1">
            <a:avLst/>
          </a:prstGeom>
          <a:noFill/>
          <a:ln cap="flat" cmpd="sng" w="28575">
            <a:solidFill>
              <a:srgbClr val="FA8A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8"/>
          <p:cNvSpPr txBox="1"/>
          <p:nvPr/>
        </p:nvSpPr>
        <p:spPr>
          <a:xfrm>
            <a:off x="6545950" y="673625"/>
            <a:ext cx="1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403375" y="673625"/>
            <a:ext cx="1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A7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653750" y="106150"/>
            <a:ext cx="583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está conectado en Hermes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2205750" y="106150"/>
            <a:ext cx="47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Montaje Sensores laterales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523575" y="3831800"/>
            <a:ext cx="3688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Asegurarse que los sensores estén apuntando hacia abajo 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960213" y="3831800"/>
            <a:ext cx="3688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Conectar el sensor asegurándose de que todos los pines estén bien posicionados 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75" y="864550"/>
            <a:ext cx="3822331" cy="2866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1256" y="864550"/>
            <a:ext cx="3822331" cy="2866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42150" y="81475"/>
            <a:ext cx="82008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42150" y="1014550"/>
            <a:ext cx="8200800" cy="1476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Realicemos un código para leer los valores leídos por los sensores laterales a través de la consola serial.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538" y="2631375"/>
            <a:ext cx="2218476" cy="22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9104" y="2255375"/>
            <a:ext cx="3164900" cy="288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96450" y="361625"/>
            <a:ext cx="5825700" cy="2760300"/>
          </a:xfrm>
          <a:prstGeom prst="cloudCallout">
            <a:avLst>
              <a:gd fmla="val 57160" name="adj1"/>
              <a:gd fmla="val 43896" name="adj2"/>
            </a:avLst>
          </a:prstGeom>
          <a:solidFill>
            <a:srgbClr val="FFC00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¿Cómo podemos saber si detecta correctamente las marcas laterales?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4000" y="1547554"/>
            <a:ext cx="1842025" cy="184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2297700" y="106150"/>
            <a:ext cx="454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Buzzer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4940475" y="1304625"/>
            <a:ext cx="4129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Hermes posee un buzzer incorporado en la placa para poder emitir sonidos.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325" y="1120475"/>
            <a:ext cx="1703825" cy="1703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2"/>
          <p:cNvCxnSpPr>
            <a:stCxn id="153" idx="2"/>
          </p:cNvCxnSpPr>
          <p:nvPr/>
        </p:nvCxnSpPr>
        <p:spPr>
          <a:xfrm>
            <a:off x="1253238" y="28243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22"/>
          <p:cNvCxnSpPr/>
          <p:nvPr/>
        </p:nvCxnSpPr>
        <p:spPr>
          <a:xfrm flipH="1">
            <a:off x="1633350" y="2639250"/>
            <a:ext cx="16200" cy="781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22"/>
          <p:cNvCxnSpPr/>
          <p:nvPr/>
        </p:nvCxnSpPr>
        <p:spPr>
          <a:xfrm flipH="1">
            <a:off x="996750" y="2670750"/>
            <a:ext cx="5700" cy="71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22"/>
          <p:cNvSpPr txBox="1"/>
          <p:nvPr/>
        </p:nvSpPr>
        <p:spPr>
          <a:xfrm>
            <a:off x="1053750" y="3421050"/>
            <a:ext cx="11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GND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700650" y="3421050"/>
            <a:ext cx="55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9" name="Google Shape;159;p22"/>
          <p:cNvCxnSpPr>
            <a:endCxn id="160" idx="1"/>
          </p:cNvCxnSpPr>
          <p:nvPr/>
        </p:nvCxnSpPr>
        <p:spPr>
          <a:xfrm>
            <a:off x="1382000" y="3871250"/>
            <a:ext cx="4395900" cy="320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22"/>
          <p:cNvSpPr/>
          <p:nvPr/>
        </p:nvSpPr>
        <p:spPr>
          <a:xfrm>
            <a:off x="5777900" y="3343850"/>
            <a:ext cx="2750100" cy="1695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Así es como está conectado internamente el buzzer a nuestro Arduino</a:t>
            </a:r>
            <a:endParaRPr b="0" i="0" sz="1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¿Cómo se usa?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7" name="Google Shape;167;p23"/>
          <p:cNvCxnSpPr/>
          <p:nvPr/>
        </p:nvCxnSpPr>
        <p:spPr>
          <a:xfrm>
            <a:off x="1655713" y="2840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23"/>
          <p:cNvSpPr txBox="1"/>
          <p:nvPr/>
        </p:nvSpPr>
        <p:spPr>
          <a:xfrm>
            <a:off x="3312000" y="142850"/>
            <a:ext cx="5832000" cy="29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Definir pines</a:t>
            </a:r>
            <a:endParaRPr b="1" i="0" sz="18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b="1" i="0" lang="es" sz="18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BUZZER 10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Se configura todo como OUTPUT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pinMode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(BUZZER, </a:t>
            </a:r>
            <a:r>
              <a:rPr b="1" i="0" lang="es" sz="1800" u="none" cap="none" strike="noStrike">
                <a:solidFill>
                  <a:srgbClr val="FFB05D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tone</a:t>
            </a: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(BUZZER,1000,1000); </a:t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9" name="Google Shape;169;p23"/>
          <p:cNvCxnSpPr/>
          <p:nvPr/>
        </p:nvCxnSpPr>
        <p:spPr>
          <a:xfrm flipH="1">
            <a:off x="4092375" y="2686450"/>
            <a:ext cx="1525200" cy="114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23"/>
          <p:cNvCxnSpPr/>
          <p:nvPr/>
        </p:nvCxnSpPr>
        <p:spPr>
          <a:xfrm>
            <a:off x="6339700" y="2686450"/>
            <a:ext cx="970500" cy="105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23"/>
          <p:cNvSpPr txBox="1"/>
          <p:nvPr/>
        </p:nvSpPr>
        <p:spPr>
          <a:xfrm>
            <a:off x="3502350" y="3836950"/>
            <a:ext cx="117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Frecuencia [Hz]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6639750" y="3836950"/>
            <a:ext cx="142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Duración [milisegundos]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074" y="1272012"/>
            <a:ext cx="2817299" cy="304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345525" y="862150"/>
            <a:ext cx="8512200" cy="885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1)Realiza un código para que Hermes toque una canción corta.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388" y="2842775"/>
            <a:ext cx="2218476" cy="2218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/>
          <p:nvPr/>
        </p:nvSpPr>
        <p:spPr>
          <a:xfrm>
            <a:off x="345525" y="1956875"/>
            <a:ext cx="8512200" cy="885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2)Realiza un código para que Hermes emita un sonido cada vez que detecte una marca en cualquiera de los 2 lados.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202</a:t>
            </a:r>
            <a:r>
              <a:rPr b="1" lang="e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5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- Línea robots velocistas HERMES</a:t>
            </a:r>
            <a:endParaRPr b="1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</a:t>
            </a:r>
            <a:r>
              <a:rPr b="1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b="1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- septiembre 202</a:t>
            </a:r>
            <a:r>
              <a:rPr b="1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Publicado Bajo Licencia Creative Commons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Atribución-NoComercial-CompartirIgual (CC BY-NC-SA)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50" cy="4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325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ACH-01-01" id="193" name="Google Shape;1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975" y="2847163"/>
            <a:ext cx="1476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TC-01" id="194" name="Google Shape;19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325" y="2847163"/>
            <a:ext cx="13620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wP2h_lc6--vyMzu5qXgRG-Bbe6w1LN7Ph5RgxIP2Ngd_pFZFcUDkC-cp09ZNvc-Xm3iTwoQ8go_elSTWCw68Lrn_HKTBlb9E-8CWQqnHg6t8L9JidsYDttMUJ7XHVUWj9hjtPLtPZtU" id="195" name="Google Shape;195;p25"/>
          <p:cNvPicPr preferRelativeResize="0"/>
          <p:nvPr/>
        </p:nvPicPr>
        <p:blipFill rotWithShape="1">
          <a:blip r:embed="rId7">
            <a:alphaModFix/>
          </a:blip>
          <a:srcRect b="0" l="5141" r="0" t="3428"/>
          <a:stretch/>
        </p:blipFill>
        <p:spPr>
          <a:xfrm>
            <a:off x="4884250" y="2828650"/>
            <a:ext cx="769150" cy="779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TFSM-01" id="196" name="Google Shape;19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925" y="2877075"/>
            <a:ext cx="1303350" cy="6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488" y="2836300"/>
            <a:ext cx="895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22801" y="2845825"/>
            <a:ext cx="838115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1486" y="3949"/>
            <a:ext cx="3681126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