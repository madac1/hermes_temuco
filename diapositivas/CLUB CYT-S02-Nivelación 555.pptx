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Proxima Nova"/>
      <p:regular r:id="rId35"/>
      <p:bold r:id="rId36"/>
      <p:italic r:id="rId37"/>
      <p:boldItalic r:id="rId38"/>
    </p:embeddedFont>
    <p:embeddedFont>
      <p:font typeface="Poppins"/>
      <p:regular r:id="rId39"/>
      <p:bold r:id="rId40"/>
      <p:italic r:id="rId41"/>
      <p:boldItalic r:id="rId42"/>
    </p:embeddedFont>
    <p:embeddedFont>
      <p:font typeface="Poppins Medium"/>
      <p:regular r:id="rId43"/>
      <p:bold r:id="rId44"/>
      <p:italic r:id="rId45"/>
      <p:boldItalic r:id="rId46"/>
    </p:embeddedFont>
    <p:embeddedFont>
      <p:font typeface="Helvetica Neue"/>
      <p:regular r:id="rId47"/>
      <p:bold r:id="rId48"/>
      <p:italic r:id="rId49"/>
      <p:boldItalic r:id="rId50"/>
    </p:embeddedFont>
    <p:embeddedFont>
      <p:font typeface="Poppins SemiBold"/>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old.fntdata"/><Relationship Id="rId42" Type="http://schemas.openxmlformats.org/officeDocument/2006/relationships/font" Target="fonts/Poppins-boldItalic.fntdata"/><Relationship Id="rId41" Type="http://schemas.openxmlformats.org/officeDocument/2006/relationships/font" Target="fonts/Poppins-italic.fntdata"/><Relationship Id="rId44" Type="http://schemas.openxmlformats.org/officeDocument/2006/relationships/font" Target="fonts/PoppinsMedium-bold.fntdata"/><Relationship Id="rId43" Type="http://schemas.openxmlformats.org/officeDocument/2006/relationships/font" Target="fonts/PoppinsMedium-regular.fntdata"/><Relationship Id="rId46" Type="http://schemas.openxmlformats.org/officeDocument/2006/relationships/font" Target="fonts/PoppinsMedium-boldItalic.fntdata"/><Relationship Id="rId45" Type="http://schemas.openxmlformats.org/officeDocument/2006/relationships/font" Target="fonts/Poppins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HelveticaNeue-bold.fntdata"/><Relationship Id="rId47" Type="http://schemas.openxmlformats.org/officeDocument/2006/relationships/font" Target="fonts/HelveticaNeue-regular.fntdata"/><Relationship Id="rId49"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ProximaNova-regular.fntdata"/><Relationship Id="rId34" Type="http://schemas.openxmlformats.org/officeDocument/2006/relationships/slide" Target="slides/slide29.xml"/><Relationship Id="rId37" Type="http://schemas.openxmlformats.org/officeDocument/2006/relationships/font" Target="fonts/ProximaNova-italic.fntdata"/><Relationship Id="rId36" Type="http://schemas.openxmlformats.org/officeDocument/2006/relationships/font" Target="fonts/ProximaNova-bold.fntdata"/><Relationship Id="rId39" Type="http://schemas.openxmlformats.org/officeDocument/2006/relationships/font" Target="fonts/Poppins-regular.fntdata"/><Relationship Id="rId38" Type="http://schemas.openxmlformats.org/officeDocument/2006/relationships/font" Target="fonts/ProximaNova-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SemiBold-regular.fntdata"/><Relationship Id="rId50" Type="http://schemas.openxmlformats.org/officeDocument/2006/relationships/font" Target="fonts/HelveticaNeue-boldItalic.fntdata"/><Relationship Id="rId53" Type="http://schemas.openxmlformats.org/officeDocument/2006/relationships/font" Target="fonts/PoppinsSemiBold-italic.fntdata"/><Relationship Id="rId52" Type="http://schemas.openxmlformats.org/officeDocument/2006/relationships/font" Target="fonts/PoppinsSemiBold-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PoppinsSemiBold-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cc9c58899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2cc9c58899f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5000"/>
              </a:lnSpc>
              <a:spcBef>
                <a:spcPts val="0"/>
              </a:spcBef>
              <a:spcAft>
                <a:spcPts val="0"/>
              </a:spcAft>
              <a:buClr>
                <a:schemeClr val="dk1"/>
              </a:buClr>
              <a:buSzPts val="1000"/>
              <a:buFont typeface="Arial"/>
              <a:buAutoNum type="arabicPeriod"/>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51350f3b76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51350f3b76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4c8b1c510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4c8b1c510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1350f3b76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1350f3b76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5121fecce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5121fecce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4c8b1c510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4c8b1c510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4c8b1c51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4c8b1c51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4c8b1c51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4c8b1c51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4c8b1c510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4c8b1c51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4c8b1c51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d4c8b1c51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4c8b1c51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d4c8b1c51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4c8b1c510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d4c8b1c510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4c8b1c51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d4c8b1c51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4c8b1c510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d4c8b1c510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86ea579f8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86ea579f8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6ea579f8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86ea579f8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6ea579f8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86ea579f8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6ea579f82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86ea579f82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6ea579f82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86ea579f82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86ea579f82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86ea579f82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56f78114757f8cf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56f78114757f8cf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d6d90c647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d6d90c647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6d90c647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3d6d90c647e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4c8b1c510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d4c8b1c510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86ea579f8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86ea579f8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8b4cf600c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8b4cf600c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86ea579f8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86ea579f8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8b4cf600c6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g38b4cf600c6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s" sz="1400"/>
              <a:t>Recalcar la idea que somos equipo a nivel de sede, más allá de los grupos individuales.</a:t>
            </a:r>
            <a:endParaRPr sz="14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cb65ca3b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g2cb65ca3bc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jpg"/><Relationship Id="rId4" Type="http://schemas.openxmlformats.org/officeDocument/2006/relationships/image" Target="../media/image7.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4.png"/><Relationship Id="rId5"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1.jpg"/><Relationship Id="rId4" Type="http://schemas.openxmlformats.org/officeDocument/2006/relationships/image" Target="../media/image4.png"/><Relationship Id="rId5" Type="http://schemas.openxmlformats.org/officeDocument/2006/relationships/image" Target="../media/image59.png"/><Relationship Id="rId6"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21.jpg"/><Relationship Id="rId6" Type="http://schemas.openxmlformats.org/officeDocument/2006/relationships/image" Target="../media/image4.png"/><Relationship Id="rId7" Type="http://schemas.openxmlformats.org/officeDocument/2006/relationships/image" Target="../media/image5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jpg"/><Relationship Id="rId4" Type="http://schemas.openxmlformats.org/officeDocument/2006/relationships/image" Target="../media/image6.png"/><Relationship Id="rId5"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6.png"/><Relationship Id="rId6"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6.png"/><Relationship Id="rId5"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6.png"/><Relationship Id="rId5"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jpg"/><Relationship Id="rId4" Type="http://schemas.openxmlformats.org/officeDocument/2006/relationships/image" Target="../media/image4.png"/><Relationship Id="rId5" Type="http://schemas.openxmlformats.org/officeDocument/2006/relationships/image" Target="../media/image5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4.jp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4.jpg"/><Relationship Id="rId5"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6.png"/><Relationship Id="rId5"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7.png"/><Relationship Id="rId4" Type="http://schemas.openxmlformats.org/officeDocument/2006/relationships/image" Target="../media/image6.png"/><Relationship Id="rId5"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4.jpg"/><Relationship Id="rId5"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4.jpg"/><Relationship Id="rId5"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4.jpg"/><Relationship Id="rId5"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14.jpg"/><Relationship Id="rId5"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8.jpg"/><Relationship Id="rId4" Type="http://schemas.openxmlformats.org/officeDocument/2006/relationships/image" Target="../media/image4.png"/><Relationship Id="rId5" Type="http://schemas.openxmlformats.org/officeDocument/2006/relationships/image" Target="../media/image59.png"/><Relationship Id="rId6" Type="http://schemas.openxmlformats.org/officeDocument/2006/relationships/image" Target="../media/image12.png"/><Relationship Id="rId7"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www.youtube.com/watch?v=lqDg4tUUfg4" TargetMode="External"/><Relationship Id="rId4" Type="http://schemas.openxmlformats.org/officeDocument/2006/relationships/image" Target="../media/image3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hyperlink" Target="http://bit.ly/paidos" TargetMode="External"/><Relationship Id="rId5"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jpg"/><Relationship Id="rId4" Type="http://schemas.openxmlformats.org/officeDocument/2006/relationships/image" Target="../media/image4.png"/><Relationship Id="rId5" Type="http://schemas.openxmlformats.org/officeDocument/2006/relationships/image" Target="../media/image59.png"/><Relationship Id="rId6"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14.jpg"/><Relationship Id="rId5" Type="http://schemas.openxmlformats.org/officeDocument/2006/relationships/image" Target="../media/image37.jpg"/><Relationship Id="rId6" Type="http://schemas.openxmlformats.org/officeDocument/2006/relationships/hyperlink" Target="http://polwor.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14.jpg"/><Relationship Id="rId5"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4.jpg"/><Relationship Id="rId5"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52.jpg"/><Relationship Id="rId5" Type="http://schemas.openxmlformats.org/officeDocument/2006/relationships/image" Target="../media/image4.png"/><Relationship Id="rId6" Type="http://schemas.openxmlformats.org/officeDocument/2006/relationships/image" Target="../media/image44.png"/><Relationship Id="rId7" Type="http://schemas.openxmlformats.org/officeDocument/2006/relationships/image" Target="../media/image59.png"/></Relationships>
</file>

<file path=ppt/slides/_rels/slide29.xml.rels><?xml version="1.0" encoding="UTF-8" standalone="yes"?><Relationships xmlns="http://schemas.openxmlformats.org/package/2006/relationships"><Relationship Id="rId11" Type="http://schemas.openxmlformats.org/officeDocument/2006/relationships/image" Target="../media/image21.jpg"/><Relationship Id="rId10" Type="http://schemas.openxmlformats.org/officeDocument/2006/relationships/image" Target="../media/image50.png"/><Relationship Id="rId13" Type="http://schemas.openxmlformats.org/officeDocument/2006/relationships/image" Target="../media/image57.png"/><Relationship Id="rId12" Type="http://schemas.openxmlformats.org/officeDocument/2006/relationships/image" Target="../media/image7.png"/><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7.jpg"/><Relationship Id="rId4" Type="http://schemas.openxmlformats.org/officeDocument/2006/relationships/image" Target="../media/image54.png"/><Relationship Id="rId9" Type="http://schemas.openxmlformats.org/officeDocument/2006/relationships/image" Target="../media/image61.png"/><Relationship Id="rId14" Type="http://schemas.openxmlformats.org/officeDocument/2006/relationships/image" Target="../media/image56.png"/><Relationship Id="rId5" Type="http://schemas.openxmlformats.org/officeDocument/2006/relationships/image" Target="../media/image55.png"/><Relationship Id="rId6" Type="http://schemas.openxmlformats.org/officeDocument/2006/relationships/image" Target="../media/image45.jpg"/><Relationship Id="rId7" Type="http://schemas.openxmlformats.org/officeDocument/2006/relationships/image" Target="../media/image53.png"/><Relationship Id="rId8" Type="http://schemas.openxmlformats.org/officeDocument/2006/relationships/image" Target="../media/image5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09F"/>
        </a:solidFill>
      </p:bgPr>
    </p:bg>
    <p:spTree>
      <p:nvGrpSpPr>
        <p:cNvPr id="53" name="Shape 53"/>
        <p:cNvGrpSpPr/>
        <p:nvPr/>
      </p:nvGrpSpPr>
      <p:grpSpPr>
        <a:xfrm>
          <a:off x="0" y="0"/>
          <a:ext cx="0" cy="0"/>
          <a:chOff x="0" y="0"/>
          <a:chExt cx="0" cy="0"/>
        </a:xfrm>
      </p:grpSpPr>
      <p:sp>
        <p:nvSpPr>
          <p:cNvPr id="54" name="Google Shape;54;p13"/>
          <p:cNvSpPr/>
          <p:nvPr/>
        </p:nvSpPr>
        <p:spPr>
          <a:xfrm>
            <a:off x="174545" y="3908711"/>
            <a:ext cx="8969400" cy="1234800"/>
          </a:xfrm>
          <a:prstGeom prst="rect">
            <a:avLst/>
          </a:prstGeom>
          <a:solidFill>
            <a:srgbClr val="01189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55" name="Google Shape;55;p13"/>
          <p:cNvPicPr preferRelativeResize="0"/>
          <p:nvPr/>
        </p:nvPicPr>
        <p:blipFill rotWithShape="1">
          <a:blip r:embed="rId3">
            <a:alphaModFix/>
          </a:blip>
          <a:srcRect b="299" l="44748" r="0" t="-10"/>
          <a:stretch/>
        </p:blipFill>
        <p:spPr>
          <a:xfrm rot="-5400000">
            <a:off x="2617646" y="-2617646"/>
            <a:ext cx="3908711" cy="9144002"/>
          </a:xfrm>
          <a:prstGeom prst="rect">
            <a:avLst/>
          </a:prstGeom>
          <a:noFill/>
          <a:ln>
            <a:noFill/>
          </a:ln>
        </p:spPr>
      </p:pic>
      <p:sp>
        <p:nvSpPr>
          <p:cNvPr id="56" name="Google Shape;56;p13"/>
          <p:cNvSpPr/>
          <p:nvPr/>
        </p:nvSpPr>
        <p:spPr>
          <a:xfrm>
            <a:off x="2" y="0"/>
            <a:ext cx="9144000" cy="3908700"/>
          </a:xfrm>
          <a:prstGeom prst="rect">
            <a:avLst/>
          </a:prstGeom>
          <a:solidFill>
            <a:srgbClr val="002060">
              <a:alpha val="4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57" name="Google Shape;57;p13"/>
          <p:cNvPicPr preferRelativeResize="0"/>
          <p:nvPr/>
        </p:nvPicPr>
        <p:blipFill rotWithShape="1">
          <a:blip r:embed="rId4">
            <a:alphaModFix/>
          </a:blip>
          <a:srcRect b="0" l="0" r="0" t="0"/>
          <a:stretch/>
        </p:blipFill>
        <p:spPr>
          <a:xfrm>
            <a:off x="6354346" y="192405"/>
            <a:ext cx="2587503" cy="812673"/>
          </a:xfrm>
          <a:prstGeom prst="rect">
            <a:avLst/>
          </a:prstGeom>
          <a:noFill/>
          <a:ln>
            <a:noFill/>
          </a:ln>
        </p:spPr>
      </p:pic>
      <p:sp>
        <p:nvSpPr>
          <p:cNvPr id="58" name="Google Shape;58;p13"/>
          <p:cNvSpPr txBox="1"/>
          <p:nvPr/>
        </p:nvSpPr>
        <p:spPr>
          <a:xfrm>
            <a:off x="861160" y="2111138"/>
            <a:ext cx="46815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 sz="3200" u="none" cap="none" strike="noStrike">
                <a:solidFill>
                  <a:srgbClr val="FFFFFF"/>
                </a:solidFill>
                <a:latin typeface="Poppins"/>
                <a:ea typeface="Poppins"/>
                <a:cs typeface="Poppins"/>
                <a:sym typeface="Poppins"/>
              </a:rPr>
              <a:t>Clubes de</a:t>
            </a:r>
            <a:endParaRPr/>
          </a:p>
          <a:p>
            <a:pPr indent="0" lvl="0" marL="0" marR="0" rtl="0" algn="l">
              <a:lnSpc>
                <a:spcPct val="100000"/>
              </a:lnSpc>
              <a:spcBef>
                <a:spcPts val="0"/>
              </a:spcBef>
              <a:spcAft>
                <a:spcPts val="0"/>
              </a:spcAft>
              <a:buNone/>
            </a:pPr>
            <a:r>
              <a:rPr b="1" i="0" lang="es" sz="3200" u="none" cap="none" strike="noStrike">
                <a:solidFill>
                  <a:srgbClr val="FFFFFF"/>
                </a:solidFill>
                <a:latin typeface="Poppins"/>
                <a:ea typeface="Poppins"/>
                <a:cs typeface="Poppins"/>
                <a:sym typeface="Poppins"/>
              </a:rPr>
              <a:t>Ciencia y Tecnología</a:t>
            </a:r>
            <a:endParaRPr b="1" i="0" sz="3200" u="none" cap="none" strike="noStrike">
              <a:solidFill>
                <a:srgbClr val="000000"/>
              </a:solidFill>
              <a:latin typeface="Poppins"/>
              <a:ea typeface="Poppins"/>
              <a:cs typeface="Poppins"/>
              <a:sym typeface="Poppins"/>
            </a:endParaRPr>
          </a:p>
        </p:txBody>
      </p:sp>
      <p:sp>
        <p:nvSpPr>
          <p:cNvPr id="59" name="Google Shape;59;p13"/>
          <p:cNvSpPr/>
          <p:nvPr/>
        </p:nvSpPr>
        <p:spPr>
          <a:xfrm>
            <a:off x="874189" y="3545219"/>
            <a:ext cx="1544400" cy="410100"/>
          </a:xfrm>
          <a:prstGeom prst="rect">
            <a:avLst/>
          </a:prstGeom>
          <a:solidFill>
            <a:srgbClr val="01189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0" name="Google Shape;60;p13"/>
          <p:cNvSpPr txBox="1"/>
          <p:nvPr/>
        </p:nvSpPr>
        <p:spPr>
          <a:xfrm>
            <a:off x="974299" y="3595025"/>
            <a:ext cx="1544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lang="es" sz="1600">
                <a:solidFill>
                  <a:srgbClr val="FFFFFF"/>
                </a:solidFill>
                <a:latin typeface="Poppins"/>
                <a:ea typeface="Poppins"/>
                <a:cs typeface="Poppins"/>
                <a:sym typeface="Poppins"/>
              </a:rPr>
              <a:t>18</a:t>
            </a:r>
            <a:r>
              <a:rPr b="0" i="0" lang="es" sz="1600" u="none" cap="none" strike="noStrike">
                <a:solidFill>
                  <a:srgbClr val="FFFFFF"/>
                </a:solidFill>
                <a:latin typeface="Poppins"/>
                <a:ea typeface="Poppins"/>
                <a:cs typeface="Poppins"/>
                <a:sym typeface="Poppins"/>
              </a:rPr>
              <a:t>.04.202</a:t>
            </a:r>
            <a:r>
              <a:rPr lang="es" sz="1600">
                <a:solidFill>
                  <a:srgbClr val="FFFFFF"/>
                </a:solidFill>
                <a:latin typeface="Poppins"/>
                <a:ea typeface="Poppins"/>
                <a:cs typeface="Poppins"/>
                <a:sym typeface="Poppins"/>
              </a:rPr>
              <a:t>6</a:t>
            </a:r>
            <a:endParaRPr b="0" i="0" sz="1600" u="none" cap="none" strike="noStrike">
              <a:solidFill>
                <a:srgbClr val="000000"/>
              </a:solidFill>
              <a:latin typeface="Poppins"/>
              <a:ea typeface="Poppins"/>
              <a:cs typeface="Poppins"/>
              <a:sym typeface="Poppins"/>
            </a:endParaRPr>
          </a:p>
        </p:txBody>
      </p:sp>
      <p:sp>
        <p:nvSpPr>
          <p:cNvPr id="61" name="Google Shape;61;p13"/>
          <p:cNvSpPr txBox="1"/>
          <p:nvPr/>
        </p:nvSpPr>
        <p:spPr>
          <a:xfrm rot="-5400000">
            <a:off x="7467916" y="3119999"/>
            <a:ext cx="29457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1000" u="none" cap="none" strike="noStrike">
                <a:solidFill>
                  <a:srgbClr val="FFFFFF"/>
                </a:solidFill>
                <a:latin typeface="Poppins"/>
                <a:ea typeface="Poppins"/>
                <a:cs typeface="Poppins"/>
                <a:sym typeface="Poppins"/>
              </a:rPr>
              <a:t>www.fundacionmustakis.org</a:t>
            </a:r>
            <a:endParaRPr b="0" i="0" sz="1000" u="none" cap="none" strike="noStrike">
              <a:solidFill>
                <a:srgbClr val="000000"/>
              </a:solidFill>
              <a:latin typeface="Poppins"/>
              <a:ea typeface="Poppins"/>
              <a:cs typeface="Poppins"/>
              <a:sym typeface="Poppins"/>
            </a:endParaRPr>
          </a:p>
        </p:txBody>
      </p:sp>
      <p:sp>
        <p:nvSpPr>
          <p:cNvPr id="62" name="Google Shape;62;p13"/>
          <p:cNvSpPr txBox="1"/>
          <p:nvPr/>
        </p:nvSpPr>
        <p:spPr>
          <a:xfrm>
            <a:off x="861160" y="1529939"/>
            <a:ext cx="2443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2000" u="none" cap="none" strike="noStrike">
                <a:solidFill>
                  <a:srgbClr val="FFFFFF"/>
                </a:solidFill>
                <a:latin typeface="Poppins"/>
                <a:ea typeface="Poppins"/>
                <a:cs typeface="Poppins"/>
                <a:sym typeface="Poppins"/>
              </a:rPr>
              <a:t>Sesión Nº</a:t>
            </a:r>
            <a:r>
              <a:rPr lang="es" sz="2000">
                <a:solidFill>
                  <a:srgbClr val="FFFFFF"/>
                </a:solidFill>
                <a:latin typeface="Poppins"/>
                <a:ea typeface="Poppins"/>
                <a:cs typeface="Poppins"/>
                <a:sym typeface="Poppins"/>
              </a:rPr>
              <a:t>2</a:t>
            </a:r>
            <a:endParaRPr b="0" i="0" sz="2000" u="none" cap="none" strike="noStrike">
              <a:solidFill>
                <a:srgbClr val="000000"/>
              </a:solidFill>
              <a:latin typeface="Poppins"/>
              <a:ea typeface="Poppins"/>
              <a:cs typeface="Poppins"/>
              <a:sym typeface="Poppins"/>
            </a:endParaRPr>
          </a:p>
        </p:txBody>
      </p:sp>
      <p:cxnSp>
        <p:nvCxnSpPr>
          <p:cNvPr id="63" name="Google Shape;63;p13"/>
          <p:cNvCxnSpPr/>
          <p:nvPr/>
        </p:nvCxnSpPr>
        <p:spPr>
          <a:xfrm>
            <a:off x="928251" y="1864958"/>
            <a:ext cx="2015400" cy="0"/>
          </a:xfrm>
          <a:prstGeom prst="straightConnector1">
            <a:avLst/>
          </a:prstGeom>
          <a:noFill/>
          <a:ln cap="flat" cmpd="sng" w="15875">
            <a:solidFill>
              <a:srgbClr val="FFFFFF"/>
            </a:solidFill>
            <a:prstDash val="solid"/>
            <a:round/>
            <a:headEnd len="sm" w="sm" type="none"/>
            <a:tailEnd len="sm" w="sm" type="none"/>
          </a:ln>
        </p:spPr>
      </p:cxnSp>
      <p:pic>
        <p:nvPicPr>
          <p:cNvPr id="64" name="Google Shape;64;p13"/>
          <p:cNvPicPr preferRelativeResize="0"/>
          <p:nvPr/>
        </p:nvPicPr>
        <p:blipFill rotWithShape="1">
          <a:blip r:embed="rId5">
            <a:alphaModFix/>
          </a:blip>
          <a:srcRect b="43844" l="31851" r="33841" t="27525"/>
          <a:stretch/>
        </p:blipFill>
        <p:spPr>
          <a:xfrm>
            <a:off x="5054057" y="1742688"/>
            <a:ext cx="3402614" cy="2171040"/>
          </a:xfrm>
          <a:prstGeom prst="rect">
            <a:avLst/>
          </a:prstGeom>
          <a:noFill/>
          <a:ln>
            <a:noFill/>
          </a:ln>
        </p:spPr>
      </p:pic>
      <p:sp>
        <p:nvSpPr>
          <p:cNvPr id="65" name="Google Shape;65;p13"/>
          <p:cNvSpPr txBox="1"/>
          <p:nvPr/>
        </p:nvSpPr>
        <p:spPr>
          <a:xfrm>
            <a:off x="874210" y="4312089"/>
            <a:ext cx="24435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lang="es" sz="2000">
                <a:solidFill>
                  <a:srgbClr val="FFFFFF"/>
                </a:solidFill>
                <a:latin typeface="Poppins"/>
                <a:ea typeface="Poppins"/>
                <a:cs typeface="Poppins"/>
                <a:sym typeface="Poppins"/>
              </a:rPr>
              <a:t>Nivelación</a:t>
            </a:r>
            <a:endParaRPr b="0" i="0" sz="2000" u="none" cap="none" strike="noStrike">
              <a:solidFill>
                <a:srgbClr val="FFFFFF"/>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940"/>
              <a:buFont typeface="Arial"/>
              <a:buNone/>
            </a:pPr>
            <a:r>
              <a:t/>
            </a:r>
            <a:endParaRPr b="0" i="0" sz="2000" u="none" cap="none" strike="noStrike">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4"/>
          <p:cNvPicPr preferRelativeResize="0"/>
          <p:nvPr/>
        </p:nvPicPr>
        <p:blipFill rotWithShape="1">
          <a:blip r:embed="rId3">
            <a:alphaModFix/>
          </a:blip>
          <a:srcRect b="68756" l="25893" r="0" t="0"/>
          <a:stretch/>
        </p:blipFill>
        <p:spPr>
          <a:xfrm rot="5400000">
            <a:off x="-1140929" y="1116585"/>
            <a:ext cx="5172836" cy="2890776"/>
          </a:xfrm>
          <a:prstGeom prst="rect">
            <a:avLst/>
          </a:prstGeom>
          <a:noFill/>
          <a:ln>
            <a:noFill/>
          </a:ln>
        </p:spPr>
      </p:pic>
      <p:sp>
        <p:nvSpPr>
          <p:cNvPr id="71" name="Google Shape;71;p14"/>
          <p:cNvSpPr/>
          <p:nvPr/>
        </p:nvSpPr>
        <p:spPr>
          <a:xfrm>
            <a:off x="0" y="-20614"/>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72" name="Google Shape;72;p14"/>
          <p:cNvSpPr txBox="1"/>
          <p:nvPr/>
        </p:nvSpPr>
        <p:spPr>
          <a:xfrm>
            <a:off x="431275" y="1349999"/>
            <a:ext cx="2106600" cy="2567700"/>
          </a:xfrm>
          <a:prstGeom prst="rect">
            <a:avLst/>
          </a:prstGeom>
          <a:noFill/>
          <a:ln>
            <a:noFill/>
          </a:ln>
        </p:spPr>
        <p:txBody>
          <a:bodyPr anchorCtr="0" anchor="t" bIns="37775" lIns="75575" spcFirstLastPara="1" rIns="75575" wrap="square" tIns="37775">
            <a:normAutofit/>
          </a:bodyPr>
          <a:lstStyle/>
          <a:p>
            <a:pPr indent="0" lvl="0" marL="0" marR="0" rtl="0" algn="l">
              <a:lnSpc>
                <a:spcPct val="90000"/>
              </a:lnSpc>
              <a:spcBef>
                <a:spcPts val="0"/>
              </a:spcBef>
              <a:spcAft>
                <a:spcPts val="0"/>
              </a:spcAft>
              <a:buClr>
                <a:srgbClr val="000000"/>
              </a:buClr>
              <a:buSzPts val="1673"/>
              <a:buFont typeface="Calibri"/>
              <a:buNone/>
            </a:pPr>
            <a:r>
              <a:rPr b="1" i="0" lang="es" sz="2400" u="none" cap="none" strike="noStrike">
                <a:solidFill>
                  <a:srgbClr val="71C9EB"/>
                </a:solidFill>
                <a:latin typeface="Poppins"/>
                <a:ea typeface="Poppins"/>
                <a:cs typeface="Poppins"/>
                <a:sym typeface="Poppins"/>
              </a:rPr>
              <a:t>¿QUÉ ROBOT </a:t>
            </a:r>
            <a:r>
              <a:rPr b="0" i="0" lang="es" sz="2400" u="none" cap="none" strike="noStrike">
                <a:solidFill>
                  <a:srgbClr val="FFFFFF"/>
                </a:solidFill>
                <a:latin typeface="Poppins"/>
                <a:ea typeface="Poppins"/>
                <a:cs typeface="Poppins"/>
                <a:sym typeface="Poppins"/>
              </a:rPr>
              <a:t>SOMOS HOY?</a:t>
            </a:r>
            <a:endParaRPr sz="2400">
              <a:solidFill>
                <a:srgbClr val="FFFFFF"/>
              </a:solidFill>
              <a:latin typeface="Poppins"/>
              <a:ea typeface="Poppins"/>
              <a:cs typeface="Poppins"/>
              <a:sym typeface="Poppins"/>
            </a:endParaRPr>
          </a:p>
          <a:p>
            <a:pPr indent="0" lvl="0" marL="0" marR="0" rtl="0" algn="l">
              <a:lnSpc>
                <a:spcPct val="90000"/>
              </a:lnSpc>
              <a:spcBef>
                <a:spcPts val="0"/>
              </a:spcBef>
              <a:spcAft>
                <a:spcPts val="0"/>
              </a:spcAft>
              <a:buClr>
                <a:srgbClr val="000000"/>
              </a:buClr>
              <a:buSzPts val="1673"/>
              <a:buFont typeface="Calibri"/>
              <a:buNone/>
            </a:pPr>
            <a:r>
              <a:t/>
            </a:r>
            <a:endParaRPr sz="2400">
              <a:solidFill>
                <a:srgbClr val="FFFFFF"/>
              </a:solidFill>
              <a:latin typeface="Poppins"/>
              <a:ea typeface="Poppins"/>
              <a:cs typeface="Poppins"/>
              <a:sym typeface="Poppins"/>
            </a:endParaRPr>
          </a:p>
          <a:p>
            <a:pPr indent="0" lvl="0" marL="0" marR="0" rtl="0" algn="l">
              <a:lnSpc>
                <a:spcPct val="90000"/>
              </a:lnSpc>
              <a:spcBef>
                <a:spcPts val="0"/>
              </a:spcBef>
              <a:spcAft>
                <a:spcPts val="0"/>
              </a:spcAft>
              <a:buClr>
                <a:srgbClr val="000000"/>
              </a:buClr>
              <a:buSzPts val="1673"/>
              <a:buFont typeface="Calibri"/>
              <a:buNone/>
            </a:pPr>
            <a:r>
              <a:t/>
            </a:r>
            <a:endParaRPr sz="2400">
              <a:solidFill>
                <a:srgbClr val="FFFFFF"/>
              </a:solidFill>
              <a:latin typeface="Poppins"/>
              <a:ea typeface="Poppins"/>
              <a:cs typeface="Poppins"/>
              <a:sym typeface="Poppins"/>
            </a:endParaRPr>
          </a:p>
        </p:txBody>
      </p:sp>
      <p:pic>
        <p:nvPicPr>
          <p:cNvPr id="73" name="Google Shape;73;p14"/>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pic>
        <p:nvPicPr>
          <p:cNvPr id="74" name="Google Shape;74;p14" title="WhatsApp Image 2026-04-17 at 17.20.18.jpeg"/>
          <p:cNvPicPr preferRelativeResize="0"/>
          <p:nvPr/>
        </p:nvPicPr>
        <p:blipFill>
          <a:blip r:embed="rId5">
            <a:alphaModFix/>
          </a:blip>
          <a:stretch>
            <a:fillRect/>
          </a:stretch>
        </p:blipFill>
        <p:spPr>
          <a:xfrm>
            <a:off x="3606800" y="152400"/>
            <a:ext cx="4838700" cy="483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grpSp>
        <p:nvGrpSpPr>
          <p:cNvPr id="79" name="Google Shape;79;p15"/>
          <p:cNvGrpSpPr/>
          <p:nvPr/>
        </p:nvGrpSpPr>
        <p:grpSpPr>
          <a:xfrm>
            <a:off x="-10633" y="-29340"/>
            <a:ext cx="2901600" cy="5177731"/>
            <a:chOff x="0" y="-29340"/>
            <a:chExt cx="2901600" cy="5177731"/>
          </a:xfrm>
        </p:grpSpPr>
        <p:pic>
          <p:nvPicPr>
            <p:cNvPr id="80" name="Google Shape;80;p15"/>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81" name="Google Shape;81;p15"/>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82" name="Google Shape;82;p15"/>
          <p:cNvSpPr/>
          <p:nvPr/>
        </p:nvSpPr>
        <p:spPr>
          <a:xfrm>
            <a:off x="2889190" y="-6900"/>
            <a:ext cx="6254700" cy="5143500"/>
          </a:xfrm>
          <a:prstGeom prst="rect">
            <a:avLst/>
          </a:prstGeom>
          <a:solidFill>
            <a:srgbClr val="32B8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5"/>
          <p:cNvSpPr txBox="1"/>
          <p:nvPr/>
        </p:nvSpPr>
        <p:spPr>
          <a:xfrm rot="-894">
            <a:off x="119398" y="1912348"/>
            <a:ext cx="3459900" cy="40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s" sz="2400">
                <a:solidFill>
                  <a:srgbClr val="FFFFFF"/>
                </a:solidFill>
                <a:latin typeface="Poppins SemiBold"/>
                <a:ea typeface="Poppins SemiBold"/>
                <a:cs typeface="Poppins SemiBold"/>
                <a:sym typeface="Poppins SemiBold"/>
              </a:rPr>
              <a:t>ANTES DE </a:t>
            </a:r>
            <a:endParaRPr b="1" sz="2400">
              <a:solidFill>
                <a:srgbClr val="FFFFFF"/>
              </a:solidFill>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800"/>
              <a:buFont typeface="Arial"/>
              <a:buNone/>
            </a:pPr>
            <a:r>
              <a:rPr b="1" lang="es" sz="2400">
                <a:solidFill>
                  <a:srgbClr val="FFFFFF"/>
                </a:solidFill>
                <a:latin typeface="Poppins SemiBold"/>
                <a:ea typeface="Poppins SemiBold"/>
                <a:cs typeface="Poppins SemiBold"/>
                <a:sym typeface="Poppins SemiBold"/>
              </a:rPr>
              <a:t>COMENZAR</a:t>
            </a:r>
            <a:endParaRPr b="0" i="0" sz="1800" u="none" cap="none" strike="noStrike">
              <a:solidFill>
                <a:srgbClr val="FFFFFF"/>
              </a:solidFill>
              <a:latin typeface="Arial"/>
              <a:ea typeface="Arial"/>
              <a:cs typeface="Arial"/>
              <a:sym typeface="Arial"/>
            </a:endParaRPr>
          </a:p>
        </p:txBody>
      </p:sp>
      <p:pic>
        <p:nvPicPr>
          <p:cNvPr id="84" name="Google Shape;84;p15"/>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pic>
        <p:nvPicPr>
          <p:cNvPr id="85" name="Google Shape;85;p15"/>
          <p:cNvPicPr preferRelativeResize="0"/>
          <p:nvPr/>
        </p:nvPicPr>
        <p:blipFill rotWithShape="1">
          <a:blip r:embed="rId5">
            <a:alphaModFix/>
          </a:blip>
          <a:srcRect b="0" l="0" r="0" t="0"/>
          <a:stretch/>
        </p:blipFill>
        <p:spPr>
          <a:xfrm>
            <a:off x="220128" y="3335674"/>
            <a:ext cx="1365667" cy="1534231"/>
          </a:xfrm>
          <a:prstGeom prst="rect">
            <a:avLst/>
          </a:prstGeom>
          <a:noFill/>
          <a:ln>
            <a:noFill/>
          </a:ln>
        </p:spPr>
      </p:pic>
      <p:pic>
        <p:nvPicPr>
          <p:cNvPr id="86" name="Google Shape;86;p15"/>
          <p:cNvPicPr preferRelativeResize="0"/>
          <p:nvPr/>
        </p:nvPicPr>
        <p:blipFill rotWithShape="1">
          <a:blip r:embed="rId6">
            <a:alphaModFix amt="23000"/>
          </a:blip>
          <a:srcRect b="0" l="50261" r="0" t="0"/>
          <a:stretch/>
        </p:blipFill>
        <p:spPr>
          <a:xfrm>
            <a:off x="5902035" y="-34234"/>
            <a:ext cx="3310799" cy="5143500"/>
          </a:xfrm>
          <a:prstGeom prst="rect">
            <a:avLst/>
          </a:prstGeom>
          <a:noFill/>
          <a:ln>
            <a:noFill/>
          </a:ln>
        </p:spPr>
      </p:pic>
      <p:sp>
        <p:nvSpPr>
          <p:cNvPr id="87" name="Google Shape;87;p15"/>
          <p:cNvSpPr txBox="1"/>
          <p:nvPr/>
        </p:nvSpPr>
        <p:spPr>
          <a:xfrm rot="-956">
            <a:off x="3481250" y="503717"/>
            <a:ext cx="5395800" cy="35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2400">
                <a:solidFill>
                  <a:srgbClr val="FFFFFF"/>
                </a:solidFill>
                <a:latin typeface="Poppins SemiBold"/>
                <a:ea typeface="Poppins SemiBold"/>
                <a:cs typeface="Poppins SemiBold"/>
                <a:sym typeface="Poppins SemiBold"/>
              </a:rPr>
              <a:t>ACTIVIDAD:</a:t>
            </a:r>
            <a:endParaRPr b="1" sz="2400">
              <a:solidFill>
                <a:srgbClr val="FFFFF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b="1" lang="es" sz="2400">
                <a:solidFill>
                  <a:srgbClr val="FFFFFF"/>
                </a:solidFill>
                <a:latin typeface="Poppins SemiBold"/>
                <a:ea typeface="Poppins SemiBold"/>
                <a:cs typeface="Poppins SemiBold"/>
                <a:sym typeface="Poppins SemiBold"/>
              </a:rPr>
              <a:t>En parejas, deben inventar un saludo original usando el cuerpo.</a:t>
            </a:r>
            <a:endParaRPr b="1" sz="2400">
              <a:solidFill>
                <a:srgbClr val="FFFFF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b="1" sz="2400">
              <a:solidFill>
                <a:srgbClr val="FFFFF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b="1" lang="es" sz="2400">
                <a:solidFill>
                  <a:srgbClr val="FFFFFF"/>
                </a:solidFill>
                <a:latin typeface="Poppins SemiBold"/>
                <a:ea typeface="Poppins SemiBold"/>
                <a:cs typeface="Poppins SemiBold"/>
                <a:sym typeface="Poppins SemiBold"/>
              </a:rPr>
              <a:t>Luego, lo comparten con la clase. - 15 MIN</a:t>
            </a:r>
            <a:endParaRPr b="1" sz="2400">
              <a:solidFill>
                <a:srgbClr val="FFFFFF"/>
              </a:solidFill>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800"/>
              <a:buFont typeface="Arial"/>
              <a:buNone/>
            </a:pPr>
            <a:r>
              <a:t/>
            </a:r>
            <a:endParaRPr b="1" sz="2400">
              <a:solidFill>
                <a:srgbClr val="FFFFFF"/>
              </a:solidFill>
              <a:latin typeface="Poppins SemiBold"/>
              <a:ea typeface="Poppins SemiBold"/>
              <a:cs typeface="Poppins SemiBold"/>
              <a:sym typeface="Poppins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33AE"/>
        </a:solidFill>
      </p:bgPr>
    </p:bg>
    <p:spTree>
      <p:nvGrpSpPr>
        <p:cNvPr id="91" name="Shape 91"/>
        <p:cNvGrpSpPr/>
        <p:nvPr/>
      </p:nvGrpSpPr>
      <p:grpSpPr>
        <a:xfrm>
          <a:off x="0" y="0"/>
          <a:ext cx="0" cy="0"/>
          <a:chOff x="0" y="0"/>
          <a:chExt cx="0" cy="0"/>
        </a:xfrm>
      </p:grpSpPr>
      <p:pic>
        <p:nvPicPr>
          <p:cNvPr id="92" name="Google Shape;92;p16"/>
          <p:cNvPicPr preferRelativeResize="0"/>
          <p:nvPr/>
        </p:nvPicPr>
        <p:blipFill rotWithShape="1">
          <a:blip r:embed="rId3">
            <a:alphaModFix/>
          </a:blip>
          <a:srcRect b="0" l="0" r="0" t="0"/>
          <a:stretch/>
        </p:blipFill>
        <p:spPr>
          <a:xfrm>
            <a:off x="2874010" y="1392406"/>
            <a:ext cx="3360338" cy="2925862"/>
          </a:xfrm>
          <a:prstGeom prst="rect">
            <a:avLst/>
          </a:prstGeom>
          <a:noFill/>
          <a:ln>
            <a:noFill/>
          </a:ln>
        </p:spPr>
      </p:pic>
      <p:sp>
        <p:nvSpPr>
          <p:cNvPr id="93" name="Google Shape;93;p16"/>
          <p:cNvSpPr txBox="1"/>
          <p:nvPr/>
        </p:nvSpPr>
        <p:spPr>
          <a:xfrm>
            <a:off x="2259727" y="893230"/>
            <a:ext cx="4624500" cy="774900"/>
          </a:xfrm>
          <a:prstGeom prst="rect">
            <a:avLst/>
          </a:prstGeom>
          <a:noFill/>
          <a:ln>
            <a:noFill/>
          </a:ln>
        </p:spPr>
        <p:txBody>
          <a:bodyPr anchorCtr="0" anchor="ctr" bIns="91425" lIns="91425" spcFirstLastPara="1" rIns="91425" wrap="square" tIns="91425">
            <a:noAutofit/>
          </a:bodyPr>
          <a:lstStyle/>
          <a:p>
            <a:pPr indent="0" lvl="1" marL="457200" rtl="0" algn="ctr">
              <a:spcBef>
                <a:spcPts val="0"/>
              </a:spcBef>
              <a:spcAft>
                <a:spcPts val="0"/>
              </a:spcAft>
              <a:buNone/>
            </a:pPr>
            <a:r>
              <a:rPr b="1" lang="es" sz="1600">
                <a:solidFill>
                  <a:srgbClr val="FFFFFF"/>
                </a:solidFill>
                <a:latin typeface="Poppins"/>
                <a:ea typeface="Poppins"/>
                <a:cs typeface="Poppins"/>
                <a:sym typeface="Poppins"/>
              </a:rPr>
              <a:t>PREPARA TU ENTORNO Y PONTE CÓMODO PARA TRABAJAR</a:t>
            </a:r>
            <a:br>
              <a:rPr b="1" lang="es" sz="1600">
                <a:solidFill>
                  <a:srgbClr val="FFFFFF"/>
                </a:solidFill>
                <a:latin typeface="Poppins"/>
                <a:ea typeface="Poppins"/>
                <a:cs typeface="Poppins"/>
                <a:sym typeface="Poppins"/>
              </a:rPr>
            </a:br>
            <a:endParaRPr b="1" sz="1600">
              <a:solidFill>
                <a:srgbClr val="FFFFFF"/>
              </a:solidFill>
              <a:latin typeface="Poppins"/>
              <a:ea typeface="Poppins"/>
              <a:cs typeface="Poppins"/>
              <a:sym typeface="Poppins"/>
            </a:endParaRPr>
          </a:p>
        </p:txBody>
      </p:sp>
      <p:pic>
        <p:nvPicPr>
          <p:cNvPr id="94" name="Google Shape;94;p16"/>
          <p:cNvPicPr preferRelativeResize="0"/>
          <p:nvPr/>
        </p:nvPicPr>
        <p:blipFill rotWithShape="1">
          <a:blip r:embed="rId4">
            <a:alphaModFix/>
          </a:blip>
          <a:srcRect b="0" l="0" r="0" t="0"/>
          <a:stretch/>
        </p:blipFill>
        <p:spPr>
          <a:xfrm>
            <a:off x="8185002" y="63549"/>
            <a:ext cx="819695" cy="491233"/>
          </a:xfrm>
          <a:prstGeom prst="rect">
            <a:avLst/>
          </a:prstGeom>
          <a:noFill/>
          <a:ln>
            <a:noFill/>
          </a:ln>
        </p:spPr>
      </p:pic>
      <p:sp>
        <p:nvSpPr>
          <p:cNvPr id="95" name="Google Shape;95;p16"/>
          <p:cNvSpPr txBox="1"/>
          <p:nvPr/>
        </p:nvSpPr>
        <p:spPr>
          <a:xfrm>
            <a:off x="189130" y="4801377"/>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p:nvPr/>
        </p:nvSpPr>
        <p:spPr>
          <a:xfrm>
            <a:off x="2889190" y="-6900"/>
            <a:ext cx="6254700" cy="5143500"/>
          </a:xfrm>
          <a:prstGeom prst="rect">
            <a:avLst/>
          </a:prstGeom>
          <a:solidFill>
            <a:srgbClr val="B4D3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1" name="Google Shape;101;p17"/>
          <p:cNvPicPr preferRelativeResize="0"/>
          <p:nvPr/>
        </p:nvPicPr>
        <p:blipFill rotWithShape="1">
          <a:blip r:embed="rId3">
            <a:alphaModFix amt="33000"/>
          </a:blip>
          <a:srcRect b="0" l="50261" r="0" t="0"/>
          <a:stretch/>
        </p:blipFill>
        <p:spPr>
          <a:xfrm>
            <a:off x="5902035" y="-34234"/>
            <a:ext cx="3310799" cy="5143500"/>
          </a:xfrm>
          <a:prstGeom prst="rect">
            <a:avLst/>
          </a:prstGeom>
          <a:noFill/>
          <a:ln>
            <a:noFill/>
          </a:ln>
        </p:spPr>
      </p:pic>
      <p:pic>
        <p:nvPicPr>
          <p:cNvPr id="102" name="Google Shape;102;p17"/>
          <p:cNvPicPr preferRelativeResize="0"/>
          <p:nvPr/>
        </p:nvPicPr>
        <p:blipFill rotWithShape="1">
          <a:blip r:embed="rId4">
            <a:alphaModFix/>
          </a:blip>
          <a:srcRect b="0" l="0" r="0" t="0"/>
          <a:stretch/>
        </p:blipFill>
        <p:spPr>
          <a:xfrm rot="5400000">
            <a:off x="2995211" y="-1514655"/>
            <a:ext cx="6113262" cy="8172810"/>
          </a:xfrm>
          <a:prstGeom prst="rect">
            <a:avLst/>
          </a:prstGeom>
          <a:noFill/>
          <a:ln>
            <a:noFill/>
          </a:ln>
        </p:spPr>
      </p:pic>
      <p:grpSp>
        <p:nvGrpSpPr>
          <p:cNvPr id="103" name="Google Shape;103;p17"/>
          <p:cNvGrpSpPr/>
          <p:nvPr/>
        </p:nvGrpSpPr>
        <p:grpSpPr>
          <a:xfrm>
            <a:off x="-10633" y="-29340"/>
            <a:ext cx="2901600" cy="5177731"/>
            <a:chOff x="0" y="-29340"/>
            <a:chExt cx="2901600" cy="5177731"/>
          </a:xfrm>
        </p:grpSpPr>
        <p:pic>
          <p:nvPicPr>
            <p:cNvPr id="104" name="Google Shape;104;p17"/>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05" name="Google Shape;105;p17"/>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06" name="Google Shape;106;p17"/>
          <p:cNvSpPr txBox="1"/>
          <p:nvPr/>
        </p:nvSpPr>
        <p:spPr>
          <a:xfrm rot="-771">
            <a:off x="119500" y="1704994"/>
            <a:ext cx="2676300" cy="1225800"/>
          </a:xfrm>
          <a:prstGeom prst="rect">
            <a:avLst/>
          </a:prstGeom>
          <a:noFill/>
          <a:ln>
            <a:noFill/>
          </a:ln>
        </p:spPr>
        <p:txBody>
          <a:bodyPr anchorCtr="0" anchor="t" bIns="91425" lIns="91425" spcFirstLastPara="1" rIns="91425" wrap="square" tIns="91425">
            <a:noAutofit/>
          </a:bodyPr>
          <a:lstStyle/>
          <a:p>
            <a:pPr indent="0" lvl="0" marL="114300" marR="0" rtl="0" algn="l">
              <a:lnSpc>
                <a:spcPct val="100000"/>
              </a:lnSpc>
              <a:spcBef>
                <a:spcPts val="0"/>
              </a:spcBef>
              <a:spcAft>
                <a:spcPts val="0"/>
              </a:spcAft>
              <a:buNone/>
            </a:pPr>
            <a:r>
              <a:rPr b="1" lang="es" sz="2400">
                <a:solidFill>
                  <a:srgbClr val="FFFFFF"/>
                </a:solidFill>
                <a:latin typeface="Poppins SemiBold"/>
                <a:ea typeface="Poppins SemiBold"/>
                <a:cs typeface="Poppins SemiBold"/>
                <a:sym typeface="Poppins SemiBold"/>
              </a:rPr>
              <a:t>¿</a:t>
            </a:r>
            <a:r>
              <a:rPr b="1" lang="es" sz="2400">
                <a:solidFill>
                  <a:srgbClr val="FFFFFF"/>
                </a:solidFill>
                <a:latin typeface="Poppins SemiBold"/>
                <a:ea typeface="Poppins SemiBold"/>
                <a:cs typeface="Poppins SemiBold"/>
                <a:sym typeface="Poppins SemiBold"/>
              </a:rPr>
              <a:t>Qué</a:t>
            </a:r>
            <a:r>
              <a:rPr b="1" lang="es" sz="2400">
                <a:solidFill>
                  <a:srgbClr val="FFFFFF"/>
                </a:solidFill>
                <a:latin typeface="Poppins SemiBold"/>
                <a:ea typeface="Poppins SemiBold"/>
                <a:cs typeface="Poppins SemiBold"/>
                <a:sym typeface="Poppins SemiBold"/>
              </a:rPr>
              <a:t> aprenderemos hoy?</a:t>
            </a:r>
            <a:endParaRPr b="1" sz="2400">
              <a:solidFill>
                <a:srgbClr val="FFFFFF"/>
              </a:solidFill>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07" name="Google Shape;107;p17"/>
          <p:cNvPicPr preferRelativeResize="0"/>
          <p:nvPr/>
        </p:nvPicPr>
        <p:blipFill rotWithShape="1">
          <a:blip r:embed="rId6">
            <a:alphaModFix/>
          </a:blip>
          <a:srcRect b="0" l="0" r="0" t="0"/>
          <a:stretch/>
        </p:blipFill>
        <p:spPr>
          <a:xfrm>
            <a:off x="119398" y="114505"/>
            <a:ext cx="548700" cy="388993"/>
          </a:xfrm>
          <a:prstGeom prst="rect">
            <a:avLst/>
          </a:prstGeom>
          <a:noFill/>
          <a:ln>
            <a:noFill/>
          </a:ln>
        </p:spPr>
      </p:pic>
      <p:sp>
        <p:nvSpPr>
          <p:cNvPr id="108" name="Google Shape;108;p17"/>
          <p:cNvSpPr txBox="1"/>
          <p:nvPr/>
        </p:nvSpPr>
        <p:spPr>
          <a:xfrm>
            <a:off x="3942651" y="1352127"/>
            <a:ext cx="4558800" cy="28203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lt1"/>
              </a:buClr>
              <a:buSzPts val="2000"/>
              <a:buFont typeface="Poppins"/>
              <a:buAutoNum type="arabicPeriod"/>
            </a:pPr>
            <a:r>
              <a:rPr lang="es" sz="2000">
                <a:solidFill>
                  <a:schemeClr val="lt1"/>
                </a:solidFill>
                <a:latin typeface="Poppins"/>
                <a:ea typeface="Poppins"/>
                <a:cs typeface="Poppins"/>
                <a:sym typeface="Poppins"/>
              </a:rPr>
              <a:t>Conoceremos nuevos componentes electrónicos </a:t>
            </a:r>
            <a:r>
              <a:rPr b="1" lang="es" sz="2000">
                <a:solidFill>
                  <a:schemeClr val="lt1"/>
                </a:solidFill>
                <a:latin typeface="Poppins"/>
                <a:ea typeface="Poppins"/>
                <a:cs typeface="Poppins"/>
                <a:sym typeface="Poppins"/>
              </a:rPr>
              <a:t>Capacitor</a:t>
            </a:r>
            <a:endParaRPr b="1" sz="2000">
              <a:solidFill>
                <a:schemeClr val="lt1"/>
              </a:solidFill>
              <a:latin typeface="Poppins"/>
              <a:ea typeface="Poppins"/>
              <a:cs typeface="Poppins"/>
              <a:sym typeface="Poppins"/>
            </a:endParaRPr>
          </a:p>
          <a:p>
            <a:pPr indent="0" lvl="0" marL="457200" rtl="0" algn="l">
              <a:lnSpc>
                <a:spcPct val="115000"/>
              </a:lnSpc>
              <a:spcBef>
                <a:spcPts val="0"/>
              </a:spcBef>
              <a:spcAft>
                <a:spcPts val="0"/>
              </a:spcAft>
              <a:buNone/>
            </a:pPr>
            <a:r>
              <a:rPr b="1" lang="es" sz="2000">
                <a:solidFill>
                  <a:schemeClr val="lt1"/>
                </a:solidFill>
                <a:latin typeface="Poppins"/>
                <a:ea typeface="Poppins"/>
                <a:cs typeface="Poppins"/>
                <a:sym typeface="Poppins"/>
              </a:rPr>
              <a:t>Transistor </a:t>
            </a:r>
            <a:r>
              <a:rPr lang="es" sz="2000">
                <a:solidFill>
                  <a:schemeClr val="lt1"/>
                </a:solidFill>
                <a:latin typeface="Poppins"/>
                <a:ea typeface="Poppins"/>
                <a:cs typeface="Poppins"/>
                <a:sym typeface="Poppins"/>
              </a:rPr>
              <a:t> </a:t>
            </a:r>
            <a:endParaRPr b="1" sz="2000">
              <a:solidFill>
                <a:schemeClr val="lt1"/>
              </a:solidFill>
              <a:latin typeface="Poppins"/>
              <a:ea typeface="Poppins"/>
              <a:cs typeface="Poppins"/>
              <a:sym typeface="Poppins"/>
            </a:endParaRPr>
          </a:p>
          <a:p>
            <a:pPr indent="0" lvl="0" marL="457200" rtl="0" algn="l">
              <a:lnSpc>
                <a:spcPct val="115000"/>
              </a:lnSpc>
              <a:spcBef>
                <a:spcPts val="0"/>
              </a:spcBef>
              <a:spcAft>
                <a:spcPts val="0"/>
              </a:spcAft>
              <a:buNone/>
            </a:pPr>
            <a:r>
              <a:rPr b="1" lang="es" sz="2000">
                <a:solidFill>
                  <a:schemeClr val="lt1"/>
                </a:solidFill>
                <a:latin typeface="Poppins"/>
                <a:ea typeface="Poppins"/>
                <a:cs typeface="Poppins"/>
                <a:sym typeface="Poppins"/>
              </a:rPr>
              <a:t>Integrado “555”</a:t>
            </a:r>
            <a:endParaRPr b="1" sz="2000">
              <a:solidFill>
                <a:schemeClr val="lt1"/>
              </a:solidFill>
              <a:latin typeface="Poppins"/>
              <a:ea typeface="Poppins"/>
              <a:cs typeface="Poppins"/>
              <a:sym typeface="Poppins"/>
            </a:endParaRPr>
          </a:p>
          <a:p>
            <a:pPr indent="-355600" lvl="0" marL="457200" rtl="0" algn="l">
              <a:lnSpc>
                <a:spcPct val="115000"/>
              </a:lnSpc>
              <a:spcBef>
                <a:spcPts val="0"/>
              </a:spcBef>
              <a:spcAft>
                <a:spcPts val="0"/>
              </a:spcAft>
              <a:buClr>
                <a:schemeClr val="lt1"/>
              </a:buClr>
              <a:buSzPts val="2000"/>
              <a:buFont typeface="Poppins"/>
              <a:buAutoNum type="arabicPeriod"/>
            </a:pPr>
            <a:r>
              <a:rPr b="1" lang="es" sz="2000">
                <a:solidFill>
                  <a:schemeClr val="lt1"/>
                </a:solidFill>
                <a:latin typeface="Poppins"/>
                <a:ea typeface="Poppins"/>
                <a:cs typeface="Poppins"/>
                <a:sym typeface="Poppins"/>
              </a:rPr>
              <a:t>Actividad final : </a:t>
            </a:r>
            <a:r>
              <a:rPr b="1" i="1" lang="es" sz="2000">
                <a:solidFill>
                  <a:schemeClr val="lt1"/>
                </a:solidFill>
                <a:latin typeface="Poppins"/>
                <a:ea typeface="Poppins"/>
                <a:cs typeface="Poppins"/>
                <a:sym typeface="Poppins"/>
              </a:rPr>
              <a:t>el gritador</a:t>
            </a:r>
            <a:endParaRPr b="1" i="1" sz="2000">
              <a:solidFill>
                <a:schemeClr val="lt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b="1" sz="1150">
              <a:solidFill>
                <a:srgbClr val="FFFFFF"/>
              </a:solidFill>
              <a:latin typeface="Poppins"/>
              <a:ea typeface="Poppins"/>
              <a:cs typeface="Poppins"/>
              <a:sym typeface="Poppins"/>
            </a:endParaRPr>
          </a:p>
          <a:p>
            <a:pPr indent="0" lvl="0" marL="0" marR="0" rtl="0" algn="l">
              <a:lnSpc>
                <a:spcPct val="100000"/>
              </a:lnSpc>
              <a:spcBef>
                <a:spcPts val="0"/>
              </a:spcBef>
              <a:spcAft>
                <a:spcPts val="0"/>
              </a:spcAft>
              <a:buClr>
                <a:srgbClr val="FFFFFF"/>
              </a:buClr>
              <a:buSzPts val="1400"/>
              <a:buFont typeface="Arial"/>
              <a:buNone/>
            </a:pPr>
            <a:r>
              <a:t/>
            </a:r>
            <a:endParaRPr b="0" i="0" sz="2000" u="none" cap="none" strike="noStrike">
              <a:solidFill>
                <a:srgbClr val="FFFFFF"/>
              </a:solidFill>
              <a:latin typeface="Poppins Medium"/>
              <a:ea typeface="Poppins Medium"/>
              <a:cs typeface="Poppins Medium"/>
              <a:sym typeface="Poppins Medium"/>
            </a:endParaRPr>
          </a:p>
        </p:txBody>
      </p:sp>
      <p:pic>
        <p:nvPicPr>
          <p:cNvPr id="109" name="Google Shape;109;p17"/>
          <p:cNvPicPr preferRelativeResize="0"/>
          <p:nvPr/>
        </p:nvPicPr>
        <p:blipFill rotWithShape="1">
          <a:blip r:embed="rId7">
            <a:alphaModFix/>
          </a:blip>
          <a:srcRect b="0" l="0" r="0" t="0"/>
          <a:stretch/>
        </p:blipFill>
        <p:spPr>
          <a:xfrm>
            <a:off x="220128" y="3335674"/>
            <a:ext cx="1365667" cy="1534231"/>
          </a:xfrm>
          <a:prstGeom prst="rect">
            <a:avLst/>
          </a:prstGeom>
          <a:noFill/>
          <a:ln>
            <a:noFill/>
          </a:ln>
        </p:spPr>
      </p:pic>
      <p:pic>
        <p:nvPicPr>
          <p:cNvPr id="110" name="Google Shape;110;p17"/>
          <p:cNvPicPr preferRelativeResize="0"/>
          <p:nvPr/>
        </p:nvPicPr>
        <p:blipFill rotWithShape="1">
          <a:blip r:embed="rId7">
            <a:alphaModFix/>
          </a:blip>
          <a:srcRect b="0" l="0" r="0" t="0"/>
          <a:stretch/>
        </p:blipFill>
        <p:spPr>
          <a:xfrm>
            <a:off x="220128" y="3335674"/>
            <a:ext cx="1365667" cy="15342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solidFill>
                  <a:srgbClr val="0233AE"/>
                </a:solidFill>
                <a:latin typeface="Poppins"/>
                <a:ea typeface="Poppins"/>
                <a:cs typeface="Poppins"/>
                <a:sym typeface="Poppins"/>
              </a:rPr>
              <a:t>Capacitores</a:t>
            </a:r>
            <a:endParaRPr b="1" i="1">
              <a:solidFill>
                <a:srgbClr val="0233AE"/>
              </a:solidFill>
              <a:latin typeface="Poppins"/>
              <a:ea typeface="Poppins"/>
              <a:cs typeface="Poppins"/>
              <a:sym typeface="Poppins"/>
            </a:endParaRPr>
          </a:p>
        </p:txBody>
      </p:sp>
      <p:sp>
        <p:nvSpPr>
          <p:cNvPr id="116" name="Google Shape;116;p18"/>
          <p:cNvSpPr txBox="1"/>
          <p:nvPr>
            <p:ph type="title"/>
          </p:nvPr>
        </p:nvSpPr>
        <p:spPr>
          <a:xfrm>
            <a:off x="311700" y="1718125"/>
            <a:ext cx="3741000" cy="313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000">
                <a:solidFill>
                  <a:srgbClr val="0233AE"/>
                </a:solidFill>
                <a:latin typeface="Poppins"/>
                <a:ea typeface="Poppins"/>
                <a:cs typeface="Poppins"/>
                <a:sym typeface="Poppins"/>
              </a:rPr>
              <a:t>Componentes que almacenan energía eléctrica como carga en su interior.</a:t>
            </a:r>
            <a:endParaRPr sz="2000">
              <a:solidFill>
                <a:srgbClr val="0233AE"/>
              </a:solidFill>
              <a:latin typeface="Poppins"/>
              <a:ea typeface="Poppins"/>
              <a:cs typeface="Poppins"/>
              <a:sym typeface="Poppins"/>
            </a:endParaRPr>
          </a:p>
          <a:p>
            <a:pPr indent="0" lvl="0" marL="0" rtl="0" algn="l">
              <a:spcBef>
                <a:spcPts val="0"/>
              </a:spcBef>
              <a:spcAft>
                <a:spcPts val="0"/>
              </a:spcAft>
              <a:buNone/>
            </a:pPr>
            <a:r>
              <a:t/>
            </a:r>
            <a:endParaRPr sz="2000">
              <a:solidFill>
                <a:srgbClr val="0233AE"/>
              </a:solidFill>
              <a:latin typeface="Poppins"/>
              <a:ea typeface="Poppins"/>
              <a:cs typeface="Poppins"/>
              <a:sym typeface="Poppins"/>
            </a:endParaRPr>
          </a:p>
          <a:p>
            <a:pPr indent="0" lvl="0" marL="0" rtl="0" algn="l">
              <a:spcBef>
                <a:spcPts val="0"/>
              </a:spcBef>
              <a:spcAft>
                <a:spcPts val="0"/>
              </a:spcAft>
              <a:buNone/>
            </a:pPr>
            <a:r>
              <a:rPr lang="es" sz="2000">
                <a:solidFill>
                  <a:srgbClr val="0233AE"/>
                </a:solidFill>
                <a:latin typeface="Poppins"/>
                <a:ea typeface="Poppins"/>
                <a:cs typeface="Poppins"/>
                <a:sym typeface="Poppins"/>
              </a:rPr>
              <a:t>Funcionan como pequeñas baterías dependiendo de su uso .</a:t>
            </a:r>
            <a:endParaRPr sz="2000">
              <a:solidFill>
                <a:srgbClr val="0233AE"/>
              </a:solidFill>
              <a:latin typeface="Poppins"/>
              <a:ea typeface="Poppins"/>
              <a:cs typeface="Poppins"/>
              <a:sym typeface="Poppins"/>
            </a:endParaRPr>
          </a:p>
        </p:txBody>
      </p:sp>
      <p:pic>
        <p:nvPicPr>
          <p:cNvPr id="117" name="Google Shape;117;p18"/>
          <p:cNvPicPr preferRelativeResize="0"/>
          <p:nvPr/>
        </p:nvPicPr>
        <p:blipFill>
          <a:blip r:embed="rId3">
            <a:alphaModFix/>
          </a:blip>
          <a:stretch>
            <a:fillRect/>
          </a:stretch>
        </p:blipFill>
        <p:spPr>
          <a:xfrm>
            <a:off x="4205100" y="1170125"/>
            <a:ext cx="4786031" cy="3190688"/>
          </a:xfrm>
          <a:prstGeom prst="rect">
            <a:avLst/>
          </a:prstGeom>
          <a:noFill/>
          <a:ln>
            <a:noFill/>
          </a:ln>
        </p:spPr>
      </p:pic>
      <p:pic>
        <p:nvPicPr>
          <p:cNvPr id="118" name="Google Shape;118;p18"/>
          <p:cNvPicPr preferRelativeResize="0"/>
          <p:nvPr/>
        </p:nvPicPr>
        <p:blipFill rotWithShape="1">
          <a:blip r:embed="rId4">
            <a:alphaModFix/>
          </a:blip>
          <a:srcRect b="21938" l="9222" r="8365" t="22367"/>
          <a:stretch/>
        </p:blipFill>
        <p:spPr>
          <a:xfrm>
            <a:off x="8156483" y="234168"/>
            <a:ext cx="765220" cy="344252"/>
          </a:xfrm>
          <a:prstGeom prst="rect">
            <a:avLst/>
          </a:prstGeom>
          <a:noFill/>
          <a:ln>
            <a:noFill/>
          </a:ln>
        </p:spPr>
      </p:pic>
      <p:grpSp>
        <p:nvGrpSpPr>
          <p:cNvPr id="119" name="Google Shape;119;p18"/>
          <p:cNvGrpSpPr/>
          <p:nvPr/>
        </p:nvGrpSpPr>
        <p:grpSpPr>
          <a:xfrm>
            <a:off x="-126275" y="4746700"/>
            <a:ext cx="9270322" cy="401792"/>
            <a:chOff x="0" y="-29340"/>
            <a:chExt cx="2901600" cy="5177731"/>
          </a:xfrm>
        </p:grpSpPr>
        <p:pic>
          <p:nvPicPr>
            <p:cNvPr id="120" name="Google Shape;120;p18"/>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21" name="Google Shape;121;p18"/>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22" name="Google Shape;122;p18"/>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9"/>
          <p:cNvPicPr preferRelativeResize="0"/>
          <p:nvPr/>
        </p:nvPicPr>
        <p:blipFill rotWithShape="1">
          <a:blip r:embed="rId3">
            <a:alphaModFix/>
          </a:blip>
          <a:srcRect b="0" l="0" r="83217" t="0"/>
          <a:stretch/>
        </p:blipFill>
        <p:spPr>
          <a:xfrm>
            <a:off x="1021275" y="491600"/>
            <a:ext cx="1191850" cy="4116975"/>
          </a:xfrm>
          <a:prstGeom prst="rect">
            <a:avLst/>
          </a:prstGeom>
          <a:noFill/>
          <a:ln>
            <a:noFill/>
          </a:ln>
        </p:spPr>
      </p:pic>
      <p:pic>
        <p:nvPicPr>
          <p:cNvPr id="128" name="Google Shape;128;p19"/>
          <p:cNvPicPr preferRelativeResize="0"/>
          <p:nvPr/>
        </p:nvPicPr>
        <p:blipFill rotWithShape="1">
          <a:blip r:embed="rId3">
            <a:alphaModFix/>
          </a:blip>
          <a:srcRect b="0" l="17229" r="40532" t="0"/>
          <a:stretch/>
        </p:blipFill>
        <p:spPr>
          <a:xfrm>
            <a:off x="2285125" y="491600"/>
            <a:ext cx="2999673" cy="4404851"/>
          </a:xfrm>
          <a:prstGeom prst="rect">
            <a:avLst/>
          </a:prstGeom>
          <a:noFill/>
          <a:ln>
            <a:noFill/>
          </a:ln>
        </p:spPr>
      </p:pic>
      <p:pic>
        <p:nvPicPr>
          <p:cNvPr id="129" name="Google Shape;129;p19"/>
          <p:cNvPicPr preferRelativeResize="0"/>
          <p:nvPr/>
        </p:nvPicPr>
        <p:blipFill rotWithShape="1">
          <a:blip r:embed="rId3">
            <a:alphaModFix/>
          </a:blip>
          <a:srcRect b="0" l="57760" r="0" t="0"/>
          <a:stretch/>
        </p:blipFill>
        <p:spPr>
          <a:xfrm>
            <a:off x="5395775" y="491600"/>
            <a:ext cx="2999673" cy="4404851"/>
          </a:xfrm>
          <a:prstGeom prst="rect">
            <a:avLst/>
          </a:prstGeom>
          <a:noFill/>
          <a:ln>
            <a:noFill/>
          </a:ln>
        </p:spPr>
      </p:pic>
      <p:pic>
        <p:nvPicPr>
          <p:cNvPr id="130" name="Google Shape;130;p19"/>
          <p:cNvPicPr preferRelativeResize="0"/>
          <p:nvPr/>
        </p:nvPicPr>
        <p:blipFill rotWithShape="1">
          <a:blip r:embed="rId4">
            <a:alphaModFix/>
          </a:blip>
          <a:srcRect b="21938" l="9222" r="8365" t="22367"/>
          <a:stretch/>
        </p:blipFill>
        <p:spPr>
          <a:xfrm>
            <a:off x="327704" y="234168"/>
            <a:ext cx="765220" cy="344252"/>
          </a:xfrm>
          <a:prstGeom prst="rect">
            <a:avLst/>
          </a:prstGeom>
          <a:noFill/>
          <a:ln>
            <a:noFill/>
          </a:ln>
        </p:spPr>
      </p:pic>
      <p:grpSp>
        <p:nvGrpSpPr>
          <p:cNvPr id="131" name="Google Shape;131;p19"/>
          <p:cNvGrpSpPr/>
          <p:nvPr/>
        </p:nvGrpSpPr>
        <p:grpSpPr>
          <a:xfrm>
            <a:off x="-126275" y="4746700"/>
            <a:ext cx="9270322" cy="401792"/>
            <a:chOff x="0" y="-29340"/>
            <a:chExt cx="2901600" cy="5177731"/>
          </a:xfrm>
        </p:grpSpPr>
        <p:pic>
          <p:nvPicPr>
            <p:cNvPr id="132" name="Google Shape;132;p19"/>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33" name="Google Shape;133;p19"/>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34" name="Google Shape;134;p19"/>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solidFill>
                  <a:srgbClr val="0233AE"/>
                </a:solidFill>
                <a:latin typeface="Poppins"/>
                <a:ea typeface="Poppins"/>
                <a:cs typeface="Poppins"/>
                <a:sym typeface="Poppins"/>
              </a:rPr>
              <a:t>Transistores</a:t>
            </a:r>
            <a:endParaRPr b="1" i="1">
              <a:solidFill>
                <a:srgbClr val="0233AE"/>
              </a:solidFill>
              <a:latin typeface="Poppins"/>
              <a:ea typeface="Poppins"/>
              <a:cs typeface="Poppins"/>
              <a:sym typeface="Poppins"/>
            </a:endParaRPr>
          </a:p>
        </p:txBody>
      </p:sp>
      <p:sp>
        <p:nvSpPr>
          <p:cNvPr id="140" name="Google Shape;140;p20"/>
          <p:cNvSpPr txBox="1"/>
          <p:nvPr>
            <p:ph type="title"/>
          </p:nvPr>
        </p:nvSpPr>
        <p:spPr>
          <a:xfrm>
            <a:off x="311700" y="962075"/>
            <a:ext cx="6734100" cy="82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s" sz="2600">
                <a:solidFill>
                  <a:srgbClr val="0233AE"/>
                </a:solidFill>
                <a:latin typeface="Poppins"/>
                <a:ea typeface="Poppins"/>
                <a:cs typeface="Poppins"/>
                <a:sym typeface="Poppins"/>
              </a:rPr>
              <a:t>La invención más grande del siglo XX</a:t>
            </a:r>
            <a:endParaRPr i="1" sz="2600">
              <a:solidFill>
                <a:srgbClr val="0233AE"/>
              </a:solidFill>
              <a:latin typeface="Poppins"/>
              <a:ea typeface="Poppins"/>
              <a:cs typeface="Poppins"/>
              <a:sym typeface="Poppins"/>
            </a:endParaRPr>
          </a:p>
        </p:txBody>
      </p:sp>
      <p:sp>
        <p:nvSpPr>
          <p:cNvPr id="141" name="Google Shape;141;p20"/>
          <p:cNvSpPr txBox="1"/>
          <p:nvPr>
            <p:ph type="title"/>
          </p:nvPr>
        </p:nvSpPr>
        <p:spPr>
          <a:xfrm>
            <a:off x="388650" y="1462200"/>
            <a:ext cx="6166800" cy="16095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sz="2300">
                <a:solidFill>
                  <a:srgbClr val="0233AE"/>
                </a:solidFill>
                <a:latin typeface="Poppins"/>
                <a:ea typeface="Poppins"/>
                <a:cs typeface="Poppins"/>
                <a:sym typeface="Poppins"/>
              </a:rPr>
              <a:t>Componentes fabricados con materiales semiconductores, diseñados para funcionar como </a:t>
            </a:r>
            <a:r>
              <a:rPr b="1" lang="es" sz="2300">
                <a:solidFill>
                  <a:srgbClr val="0233AE"/>
                </a:solidFill>
                <a:latin typeface="Poppins"/>
                <a:ea typeface="Poppins"/>
                <a:cs typeface="Poppins"/>
                <a:sym typeface="Poppins"/>
              </a:rPr>
              <a:t>amplificadores </a:t>
            </a:r>
            <a:r>
              <a:rPr lang="es" sz="2300">
                <a:solidFill>
                  <a:srgbClr val="0233AE"/>
                </a:solidFill>
                <a:latin typeface="Poppins"/>
                <a:ea typeface="Poppins"/>
                <a:cs typeface="Poppins"/>
                <a:sym typeface="Poppins"/>
              </a:rPr>
              <a:t>o </a:t>
            </a:r>
            <a:r>
              <a:rPr b="1" lang="es" sz="2300">
                <a:solidFill>
                  <a:srgbClr val="0233AE"/>
                </a:solidFill>
                <a:latin typeface="Poppins"/>
                <a:ea typeface="Poppins"/>
                <a:cs typeface="Poppins"/>
                <a:sym typeface="Poppins"/>
              </a:rPr>
              <a:t>interruptores </a:t>
            </a:r>
            <a:r>
              <a:rPr lang="es" sz="2300">
                <a:solidFill>
                  <a:srgbClr val="0233AE"/>
                </a:solidFill>
                <a:latin typeface="Poppins"/>
                <a:ea typeface="Poppins"/>
                <a:cs typeface="Poppins"/>
                <a:sym typeface="Poppins"/>
              </a:rPr>
              <a:t>controlados por electricidad.</a:t>
            </a:r>
            <a:endParaRPr sz="2300">
              <a:solidFill>
                <a:srgbClr val="0233AE"/>
              </a:solidFill>
              <a:latin typeface="Poppins"/>
              <a:ea typeface="Poppins"/>
              <a:cs typeface="Poppins"/>
              <a:sym typeface="Poppins"/>
            </a:endParaRPr>
          </a:p>
        </p:txBody>
      </p:sp>
      <p:pic>
        <p:nvPicPr>
          <p:cNvPr id="142" name="Google Shape;142;p20"/>
          <p:cNvPicPr preferRelativeResize="0"/>
          <p:nvPr/>
        </p:nvPicPr>
        <p:blipFill>
          <a:blip r:embed="rId3">
            <a:alphaModFix/>
          </a:blip>
          <a:stretch>
            <a:fillRect/>
          </a:stretch>
        </p:blipFill>
        <p:spPr>
          <a:xfrm>
            <a:off x="2165550" y="2985950"/>
            <a:ext cx="1154362" cy="1731557"/>
          </a:xfrm>
          <a:prstGeom prst="rect">
            <a:avLst/>
          </a:prstGeom>
          <a:noFill/>
          <a:ln>
            <a:noFill/>
          </a:ln>
        </p:spPr>
      </p:pic>
      <p:pic>
        <p:nvPicPr>
          <p:cNvPr id="143" name="Google Shape;143;p20"/>
          <p:cNvPicPr preferRelativeResize="0"/>
          <p:nvPr/>
        </p:nvPicPr>
        <p:blipFill>
          <a:blip r:embed="rId4">
            <a:alphaModFix/>
          </a:blip>
          <a:stretch>
            <a:fillRect/>
          </a:stretch>
        </p:blipFill>
        <p:spPr>
          <a:xfrm>
            <a:off x="4865800" y="2985950"/>
            <a:ext cx="2857219" cy="1600043"/>
          </a:xfrm>
          <a:prstGeom prst="rect">
            <a:avLst/>
          </a:prstGeom>
          <a:noFill/>
          <a:ln>
            <a:noFill/>
          </a:ln>
        </p:spPr>
      </p:pic>
      <p:cxnSp>
        <p:nvCxnSpPr>
          <p:cNvPr id="144" name="Google Shape;144;p20"/>
          <p:cNvCxnSpPr>
            <a:endCxn id="143" idx="1"/>
          </p:cNvCxnSpPr>
          <p:nvPr/>
        </p:nvCxnSpPr>
        <p:spPr>
          <a:xfrm flipH="1" rot="10800000">
            <a:off x="3348700" y="3785971"/>
            <a:ext cx="1517100" cy="40200"/>
          </a:xfrm>
          <a:prstGeom prst="curvedConnector3">
            <a:avLst>
              <a:gd fmla="val 50000" name="adj1"/>
            </a:avLst>
          </a:prstGeom>
          <a:noFill/>
          <a:ln cap="flat" cmpd="sng" w="76200">
            <a:solidFill>
              <a:schemeClr val="dk2"/>
            </a:solidFill>
            <a:prstDash val="solid"/>
            <a:round/>
            <a:headEnd len="med" w="med" type="none"/>
            <a:tailEnd len="med" w="med" type="triangle"/>
          </a:ln>
        </p:spPr>
      </p:cxnSp>
      <p:pic>
        <p:nvPicPr>
          <p:cNvPr id="145" name="Google Shape;145;p20"/>
          <p:cNvPicPr preferRelativeResize="0"/>
          <p:nvPr/>
        </p:nvPicPr>
        <p:blipFill rotWithShape="1">
          <a:blip r:embed="rId5">
            <a:alphaModFix/>
          </a:blip>
          <a:srcRect b="21938" l="9222" r="8365" t="22367"/>
          <a:stretch/>
        </p:blipFill>
        <p:spPr>
          <a:xfrm>
            <a:off x="8156483" y="234168"/>
            <a:ext cx="765220" cy="344252"/>
          </a:xfrm>
          <a:prstGeom prst="rect">
            <a:avLst/>
          </a:prstGeom>
          <a:noFill/>
          <a:ln>
            <a:noFill/>
          </a:ln>
        </p:spPr>
      </p:pic>
      <p:grpSp>
        <p:nvGrpSpPr>
          <p:cNvPr id="146" name="Google Shape;146;p20"/>
          <p:cNvGrpSpPr/>
          <p:nvPr/>
        </p:nvGrpSpPr>
        <p:grpSpPr>
          <a:xfrm>
            <a:off x="-126275" y="4746700"/>
            <a:ext cx="9270322" cy="401792"/>
            <a:chOff x="0" y="-29340"/>
            <a:chExt cx="2901600" cy="5177731"/>
          </a:xfrm>
        </p:grpSpPr>
        <p:pic>
          <p:nvPicPr>
            <p:cNvPr id="147" name="Google Shape;147;p20"/>
            <p:cNvPicPr preferRelativeResize="0"/>
            <p:nvPr/>
          </p:nvPicPr>
          <p:blipFill rotWithShape="1">
            <a:blip r:embed="rId6">
              <a:alphaModFix/>
            </a:blip>
            <a:srcRect b="68756" l="25893" r="0" t="0"/>
            <a:stretch/>
          </p:blipFill>
          <p:spPr>
            <a:xfrm rot="5400000">
              <a:off x="-1130296" y="1116585"/>
              <a:ext cx="5172836" cy="2890776"/>
            </a:xfrm>
            <a:prstGeom prst="rect">
              <a:avLst/>
            </a:prstGeom>
            <a:noFill/>
            <a:ln>
              <a:noFill/>
            </a:ln>
          </p:spPr>
        </p:pic>
        <p:sp>
          <p:nvSpPr>
            <p:cNvPr id="148" name="Google Shape;148;p20"/>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49" name="Google Shape;149;p20"/>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solidFill>
                  <a:srgbClr val="0233AE"/>
                </a:solidFill>
                <a:latin typeface="Poppins"/>
                <a:ea typeface="Poppins"/>
                <a:cs typeface="Poppins"/>
                <a:sym typeface="Poppins"/>
              </a:rPr>
              <a:t>Transistor 2222</a:t>
            </a:r>
            <a:endParaRPr b="1" i="1">
              <a:solidFill>
                <a:srgbClr val="0233AE"/>
              </a:solidFill>
              <a:latin typeface="Poppins"/>
              <a:ea typeface="Poppins"/>
              <a:cs typeface="Poppins"/>
              <a:sym typeface="Poppins"/>
            </a:endParaRPr>
          </a:p>
        </p:txBody>
      </p:sp>
      <p:sp>
        <p:nvSpPr>
          <p:cNvPr id="155" name="Google Shape;155;p21"/>
          <p:cNvSpPr txBox="1"/>
          <p:nvPr>
            <p:ph type="title"/>
          </p:nvPr>
        </p:nvSpPr>
        <p:spPr>
          <a:xfrm>
            <a:off x="311700" y="1718125"/>
            <a:ext cx="3563400" cy="315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000">
                <a:solidFill>
                  <a:srgbClr val="0233AE"/>
                </a:solidFill>
                <a:latin typeface="Poppins"/>
                <a:ea typeface="Poppins"/>
                <a:cs typeface="Poppins"/>
                <a:sym typeface="Poppins"/>
              </a:rPr>
              <a:t>Transistor de tipo NPN</a:t>
            </a:r>
            <a:endParaRPr sz="2000">
              <a:solidFill>
                <a:srgbClr val="0233AE"/>
              </a:solidFill>
              <a:latin typeface="Poppins"/>
              <a:ea typeface="Poppins"/>
              <a:cs typeface="Poppins"/>
              <a:sym typeface="Poppins"/>
            </a:endParaRPr>
          </a:p>
          <a:p>
            <a:pPr indent="0" lvl="0" marL="0" rtl="0" algn="l">
              <a:spcBef>
                <a:spcPts val="0"/>
              </a:spcBef>
              <a:spcAft>
                <a:spcPts val="0"/>
              </a:spcAft>
              <a:buNone/>
            </a:pPr>
            <a:r>
              <a:t/>
            </a:r>
            <a:endParaRPr sz="2000">
              <a:solidFill>
                <a:srgbClr val="0233AE"/>
              </a:solidFill>
              <a:latin typeface="Poppins"/>
              <a:ea typeface="Poppins"/>
              <a:cs typeface="Poppins"/>
              <a:sym typeface="Poppins"/>
            </a:endParaRPr>
          </a:p>
          <a:p>
            <a:pPr indent="0" lvl="0" marL="0" rtl="0" algn="l">
              <a:spcBef>
                <a:spcPts val="0"/>
              </a:spcBef>
              <a:spcAft>
                <a:spcPts val="0"/>
              </a:spcAft>
              <a:buNone/>
            </a:pPr>
            <a:r>
              <a:rPr lang="es" sz="2000">
                <a:solidFill>
                  <a:srgbClr val="0233AE"/>
                </a:solidFill>
                <a:latin typeface="Poppins"/>
                <a:ea typeface="Poppins"/>
                <a:cs typeface="Poppins"/>
                <a:sym typeface="Poppins"/>
              </a:rPr>
              <a:t>El paso de la corriente entre el </a:t>
            </a:r>
            <a:r>
              <a:rPr b="1" lang="es" sz="2000">
                <a:solidFill>
                  <a:srgbClr val="0233AE"/>
                </a:solidFill>
                <a:latin typeface="Poppins"/>
                <a:ea typeface="Poppins"/>
                <a:cs typeface="Poppins"/>
                <a:sym typeface="Poppins"/>
              </a:rPr>
              <a:t>emisor (1)</a:t>
            </a:r>
            <a:r>
              <a:rPr lang="es" sz="2000">
                <a:solidFill>
                  <a:srgbClr val="0233AE"/>
                </a:solidFill>
                <a:latin typeface="Poppins"/>
                <a:ea typeface="Poppins"/>
                <a:cs typeface="Poppins"/>
                <a:sym typeface="Poppins"/>
              </a:rPr>
              <a:t> y el </a:t>
            </a:r>
            <a:r>
              <a:rPr b="1" lang="es" sz="2000">
                <a:solidFill>
                  <a:srgbClr val="0233AE"/>
                </a:solidFill>
                <a:latin typeface="Poppins"/>
                <a:ea typeface="Poppins"/>
                <a:cs typeface="Poppins"/>
                <a:sym typeface="Poppins"/>
              </a:rPr>
              <a:t>colector (3)</a:t>
            </a:r>
            <a:r>
              <a:rPr lang="es" sz="2000">
                <a:solidFill>
                  <a:srgbClr val="0233AE"/>
                </a:solidFill>
                <a:latin typeface="Poppins"/>
                <a:ea typeface="Poppins"/>
                <a:cs typeface="Poppins"/>
                <a:sym typeface="Poppins"/>
              </a:rPr>
              <a:t> es controlado por una pequeña corriente aplicada en la </a:t>
            </a:r>
            <a:r>
              <a:rPr b="1" lang="es" sz="2000">
                <a:solidFill>
                  <a:srgbClr val="0233AE"/>
                </a:solidFill>
                <a:latin typeface="Poppins"/>
                <a:ea typeface="Poppins"/>
                <a:cs typeface="Poppins"/>
                <a:sym typeface="Poppins"/>
              </a:rPr>
              <a:t>base(2)</a:t>
            </a:r>
            <a:endParaRPr b="1" sz="2000">
              <a:solidFill>
                <a:srgbClr val="0233AE"/>
              </a:solidFill>
              <a:latin typeface="Poppins"/>
              <a:ea typeface="Poppins"/>
              <a:cs typeface="Poppins"/>
              <a:sym typeface="Poppins"/>
            </a:endParaRPr>
          </a:p>
        </p:txBody>
      </p:sp>
      <p:pic>
        <p:nvPicPr>
          <p:cNvPr id="156" name="Google Shape;156;p21"/>
          <p:cNvPicPr preferRelativeResize="0"/>
          <p:nvPr/>
        </p:nvPicPr>
        <p:blipFill>
          <a:blip r:embed="rId3">
            <a:alphaModFix/>
          </a:blip>
          <a:stretch>
            <a:fillRect/>
          </a:stretch>
        </p:blipFill>
        <p:spPr>
          <a:xfrm>
            <a:off x="4337025" y="779950"/>
            <a:ext cx="4494821" cy="3820598"/>
          </a:xfrm>
          <a:prstGeom prst="rect">
            <a:avLst/>
          </a:prstGeom>
          <a:noFill/>
          <a:ln>
            <a:noFill/>
          </a:ln>
        </p:spPr>
      </p:pic>
      <p:pic>
        <p:nvPicPr>
          <p:cNvPr id="157" name="Google Shape;157;p21"/>
          <p:cNvPicPr preferRelativeResize="0"/>
          <p:nvPr/>
        </p:nvPicPr>
        <p:blipFill rotWithShape="1">
          <a:blip r:embed="rId4">
            <a:alphaModFix/>
          </a:blip>
          <a:srcRect b="21938" l="9222" r="8365" t="22367"/>
          <a:stretch/>
        </p:blipFill>
        <p:spPr>
          <a:xfrm>
            <a:off x="8156483" y="234168"/>
            <a:ext cx="765220" cy="344252"/>
          </a:xfrm>
          <a:prstGeom prst="rect">
            <a:avLst/>
          </a:prstGeom>
          <a:noFill/>
          <a:ln>
            <a:noFill/>
          </a:ln>
        </p:spPr>
      </p:pic>
      <p:grpSp>
        <p:nvGrpSpPr>
          <p:cNvPr id="158" name="Google Shape;158;p21"/>
          <p:cNvGrpSpPr/>
          <p:nvPr/>
        </p:nvGrpSpPr>
        <p:grpSpPr>
          <a:xfrm>
            <a:off x="-126275" y="4746700"/>
            <a:ext cx="9270322" cy="401792"/>
            <a:chOff x="0" y="-29340"/>
            <a:chExt cx="2901600" cy="5177731"/>
          </a:xfrm>
        </p:grpSpPr>
        <p:pic>
          <p:nvPicPr>
            <p:cNvPr id="159" name="Google Shape;159;p21"/>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60" name="Google Shape;160;p21"/>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61" name="Google Shape;161;p21"/>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2"/>
          <p:cNvPicPr preferRelativeResize="0"/>
          <p:nvPr/>
        </p:nvPicPr>
        <p:blipFill>
          <a:blip r:embed="rId3">
            <a:alphaModFix/>
          </a:blip>
          <a:stretch>
            <a:fillRect/>
          </a:stretch>
        </p:blipFill>
        <p:spPr>
          <a:xfrm>
            <a:off x="658137" y="137538"/>
            <a:ext cx="7826959" cy="4563178"/>
          </a:xfrm>
          <a:prstGeom prst="rect">
            <a:avLst/>
          </a:prstGeom>
          <a:noFill/>
          <a:ln>
            <a:noFill/>
          </a:ln>
        </p:spPr>
      </p:pic>
      <p:pic>
        <p:nvPicPr>
          <p:cNvPr id="167" name="Google Shape;167;p22"/>
          <p:cNvPicPr preferRelativeResize="0"/>
          <p:nvPr/>
        </p:nvPicPr>
        <p:blipFill rotWithShape="1">
          <a:blip r:embed="rId4">
            <a:alphaModFix/>
          </a:blip>
          <a:srcRect b="21938" l="9222" r="8365" t="22367"/>
          <a:stretch/>
        </p:blipFill>
        <p:spPr>
          <a:xfrm>
            <a:off x="327704" y="234168"/>
            <a:ext cx="765220" cy="344252"/>
          </a:xfrm>
          <a:prstGeom prst="rect">
            <a:avLst/>
          </a:prstGeom>
          <a:noFill/>
          <a:ln>
            <a:noFill/>
          </a:ln>
        </p:spPr>
      </p:pic>
      <p:grpSp>
        <p:nvGrpSpPr>
          <p:cNvPr id="168" name="Google Shape;168;p22"/>
          <p:cNvGrpSpPr/>
          <p:nvPr/>
        </p:nvGrpSpPr>
        <p:grpSpPr>
          <a:xfrm>
            <a:off x="-126275" y="4746700"/>
            <a:ext cx="9270322" cy="401792"/>
            <a:chOff x="0" y="-29340"/>
            <a:chExt cx="2901600" cy="5177731"/>
          </a:xfrm>
        </p:grpSpPr>
        <p:pic>
          <p:nvPicPr>
            <p:cNvPr id="169" name="Google Shape;169;p22"/>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70" name="Google Shape;170;p22"/>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71" name="Google Shape;171;p22"/>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solidFill>
                  <a:srgbClr val="0233AE"/>
                </a:solidFill>
                <a:latin typeface="Poppins"/>
                <a:ea typeface="Poppins"/>
                <a:cs typeface="Poppins"/>
                <a:sym typeface="Poppins"/>
              </a:rPr>
              <a:t>Simplificando los circuitos</a:t>
            </a:r>
            <a:endParaRPr b="1" i="1">
              <a:solidFill>
                <a:srgbClr val="0233AE"/>
              </a:solidFill>
              <a:latin typeface="Poppins"/>
              <a:ea typeface="Poppins"/>
              <a:cs typeface="Poppins"/>
              <a:sym typeface="Poppins"/>
            </a:endParaRPr>
          </a:p>
        </p:txBody>
      </p:sp>
      <p:sp>
        <p:nvSpPr>
          <p:cNvPr id="177" name="Google Shape;177;p23"/>
          <p:cNvSpPr txBox="1"/>
          <p:nvPr>
            <p:ph type="title"/>
          </p:nvPr>
        </p:nvSpPr>
        <p:spPr>
          <a:xfrm>
            <a:off x="311700" y="1381325"/>
            <a:ext cx="4034400" cy="114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000">
                <a:solidFill>
                  <a:srgbClr val="0233AE"/>
                </a:solidFill>
                <a:latin typeface="Poppins"/>
                <a:ea typeface="Poppins"/>
                <a:cs typeface="Poppins"/>
                <a:sym typeface="Poppins"/>
              </a:rPr>
              <a:t>A continuación se muestra el circuito anterior de forma simple</a:t>
            </a:r>
            <a:endParaRPr sz="2000">
              <a:solidFill>
                <a:srgbClr val="0233AE"/>
              </a:solidFill>
              <a:latin typeface="Poppins"/>
              <a:ea typeface="Poppins"/>
              <a:cs typeface="Poppins"/>
              <a:sym typeface="Poppins"/>
            </a:endParaRPr>
          </a:p>
        </p:txBody>
      </p:sp>
      <p:cxnSp>
        <p:nvCxnSpPr>
          <p:cNvPr id="178" name="Google Shape;178;p23"/>
          <p:cNvCxnSpPr>
            <a:endCxn id="179" idx="3"/>
          </p:cNvCxnSpPr>
          <p:nvPr/>
        </p:nvCxnSpPr>
        <p:spPr>
          <a:xfrm flipH="1">
            <a:off x="5164975" y="2284076"/>
            <a:ext cx="2423700" cy="1771500"/>
          </a:xfrm>
          <a:prstGeom prst="straightConnector1">
            <a:avLst/>
          </a:prstGeom>
          <a:noFill/>
          <a:ln cap="flat" cmpd="sng" w="38100">
            <a:solidFill>
              <a:srgbClr val="0233AE"/>
            </a:solidFill>
            <a:prstDash val="solid"/>
            <a:round/>
            <a:headEnd len="med" w="med" type="none"/>
            <a:tailEnd len="med" w="med" type="triangle"/>
          </a:ln>
        </p:spPr>
      </p:cxnSp>
      <p:sp>
        <p:nvSpPr>
          <p:cNvPr id="179" name="Google Shape;179;p23"/>
          <p:cNvSpPr/>
          <p:nvPr/>
        </p:nvSpPr>
        <p:spPr>
          <a:xfrm>
            <a:off x="3370975" y="3588476"/>
            <a:ext cx="1794000" cy="934200"/>
          </a:xfrm>
          <a:prstGeom prst="roundRect">
            <a:avLst>
              <a:gd fmla="val 16667" name="adj"/>
            </a:avLst>
          </a:prstGeom>
          <a:solidFill>
            <a:srgbClr val="0233A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400">
                <a:solidFill>
                  <a:srgbClr val="FFFFFF"/>
                </a:solidFill>
                <a:latin typeface="Poppins"/>
                <a:ea typeface="Poppins"/>
                <a:cs typeface="Poppins"/>
                <a:sym typeface="Poppins"/>
              </a:rPr>
              <a:t>Esto representa un transistor</a:t>
            </a:r>
            <a:endParaRPr sz="1400">
              <a:solidFill>
                <a:srgbClr val="FFFFFF"/>
              </a:solidFill>
              <a:latin typeface="Poppins"/>
              <a:ea typeface="Poppins"/>
              <a:cs typeface="Poppins"/>
              <a:sym typeface="Poppins"/>
            </a:endParaRPr>
          </a:p>
        </p:txBody>
      </p:sp>
      <p:cxnSp>
        <p:nvCxnSpPr>
          <p:cNvPr id="180" name="Google Shape;180;p23"/>
          <p:cNvCxnSpPr/>
          <p:nvPr/>
        </p:nvCxnSpPr>
        <p:spPr>
          <a:xfrm flipH="1">
            <a:off x="4346103" y="671376"/>
            <a:ext cx="3065400" cy="2109000"/>
          </a:xfrm>
          <a:prstGeom prst="straightConnector1">
            <a:avLst/>
          </a:prstGeom>
          <a:noFill/>
          <a:ln cap="flat" cmpd="sng" w="38100">
            <a:solidFill>
              <a:srgbClr val="802778"/>
            </a:solidFill>
            <a:prstDash val="solid"/>
            <a:round/>
            <a:headEnd len="med" w="med" type="none"/>
            <a:tailEnd len="med" w="med" type="triangle"/>
          </a:ln>
        </p:spPr>
      </p:cxnSp>
      <p:sp>
        <p:nvSpPr>
          <p:cNvPr id="181" name="Google Shape;181;p23"/>
          <p:cNvSpPr/>
          <p:nvPr/>
        </p:nvSpPr>
        <p:spPr>
          <a:xfrm>
            <a:off x="1671000" y="2280400"/>
            <a:ext cx="2675100" cy="1143000"/>
          </a:xfrm>
          <a:prstGeom prst="roundRect">
            <a:avLst>
              <a:gd fmla="val 16667" name="adj"/>
            </a:avLst>
          </a:prstGeom>
          <a:solidFill>
            <a:srgbClr val="80277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400">
                <a:solidFill>
                  <a:srgbClr val="FFFFFF"/>
                </a:solidFill>
                <a:latin typeface="Poppins"/>
                <a:ea typeface="Poppins"/>
                <a:cs typeface="Poppins"/>
                <a:sym typeface="Poppins"/>
              </a:rPr>
              <a:t>El cable morado representa nuestro dedo como una resistencia e interruptor</a:t>
            </a:r>
            <a:endParaRPr sz="1400">
              <a:solidFill>
                <a:srgbClr val="FFFFFF"/>
              </a:solidFill>
              <a:latin typeface="Poppins"/>
              <a:ea typeface="Poppins"/>
              <a:cs typeface="Poppins"/>
              <a:sym typeface="Poppins"/>
            </a:endParaRPr>
          </a:p>
        </p:txBody>
      </p:sp>
      <p:pic>
        <p:nvPicPr>
          <p:cNvPr id="182" name="Google Shape;182;p23"/>
          <p:cNvPicPr preferRelativeResize="0"/>
          <p:nvPr/>
        </p:nvPicPr>
        <p:blipFill>
          <a:blip r:embed="rId3">
            <a:alphaModFix/>
          </a:blip>
          <a:stretch>
            <a:fillRect/>
          </a:stretch>
        </p:blipFill>
        <p:spPr>
          <a:xfrm>
            <a:off x="5290656" y="513399"/>
            <a:ext cx="3442519" cy="4181225"/>
          </a:xfrm>
          <a:prstGeom prst="rect">
            <a:avLst/>
          </a:prstGeom>
          <a:noFill/>
          <a:ln>
            <a:noFill/>
          </a:ln>
        </p:spPr>
      </p:pic>
      <p:pic>
        <p:nvPicPr>
          <p:cNvPr id="183" name="Google Shape;183;p23"/>
          <p:cNvPicPr preferRelativeResize="0"/>
          <p:nvPr/>
        </p:nvPicPr>
        <p:blipFill rotWithShape="1">
          <a:blip r:embed="rId4">
            <a:alphaModFix/>
          </a:blip>
          <a:srcRect b="21938" l="9222" r="8365" t="22367"/>
          <a:stretch/>
        </p:blipFill>
        <p:spPr>
          <a:xfrm>
            <a:off x="8099339" y="234168"/>
            <a:ext cx="765220" cy="344252"/>
          </a:xfrm>
          <a:prstGeom prst="rect">
            <a:avLst/>
          </a:prstGeom>
          <a:noFill/>
          <a:ln>
            <a:noFill/>
          </a:ln>
        </p:spPr>
      </p:pic>
      <p:grpSp>
        <p:nvGrpSpPr>
          <p:cNvPr id="184" name="Google Shape;184;p23"/>
          <p:cNvGrpSpPr/>
          <p:nvPr/>
        </p:nvGrpSpPr>
        <p:grpSpPr>
          <a:xfrm>
            <a:off x="-126275" y="4746700"/>
            <a:ext cx="9270322" cy="401792"/>
            <a:chOff x="0" y="-29340"/>
            <a:chExt cx="2901600" cy="5177731"/>
          </a:xfrm>
        </p:grpSpPr>
        <p:pic>
          <p:nvPicPr>
            <p:cNvPr id="185" name="Google Shape;185;p23"/>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86" name="Google Shape;186;p23"/>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87" name="Google Shape;187;p23"/>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grpSp>
        <p:nvGrpSpPr>
          <p:cNvPr id="192" name="Google Shape;192;p24"/>
          <p:cNvGrpSpPr/>
          <p:nvPr/>
        </p:nvGrpSpPr>
        <p:grpSpPr>
          <a:xfrm>
            <a:off x="-10633" y="-29340"/>
            <a:ext cx="2901600" cy="5177731"/>
            <a:chOff x="0" y="-29340"/>
            <a:chExt cx="2901600" cy="5177731"/>
          </a:xfrm>
        </p:grpSpPr>
        <p:pic>
          <p:nvPicPr>
            <p:cNvPr id="193" name="Google Shape;193;p24"/>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194" name="Google Shape;194;p24"/>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95" name="Google Shape;195;p24"/>
          <p:cNvSpPr txBox="1"/>
          <p:nvPr/>
        </p:nvSpPr>
        <p:spPr>
          <a:xfrm rot="-755">
            <a:off x="757374" y="1073563"/>
            <a:ext cx="1365600" cy="400800"/>
          </a:xfrm>
          <a:prstGeom prst="rect">
            <a:avLst/>
          </a:prstGeom>
          <a:noFill/>
          <a:ln>
            <a:noFill/>
          </a:ln>
        </p:spPr>
        <p:txBody>
          <a:bodyPr anchorCtr="0" anchor="t" bIns="91425" lIns="91425" spcFirstLastPara="1" rIns="91425" wrap="square" tIns="91425">
            <a:noAutofit/>
          </a:bodyPr>
          <a:lstStyle/>
          <a:p>
            <a:pPr indent="0" lvl="0" marL="114300" marR="0" rtl="0" algn="l">
              <a:lnSpc>
                <a:spcPct val="100000"/>
              </a:lnSpc>
              <a:spcBef>
                <a:spcPts val="0"/>
              </a:spcBef>
              <a:spcAft>
                <a:spcPts val="0"/>
              </a:spcAft>
              <a:buNone/>
            </a:pPr>
            <a:r>
              <a:rPr b="1" lang="es" sz="1800">
                <a:solidFill>
                  <a:srgbClr val="FFFFFF"/>
                </a:solidFill>
                <a:latin typeface="Poppins SemiBold"/>
                <a:ea typeface="Poppins SemiBold"/>
                <a:cs typeface="Poppins SemiBold"/>
                <a:sym typeface="Poppins SemiBold"/>
              </a:rPr>
              <a:t>DESAFÍO</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96" name="Google Shape;196;p24"/>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sp>
        <p:nvSpPr>
          <p:cNvPr id="197" name="Google Shape;197;p24"/>
          <p:cNvSpPr txBox="1"/>
          <p:nvPr/>
        </p:nvSpPr>
        <p:spPr>
          <a:xfrm rot="-944">
            <a:off x="3248800" y="710779"/>
            <a:ext cx="5464800" cy="35451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rgbClr val="0233AE"/>
              </a:buClr>
              <a:buSzPts val="1900"/>
              <a:buFont typeface="Poppins"/>
              <a:buAutoNum type="arabicPeriod"/>
            </a:pPr>
            <a:r>
              <a:rPr lang="es" sz="1900">
                <a:solidFill>
                  <a:srgbClr val="0233AE"/>
                </a:solidFill>
                <a:latin typeface="Poppins"/>
                <a:ea typeface="Poppins"/>
                <a:cs typeface="Poppins"/>
                <a:sym typeface="Poppins"/>
              </a:rPr>
              <a:t>Un </a:t>
            </a:r>
            <a:r>
              <a:rPr b="1" lang="es" sz="1900">
                <a:solidFill>
                  <a:srgbClr val="0233AE"/>
                </a:solidFill>
                <a:latin typeface="Poppins"/>
                <a:ea typeface="Poppins"/>
                <a:cs typeface="Poppins"/>
                <a:sym typeface="Poppins"/>
              </a:rPr>
              <a:t>botón</a:t>
            </a:r>
            <a:r>
              <a:rPr lang="es" sz="1900">
                <a:solidFill>
                  <a:srgbClr val="0233AE"/>
                </a:solidFill>
                <a:latin typeface="Poppins"/>
                <a:ea typeface="Poppins"/>
                <a:cs typeface="Poppins"/>
                <a:sym typeface="Poppins"/>
              </a:rPr>
              <a:t> que controle el encendido de </a:t>
            </a:r>
            <a:r>
              <a:rPr b="1" lang="es" sz="1900">
                <a:solidFill>
                  <a:srgbClr val="0233AE"/>
                </a:solidFill>
                <a:latin typeface="Poppins"/>
                <a:ea typeface="Poppins"/>
                <a:cs typeface="Poppins"/>
                <a:sym typeface="Poppins"/>
              </a:rPr>
              <a:t>2 LED</a:t>
            </a:r>
            <a:endParaRPr b="1" sz="1900">
              <a:solidFill>
                <a:srgbClr val="0233AE"/>
              </a:solidFill>
              <a:latin typeface="Poppins"/>
              <a:ea typeface="Poppins"/>
              <a:cs typeface="Poppins"/>
              <a:sym typeface="Poppins"/>
            </a:endParaRPr>
          </a:p>
          <a:p>
            <a:pPr indent="0" lvl="0" marL="457200" rtl="0" algn="l">
              <a:spcBef>
                <a:spcPts val="0"/>
              </a:spcBef>
              <a:spcAft>
                <a:spcPts val="0"/>
              </a:spcAft>
              <a:buNone/>
            </a:pPr>
            <a:r>
              <a:t/>
            </a:r>
            <a:endParaRPr b="1" sz="1900">
              <a:solidFill>
                <a:srgbClr val="0233AE"/>
              </a:solidFill>
              <a:latin typeface="Poppins"/>
              <a:ea typeface="Poppins"/>
              <a:cs typeface="Poppins"/>
              <a:sym typeface="Poppins"/>
            </a:endParaRPr>
          </a:p>
          <a:p>
            <a:pPr indent="-349250" lvl="0" marL="457200" rtl="0" algn="l">
              <a:spcBef>
                <a:spcPts val="0"/>
              </a:spcBef>
              <a:spcAft>
                <a:spcPts val="0"/>
              </a:spcAft>
              <a:buClr>
                <a:srgbClr val="0233AE"/>
              </a:buClr>
              <a:buSzPts val="1900"/>
              <a:buFont typeface="Poppins"/>
              <a:buAutoNum type="arabicPeriod"/>
            </a:pPr>
            <a:r>
              <a:rPr lang="es" sz="1900">
                <a:solidFill>
                  <a:srgbClr val="0233AE"/>
                </a:solidFill>
                <a:latin typeface="Poppins"/>
                <a:ea typeface="Poppins"/>
                <a:cs typeface="Poppins"/>
                <a:sym typeface="Poppins"/>
              </a:rPr>
              <a:t> Dos </a:t>
            </a:r>
            <a:r>
              <a:rPr b="1" lang="es" sz="1900">
                <a:solidFill>
                  <a:srgbClr val="0233AE"/>
                </a:solidFill>
                <a:latin typeface="Poppins"/>
                <a:ea typeface="Poppins"/>
                <a:cs typeface="Poppins"/>
                <a:sym typeface="Poppins"/>
              </a:rPr>
              <a:t>botones </a:t>
            </a:r>
            <a:r>
              <a:rPr lang="es" sz="1900">
                <a:solidFill>
                  <a:srgbClr val="0233AE"/>
                </a:solidFill>
                <a:latin typeface="Poppins"/>
                <a:ea typeface="Poppins"/>
                <a:cs typeface="Poppins"/>
                <a:sym typeface="Poppins"/>
              </a:rPr>
              <a:t>que controlen el encendido de un </a:t>
            </a:r>
            <a:r>
              <a:rPr b="1" lang="es" sz="1900">
                <a:solidFill>
                  <a:srgbClr val="0233AE"/>
                </a:solidFill>
                <a:latin typeface="Poppins"/>
                <a:ea typeface="Poppins"/>
                <a:cs typeface="Poppins"/>
                <a:sym typeface="Poppins"/>
              </a:rPr>
              <a:t>LED </a:t>
            </a:r>
            <a:r>
              <a:rPr lang="es" sz="1900">
                <a:solidFill>
                  <a:srgbClr val="0233AE"/>
                </a:solidFill>
                <a:latin typeface="Poppins"/>
                <a:ea typeface="Poppins"/>
                <a:cs typeface="Poppins"/>
                <a:sym typeface="Poppins"/>
              </a:rPr>
              <a:t>(deben activarse ambos botones para encender el LED)</a:t>
            </a:r>
            <a:endParaRPr sz="1900">
              <a:solidFill>
                <a:srgbClr val="0233AE"/>
              </a:solidFill>
              <a:latin typeface="Poppins"/>
              <a:ea typeface="Poppins"/>
              <a:cs typeface="Poppins"/>
              <a:sym typeface="Poppins"/>
            </a:endParaRPr>
          </a:p>
          <a:p>
            <a:pPr indent="0" lvl="0" marL="457200" rtl="0" algn="l">
              <a:spcBef>
                <a:spcPts val="0"/>
              </a:spcBef>
              <a:spcAft>
                <a:spcPts val="0"/>
              </a:spcAft>
              <a:buNone/>
            </a:pPr>
            <a:r>
              <a:t/>
            </a:r>
            <a:endParaRPr sz="1900">
              <a:solidFill>
                <a:srgbClr val="0233AE"/>
              </a:solidFill>
              <a:latin typeface="Poppins"/>
              <a:ea typeface="Poppins"/>
              <a:cs typeface="Poppins"/>
              <a:sym typeface="Poppins"/>
            </a:endParaRPr>
          </a:p>
          <a:p>
            <a:pPr indent="-349250" lvl="0" marL="457200" rtl="0" algn="l">
              <a:spcBef>
                <a:spcPts val="0"/>
              </a:spcBef>
              <a:spcAft>
                <a:spcPts val="0"/>
              </a:spcAft>
              <a:buClr>
                <a:srgbClr val="0233AE"/>
              </a:buClr>
              <a:buSzPts val="1900"/>
              <a:buFont typeface="Poppins"/>
              <a:buAutoNum type="arabicPeriod"/>
            </a:pPr>
            <a:r>
              <a:rPr lang="es" sz="1900">
                <a:solidFill>
                  <a:srgbClr val="0233AE"/>
                </a:solidFill>
                <a:latin typeface="Poppins"/>
                <a:ea typeface="Poppins"/>
                <a:cs typeface="Poppins"/>
                <a:sym typeface="Poppins"/>
              </a:rPr>
              <a:t>Dos </a:t>
            </a:r>
            <a:r>
              <a:rPr b="1" lang="es" sz="1900">
                <a:solidFill>
                  <a:srgbClr val="0233AE"/>
                </a:solidFill>
                <a:latin typeface="Poppins"/>
                <a:ea typeface="Poppins"/>
                <a:cs typeface="Poppins"/>
                <a:sym typeface="Poppins"/>
              </a:rPr>
              <a:t>transistores</a:t>
            </a:r>
            <a:r>
              <a:rPr lang="es" sz="1900">
                <a:solidFill>
                  <a:srgbClr val="0233AE"/>
                </a:solidFill>
                <a:latin typeface="Poppins"/>
                <a:ea typeface="Poppins"/>
                <a:cs typeface="Poppins"/>
                <a:sym typeface="Poppins"/>
              </a:rPr>
              <a:t> que controlen el encendido de un </a:t>
            </a:r>
            <a:r>
              <a:rPr b="1" lang="es" sz="1900">
                <a:solidFill>
                  <a:srgbClr val="0233AE"/>
                </a:solidFill>
                <a:latin typeface="Poppins"/>
                <a:ea typeface="Poppins"/>
                <a:cs typeface="Poppins"/>
                <a:sym typeface="Poppins"/>
              </a:rPr>
              <a:t>LED</a:t>
            </a:r>
            <a:r>
              <a:rPr lang="es" sz="1900">
                <a:solidFill>
                  <a:srgbClr val="0233AE"/>
                </a:solidFill>
                <a:latin typeface="Poppins"/>
                <a:ea typeface="Poppins"/>
                <a:cs typeface="Poppins"/>
                <a:sym typeface="Poppins"/>
              </a:rPr>
              <a:t> (deben activarse ambos para encender el LED)</a:t>
            </a:r>
            <a:endParaRPr sz="1900">
              <a:solidFill>
                <a:srgbClr val="0233AE"/>
              </a:solidFill>
              <a:latin typeface="Poppins"/>
              <a:ea typeface="Poppins"/>
              <a:cs typeface="Poppins"/>
              <a:sym typeface="Poppins"/>
            </a:endParaRPr>
          </a:p>
          <a:p>
            <a:pPr indent="0" lvl="0" marL="457200" rtl="0" algn="l">
              <a:spcBef>
                <a:spcPts val="0"/>
              </a:spcBef>
              <a:spcAft>
                <a:spcPts val="0"/>
              </a:spcAft>
              <a:buNone/>
            </a:pPr>
            <a:r>
              <a:t/>
            </a:r>
            <a:endParaRPr sz="1900">
              <a:solidFill>
                <a:srgbClr val="0233AE"/>
              </a:solidFill>
              <a:latin typeface="Poppins"/>
              <a:ea typeface="Poppins"/>
              <a:cs typeface="Poppins"/>
              <a:sym typeface="Poppins"/>
            </a:endParaRPr>
          </a:p>
          <a:p>
            <a:pPr indent="-349250" lvl="0" marL="457200" rtl="0" algn="l">
              <a:spcBef>
                <a:spcPts val="0"/>
              </a:spcBef>
              <a:spcAft>
                <a:spcPts val="0"/>
              </a:spcAft>
              <a:buClr>
                <a:srgbClr val="0233AE"/>
              </a:buClr>
              <a:buSzPts val="1900"/>
              <a:buFont typeface="Poppins"/>
              <a:buAutoNum type="arabicPeriod"/>
            </a:pPr>
            <a:r>
              <a:rPr lang="es" sz="1900">
                <a:solidFill>
                  <a:srgbClr val="0233AE"/>
                </a:solidFill>
                <a:latin typeface="Poppins"/>
                <a:ea typeface="Poppins"/>
                <a:cs typeface="Poppins"/>
                <a:sym typeface="Poppins"/>
              </a:rPr>
              <a:t>Un solo circuito que contenga los </a:t>
            </a:r>
            <a:r>
              <a:rPr b="1" lang="es" sz="1900">
                <a:solidFill>
                  <a:srgbClr val="0233AE"/>
                </a:solidFill>
                <a:latin typeface="Poppins"/>
                <a:ea typeface="Poppins"/>
                <a:cs typeface="Poppins"/>
                <a:sym typeface="Poppins"/>
              </a:rPr>
              <a:t>tres anteriores</a:t>
            </a:r>
            <a:r>
              <a:rPr lang="es" sz="1900">
                <a:solidFill>
                  <a:srgbClr val="0233AE"/>
                </a:solidFill>
                <a:latin typeface="Poppins"/>
                <a:ea typeface="Poppins"/>
                <a:cs typeface="Poppins"/>
                <a:sym typeface="Poppins"/>
              </a:rPr>
              <a:t>.</a:t>
            </a:r>
            <a:endParaRPr b="1" sz="1900">
              <a:solidFill>
                <a:srgbClr val="0233AE"/>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1900">
              <a:solidFill>
                <a:srgbClr val="0233AE"/>
              </a:solidFill>
              <a:latin typeface="Poppins"/>
              <a:ea typeface="Poppins"/>
              <a:cs typeface="Poppins"/>
              <a:sym typeface="Poppins"/>
            </a:endParaRPr>
          </a:p>
          <a:p>
            <a:pPr indent="0" lvl="0" marL="0" rtl="0" algn="l">
              <a:spcBef>
                <a:spcPts val="0"/>
              </a:spcBef>
              <a:spcAft>
                <a:spcPts val="0"/>
              </a:spcAft>
              <a:buNone/>
            </a:pPr>
            <a:r>
              <a:t/>
            </a:r>
            <a:endParaRPr sz="1900">
              <a:solidFill>
                <a:srgbClr val="0233AE"/>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t/>
            </a:r>
            <a:endParaRPr i="0" sz="1900" u="none" cap="none" strike="noStrike">
              <a:solidFill>
                <a:srgbClr val="0233AE"/>
              </a:solidFill>
              <a:latin typeface="Poppins"/>
              <a:ea typeface="Poppins"/>
              <a:cs typeface="Poppins"/>
              <a:sym typeface="Poppins"/>
            </a:endParaRPr>
          </a:p>
        </p:txBody>
      </p:sp>
      <p:pic>
        <p:nvPicPr>
          <p:cNvPr id="198" name="Google Shape;198;p24"/>
          <p:cNvPicPr preferRelativeResize="0"/>
          <p:nvPr/>
        </p:nvPicPr>
        <p:blipFill rotWithShape="1">
          <a:blip r:embed="rId5">
            <a:alphaModFix/>
          </a:blip>
          <a:srcRect b="0" l="0" r="0" t="0"/>
          <a:stretch/>
        </p:blipFill>
        <p:spPr>
          <a:xfrm>
            <a:off x="220128" y="3335674"/>
            <a:ext cx="1365667" cy="1534231"/>
          </a:xfrm>
          <a:prstGeom prst="rect">
            <a:avLst/>
          </a:prstGeom>
          <a:noFill/>
          <a:ln>
            <a:noFill/>
          </a:ln>
        </p:spPr>
      </p:pic>
      <p:sp>
        <p:nvSpPr>
          <p:cNvPr id="199" name="Google Shape;199;p24"/>
          <p:cNvSpPr txBox="1"/>
          <p:nvPr/>
        </p:nvSpPr>
        <p:spPr>
          <a:xfrm>
            <a:off x="119400" y="1570600"/>
            <a:ext cx="26130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a:solidFill>
                  <a:schemeClr val="lt1"/>
                </a:solidFill>
                <a:latin typeface="Poppins"/>
                <a:ea typeface="Poppins"/>
                <a:cs typeface="Poppins"/>
                <a:sym typeface="Poppins"/>
              </a:rPr>
              <a:t>Con lo aprendido el día de hoy, diagrama los siguientes circuitos, una vez validados por el mentor, puedes conectarlo a la protoboard.</a:t>
            </a:r>
            <a:endParaRPr>
              <a:solidFill>
                <a:schemeClr val="lt1"/>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solidFill>
                  <a:srgbClr val="0233AE"/>
                </a:solidFill>
                <a:latin typeface="Poppins"/>
                <a:ea typeface="Poppins"/>
                <a:cs typeface="Poppins"/>
                <a:sym typeface="Poppins"/>
              </a:rPr>
              <a:t>IC (Integrado) - 555</a:t>
            </a:r>
            <a:endParaRPr b="1" i="1">
              <a:solidFill>
                <a:srgbClr val="0233AE"/>
              </a:solidFill>
              <a:latin typeface="Poppins"/>
              <a:ea typeface="Poppins"/>
              <a:cs typeface="Poppins"/>
              <a:sym typeface="Poppins"/>
            </a:endParaRPr>
          </a:p>
        </p:txBody>
      </p:sp>
      <p:sp>
        <p:nvSpPr>
          <p:cNvPr id="205" name="Google Shape;205;p25"/>
          <p:cNvSpPr txBox="1"/>
          <p:nvPr>
            <p:ph type="title"/>
          </p:nvPr>
        </p:nvSpPr>
        <p:spPr>
          <a:xfrm>
            <a:off x="311700" y="1169100"/>
            <a:ext cx="4083300" cy="313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000">
                <a:solidFill>
                  <a:srgbClr val="0233AE"/>
                </a:solidFill>
                <a:latin typeface="Poppins"/>
                <a:ea typeface="Poppins"/>
                <a:cs typeface="Poppins"/>
                <a:sym typeface="Poppins"/>
              </a:rPr>
              <a:t>IC 555 es un circuito integrado que se utiliza en la generación de temporizadores, pulsos y oscilaciones. </a:t>
            </a:r>
            <a:endParaRPr sz="2000">
              <a:solidFill>
                <a:srgbClr val="0233AE"/>
              </a:solidFill>
              <a:latin typeface="Poppins"/>
              <a:ea typeface="Poppins"/>
              <a:cs typeface="Poppins"/>
              <a:sym typeface="Poppins"/>
            </a:endParaRPr>
          </a:p>
          <a:p>
            <a:pPr indent="0" lvl="0" marL="0" rtl="0" algn="l">
              <a:spcBef>
                <a:spcPts val="0"/>
              </a:spcBef>
              <a:spcAft>
                <a:spcPts val="0"/>
              </a:spcAft>
              <a:buSzPts val="990"/>
              <a:buNone/>
            </a:pPr>
            <a:r>
              <a:t/>
            </a:r>
            <a:endParaRPr sz="2000">
              <a:solidFill>
                <a:srgbClr val="0233AE"/>
              </a:solidFill>
              <a:latin typeface="Poppins"/>
              <a:ea typeface="Poppins"/>
              <a:cs typeface="Poppins"/>
              <a:sym typeface="Poppins"/>
            </a:endParaRPr>
          </a:p>
          <a:p>
            <a:pPr indent="0" lvl="0" marL="0" rtl="0" algn="l">
              <a:spcBef>
                <a:spcPts val="0"/>
              </a:spcBef>
              <a:spcAft>
                <a:spcPts val="0"/>
              </a:spcAft>
              <a:buSzPts val="990"/>
              <a:buNone/>
            </a:pPr>
            <a:r>
              <a:rPr lang="es" sz="2000">
                <a:solidFill>
                  <a:srgbClr val="0233AE"/>
                </a:solidFill>
                <a:latin typeface="Poppins"/>
                <a:ea typeface="Poppins"/>
                <a:cs typeface="Poppins"/>
                <a:sym typeface="Poppins"/>
              </a:rPr>
              <a:t>El 555 puede ser utilizado para proporcionar retardos de tiempo</a:t>
            </a:r>
            <a:endParaRPr sz="1300">
              <a:solidFill>
                <a:srgbClr val="0233AE"/>
              </a:solidFill>
              <a:latin typeface="Poppins"/>
              <a:ea typeface="Poppins"/>
              <a:cs typeface="Poppins"/>
              <a:sym typeface="Poppins"/>
            </a:endParaRPr>
          </a:p>
        </p:txBody>
      </p:sp>
      <p:pic>
        <p:nvPicPr>
          <p:cNvPr id="206" name="Google Shape;206;p25"/>
          <p:cNvPicPr preferRelativeResize="0"/>
          <p:nvPr/>
        </p:nvPicPr>
        <p:blipFill rotWithShape="1">
          <a:blip r:embed="rId3">
            <a:alphaModFix/>
          </a:blip>
          <a:srcRect b="21938" l="9222" r="8365" t="22367"/>
          <a:stretch/>
        </p:blipFill>
        <p:spPr>
          <a:xfrm>
            <a:off x="8156483" y="234168"/>
            <a:ext cx="765220" cy="344252"/>
          </a:xfrm>
          <a:prstGeom prst="rect">
            <a:avLst/>
          </a:prstGeom>
          <a:noFill/>
          <a:ln>
            <a:noFill/>
          </a:ln>
        </p:spPr>
      </p:pic>
      <p:grpSp>
        <p:nvGrpSpPr>
          <p:cNvPr id="207" name="Google Shape;207;p25"/>
          <p:cNvGrpSpPr/>
          <p:nvPr/>
        </p:nvGrpSpPr>
        <p:grpSpPr>
          <a:xfrm>
            <a:off x="-126275" y="4746700"/>
            <a:ext cx="9270322" cy="401792"/>
            <a:chOff x="0" y="-29340"/>
            <a:chExt cx="2901600" cy="5177731"/>
          </a:xfrm>
        </p:grpSpPr>
        <p:pic>
          <p:nvPicPr>
            <p:cNvPr id="208" name="Google Shape;208;p25"/>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209" name="Google Shape;209;p25"/>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10" name="Google Shape;210;p25"/>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11" name="Google Shape;211;p25"/>
          <p:cNvPicPr preferRelativeResize="0"/>
          <p:nvPr/>
        </p:nvPicPr>
        <p:blipFill>
          <a:blip r:embed="rId5">
            <a:alphaModFix/>
          </a:blip>
          <a:stretch>
            <a:fillRect/>
          </a:stretch>
        </p:blipFill>
        <p:spPr>
          <a:xfrm>
            <a:off x="4934507" y="1017736"/>
            <a:ext cx="3221975" cy="2416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solidFill>
                  <a:srgbClr val="0233AE"/>
                </a:solidFill>
                <a:latin typeface="Poppins"/>
                <a:ea typeface="Poppins"/>
                <a:cs typeface="Poppins"/>
                <a:sym typeface="Poppins"/>
              </a:rPr>
              <a:t>IC (Integrado) - 555</a:t>
            </a:r>
            <a:endParaRPr b="1" i="1">
              <a:solidFill>
                <a:srgbClr val="0233AE"/>
              </a:solidFill>
              <a:latin typeface="Poppins"/>
              <a:ea typeface="Poppins"/>
              <a:cs typeface="Poppins"/>
              <a:sym typeface="Poppins"/>
            </a:endParaRPr>
          </a:p>
        </p:txBody>
      </p:sp>
      <p:pic>
        <p:nvPicPr>
          <p:cNvPr id="217" name="Google Shape;217;p26"/>
          <p:cNvPicPr preferRelativeResize="0"/>
          <p:nvPr/>
        </p:nvPicPr>
        <p:blipFill rotWithShape="1">
          <a:blip r:embed="rId3">
            <a:alphaModFix/>
          </a:blip>
          <a:srcRect b="21938" l="9222" r="8365" t="22367"/>
          <a:stretch/>
        </p:blipFill>
        <p:spPr>
          <a:xfrm>
            <a:off x="8156483" y="234168"/>
            <a:ext cx="765220" cy="344252"/>
          </a:xfrm>
          <a:prstGeom prst="rect">
            <a:avLst/>
          </a:prstGeom>
          <a:noFill/>
          <a:ln>
            <a:noFill/>
          </a:ln>
        </p:spPr>
      </p:pic>
      <p:grpSp>
        <p:nvGrpSpPr>
          <p:cNvPr id="218" name="Google Shape;218;p26"/>
          <p:cNvGrpSpPr/>
          <p:nvPr/>
        </p:nvGrpSpPr>
        <p:grpSpPr>
          <a:xfrm>
            <a:off x="-126275" y="4746700"/>
            <a:ext cx="9270322" cy="401792"/>
            <a:chOff x="0" y="-29340"/>
            <a:chExt cx="2901600" cy="5177731"/>
          </a:xfrm>
        </p:grpSpPr>
        <p:pic>
          <p:nvPicPr>
            <p:cNvPr id="219" name="Google Shape;219;p26"/>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220" name="Google Shape;220;p26"/>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21" name="Google Shape;221;p26"/>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22" name="Google Shape;222;p26"/>
          <p:cNvPicPr preferRelativeResize="0"/>
          <p:nvPr/>
        </p:nvPicPr>
        <p:blipFill rotWithShape="1">
          <a:blip r:embed="rId5">
            <a:alphaModFix/>
          </a:blip>
          <a:srcRect b="0" l="31432" r="0" t="0"/>
          <a:stretch/>
        </p:blipFill>
        <p:spPr>
          <a:xfrm>
            <a:off x="4860000" y="1195100"/>
            <a:ext cx="4071450" cy="2753275"/>
          </a:xfrm>
          <a:prstGeom prst="rect">
            <a:avLst/>
          </a:prstGeom>
          <a:noFill/>
          <a:ln>
            <a:noFill/>
          </a:ln>
        </p:spPr>
      </p:pic>
      <p:sp>
        <p:nvSpPr>
          <p:cNvPr id="223" name="Google Shape;223;p26"/>
          <p:cNvSpPr txBox="1"/>
          <p:nvPr/>
        </p:nvSpPr>
        <p:spPr>
          <a:xfrm>
            <a:off x="229950" y="1517750"/>
            <a:ext cx="42603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90"/>
              <a:buFont typeface="Arial"/>
              <a:buNone/>
            </a:pPr>
            <a:r>
              <a:rPr lang="es" sz="2000">
                <a:solidFill>
                  <a:srgbClr val="0233AE"/>
                </a:solidFill>
                <a:latin typeface="Poppins"/>
                <a:ea typeface="Poppins"/>
                <a:cs typeface="Poppins"/>
                <a:sym typeface="Poppins"/>
              </a:rPr>
              <a:t>Utilizando 555 temporizador IC, podemos generar la duración de tiempo preciso de alta y baja salida, de micro segundos a horas, por eso 555 es muy popular y versátil IC. </a:t>
            </a:r>
            <a:endParaRPr sz="2000">
              <a:solidFill>
                <a:srgbClr val="0233AE"/>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27"/>
          <p:cNvPicPr preferRelativeResize="0"/>
          <p:nvPr/>
        </p:nvPicPr>
        <p:blipFill>
          <a:blip r:embed="rId3">
            <a:alphaModFix/>
          </a:blip>
          <a:stretch>
            <a:fillRect/>
          </a:stretch>
        </p:blipFill>
        <p:spPr>
          <a:xfrm>
            <a:off x="5337843" y="1347600"/>
            <a:ext cx="2870350" cy="2151000"/>
          </a:xfrm>
          <a:prstGeom prst="rect">
            <a:avLst/>
          </a:prstGeom>
          <a:noFill/>
          <a:ln>
            <a:noFill/>
          </a:ln>
        </p:spPr>
      </p:pic>
      <p:sp>
        <p:nvSpPr>
          <p:cNvPr id="229" name="Google Shape;229;p27"/>
          <p:cNvSpPr txBox="1"/>
          <p:nvPr>
            <p:ph type="title"/>
          </p:nvPr>
        </p:nvSpPr>
        <p:spPr>
          <a:xfrm>
            <a:off x="248588" y="119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solidFill>
                  <a:srgbClr val="0233AE"/>
                </a:solidFill>
                <a:latin typeface="Poppins"/>
                <a:ea typeface="Poppins"/>
                <a:cs typeface="Poppins"/>
                <a:sym typeface="Poppins"/>
              </a:rPr>
              <a:t>IC (Integrado) - 555</a:t>
            </a:r>
            <a:endParaRPr b="1" i="1">
              <a:solidFill>
                <a:srgbClr val="0233AE"/>
              </a:solidFill>
              <a:latin typeface="Poppins"/>
              <a:ea typeface="Poppins"/>
              <a:cs typeface="Poppins"/>
              <a:sym typeface="Poppins"/>
            </a:endParaRPr>
          </a:p>
        </p:txBody>
      </p:sp>
      <p:pic>
        <p:nvPicPr>
          <p:cNvPr id="230" name="Google Shape;230;p27"/>
          <p:cNvPicPr preferRelativeResize="0"/>
          <p:nvPr/>
        </p:nvPicPr>
        <p:blipFill rotWithShape="1">
          <a:blip r:embed="rId4">
            <a:alphaModFix/>
          </a:blip>
          <a:srcRect b="21938" l="9222" r="8365" t="22367"/>
          <a:stretch/>
        </p:blipFill>
        <p:spPr>
          <a:xfrm>
            <a:off x="8156483" y="234168"/>
            <a:ext cx="765220" cy="344252"/>
          </a:xfrm>
          <a:prstGeom prst="rect">
            <a:avLst/>
          </a:prstGeom>
          <a:noFill/>
          <a:ln>
            <a:noFill/>
          </a:ln>
        </p:spPr>
      </p:pic>
      <p:grpSp>
        <p:nvGrpSpPr>
          <p:cNvPr id="231" name="Google Shape;231;p27"/>
          <p:cNvGrpSpPr/>
          <p:nvPr/>
        </p:nvGrpSpPr>
        <p:grpSpPr>
          <a:xfrm>
            <a:off x="-126275" y="4746700"/>
            <a:ext cx="9270322" cy="401792"/>
            <a:chOff x="0" y="-29340"/>
            <a:chExt cx="2901600" cy="5177731"/>
          </a:xfrm>
        </p:grpSpPr>
        <p:pic>
          <p:nvPicPr>
            <p:cNvPr id="232" name="Google Shape;232;p27"/>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233" name="Google Shape;233;p27"/>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34" name="Google Shape;234;p27"/>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
        <p:nvSpPr>
          <p:cNvPr id="235" name="Google Shape;235;p27"/>
          <p:cNvSpPr txBox="1"/>
          <p:nvPr/>
        </p:nvSpPr>
        <p:spPr>
          <a:xfrm>
            <a:off x="81450" y="996325"/>
            <a:ext cx="4683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1.-GROUND(TIERRA):Este pin se conecta al lado negativo de la batería.</a:t>
            </a:r>
            <a:r>
              <a:rPr lang="es" sz="1100">
                <a:solidFill>
                  <a:srgbClr val="0233AE"/>
                </a:solidFill>
                <a:latin typeface="Poppins"/>
                <a:ea typeface="Poppins"/>
                <a:cs typeface="Poppins"/>
                <a:sym typeface="Poppins"/>
              </a:rPr>
              <a:t> </a:t>
            </a:r>
            <a:endParaRPr sz="1100">
              <a:solidFill>
                <a:srgbClr val="0233AE"/>
              </a:solidFill>
              <a:latin typeface="Poppins"/>
              <a:ea typeface="Poppins"/>
              <a:cs typeface="Poppins"/>
              <a:sym typeface="Poppins"/>
            </a:endParaRPr>
          </a:p>
        </p:txBody>
      </p:sp>
      <p:sp>
        <p:nvSpPr>
          <p:cNvPr id="236" name="Google Shape;236;p27"/>
          <p:cNvSpPr txBox="1"/>
          <p:nvPr/>
        </p:nvSpPr>
        <p:spPr>
          <a:xfrm>
            <a:off x="84850" y="1471625"/>
            <a:ext cx="4832100" cy="76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2</a:t>
            </a:r>
            <a:r>
              <a:rPr lang="es" sz="1100">
                <a:solidFill>
                  <a:srgbClr val="0233AE"/>
                </a:solidFill>
                <a:latin typeface="Poppins"/>
                <a:ea typeface="Poppins"/>
                <a:cs typeface="Poppins"/>
                <a:sym typeface="Poppins"/>
              </a:rPr>
              <a:t>.-pin 2 </a:t>
            </a:r>
            <a:r>
              <a:rPr lang="es" sz="1100">
                <a:solidFill>
                  <a:srgbClr val="0233AE"/>
                </a:solidFill>
                <a:latin typeface="Poppins"/>
                <a:ea typeface="Poppins"/>
                <a:cs typeface="Poppins"/>
                <a:sym typeface="Poppins"/>
              </a:rPr>
              <a:t>Disparador:</a:t>
            </a:r>
            <a:endParaRPr sz="1100">
              <a:solidFill>
                <a:srgbClr val="0233AE"/>
              </a:solidFill>
              <a:latin typeface="Poppins"/>
              <a:ea typeface="Poppins"/>
              <a:cs typeface="Poppins"/>
              <a:sym typeface="Poppins"/>
            </a:endParaRPr>
          </a:p>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Cuando este pin pasa a nivel bajo (menos de un tercio de VCC), la salida pasa a nivel alto</a:t>
            </a:r>
            <a:r>
              <a:rPr lang="es" sz="1500">
                <a:solidFill>
                  <a:srgbClr val="2D3142"/>
                </a:solidFill>
                <a:highlight>
                  <a:srgbClr val="FFFFFF"/>
                </a:highlight>
              </a:rPr>
              <a:t>.</a:t>
            </a:r>
            <a:endParaRPr sz="1100">
              <a:solidFill>
                <a:srgbClr val="0233AE"/>
              </a:solidFill>
              <a:latin typeface="Poppins"/>
              <a:ea typeface="Poppins"/>
              <a:cs typeface="Poppins"/>
              <a:sym typeface="Poppins"/>
            </a:endParaRPr>
          </a:p>
        </p:txBody>
      </p:sp>
      <p:sp>
        <p:nvSpPr>
          <p:cNvPr id="237" name="Google Shape;237;p27"/>
          <p:cNvSpPr txBox="1"/>
          <p:nvPr/>
        </p:nvSpPr>
        <p:spPr>
          <a:xfrm>
            <a:off x="84850" y="2215700"/>
            <a:ext cx="5211600" cy="1223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3</a:t>
            </a:r>
            <a:r>
              <a:rPr lang="es" sz="1100">
                <a:solidFill>
                  <a:srgbClr val="0233AE"/>
                </a:solidFill>
                <a:latin typeface="Poppins"/>
                <a:ea typeface="Poppins"/>
                <a:cs typeface="Poppins"/>
                <a:sym typeface="Poppins"/>
              </a:rPr>
              <a:t>.-</a:t>
            </a:r>
            <a:r>
              <a:rPr lang="es" sz="1100">
                <a:solidFill>
                  <a:srgbClr val="0233AE"/>
                </a:solidFill>
                <a:latin typeface="Poppins"/>
                <a:ea typeface="Poppins"/>
                <a:cs typeface="Poppins"/>
                <a:sym typeface="Poppins"/>
              </a:rPr>
              <a:t>pin 3 </a:t>
            </a:r>
            <a:r>
              <a:rPr lang="es" sz="1100">
                <a:solidFill>
                  <a:srgbClr val="0233AE"/>
                </a:solidFill>
                <a:latin typeface="Poppins"/>
                <a:ea typeface="Poppins"/>
                <a:cs typeface="Poppins"/>
                <a:sym typeface="Poppins"/>
              </a:rPr>
              <a:t>OUTPUT (</a:t>
            </a:r>
            <a:r>
              <a:rPr lang="es" sz="1100">
                <a:solidFill>
                  <a:srgbClr val="0233AE"/>
                </a:solidFill>
                <a:latin typeface="Poppins"/>
                <a:ea typeface="Poppins"/>
                <a:cs typeface="Poppins"/>
                <a:sym typeface="Poppins"/>
              </a:rPr>
              <a:t>Salida) :</a:t>
            </a:r>
            <a:endParaRPr sz="1100">
              <a:solidFill>
                <a:srgbClr val="0233AE"/>
              </a:solidFill>
              <a:latin typeface="Poppins"/>
              <a:ea typeface="Poppins"/>
              <a:cs typeface="Poppins"/>
              <a:sym typeface="Poppins"/>
            </a:endParaRPr>
          </a:p>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La tensión de salida del chip es aproximadamente 1,5 V inferior a VCC cuando está en estado alto y cercana a 0 V cuando está en estado bajo. Un temporizador 555 solo puede proporcionar entre 100 y 200 mA en total. Consulte la hoja de datos de su chip para conocer el valor exacto.</a:t>
            </a:r>
            <a:endParaRPr sz="1100">
              <a:solidFill>
                <a:srgbClr val="0233AE"/>
              </a:solidFill>
              <a:latin typeface="Poppins"/>
              <a:ea typeface="Poppins"/>
              <a:cs typeface="Poppins"/>
              <a:sym typeface="Poppins"/>
            </a:endParaRPr>
          </a:p>
        </p:txBody>
      </p:sp>
      <p:sp>
        <p:nvSpPr>
          <p:cNvPr id="238" name="Google Shape;238;p27"/>
          <p:cNvSpPr txBox="1"/>
          <p:nvPr/>
        </p:nvSpPr>
        <p:spPr>
          <a:xfrm>
            <a:off x="81450" y="3337273"/>
            <a:ext cx="5414400" cy="22626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4.-pin 4 Reinicio.</a:t>
            </a:r>
            <a:endParaRPr sz="1100">
              <a:solidFill>
                <a:srgbClr val="0233AE"/>
              </a:solidFill>
              <a:latin typeface="Poppins"/>
              <a:ea typeface="Poppins"/>
              <a:cs typeface="Poppins"/>
              <a:sym typeface="Poppins"/>
            </a:endParaRPr>
          </a:p>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Este pin reinicia todo el circuito. Es un pin invertido, lo que significa que se reinicia cuando su nivel baja. Por lo tanto, el pin debe estar normalmente en estado alto </a:t>
            </a:r>
            <a:endParaRPr sz="700">
              <a:solidFill>
                <a:srgbClr val="11009C"/>
              </a:solidFill>
              <a:highlight>
                <a:schemeClr val="lt1"/>
              </a:highlight>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8"/>
          <p:cNvSpPr txBox="1"/>
          <p:nvPr/>
        </p:nvSpPr>
        <p:spPr>
          <a:xfrm>
            <a:off x="3721307" y="2186081"/>
            <a:ext cx="46500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6.-Umbral del pin 6:</a:t>
            </a:r>
            <a:endParaRPr sz="1100">
              <a:solidFill>
                <a:srgbClr val="0233AE"/>
              </a:solidFill>
              <a:latin typeface="Poppins"/>
              <a:ea typeface="Poppins"/>
              <a:cs typeface="Poppins"/>
              <a:sym typeface="Poppins"/>
            </a:endParaRPr>
          </a:p>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Este pin restablece la salida a nivel bajo cuando el voltaje sube a nivel alto (por encima de dos tercios de VCC).</a:t>
            </a:r>
            <a:endParaRPr sz="1100">
              <a:solidFill>
                <a:srgbClr val="0233AE"/>
              </a:solidFill>
              <a:latin typeface="Poppins"/>
              <a:ea typeface="Poppins"/>
              <a:cs typeface="Poppins"/>
              <a:sym typeface="Poppins"/>
            </a:endParaRPr>
          </a:p>
        </p:txBody>
      </p:sp>
      <p:pic>
        <p:nvPicPr>
          <p:cNvPr id="244" name="Google Shape;244;p28"/>
          <p:cNvPicPr preferRelativeResize="0"/>
          <p:nvPr/>
        </p:nvPicPr>
        <p:blipFill>
          <a:blip r:embed="rId3">
            <a:alphaModFix/>
          </a:blip>
          <a:stretch>
            <a:fillRect/>
          </a:stretch>
        </p:blipFill>
        <p:spPr>
          <a:xfrm>
            <a:off x="488550" y="1347600"/>
            <a:ext cx="2870350" cy="2151000"/>
          </a:xfrm>
          <a:prstGeom prst="rect">
            <a:avLst/>
          </a:prstGeom>
          <a:noFill/>
          <a:ln>
            <a:noFill/>
          </a:ln>
        </p:spPr>
      </p:pic>
      <p:sp>
        <p:nvSpPr>
          <p:cNvPr id="245" name="Google Shape;245;p28"/>
          <p:cNvSpPr txBox="1"/>
          <p:nvPr>
            <p:ph type="title"/>
          </p:nvPr>
        </p:nvSpPr>
        <p:spPr>
          <a:xfrm>
            <a:off x="248588" y="119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solidFill>
                  <a:srgbClr val="0233AE"/>
                </a:solidFill>
                <a:latin typeface="Poppins"/>
                <a:ea typeface="Poppins"/>
                <a:cs typeface="Poppins"/>
                <a:sym typeface="Poppins"/>
              </a:rPr>
              <a:t>IC (Integrado) - 555</a:t>
            </a:r>
            <a:endParaRPr b="1" i="1">
              <a:solidFill>
                <a:srgbClr val="0233AE"/>
              </a:solidFill>
              <a:latin typeface="Poppins"/>
              <a:ea typeface="Poppins"/>
              <a:cs typeface="Poppins"/>
              <a:sym typeface="Poppins"/>
            </a:endParaRPr>
          </a:p>
        </p:txBody>
      </p:sp>
      <p:pic>
        <p:nvPicPr>
          <p:cNvPr id="246" name="Google Shape;246;p28"/>
          <p:cNvPicPr preferRelativeResize="0"/>
          <p:nvPr/>
        </p:nvPicPr>
        <p:blipFill rotWithShape="1">
          <a:blip r:embed="rId4">
            <a:alphaModFix/>
          </a:blip>
          <a:srcRect b="21938" l="9222" r="8365" t="22367"/>
          <a:stretch/>
        </p:blipFill>
        <p:spPr>
          <a:xfrm>
            <a:off x="8156483" y="234168"/>
            <a:ext cx="765220" cy="344252"/>
          </a:xfrm>
          <a:prstGeom prst="rect">
            <a:avLst/>
          </a:prstGeom>
          <a:noFill/>
          <a:ln>
            <a:noFill/>
          </a:ln>
        </p:spPr>
      </p:pic>
      <p:grpSp>
        <p:nvGrpSpPr>
          <p:cNvPr id="247" name="Google Shape;247;p28"/>
          <p:cNvGrpSpPr/>
          <p:nvPr/>
        </p:nvGrpSpPr>
        <p:grpSpPr>
          <a:xfrm>
            <a:off x="-126275" y="4746700"/>
            <a:ext cx="9270322" cy="401792"/>
            <a:chOff x="0" y="-29340"/>
            <a:chExt cx="2901600" cy="5177731"/>
          </a:xfrm>
        </p:grpSpPr>
        <p:pic>
          <p:nvPicPr>
            <p:cNvPr id="248" name="Google Shape;248;p28"/>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249" name="Google Shape;249;p28"/>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50" name="Google Shape;250;p28"/>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
        <p:nvSpPr>
          <p:cNvPr id="251" name="Google Shape;251;p28"/>
          <p:cNvSpPr txBox="1"/>
          <p:nvPr/>
        </p:nvSpPr>
        <p:spPr>
          <a:xfrm>
            <a:off x="3721302" y="853350"/>
            <a:ext cx="48588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8.-VCC Alimentación</a:t>
            </a:r>
            <a:endParaRPr sz="1100">
              <a:solidFill>
                <a:srgbClr val="0233AE"/>
              </a:solidFill>
              <a:latin typeface="Poppins"/>
              <a:ea typeface="Poppins"/>
              <a:cs typeface="Poppins"/>
              <a:sym typeface="Poppins"/>
            </a:endParaRPr>
          </a:p>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Este es el pin de alimentación positiva y puede aceptar un voltaje entre 5 y 15 V. </a:t>
            </a:r>
            <a:endParaRPr sz="1100">
              <a:solidFill>
                <a:srgbClr val="0233AE"/>
              </a:solidFill>
              <a:latin typeface="Poppins"/>
              <a:ea typeface="Poppins"/>
              <a:cs typeface="Poppins"/>
              <a:sym typeface="Poppins"/>
            </a:endParaRPr>
          </a:p>
        </p:txBody>
      </p:sp>
      <p:sp>
        <p:nvSpPr>
          <p:cNvPr id="252" name="Google Shape;252;p28"/>
          <p:cNvSpPr txBox="1"/>
          <p:nvPr/>
        </p:nvSpPr>
        <p:spPr>
          <a:xfrm>
            <a:off x="3721305" y="1498575"/>
            <a:ext cx="41469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7.-Pin 7 Descarga</a:t>
            </a:r>
            <a:endParaRPr sz="1100">
              <a:solidFill>
                <a:srgbClr val="0233AE"/>
              </a:solidFill>
              <a:latin typeface="Poppins"/>
              <a:ea typeface="Poppins"/>
              <a:cs typeface="Poppins"/>
              <a:sym typeface="Poppins"/>
            </a:endParaRPr>
          </a:p>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Este pin no está conectado cuando la salida es alta y está conectado a tierra cuando la salida es baja.</a:t>
            </a:r>
            <a:endParaRPr sz="1100">
              <a:solidFill>
                <a:srgbClr val="0233AE"/>
              </a:solidFill>
              <a:latin typeface="Poppins"/>
              <a:ea typeface="Poppins"/>
              <a:cs typeface="Poppins"/>
              <a:sym typeface="Poppins"/>
            </a:endParaRPr>
          </a:p>
        </p:txBody>
      </p:sp>
      <p:sp>
        <p:nvSpPr>
          <p:cNvPr id="253" name="Google Shape;253;p28"/>
          <p:cNvSpPr txBox="1"/>
          <p:nvPr/>
        </p:nvSpPr>
        <p:spPr>
          <a:xfrm>
            <a:off x="3721307" y="2932800"/>
            <a:ext cx="5266800" cy="120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100">
                <a:solidFill>
                  <a:srgbClr val="0233AE"/>
                </a:solidFill>
                <a:latin typeface="Poppins"/>
                <a:ea typeface="Poppins"/>
                <a:cs typeface="Poppins"/>
                <a:sym typeface="Poppins"/>
              </a:rPr>
              <a:t>5.-Pin 5: Control de voltaje.</a:t>
            </a:r>
            <a:endParaRPr sz="1100">
              <a:solidFill>
                <a:srgbClr val="0233AE"/>
              </a:solidFill>
              <a:latin typeface="Poppins"/>
              <a:ea typeface="Poppins"/>
              <a:cs typeface="Poppins"/>
              <a:sym typeface="Poppins"/>
            </a:endParaRPr>
          </a:p>
          <a:p>
            <a:pPr indent="0" lvl="0" marL="0" marR="0" rtl="0" algn="just">
              <a:lnSpc>
                <a:spcPct val="100000"/>
              </a:lnSpc>
              <a:spcBef>
                <a:spcPts val="0"/>
              </a:spcBef>
              <a:spcAft>
                <a:spcPts val="0"/>
              </a:spcAft>
              <a:buNone/>
            </a:pPr>
            <a:r>
              <a:rPr lang="es" sz="1100">
                <a:solidFill>
                  <a:srgbClr val="0233AE"/>
                </a:solidFill>
                <a:latin typeface="Poppins"/>
                <a:ea typeface="Poppins"/>
                <a:cs typeface="Poppins"/>
                <a:sym typeface="Poppins"/>
              </a:rPr>
              <a:t>Este pin se utiliza para controlar el voltaje umbral del pin de umbral. Esto puede ser útil cuando se desea ajustar la frecuencia del circuito sin modificar los valores de R1, R2 y C1. En ocasiones, este pin se conecta a tierra mediante un condensador (0,01 µF/10 nF) para evitar que el ruido afecte la frecuencia. Otras veces, se encuentra desconectado.</a:t>
            </a:r>
            <a:endParaRPr sz="1100">
              <a:solidFill>
                <a:srgbClr val="0233AE"/>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29"/>
          <p:cNvPicPr preferRelativeResize="0"/>
          <p:nvPr/>
        </p:nvPicPr>
        <p:blipFill rotWithShape="1">
          <a:blip r:embed="rId3">
            <a:alphaModFix/>
          </a:blip>
          <a:srcRect b="21938" l="9222" r="8365" t="22367"/>
          <a:stretch/>
        </p:blipFill>
        <p:spPr>
          <a:xfrm>
            <a:off x="327704" y="234168"/>
            <a:ext cx="765220" cy="344252"/>
          </a:xfrm>
          <a:prstGeom prst="rect">
            <a:avLst/>
          </a:prstGeom>
          <a:noFill/>
          <a:ln>
            <a:noFill/>
          </a:ln>
        </p:spPr>
      </p:pic>
      <p:grpSp>
        <p:nvGrpSpPr>
          <p:cNvPr id="259" name="Google Shape;259;p29"/>
          <p:cNvGrpSpPr/>
          <p:nvPr/>
        </p:nvGrpSpPr>
        <p:grpSpPr>
          <a:xfrm>
            <a:off x="-126275" y="4746700"/>
            <a:ext cx="9270322" cy="401792"/>
            <a:chOff x="0" y="-29340"/>
            <a:chExt cx="2901600" cy="5177731"/>
          </a:xfrm>
        </p:grpSpPr>
        <p:pic>
          <p:nvPicPr>
            <p:cNvPr id="260" name="Google Shape;260;p29"/>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261" name="Google Shape;261;p29"/>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62" name="Google Shape;262;p29"/>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63" name="Google Shape;263;p29"/>
          <p:cNvPicPr preferRelativeResize="0"/>
          <p:nvPr/>
        </p:nvPicPr>
        <p:blipFill>
          <a:blip r:embed="rId5">
            <a:alphaModFix/>
          </a:blip>
          <a:stretch>
            <a:fillRect/>
          </a:stretch>
        </p:blipFill>
        <p:spPr>
          <a:xfrm>
            <a:off x="1706425" y="655350"/>
            <a:ext cx="5308051" cy="3446674"/>
          </a:xfrm>
          <a:prstGeom prst="rect">
            <a:avLst/>
          </a:prstGeom>
          <a:noFill/>
          <a:ln>
            <a:noFill/>
          </a:ln>
        </p:spPr>
      </p:pic>
      <p:sp>
        <p:nvSpPr>
          <p:cNvPr id="264" name="Google Shape;264;p29"/>
          <p:cNvSpPr txBox="1"/>
          <p:nvPr>
            <p:ph type="title"/>
          </p:nvPr>
        </p:nvSpPr>
        <p:spPr>
          <a:xfrm>
            <a:off x="248588" y="41740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solidFill>
                  <a:srgbClr val="0233AE"/>
                </a:solidFill>
                <a:latin typeface="Poppins"/>
                <a:ea typeface="Poppins"/>
                <a:cs typeface="Poppins"/>
                <a:sym typeface="Poppins"/>
              </a:rPr>
              <a:t>¿Cuáles Pines reconoces del 555?</a:t>
            </a:r>
            <a:endParaRPr b="1" i="1">
              <a:solidFill>
                <a:srgbClr val="0233AE"/>
              </a:solidFill>
              <a:latin typeface="Poppins"/>
              <a:ea typeface="Poppins"/>
              <a:cs typeface="Poppins"/>
              <a:sym typeface="Poppins"/>
            </a:endParaRPr>
          </a:p>
        </p:txBody>
      </p:sp>
      <p:sp>
        <p:nvSpPr>
          <p:cNvPr id="265" name="Google Shape;265;p29"/>
          <p:cNvSpPr txBox="1"/>
          <p:nvPr>
            <p:ph type="title"/>
          </p:nvPr>
        </p:nvSpPr>
        <p:spPr>
          <a:xfrm>
            <a:off x="248596" y="1199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solidFill>
                  <a:srgbClr val="0233AE"/>
                </a:solidFill>
                <a:latin typeface="Poppins"/>
                <a:ea typeface="Poppins"/>
                <a:cs typeface="Poppins"/>
                <a:sym typeface="Poppins"/>
              </a:rPr>
              <a:t>¡</a:t>
            </a:r>
            <a:r>
              <a:rPr b="1" lang="es">
                <a:solidFill>
                  <a:srgbClr val="0233AE"/>
                </a:solidFill>
                <a:latin typeface="Poppins"/>
                <a:ea typeface="Poppins"/>
                <a:cs typeface="Poppins"/>
                <a:sym typeface="Poppins"/>
              </a:rPr>
              <a:t>Pasa adelante y </a:t>
            </a:r>
            <a:r>
              <a:rPr b="1" lang="es">
                <a:solidFill>
                  <a:srgbClr val="0233AE"/>
                </a:solidFill>
                <a:latin typeface="Poppins"/>
                <a:ea typeface="Poppins"/>
                <a:cs typeface="Poppins"/>
                <a:sym typeface="Poppins"/>
              </a:rPr>
              <a:t>participa!</a:t>
            </a:r>
            <a:endParaRPr b="1" i="1">
              <a:solidFill>
                <a:srgbClr val="0233AE"/>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30"/>
          <p:cNvPicPr preferRelativeResize="0"/>
          <p:nvPr/>
        </p:nvPicPr>
        <p:blipFill rotWithShape="1">
          <a:blip r:embed="rId3">
            <a:alphaModFix/>
          </a:blip>
          <a:srcRect b="21938" l="9222" r="8365" t="22367"/>
          <a:stretch/>
        </p:blipFill>
        <p:spPr>
          <a:xfrm>
            <a:off x="327704" y="234168"/>
            <a:ext cx="765220" cy="344252"/>
          </a:xfrm>
          <a:prstGeom prst="rect">
            <a:avLst/>
          </a:prstGeom>
          <a:noFill/>
          <a:ln>
            <a:noFill/>
          </a:ln>
        </p:spPr>
      </p:pic>
      <p:grpSp>
        <p:nvGrpSpPr>
          <p:cNvPr id="271" name="Google Shape;271;p30"/>
          <p:cNvGrpSpPr/>
          <p:nvPr/>
        </p:nvGrpSpPr>
        <p:grpSpPr>
          <a:xfrm>
            <a:off x="-126275" y="4746700"/>
            <a:ext cx="9270322" cy="401792"/>
            <a:chOff x="0" y="-29340"/>
            <a:chExt cx="2901600" cy="5177731"/>
          </a:xfrm>
        </p:grpSpPr>
        <p:pic>
          <p:nvPicPr>
            <p:cNvPr id="272" name="Google Shape;272;p30"/>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273" name="Google Shape;273;p30"/>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74" name="Google Shape;274;p30"/>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75" name="Google Shape;275;p30"/>
          <p:cNvPicPr preferRelativeResize="0"/>
          <p:nvPr/>
        </p:nvPicPr>
        <p:blipFill>
          <a:blip r:embed="rId5">
            <a:alphaModFix/>
          </a:blip>
          <a:stretch>
            <a:fillRect/>
          </a:stretch>
        </p:blipFill>
        <p:spPr>
          <a:xfrm>
            <a:off x="1988050" y="893425"/>
            <a:ext cx="4453050" cy="3195625"/>
          </a:xfrm>
          <a:prstGeom prst="rect">
            <a:avLst/>
          </a:prstGeom>
          <a:noFill/>
          <a:ln>
            <a:noFill/>
          </a:ln>
        </p:spPr>
      </p:pic>
      <p:sp>
        <p:nvSpPr>
          <p:cNvPr id="276" name="Google Shape;276;p30"/>
          <p:cNvSpPr txBox="1"/>
          <p:nvPr>
            <p:ph type="title"/>
          </p:nvPr>
        </p:nvSpPr>
        <p:spPr>
          <a:xfrm>
            <a:off x="2711613" y="119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solidFill>
                  <a:srgbClr val="0233AE"/>
                </a:solidFill>
                <a:latin typeface="Poppins"/>
                <a:ea typeface="Poppins"/>
                <a:cs typeface="Poppins"/>
                <a:sym typeface="Poppins"/>
              </a:rPr>
              <a:t>MODO OSCILADOR </a:t>
            </a:r>
            <a:endParaRPr b="1" i="1">
              <a:solidFill>
                <a:srgbClr val="0233AE"/>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31"/>
          <p:cNvPicPr preferRelativeResize="0"/>
          <p:nvPr/>
        </p:nvPicPr>
        <p:blipFill rotWithShape="1">
          <a:blip r:embed="rId3">
            <a:alphaModFix/>
          </a:blip>
          <a:srcRect b="21938" l="9222" r="8365" t="22367"/>
          <a:stretch/>
        </p:blipFill>
        <p:spPr>
          <a:xfrm>
            <a:off x="327704" y="234168"/>
            <a:ext cx="765220" cy="344252"/>
          </a:xfrm>
          <a:prstGeom prst="rect">
            <a:avLst/>
          </a:prstGeom>
          <a:noFill/>
          <a:ln>
            <a:noFill/>
          </a:ln>
        </p:spPr>
      </p:pic>
      <p:grpSp>
        <p:nvGrpSpPr>
          <p:cNvPr id="282" name="Google Shape;282;p31"/>
          <p:cNvGrpSpPr/>
          <p:nvPr/>
        </p:nvGrpSpPr>
        <p:grpSpPr>
          <a:xfrm>
            <a:off x="-126275" y="4746700"/>
            <a:ext cx="9270322" cy="401792"/>
            <a:chOff x="0" y="-29340"/>
            <a:chExt cx="2901600" cy="5177731"/>
          </a:xfrm>
        </p:grpSpPr>
        <p:pic>
          <p:nvPicPr>
            <p:cNvPr id="283" name="Google Shape;283;p31"/>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284" name="Google Shape;284;p31"/>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85" name="Google Shape;285;p31"/>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
        <p:nvSpPr>
          <p:cNvPr id="286" name="Google Shape;286;p31"/>
          <p:cNvSpPr txBox="1"/>
          <p:nvPr>
            <p:ph type="title"/>
          </p:nvPr>
        </p:nvSpPr>
        <p:spPr>
          <a:xfrm>
            <a:off x="1482407" y="1199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s" sz="2220">
                <a:solidFill>
                  <a:srgbClr val="0233AE"/>
                </a:solidFill>
                <a:latin typeface="Poppins"/>
                <a:ea typeface="Poppins"/>
                <a:cs typeface="Poppins"/>
                <a:sym typeface="Poppins"/>
              </a:rPr>
              <a:t>ACTIVIDAD:BLINK LED(PARPADEO CON 555)</a:t>
            </a:r>
            <a:endParaRPr b="1" i="1" sz="2220">
              <a:solidFill>
                <a:srgbClr val="0233AE"/>
              </a:solidFill>
              <a:latin typeface="Poppins"/>
              <a:ea typeface="Poppins"/>
              <a:cs typeface="Poppins"/>
              <a:sym typeface="Poppins"/>
            </a:endParaRPr>
          </a:p>
        </p:txBody>
      </p:sp>
      <p:pic>
        <p:nvPicPr>
          <p:cNvPr id="287" name="Google Shape;287;p31"/>
          <p:cNvPicPr preferRelativeResize="0"/>
          <p:nvPr/>
        </p:nvPicPr>
        <p:blipFill>
          <a:blip r:embed="rId5">
            <a:alphaModFix/>
          </a:blip>
          <a:stretch>
            <a:fillRect/>
          </a:stretch>
        </p:blipFill>
        <p:spPr>
          <a:xfrm>
            <a:off x="1807357" y="692650"/>
            <a:ext cx="5250524" cy="3411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32"/>
          <p:cNvPicPr preferRelativeResize="0"/>
          <p:nvPr/>
        </p:nvPicPr>
        <p:blipFill rotWithShape="1">
          <a:blip r:embed="rId3">
            <a:alphaModFix/>
          </a:blip>
          <a:srcRect b="21938" l="9222" r="8365" t="22367"/>
          <a:stretch/>
        </p:blipFill>
        <p:spPr>
          <a:xfrm>
            <a:off x="327704" y="234168"/>
            <a:ext cx="765220" cy="344252"/>
          </a:xfrm>
          <a:prstGeom prst="rect">
            <a:avLst/>
          </a:prstGeom>
          <a:noFill/>
          <a:ln>
            <a:noFill/>
          </a:ln>
        </p:spPr>
      </p:pic>
      <p:grpSp>
        <p:nvGrpSpPr>
          <p:cNvPr id="293" name="Google Shape;293;p32"/>
          <p:cNvGrpSpPr/>
          <p:nvPr/>
        </p:nvGrpSpPr>
        <p:grpSpPr>
          <a:xfrm>
            <a:off x="-126275" y="4746700"/>
            <a:ext cx="9270322" cy="401792"/>
            <a:chOff x="0" y="-29340"/>
            <a:chExt cx="2901600" cy="5177731"/>
          </a:xfrm>
        </p:grpSpPr>
        <p:pic>
          <p:nvPicPr>
            <p:cNvPr id="294" name="Google Shape;294;p32"/>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295" name="Google Shape;295;p32"/>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96" name="Google Shape;296;p32"/>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
        <p:nvSpPr>
          <p:cNvPr id="297" name="Google Shape;297;p32"/>
          <p:cNvSpPr txBox="1"/>
          <p:nvPr>
            <p:ph type="title"/>
          </p:nvPr>
        </p:nvSpPr>
        <p:spPr>
          <a:xfrm>
            <a:off x="1482407" y="1199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s" sz="2220">
                <a:solidFill>
                  <a:srgbClr val="0233AE"/>
                </a:solidFill>
                <a:latin typeface="Poppins"/>
                <a:ea typeface="Poppins"/>
                <a:cs typeface="Poppins"/>
                <a:sym typeface="Poppins"/>
              </a:rPr>
              <a:t>LISTA DE COMPONENTES</a:t>
            </a:r>
            <a:endParaRPr b="1" i="1" sz="2220">
              <a:solidFill>
                <a:srgbClr val="0233AE"/>
              </a:solidFill>
              <a:latin typeface="Poppins"/>
              <a:ea typeface="Poppins"/>
              <a:cs typeface="Poppins"/>
              <a:sym typeface="Poppins"/>
            </a:endParaRPr>
          </a:p>
        </p:txBody>
      </p:sp>
      <p:sp>
        <p:nvSpPr>
          <p:cNvPr id="298" name="Google Shape;298;p32"/>
          <p:cNvSpPr txBox="1"/>
          <p:nvPr/>
        </p:nvSpPr>
        <p:spPr>
          <a:xfrm>
            <a:off x="419750" y="1517750"/>
            <a:ext cx="4547700" cy="1970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0233AE"/>
              </a:buClr>
              <a:buSzPts val="1600"/>
              <a:buFont typeface="Poppins"/>
              <a:buChar char="●"/>
            </a:pPr>
            <a:r>
              <a:rPr lang="es" sz="1600">
                <a:solidFill>
                  <a:srgbClr val="0233AE"/>
                </a:solidFill>
                <a:latin typeface="Poppins"/>
                <a:ea typeface="Poppins"/>
                <a:cs typeface="Poppins"/>
                <a:sym typeface="Poppins"/>
              </a:rPr>
              <a:t>Batería de 9V</a:t>
            </a:r>
            <a:endParaRPr sz="1600">
              <a:solidFill>
                <a:srgbClr val="0233AE"/>
              </a:solidFill>
              <a:latin typeface="Poppins"/>
              <a:ea typeface="Poppins"/>
              <a:cs typeface="Poppins"/>
              <a:sym typeface="Poppins"/>
            </a:endParaRPr>
          </a:p>
          <a:p>
            <a:pPr indent="-330200" lvl="0" marL="457200" rtl="0" algn="l">
              <a:spcBef>
                <a:spcPts val="0"/>
              </a:spcBef>
              <a:spcAft>
                <a:spcPts val="0"/>
              </a:spcAft>
              <a:buClr>
                <a:srgbClr val="0233AE"/>
              </a:buClr>
              <a:buSzPts val="1600"/>
              <a:buFont typeface="Poppins"/>
              <a:buChar char="●"/>
            </a:pPr>
            <a:r>
              <a:rPr lang="es" sz="1600">
                <a:solidFill>
                  <a:srgbClr val="0233AE"/>
                </a:solidFill>
                <a:latin typeface="Poppins"/>
                <a:ea typeface="Poppins"/>
                <a:cs typeface="Poppins"/>
                <a:sym typeface="Poppins"/>
              </a:rPr>
              <a:t>Circuito integrado temporizador 555</a:t>
            </a:r>
            <a:endParaRPr sz="1600">
              <a:solidFill>
                <a:srgbClr val="0233AE"/>
              </a:solidFill>
              <a:latin typeface="Poppins"/>
              <a:ea typeface="Poppins"/>
              <a:cs typeface="Poppins"/>
              <a:sym typeface="Poppins"/>
            </a:endParaRPr>
          </a:p>
          <a:p>
            <a:pPr indent="-330200" lvl="0" marL="457200" rtl="0" algn="l">
              <a:spcBef>
                <a:spcPts val="0"/>
              </a:spcBef>
              <a:spcAft>
                <a:spcPts val="0"/>
              </a:spcAft>
              <a:buClr>
                <a:srgbClr val="0233AE"/>
              </a:buClr>
              <a:buSzPts val="1600"/>
              <a:buFont typeface="Poppins"/>
              <a:buChar char="●"/>
            </a:pPr>
            <a:r>
              <a:rPr lang="es" sz="1600">
                <a:solidFill>
                  <a:srgbClr val="0233AE"/>
                </a:solidFill>
                <a:latin typeface="Poppins"/>
                <a:ea typeface="Poppins"/>
                <a:cs typeface="Poppins"/>
                <a:sym typeface="Poppins"/>
              </a:rPr>
              <a:t>R1-R3: Resistencia, 1 kΩ</a:t>
            </a:r>
            <a:endParaRPr sz="1600">
              <a:solidFill>
                <a:srgbClr val="0233AE"/>
              </a:solidFill>
              <a:latin typeface="Poppins"/>
              <a:ea typeface="Poppins"/>
              <a:cs typeface="Poppins"/>
              <a:sym typeface="Poppins"/>
            </a:endParaRPr>
          </a:p>
          <a:p>
            <a:pPr indent="-330200" lvl="0" marL="457200" rtl="0" algn="l">
              <a:spcBef>
                <a:spcPts val="0"/>
              </a:spcBef>
              <a:spcAft>
                <a:spcPts val="0"/>
              </a:spcAft>
              <a:buClr>
                <a:srgbClr val="0233AE"/>
              </a:buClr>
              <a:buSzPts val="1600"/>
              <a:buFont typeface="Poppins"/>
              <a:buChar char="●"/>
            </a:pPr>
            <a:r>
              <a:rPr lang="es" sz="1600">
                <a:solidFill>
                  <a:srgbClr val="0233AE"/>
                </a:solidFill>
                <a:latin typeface="Poppins"/>
                <a:ea typeface="Poppins"/>
                <a:cs typeface="Poppins"/>
                <a:sym typeface="Poppins"/>
              </a:rPr>
              <a:t>LED1: LED rojo de 5 mm o similar</a:t>
            </a:r>
            <a:endParaRPr sz="1600">
              <a:solidFill>
                <a:srgbClr val="0233AE"/>
              </a:solidFill>
              <a:latin typeface="Poppins"/>
              <a:ea typeface="Poppins"/>
              <a:cs typeface="Poppins"/>
              <a:sym typeface="Poppins"/>
            </a:endParaRPr>
          </a:p>
          <a:p>
            <a:pPr indent="-330200" lvl="0" marL="457200" rtl="0" algn="l">
              <a:spcBef>
                <a:spcPts val="0"/>
              </a:spcBef>
              <a:spcAft>
                <a:spcPts val="0"/>
              </a:spcAft>
              <a:buClr>
                <a:srgbClr val="0233AE"/>
              </a:buClr>
              <a:buSzPts val="1600"/>
              <a:buFont typeface="Poppins"/>
              <a:buChar char="●"/>
            </a:pPr>
            <a:r>
              <a:rPr lang="es" sz="1600">
                <a:solidFill>
                  <a:srgbClr val="0233AE"/>
                </a:solidFill>
                <a:latin typeface="Poppins"/>
                <a:ea typeface="Poppins"/>
                <a:cs typeface="Poppins"/>
                <a:sym typeface="Poppins"/>
              </a:rPr>
              <a:t>C1: Condensador, 100 µF</a:t>
            </a:r>
            <a:endParaRPr sz="1600">
              <a:solidFill>
                <a:srgbClr val="0233AE"/>
              </a:solidFill>
              <a:latin typeface="Poppins"/>
              <a:ea typeface="Poppins"/>
              <a:cs typeface="Poppins"/>
              <a:sym typeface="Poppins"/>
            </a:endParaRPr>
          </a:p>
          <a:p>
            <a:pPr indent="-330200" lvl="0" marL="457200" rtl="0" algn="l">
              <a:spcBef>
                <a:spcPts val="0"/>
              </a:spcBef>
              <a:spcAft>
                <a:spcPts val="0"/>
              </a:spcAft>
              <a:buClr>
                <a:srgbClr val="0233AE"/>
              </a:buClr>
              <a:buSzPts val="1600"/>
              <a:buFont typeface="Poppins"/>
              <a:buChar char="●"/>
            </a:pPr>
            <a:r>
              <a:rPr lang="es" sz="1600">
                <a:solidFill>
                  <a:srgbClr val="0233AE"/>
                </a:solidFill>
                <a:latin typeface="Poppins"/>
                <a:ea typeface="Poppins"/>
                <a:cs typeface="Poppins"/>
                <a:sym typeface="Poppins"/>
              </a:rPr>
              <a:t>C2: Condensador, 10 nF </a:t>
            </a:r>
            <a:endParaRPr sz="1700">
              <a:solidFill>
                <a:srgbClr val="0233AE"/>
              </a:solidFill>
              <a:highlight>
                <a:srgbClr val="FFFFFF"/>
              </a:highlight>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rgbClr val="0233AE"/>
              </a:solidFill>
              <a:latin typeface="Poppins"/>
              <a:ea typeface="Poppins"/>
              <a:cs typeface="Poppins"/>
              <a:sym typeface="Poppins"/>
            </a:endParaRPr>
          </a:p>
        </p:txBody>
      </p:sp>
      <p:pic>
        <p:nvPicPr>
          <p:cNvPr id="299" name="Google Shape;299;p32"/>
          <p:cNvPicPr preferRelativeResize="0"/>
          <p:nvPr/>
        </p:nvPicPr>
        <p:blipFill>
          <a:blip r:embed="rId5">
            <a:alphaModFix/>
          </a:blip>
          <a:stretch>
            <a:fillRect/>
          </a:stretch>
        </p:blipFill>
        <p:spPr>
          <a:xfrm>
            <a:off x="4967475" y="1138675"/>
            <a:ext cx="3670250" cy="2384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grpSp>
        <p:nvGrpSpPr>
          <p:cNvPr id="304" name="Google Shape;304;p33"/>
          <p:cNvGrpSpPr/>
          <p:nvPr/>
        </p:nvGrpSpPr>
        <p:grpSpPr>
          <a:xfrm>
            <a:off x="-10633" y="-29340"/>
            <a:ext cx="2901600" cy="5177731"/>
            <a:chOff x="0" y="-29340"/>
            <a:chExt cx="2901600" cy="5177731"/>
          </a:xfrm>
        </p:grpSpPr>
        <p:pic>
          <p:nvPicPr>
            <p:cNvPr id="305" name="Google Shape;305;p33"/>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306" name="Google Shape;306;p33"/>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07" name="Google Shape;307;p33"/>
          <p:cNvSpPr/>
          <p:nvPr/>
        </p:nvSpPr>
        <p:spPr>
          <a:xfrm>
            <a:off x="2889190" y="-6900"/>
            <a:ext cx="6254700" cy="5143500"/>
          </a:xfrm>
          <a:prstGeom prst="rect">
            <a:avLst/>
          </a:prstGeom>
          <a:solidFill>
            <a:srgbClr val="32B8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33"/>
          <p:cNvSpPr txBox="1"/>
          <p:nvPr/>
        </p:nvSpPr>
        <p:spPr>
          <a:xfrm rot="-894">
            <a:off x="119398" y="1912348"/>
            <a:ext cx="3459900" cy="400800"/>
          </a:xfrm>
          <a:prstGeom prst="rect">
            <a:avLst/>
          </a:prstGeom>
          <a:noFill/>
          <a:ln>
            <a:noFill/>
          </a:ln>
        </p:spPr>
        <p:txBody>
          <a:bodyPr anchorCtr="0" anchor="t" bIns="91425" lIns="91425" spcFirstLastPara="1" rIns="91425" wrap="square" tIns="91425">
            <a:noAutofit/>
          </a:bodyPr>
          <a:lstStyle/>
          <a:p>
            <a:pPr indent="0" lvl="0" marL="114300" marR="0" rtl="0" algn="l">
              <a:lnSpc>
                <a:spcPct val="100000"/>
              </a:lnSpc>
              <a:spcBef>
                <a:spcPts val="0"/>
              </a:spcBef>
              <a:spcAft>
                <a:spcPts val="0"/>
              </a:spcAft>
              <a:buNone/>
            </a:pPr>
            <a:r>
              <a:rPr b="1" i="0" lang="es" sz="2400" u="none" cap="none" strike="noStrike">
                <a:solidFill>
                  <a:srgbClr val="FFFFFF"/>
                </a:solidFill>
                <a:latin typeface="Poppins SemiBold"/>
                <a:ea typeface="Poppins SemiBold"/>
                <a:cs typeface="Poppins SemiBold"/>
                <a:sym typeface="Poppins SemiBold"/>
              </a:rPr>
              <a:t>TOMEMOS</a:t>
            </a:r>
            <a:endParaRPr/>
          </a:p>
          <a:p>
            <a:pPr indent="0" lvl="0" marL="114300" marR="0" rtl="0" algn="l">
              <a:lnSpc>
                <a:spcPct val="100000"/>
              </a:lnSpc>
              <a:spcBef>
                <a:spcPts val="0"/>
              </a:spcBef>
              <a:spcAft>
                <a:spcPts val="0"/>
              </a:spcAft>
              <a:buNone/>
            </a:pPr>
            <a:r>
              <a:rPr b="1" i="0" lang="es" sz="2400" u="none" cap="none" strike="noStrike">
                <a:solidFill>
                  <a:srgbClr val="FFFFFF"/>
                </a:solidFill>
                <a:latin typeface="Poppins SemiBold"/>
                <a:ea typeface="Poppins SemiBold"/>
                <a:cs typeface="Poppins SemiBold"/>
                <a:sym typeface="Poppins SemiBold"/>
              </a:rPr>
              <a:t>UN DESCANSO</a:t>
            </a:r>
            <a:endParaRPr b="1" i="0" sz="2400" u="none" cap="none" strike="noStrike">
              <a:solidFill>
                <a:srgbClr val="FFFFFF"/>
              </a:solidFill>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309" name="Google Shape;309;p33"/>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pic>
        <p:nvPicPr>
          <p:cNvPr id="310" name="Google Shape;310;p33"/>
          <p:cNvPicPr preferRelativeResize="0"/>
          <p:nvPr/>
        </p:nvPicPr>
        <p:blipFill rotWithShape="1">
          <a:blip r:embed="rId5">
            <a:alphaModFix/>
          </a:blip>
          <a:srcRect b="0" l="0" r="0" t="0"/>
          <a:stretch/>
        </p:blipFill>
        <p:spPr>
          <a:xfrm>
            <a:off x="220128" y="3335674"/>
            <a:ext cx="1365667" cy="1534231"/>
          </a:xfrm>
          <a:prstGeom prst="rect">
            <a:avLst/>
          </a:prstGeom>
          <a:noFill/>
          <a:ln>
            <a:noFill/>
          </a:ln>
        </p:spPr>
      </p:pic>
      <p:pic>
        <p:nvPicPr>
          <p:cNvPr id="311" name="Google Shape;311;p33"/>
          <p:cNvPicPr preferRelativeResize="0"/>
          <p:nvPr/>
        </p:nvPicPr>
        <p:blipFill rotWithShape="1">
          <a:blip r:embed="rId6">
            <a:alphaModFix amt="23000"/>
          </a:blip>
          <a:srcRect b="0" l="50261" r="0" t="0"/>
          <a:stretch/>
        </p:blipFill>
        <p:spPr>
          <a:xfrm>
            <a:off x="5902035" y="-34234"/>
            <a:ext cx="3310799" cy="5143500"/>
          </a:xfrm>
          <a:prstGeom prst="rect">
            <a:avLst/>
          </a:prstGeom>
          <a:noFill/>
          <a:ln>
            <a:noFill/>
          </a:ln>
        </p:spPr>
      </p:pic>
      <p:pic>
        <p:nvPicPr>
          <p:cNvPr id="312" name="Google Shape;312;p33" title="b3eaa60e-d18d-46b9-b73c-e73008bf6454 (1).png"/>
          <p:cNvPicPr preferRelativeResize="0"/>
          <p:nvPr/>
        </p:nvPicPr>
        <p:blipFill>
          <a:blip r:embed="rId7">
            <a:alphaModFix/>
          </a:blip>
          <a:stretch>
            <a:fillRect/>
          </a:stretch>
        </p:blipFill>
        <p:spPr>
          <a:xfrm>
            <a:off x="3685488" y="240963"/>
            <a:ext cx="4661576" cy="46615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18" name="Google Shape;318;p3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En Fundación Mustakis hemos preparado un video para que sepas por qué es tan importante responder las encuestas de satisfacción." id="319" name="Google Shape;319;p34" title="¿Por qué responder las encuestas?">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5"/>
          <p:cNvSpPr/>
          <p:nvPr/>
        </p:nvSpPr>
        <p:spPr>
          <a:xfrm>
            <a:off x="0" y="-9000"/>
            <a:ext cx="9144000" cy="5161500"/>
          </a:xfrm>
          <a:prstGeom prst="rect">
            <a:avLst/>
          </a:prstGeom>
          <a:solidFill>
            <a:srgbClr val="1100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800"/>
              <a:buFont typeface="Arial"/>
              <a:buNone/>
            </a:pPr>
            <a:r>
              <a:t/>
            </a:r>
            <a:endParaRPr b="1" sz="2200">
              <a:solidFill>
                <a:srgbClr val="021B99"/>
              </a:solidFill>
              <a:latin typeface="Poppins"/>
              <a:ea typeface="Poppins"/>
              <a:cs typeface="Poppins"/>
              <a:sym typeface="Poppins"/>
            </a:endParaRPr>
          </a:p>
        </p:txBody>
      </p:sp>
      <p:sp>
        <p:nvSpPr>
          <p:cNvPr id="325" name="Google Shape;325;p35"/>
          <p:cNvSpPr txBox="1"/>
          <p:nvPr/>
        </p:nvSpPr>
        <p:spPr>
          <a:xfrm>
            <a:off x="495150" y="4180700"/>
            <a:ext cx="8153700" cy="72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2800"/>
              <a:buFont typeface="Arial"/>
              <a:buNone/>
            </a:pPr>
            <a:r>
              <a:t/>
            </a:r>
            <a:endParaRPr sz="2800">
              <a:solidFill>
                <a:schemeClr val="lt1"/>
              </a:solidFill>
              <a:latin typeface="Poppins"/>
              <a:ea typeface="Poppins"/>
              <a:cs typeface="Poppins"/>
              <a:sym typeface="Poppins"/>
            </a:endParaRPr>
          </a:p>
          <a:p>
            <a:pPr indent="0" lvl="0" marL="0" rtl="0" algn="l">
              <a:spcBef>
                <a:spcPts val="0"/>
              </a:spcBef>
              <a:spcAft>
                <a:spcPts val="0"/>
              </a:spcAft>
              <a:buNone/>
            </a:pPr>
            <a:r>
              <a:t/>
            </a:r>
            <a:endParaRPr sz="1800">
              <a:latin typeface="Helvetica Neue"/>
              <a:ea typeface="Helvetica Neue"/>
              <a:cs typeface="Helvetica Neue"/>
              <a:sym typeface="Helvetica Neue"/>
            </a:endParaRPr>
          </a:p>
        </p:txBody>
      </p:sp>
      <p:pic>
        <p:nvPicPr>
          <p:cNvPr id="326" name="Google Shape;326;p35"/>
          <p:cNvPicPr preferRelativeResize="0"/>
          <p:nvPr/>
        </p:nvPicPr>
        <p:blipFill rotWithShape="1">
          <a:blip r:embed="rId3">
            <a:alphaModFix/>
          </a:blip>
          <a:srcRect b="0" l="0" r="0" t="0"/>
          <a:stretch/>
        </p:blipFill>
        <p:spPr>
          <a:xfrm>
            <a:off x="8185002" y="63549"/>
            <a:ext cx="819695" cy="491233"/>
          </a:xfrm>
          <a:prstGeom prst="rect">
            <a:avLst/>
          </a:prstGeom>
          <a:noFill/>
          <a:ln>
            <a:noFill/>
          </a:ln>
        </p:spPr>
      </p:pic>
      <p:sp>
        <p:nvSpPr>
          <p:cNvPr id="327" name="Google Shape;327;p35"/>
          <p:cNvSpPr txBox="1"/>
          <p:nvPr/>
        </p:nvSpPr>
        <p:spPr>
          <a:xfrm>
            <a:off x="189130" y="4801377"/>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000000"/>
              </a:solidFill>
              <a:latin typeface="Poppins"/>
              <a:ea typeface="Poppins"/>
              <a:cs typeface="Poppins"/>
              <a:sym typeface="Poppins"/>
            </a:endParaRPr>
          </a:p>
        </p:txBody>
      </p:sp>
      <p:sp>
        <p:nvSpPr>
          <p:cNvPr id="328" name="Google Shape;328;p35"/>
          <p:cNvSpPr txBox="1"/>
          <p:nvPr/>
        </p:nvSpPr>
        <p:spPr>
          <a:xfrm>
            <a:off x="4405100" y="1452613"/>
            <a:ext cx="4599600" cy="17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2200">
                <a:solidFill>
                  <a:srgbClr val="FFFFFF"/>
                </a:solidFill>
                <a:latin typeface="Poppins"/>
                <a:ea typeface="Poppins"/>
                <a:cs typeface="Poppins"/>
                <a:sym typeface="Poppins"/>
              </a:rPr>
              <a:t>⚡ ¡Carga completa de ideas en 3...2...1!</a:t>
            </a:r>
            <a:endParaRPr b="1" sz="2200">
              <a:solidFill>
                <a:srgbClr val="FFFFFF"/>
              </a:solidFill>
              <a:latin typeface="Poppins"/>
              <a:ea typeface="Poppins"/>
              <a:cs typeface="Poppins"/>
              <a:sym typeface="Poppins"/>
            </a:endParaRPr>
          </a:p>
          <a:p>
            <a:pPr indent="0" lvl="0" marL="0" rtl="0" algn="ctr">
              <a:spcBef>
                <a:spcPts val="1000"/>
              </a:spcBef>
              <a:spcAft>
                <a:spcPts val="0"/>
              </a:spcAft>
              <a:buNone/>
            </a:pPr>
            <a:r>
              <a:rPr b="1" lang="es" sz="1700">
                <a:solidFill>
                  <a:srgbClr val="FFFFFF"/>
                </a:solidFill>
                <a:latin typeface="Poppins"/>
                <a:ea typeface="Poppins"/>
                <a:cs typeface="Poppins"/>
                <a:sym typeface="Poppins"/>
              </a:rPr>
              <a:t>Deja tu opinión como todo un ingeniero de robots</a:t>
            </a:r>
            <a:endParaRPr b="1" sz="2200">
              <a:solidFill>
                <a:srgbClr val="FFFFFF"/>
              </a:solidFill>
              <a:latin typeface="Poppins"/>
              <a:ea typeface="Poppins"/>
              <a:cs typeface="Poppins"/>
              <a:sym typeface="Poppins"/>
            </a:endParaRPr>
          </a:p>
        </p:txBody>
      </p:sp>
      <p:sp>
        <p:nvSpPr>
          <p:cNvPr id="329" name="Google Shape;329;p35"/>
          <p:cNvSpPr txBox="1"/>
          <p:nvPr/>
        </p:nvSpPr>
        <p:spPr>
          <a:xfrm>
            <a:off x="4534700" y="2969988"/>
            <a:ext cx="4470000" cy="72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2200">
                <a:solidFill>
                  <a:srgbClr val="FFFFFF"/>
                </a:solidFill>
                <a:latin typeface="Poppins"/>
                <a:ea typeface="Poppins"/>
                <a:cs typeface="Poppins"/>
                <a:sym typeface="Poppins"/>
              </a:rPr>
              <a:t>🔗 </a:t>
            </a:r>
            <a:r>
              <a:rPr b="1" lang="es" sz="2200" u="sng">
                <a:solidFill>
                  <a:schemeClr val="hlink"/>
                </a:solidFill>
                <a:latin typeface="Poppins"/>
                <a:ea typeface="Poppins"/>
                <a:cs typeface="Poppins"/>
                <a:sym typeface="Poppins"/>
                <a:hlinkClick r:id="rId4"/>
              </a:rPr>
              <a:t>bit.ly/paidos</a:t>
            </a:r>
            <a:endParaRPr b="1" sz="2200">
              <a:solidFill>
                <a:srgbClr val="FFFFFF"/>
              </a:solidFill>
              <a:latin typeface="Poppins"/>
              <a:ea typeface="Poppins"/>
              <a:cs typeface="Poppins"/>
              <a:sym typeface="Poppins"/>
            </a:endParaRPr>
          </a:p>
          <a:p>
            <a:pPr indent="0" lvl="0" marL="0" rtl="0" algn="ctr">
              <a:spcBef>
                <a:spcPts val="0"/>
              </a:spcBef>
              <a:spcAft>
                <a:spcPts val="0"/>
              </a:spcAft>
              <a:buNone/>
            </a:pPr>
            <a:r>
              <a:t/>
            </a:r>
            <a:endParaRPr b="1" sz="2200">
              <a:solidFill>
                <a:srgbClr val="FFFFFF"/>
              </a:solidFill>
              <a:latin typeface="Poppins"/>
              <a:ea typeface="Poppins"/>
              <a:cs typeface="Poppins"/>
              <a:sym typeface="Poppins"/>
            </a:endParaRPr>
          </a:p>
        </p:txBody>
      </p:sp>
      <p:pic>
        <p:nvPicPr>
          <p:cNvPr id="330" name="Google Shape;330;p35" title="qr-code (3).png"/>
          <p:cNvPicPr preferRelativeResize="0"/>
          <p:nvPr/>
        </p:nvPicPr>
        <p:blipFill>
          <a:blip r:embed="rId5">
            <a:alphaModFix/>
          </a:blip>
          <a:stretch>
            <a:fillRect/>
          </a:stretch>
        </p:blipFill>
        <p:spPr>
          <a:xfrm>
            <a:off x="495150" y="366575"/>
            <a:ext cx="3909699" cy="3909699"/>
          </a:xfrm>
          <a:prstGeom prst="rect">
            <a:avLst/>
          </a:prstGeom>
          <a:solidFill>
            <a:srgbClr val="11009C"/>
          </a:solid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grpSp>
        <p:nvGrpSpPr>
          <p:cNvPr id="335" name="Google Shape;335;p36"/>
          <p:cNvGrpSpPr/>
          <p:nvPr/>
        </p:nvGrpSpPr>
        <p:grpSpPr>
          <a:xfrm>
            <a:off x="-10633" y="-29340"/>
            <a:ext cx="2901600" cy="5177731"/>
            <a:chOff x="0" y="-29340"/>
            <a:chExt cx="2901600" cy="5177731"/>
          </a:xfrm>
        </p:grpSpPr>
        <p:pic>
          <p:nvPicPr>
            <p:cNvPr id="336" name="Google Shape;336;p36"/>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337" name="Google Shape;337;p36"/>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38" name="Google Shape;338;p36"/>
          <p:cNvSpPr/>
          <p:nvPr/>
        </p:nvSpPr>
        <p:spPr>
          <a:xfrm>
            <a:off x="2889190" y="-6900"/>
            <a:ext cx="6254700" cy="5143500"/>
          </a:xfrm>
          <a:prstGeom prst="rect">
            <a:avLst/>
          </a:prstGeom>
          <a:solidFill>
            <a:srgbClr val="32B8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6"/>
          <p:cNvSpPr txBox="1"/>
          <p:nvPr/>
        </p:nvSpPr>
        <p:spPr>
          <a:xfrm rot="-894">
            <a:off x="119398" y="1912348"/>
            <a:ext cx="3459900" cy="40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s" sz="2400">
                <a:solidFill>
                  <a:srgbClr val="FFFFFF"/>
                </a:solidFill>
                <a:latin typeface="Poppins SemiBold"/>
                <a:ea typeface="Poppins SemiBold"/>
                <a:cs typeface="Poppins SemiBold"/>
                <a:sym typeface="Poppins SemiBold"/>
              </a:rPr>
              <a:t>ACTIVIDAD</a:t>
            </a:r>
            <a:endParaRPr b="0" i="0" sz="1800" u="none" cap="none" strike="noStrike">
              <a:solidFill>
                <a:srgbClr val="FFFFFF"/>
              </a:solidFill>
              <a:latin typeface="Arial"/>
              <a:ea typeface="Arial"/>
              <a:cs typeface="Arial"/>
              <a:sym typeface="Arial"/>
            </a:endParaRPr>
          </a:p>
        </p:txBody>
      </p:sp>
      <p:pic>
        <p:nvPicPr>
          <p:cNvPr id="340" name="Google Shape;340;p36"/>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pic>
        <p:nvPicPr>
          <p:cNvPr id="341" name="Google Shape;341;p36"/>
          <p:cNvPicPr preferRelativeResize="0"/>
          <p:nvPr/>
        </p:nvPicPr>
        <p:blipFill rotWithShape="1">
          <a:blip r:embed="rId5">
            <a:alphaModFix/>
          </a:blip>
          <a:srcRect b="0" l="0" r="0" t="0"/>
          <a:stretch/>
        </p:blipFill>
        <p:spPr>
          <a:xfrm>
            <a:off x="220128" y="3335674"/>
            <a:ext cx="1365667" cy="1534231"/>
          </a:xfrm>
          <a:prstGeom prst="rect">
            <a:avLst/>
          </a:prstGeom>
          <a:noFill/>
          <a:ln>
            <a:noFill/>
          </a:ln>
        </p:spPr>
      </p:pic>
      <p:pic>
        <p:nvPicPr>
          <p:cNvPr id="342" name="Google Shape;342;p36"/>
          <p:cNvPicPr preferRelativeResize="0"/>
          <p:nvPr/>
        </p:nvPicPr>
        <p:blipFill rotWithShape="1">
          <a:blip r:embed="rId6">
            <a:alphaModFix amt="23000"/>
          </a:blip>
          <a:srcRect b="0" l="50261" r="0" t="0"/>
          <a:stretch/>
        </p:blipFill>
        <p:spPr>
          <a:xfrm>
            <a:off x="5902035" y="-34234"/>
            <a:ext cx="3310799" cy="5143500"/>
          </a:xfrm>
          <a:prstGeom prst="rect">
            <a:avLst/>
          </a:prstGeom>
          <a:noFill/>
          <a:ln>
            <a:noFill/>
          </a:ln>
        </p:spPr>
      </p:pic>
      <p:sp>
        <p:nvSpPr>
          <p:cNvPr id="343" name="Google Shape;343;p36"/>
          <p:cNvSpPr txBox="1"/>
          <p:nvPr/>
        </p:nvSpPr>
        <p:spPr>
          <a:xfrm rot="-938">
            <a:off x="3439025" y="1232636"/>
            <a:ext cx="4399200" cy="16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2400">
                <a:solidFill>
                  <a:srgbClr val="FFFFFF"/>
                </a:solidFill>
                <a:latin typeface="Poppins SemiBold"/>
                <a:ea typeface="Poppins SemiBold"/>
                <a:cs typeface="Poppins SemiBold"/>
                <a:sym typeface="Poppins SemiBold"/>
              </a:rPr>
              <a:t>Realizaremos un proyecto que combina todo lo que hemos aprendido en estas dos primeras sesiones…</a:t>
            </a:r>
            <a:endParaRPr b="1" sz="2400">
              <a:solidFill>
                <a:srgbClr val="FFFFF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b="1" sz="2400">
              <a:solidFill>
                <a:srgbClr val="FFFFF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b="1" lang="es" sz="2400">
                <a:solidFill>
                  <a:srgbClr val="FFFFFF"/>
                </a:solidFill>
                <a:latin typeface="Poppins SemiBold"/>
                <a:ea typeface="Poppins SemiBold"/>
                <a:cs typeface="Poppins SemiBold"/>
                <a:sym typeface="Poppins SemiBold"/>
              </a:rPr>
              <a:t>       PROYECTO: </a:t>
            </a:r>
            <a:r>
              <a:rPr b="1" i="1" lang="es" sz="2400">
                <a:solidFill>
                  <a:srgbClr val="FFFFFF"/>
                </a:solidFill>
                <a:latin typeface="Poppins SemiBold"/>
                <a:ea typeface="Poppins SemiBold"/>
                <a:cs typeface="Poppins SemiBold"/>
                <a:sym typeface="Poppins SemiBold"/>
              </a:rPr>
              <a:t>GRITADOR</a:t>
            </a:r>
            <a:r>
              <a:rPr b="1" lang="es" sz="2400">
                <a:solidFill>
                  <a:srgbClr val="FFFFFF"/>
                </a:solidFill>
                <a:latin typeface="Poppins SemiBold"/>
                <a:ea typeface="Poppins SemiBold"/>
                <a:cs typeface="Poppins SemiBold"/>
                <a:sym typeface="Poppins SemiBold"/>
              </a:rPr>
              <a:t> </a:t>
            </a:r>
            <a:endParaRPr b="1" sz="2400">
              <a:solidFill>
                <a:srgbClr val="FFFFFF"/>
              </a:solidFill>
              <a:latin typeface="Poppins SemiBold"/>
              <a:ea typeface="Poppins SemiBold"/>
              <a:cs typeface="Poppins SemiBold"/>
              <a:sym typeface="Poppins SemiBold"/>
            </a:endParaRPr>
          </a:p>
          <a:p>
            <a:pPr indent="-381000" lvl="0" marL="457200" rtl="0" algn="r">
              <a:spcBef>
                <a:spcPts val="0"/>
              </a:spcBef>
              <a:spcAft>
                <a:spcPts val="0"/>
              </a:spcAft>
              <a:buClr>
                <a:srgbClr val="FFFFFF"/>
              </a:buClr>
              <a:buSzPts val="2400"/>
              <a:buFont typeface="Poppins SemiBold"/>
              <a:buChar char="-"/>
            </a:pPr>
            <a:r>
              <a:rPr b="1" lang="es" sz="2400">
                <a:solidFill>
                  <a:srgbClr val="FFFFFF"/>
                </a:solidFill>
                <a:latin typeface="Poppins SemiBold"/>
                <a:ea typeface="Poppins SemiBold"/>
                <a:cs typeface="Poppins SemiBold"/>
                <a:sym typeface="Poppins SemiBold"/>
              </a:rPr>
              <a:t>idea de POLWOR.COM</a:t>
            </a:r>
            <a:endParaRPr b="1" sz="2400">
              <a:solidFill>
                <a:srgbClr val="FFFFF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b="1" sz="2400">
              <a:solidFill>
                <a:srgbClr val="FFFFF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b="1" sz="2400">
              <a:solidFill>
                <a:srgbClr val="FFFFFF"/>
              </a:solidFill>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800"/>
              <a:buFont typeface="Arial"/>
              <a:buNone/>
            </a:pPr>
            <a:r>
              <a:t/>
            </a:r>
            <a:endParaRPr b="1" sz="2400">
              <a:solidFill>
                <a:srgbClr val="FFFFFF"/>
              </a:solidFill>
              <a:latin typeface="Poppins SemiBold"/>
              <a:ea typeface="Poppins SemiBold"/>
              <a:cs typeface="Poppins SemiBold"/>
              <a:sym typeface="Poppins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37"/>
          <p:cNvPicPr preferRelativeResize="0"/>
          <p:nvPr/>
        </p:nvPicPr>
        <p:blipFill rotWithShape="1">
          <a:blip r:embed="rId3">
            <a:alphaModFix/>
          </a:blip>
          <a:srcRect b="21938" l="9222" r="8365" t="22367"/>
          <a:stretch/>
        </p:blipFill>
        <p:spPr>
          <a:xfrm>
            <a:off x="327704" y="234168"/>
            <a:ext cx="765220" cy="344252"/>
          </a:xfrm>
          <a:prstGeom prst="rect">
            <a:avLst/>
          </a:prstGeom>
          <a:noFill/>
          <a:ln>
            <a:noFill/>
          </a:ln>
        </p:spPr>
      </p:pic>
      <p:grpSp>
        <p:nvGrpSpPr>
          <p:cNvPr id="349" name="Google Shape;349;p37"/>
          <p:cNvGrpSpPr/>
          <p:nvPr/>
        </p:nvGrpSpPr>
        <p:grpSpPr>
          <a:xfrm>
            <a:off x="-126275" y="4746700"/>
            <a:ext cx="9270322" cy="401792"/>
            <a:chOff x="0" y="-29340"/>
            <a:chExt cx="2901600" cy="5177731"/>
          </a:xfrm>
        </p:grpSpPr>
        <p:pic>
          <p:nvPicPr>
            <p:cNvPr id="350" name="Google Shape;350;p37"/>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351" name="Google Shape;351;p37"/>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52" name="Google Shape;352;p37"/>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
        <p:nvSpPr>
          <p:cNvPr id="353" name="Google Shape;353;p37"/>
          <p:cNvSpPr txBox="1"/>
          <p:nvPr>
            <p:ph type="title"/>
          </p:nvPr>
        </p:nvSpPr>
        <p:spPr>
          <a:xfrm>
            <a:off x="327700" y="2341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solidFill>
                  <a:srgbClr val="0233AE"/>
                </a:solidFill>
                <a:latin typeface="Poppins"/>
                <a:ea typeface="Poppins"/>
                <a:cs typeface="Poppins"/>
                <a:sym typeface="Poppins"/>
              </a:rPr>
              <a:t>POLWOR - Pablo Guerra</a:t>
            </a:r>
            <a:endParaRPr b="1" i="1">
              <a:solidFill>
                <a:srgbClr val="0233AE"/>
              </a:solidFill>
              <a:latin typeface="Poppins"/>
              <a:ea typeface="Poppins"/>
              <a:cs typeface="Poppins"/>
              <a:sym typeface="Poppins"/>
            </a:endParaRPr>
          </a:p>
        </p:txBody>
      </p:sp>
      <p:pic>
        <p:nvPicPr>
          <p:cNvPr id="354" name="Google Shape;354;p37" title="foto-polwor-2.jpg"/>
          <p:cNvPicPr preferRelativeResize="0"/>
          <p:nvPr/>
        </p:nvPicPr>
        <p:blipFill>
          <a:blip r:embed="rId5">
            <a:alphaModFix/>
          </a:blip>
          <a:stretch>
            <a:fillRect/>
          </a:stretch>
        </p:blipFill>
        <p:spPr>
          <a:xfrm>
            <a:off x="327700" y="891638"/>
            <a:ext cx="3133643" cy="3635026"/>
          </a:xfrm>
          <a:prstGeom prst="rect">
            <a:avLst/>
          </a:prstGeom>
          <a:noFill/>
          <a:ln>
            <a:noFill/>
          </a:ln>
        </p:spPr>
      </p:pic>
      <p:sp>
        <p:nvSpPr>
          <p:cNvPr id="355" name="Google Shape;355;p37"/>
          <p:cNvSpPr txBox="1"/>
          <p:nvPr>
            <p:ph type="title"/>
          </p:nvPr>
        </p:nvSpPr>
        <p:spPr>
          <a:xfrm>
            <a:off x="3589225" y="891650"/>
            <a:ext cx="5191200" cy="36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1600">
                <a:solidFill>
                  <a:srgbClr val="0233AE"/>
                </a:solidFill>
                <a:latin typeface="Poppins"/>
                <a:ea typeface="Poppins"/>
                <a:cs typeface="Poppins"/>
                <a:sym typeface="Poppins"/>
              </a:rPr>
              <a:t>Diseñador Industrial y Magíster en Artes Mediales, dedicado al desarrollo del sonido electrónico experimental. </a:t>
            </a:r>
            <a:endParaRPr sz="1600">
              <a:solidFill>
                <a:srgbClr val="0233AE"/>
              </a:solidFill>
              <a:latin typeface="Poppins"/>
              <a:ea typeface="Poppins"/>
              <a:cs typeface="Poppins"/>
              <a:sym typeface="Poppins"/>
            </a:endParaRPr>
          </a:p>
          <a:p>
            <a:pPr indent="0" lvl="0" marL="0" rtl="0" algn="l">
              <a:spcBef>
                <a:spcPts val="0"/>
              </a:spcBef>
              <a:spcAft>
                <a:spcPts val="0"/>
              </a:spcAft>
              <a:buSzPts val="990"/>
              <a:buNone/>
            </a:pPr>
            <a:r>
              <a:t/>
            </a:r>
            <a:endParaRPr sz="1600">
              <a:solidFill>
                <a:srgbClr val="0233AE"/>
              </a:solidFill>
              <a:latin typeface="Poppins"/>
              <a:ea typeface="Poppins"/>
              <a:cs typeface="Poppins"/>
              <a:sym typeface="Poppins"/>
            </a:endParaRPr>
          </a:p>
          <a:p>
            <a:pPr indent="0" lvl="0" marL="0" rtl="0" algn="l">
              <a:spcBef>
                <a:spcPts val="0"/>
              </a:spcBef>
              <a:spcAft>
                <a:spcPts val="0"/>
              </a:spcAft>
              <a:buSzPts val="990"/>
              <a:buNone/>
            </a:pPr>
            <a:r>
              <a:rPr lang="es" sz="1600">
                <a:solidFill>
                  <a:srgbClr val="0233AE"/>
                </a:solidFill>
                <a:latin typeface="Poppins"/>
                <a:ea typeface="Poppins"/>
                <a:cs typeface="Poppins"/>
                <a:sym typeface="Poppins"/>
              </a:rPr>
              <a:t>Su práctica abarca la performance, la construcción de dispositivos analógicos, talleres de electrónica creativa y la gestión de espacios culturales. Desde 2016 opera bajo el alias Polwor como plataforma para todas estas dimensiones.</a:t>
            </a:r>
            <a:endParaRPr sz="1600">
              <a:solidFill>
                <a:srgbClr val="0233AE"/>
              </a:solidFill>
              <a:latin typeface="Poppins"/>
              <a:ea typeface="Poppins"/>
              <a:cs typeface="Poppins"/>
              <a:sym typeface="Poppins"/>
            </a:endParaRPr>
          </a:p>
          <a:p>
            <a:pPr indent="0" lvl="0" marL="0" rtl="0" algn="l">
              <a:spcBef>
                <a:spcPts val="0"/>
              </a:spcBef>
              <a:spcAft>
                <a:spcPts val="0"/>
              </a:spcAft>
              <a:buSzPts val="990"/>
              <a:buNone/>
            </a:pPr>
            <a:r>
              <a:t/>
            </a:r>
            <a:endParaRPr sz="1600">
              <a:solidFill>
                <a:srgbClr val="0233AE"/>
              </a:solidFill>
              <a:latin typeface="Poppins"/>
              <a:ea typeface="Poppins"/>
              <a:cs typeface="Poppins"/>
              <a:sym typeface="Poppins"/>
            </a:endParaRPr>
          </a:p>
          <a:p>
            <a:pPr indent="0" lvl="0" marL="0" rtl="0" algn="l">
              <a:spcBef>
                <a:spcPts val="0"/>
              </a:spcBef>
              <a:spcAft>
                <a:spcPts val="0"/>
              </a:spcAft>
              <a:buSzPts val="990"/>
              <a:buNone/>
            </a:pPr>
            <a:r>
              <a:rPr lang="es" sz="1600">
                <a:solidFill>
                  <a:srgbClr val="0233AE"/>
                </a:solidFill>
                <a:latin typeface="Poppins"/>
                <a:ea typeface="Poppins"/>
                <a:cs typeface="Poppins"/>
                <a:sym typeface="Poppins"/>
              </a:rPr>
              <a:t>En su web </a:t>
            </a:r>
            <a:r>
              <a:rPr lang="es" sz="1600" u="sng">
                <a:solidFill>
                  <a:schemeClr val="hlink"/>
                </a:solidFill>
                <a:latin typeface="Poppins"/>
                <a:ea typeface="Poppins"/>
                <a:cs typeface="Poppins"/>
                <a:sym typeface="Poppins"/>
                <a:hlinkClick r:id="rId6"/>
              </a:rPr>
              <a:t>polwor.com</a:t>
            </a:r>
            <a:r>
              <a:rPr lang="es" sz="1600">
                <a:solidFill>
                  <a:srgbClr val="0233AE"/>
                </a:solidFill>
                <a:latin typeface="Poppins"/>
                <a:ea typeface="Poppins"/>
                <a:cs typeface="Poppins"/>
                <a:sym typeface="Poppins"/>
              </a:rPr>
              <a:t> existen varios proyectos interesantes.</a:t>
            </a:r>
            <a:endParaRPr sz="1600">
              <a:solidFill>
                <a:srgbClr val="0233AE"/>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38"/>
          <p:cNvPicPr preferRelativeResize="0"/>
          <p:nvPr/>
        </p:nvPicPr>
        <p:blipFill rotWithShape="1">
          <a:blip r:embed="rId3">
            <a:alphaModFix/>
          </a:blip>
          <a:srcRect b="21938" l="9222" r="8365" t="22367"/>
          <a:stretch/>
        </p:blipFill>
        <p:spPr>
          <a:xfrm>
            <a:off x="327704" y="234168"/>
            <a:ext cx="765220" cy="344252"/>
          </a:xfrm>
          <a:prstGeom prst="rect">
            <a:avLst/>
          </a:prstGeom>
          <a:noFill/>
          <a:ln>
            <a:noFill/>
          </a:ln>
        </p:spPr>
      </p:pic>
      <p:grpSp>
        <p:nvGrpSpPr>
          <p:cNvPr id="361" name="Google Shape;361;p38"/>
          <p:cNvGrpSpPr/>
          <p:nvPr/>
        </p:nvGrpSpPr>
        <p:grpSpPr>
          <a:xfrm>
            <a:off x="-126275" y="4746700"/>
            <a:ext cx="9270322" cy="401792"/>
            <a:chOff x="0" y="-29340"/>
            <a:chExt cx="2901600" cy="5177731"/>
          </a:xfrm>
        </p:grpSpPr>
        <p:pic>
          <p:nvPicPr>
            <p:cNvPr id="362" name="Google Shape;362;p38"/>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363" name="Google Shape;363;p38"/>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64" name="Google Shape;364;p38"/>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
        <p:nvSpPr>
          <p:cNvPr id="365" name="Google Shape;365;p38"/>
          <p:cNvSpPr txBox="1"/>
          <p:nvPr>
            <p:ph type="title"/>
          </p:nvPr>
        </p:nvSpPr>
        <p:spPr>
          <a:xfrm>
            <a:off x="311700" y="1199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solidFill>
                  <a:srgbClr val="0233AE"/>
                </a:solidFill>
                <a:latin typeface="Poppins"/>
                <a:ea typeface="Poppins"/>
                <a:cs typeface="Poppins"/>
                <a:sym typeface="Poppins"/>
              </a:rPr>
              <a:t>PROYECTO: GRITADOR - 40 MIN</a:t>
            </a:r>
            <a:endParaRPr b="1" i="1">
              <a:solidFill>
                <a:srgbClr val="0233AE"/>
              </a:solidFill>
              <a:latin typeface="Poppins"/>
              <a:ea typeface="Poppins"/>
              <a:cs typeface="Poppins"/>
              <a:sym typeface="Poppins"/>
            </a:endParaRPr>
          </a:p>
        </p:txBody>
      </p:sp>
      <p:sp>
        <p:nvSpPr>
          <p:cNvPr id="366" name="Google Shape;366;p38"/>
          <p:cNvSpPr txBox="1"/>
          <p:nvPr>
            <p:ph type="title"/>
          </p:nvPr>
        </p:nvSpPr>
        <p:spPr>
          <a:xfrm>
            <a:off x="248588" y="41740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solidFill>
                  <a:srgbClr val="0233AE"/>
                </a:solidFill>
                <a:latin typeface="Poppins"/>
                <a:ea typeface="Poppins"/>
                <a:cs typeface="Poppins"/>
                <a:sym typeface="Poppins"/>
              </a:rPr>
              <a:t>¿Cuáles componentes reconoces?</a:t>
            </a:r>
            <a:endParaRPr b="1" i="1">
              <a:solidFill>
                <a:srgbClr val="0233AE"/>
              </a:solidFill>
              <a:latin typeface="Poppins"/>
              <a:ea typeface="Poppins"/>
              <a:cs typeface="Poppins"/>
              <a:sym typeface="Poppins"/>
            </a:endParaRPr>
          </a:p>
        </p:txBody>
      </p:sp>
      <p:pic>
        <p:nvPicPr>
          <p:cNvPr id="367" name="Google Shape;367;p38"/>
          <p:cNvPicPr preferRelativeResize="0"/>
          <p:nvPr/>
        </p:nvPicPr>
        <p:blipFill>
          <a:blip r:embed="rId5">
            <a:alphaModFix/>
          </a:blip>
          <a:stretch>
            <a:fillRect/>
          </a:stretch>
        </p:blipFill>
        <p:spPr>
          <a:xfrm>
            <a:off x="1087264" y="692650"/>
            <a:ext cx="6843272" cy="33189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39"/>
          <p:cNvPicPr preferRelativeResize="0"/>
          <p:nvPr/>
        </p:nvPicPr>
        <p:blipFill rotWithShape="1">
          <a:blip r:embed="rId3">
            <a:alphaModFix/>
          </a:blip>
          <a:srcRect b="21938" l="9222" r="8365" t="22367"/>
          <a:stretch/>
        </p:blipFill>
        <p:spPr>
          <a:xfrm>
            <a:off x="327704" y="234168"/>
            <a:ext cx="765220" cy="344252"/>
          </a:xfrm>
          <a:prstGeom prst="rect">
            <a:avLst/>
          </a:prstGeom>
          <a:noFill/>
          <a:ln>
            <a:noFill/>
          </a:ln>
        </p:spPr>
      </p:pic>
      <p:grpSp>
        <p:nvGrpSpPr>
          <p:cNvPr id="373" name="Google Shape;373;p39"/>
          <p:cNvGrpSpPr/>
          <p:nvPr/>
        </p:nvGrpSpPr>
        <p:grpSpPr>
          <a:xfrm>
            <a:off x="-126275" y="4746700"/>
            <a:ext cx="9270322" cy="401792"/>
            <a:chOff x="0" y="-29340"/>
            <a:chExt cx="2901600" cy="5177731"/>
          </a:xfrm>
        </p:grpSpPr>
        <p:pic>
          <p:nvPicPr>
            <p:cNvPr id="374" name="Google Shape;374;p39"/>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375" name="Google Shape;375;p39"/>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76" name="Google Shape;376;p39"/>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77" name="Google Shape;377;p39"/>
          <p:cNvPicPr preferRelativeResize="0"/>
          <p:nvPr/>
        </p:nvPicPr>
        <p:blipFill>
          <a:blip r:embed="rId5">
            <a:alphaModFix/>
          </a:blip>
          <a:stretch>
            <a:fillRect/>
          </a:stretch>
        </p:blipFill>
        <p:spPr>
          <a:xfrm>
            <a:off x="2719250" y="701937"/>
            <a:ext cx="3914775" cy="3990975"/>
          </a:xfrm>
          <a:prstGeom prst="rect">
            <a:avLst/>
          </a:prstGeom>
          <a:noFill/>
          <a:ln>
            <a:noFill/>
          </a:ln>
        </p:spPr>
      </p:pic>
      <p:sp>
        <p:nvSpPr>
          <p:cNvPr id="378" name="Google Shape;378;p39"/>
          <p:cNvSpPr txBox="1"/>
          <p:nvPr>
            <p:ph type="title"/>
          </p:nvPr>
        </p:nvSpPr>
        <p:spPr>
          <a:xfrm>
            <a:off x="416325" y="1199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solidFill>
                  <a:srgbClr val="0233AE"/>
                </a:solidFill>
                <a:latin typeface="Poppins"/>
                <a:ea typeface="Poppins"/>
                <a:cs typeface="Poppins"/>
                <a:sym typeface="Poppins"/>
              </a:rPr>
              <a:t>QR </a:t>
            </a:r>
            <a:r>
              <a:rPr b="1" lang="es">
                <a:solidFill>
                  <a:srgbClr val="0233AE"/>
                </a:solidFill>
                <a:latin typeface="Poppins"/>
                <a:ea typeface="Poppins"/>
                <a:cs typeface="Poppins"/>
                <a:sym typeface="Poppins"/>
              </a:rPr>
              <a:t>página</a:t>
            </a:r>
            <a:r>
              <a:rPr b="1" lang="es">
                <a:solidFill>
                  <a:srgbClr val="0233AE"/>
                </a:solidFill>
                <a:latin typeface="Poppins"/>
                <a:ea typeface="Poppins"/>
                <a:cs typeface="Poppins"/>
                <a:sym typeface="Poppins"/>
              </a:rPr>
              <a:t> oficial de Polwor - Gritador</a:t>
            </a:r>
            <a:endParaRPr b="1" i="1">
              <a:solidFill>
                <a:srgbClr val="0233AE"/>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0"/>
          <p:cNvSpPr/>
          <p:nvPr/>
        </p:nvSpPr>
        <p:spPr>
          <a:xfrm>
            <a:off x="2889190" y="-6900"/>
            <a:ext cx="6254700" cy="5143500"/>
          </a:xfrm>
          <a:prstGeom prst="rect">
            <a:avLst/>
          </a:prstGeom>
          <a:solidFill>
            <a:srgbClr val="DC92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4" name="Google Shape;384;p40"/>
          <p:cNvPicPr preferRelativeResize="0"/>
          <p:nvPr/>
        </p:nvPicPr>
        <p:blipFill rotWithShape="1">
          <a:blip r:embed="rId3">
            <a:alphaModFix amt="21000"/>
          </a:blip>
          <a:srcRect b="0" l="50261" r="0" t="0"/>
          <a:stretch/>
        </p:blipFill>
        <p:spPr>
          <a:xfrm>
            <a:off x="5902035" y="-34234"/>
            <a:ext cx="3310799" cy="5143500"/>
          </a:xfrm>
          <a:prstGeom prst="rect">
            <a:avLst/>
          </a:prstGeom>
          <a:noFill/>
          <a:ln>
            <a:noFill/>
          </a:ln>
        </p:spPr>
      </p:pic>
      <p:grpSp>
        <p:nvGrpSpPr>
          <p:cNvPr id="385" name="Google Shape;385;p40"/>
          <p:cNvGrpSpPr/>
          <p:nvPr/>
        </p:nvGrpSpPr>
        <p:grpSpPr>
          <a:xfrm>
            <a:off x="-10633" y="-29340"/>
            <a:ext cx="2901600" cy="5177731"/>
            <a:chOff x="0" y="-29340"/>
            <a:chExt cx="2901600" cy="5177731"/>
          </a:xfrm>
        </p:grpSpPr>
        <p:pic>
          <p:nvPicPr>
            <p:cNvPr id="386" name="Google Shape;386;p40"/>
            <p:cNvPicPr preferRelativeResize="0"/>
            <p:nvPr/>
          </p:nvPicPr>
          <p:blipFill rotWithShape="1">
            <a:blip r:embed="rId4">
              <a:alphaModFix/>
            </a:blip>
            <a:srcRect b="68755" l="25893" r="0" t="0"/>
            <a:stretch/>
          </p:blipFill>
          <p:spPr>
            <a:xfrm rot="5400000">
              <a:off x="-1130295" y="1116585"/>
              <a:ext cx="5172836" cy="2890775"/>
            </a:xfrm>
            <a:prstGeom prst="rect">
              <a:avLst/>
            </a:prstGeom>
            <a:noFill/>
            <a:ln>
              <a:noFill/>
            </a:ln>
          </p:spPr>
        </p:pic>
        <p:sp>
          <p:nvSpPr>
            <p:cNvPr id="387" name="Google Shape;387;p40"/>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88" name="Google Shape;388;p40"/>
          <p:cNvSpPr/>
          <p:nvPr/>
        </p:nvSpPr>
        <p:spPr>
          <a:xfrm>
            <a:off x="1192305" y="664226"/>
            <a:ext cx="2669700" cy="1318500"/>
          </a:xfrm>
          <a:prstGeom prst="wedgeEllipseCallout">
            <a:avLst>
              <a:gd fmla="val -20833" name="adj1"/>
              <a:gd fmla="val 62500" name="adj2"/>
            </a:avLst>
          </a:prstGeom>
          <a:solidFill>
            <a:srgbClr val="B6C8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E02184"/>
                </a:solidFill>
                <a:latin typeface="Poppins"/>
                <a:ea typeface="Poppins"/>
                <a:cs typeface="Poppins"/>
                <a:sym typeface="Poppins"/>
              </a:rPr>
              <a:t>¿QUÉ APRENDIMOS HOY?</a:t>
            </a:r>
            <a:endParaRPr b="0" i="0" sz="1400" u="none" cap="none" strike="noStrike">
              <a:solidFill>
                <a:srgbClr val="000000"/>
              </a:solidFill>
              <a:latin typeface="Arial"/>
              <a:ea typeface="Arial"/>
              <a:cs typeface="Arial"/>
              <a:sym typeface="Arial"/>
            </a:endParaRPr>
          </a:p>
        </p:txBody>
      </p:sp>
      <p:pic>
        <p:nvPicPr>
          <p:cNvPr id="389" name="Google Shape;389;p40"/>
          <p:cNvPicPr preferRelativeResize="0"/>
          <p:nvPr/>
        </p:nvPicPr>
        <p:blipFill rotWithShape="1">
          <a:blip r:embed="rId5">
            <a:alphaModFix/>
          </a:blip>
          <a:srcRect b="0" l="0" r="0" t="0"/>
          <a:stretch/>
        </p:blipFill>
        <p:spPr>
          <a:xfrm>
            <a:off x="119398" y="114505"/>
            <a:ext cx="548700" cy="388993"/>
          </a:xfrm>
          <a:prstGeom prst="rect">
            <a:avLst/>
          </a:prstGeom>
          <a:noFill/>
          <a:ln>
            <a:noFill/>
          </a:ln>
        </p:spPr>
      </p:pic>
      <p:pic>
        <p:nvPicPr>
          <p:cNvPr id="390" name="Google Shape;390;p40"/>
          <p:cNvPicPr preferRelativeResize="0"/>
          <p:nvPr/>
        </p:nvPicPr>
        <p:blipFill rotWithShape="1">
          <a:blip r:embed="rId6">
            <a:alphaModFix/>
          </a:blip>
          <a:srcRect b="0" l="0" r="0" t="0"/>
          <a:stretch/>
        </p:blipFill>
        <p:spPr>
          <a:xfrm>
            <a:off x="3338944" y="-1088020"/>
            <a:ext cx="5480204" cy="7326474"/>
          </a:xfrm>
          <a:prstGeom prst="rect">
            <a:avLst/>
          </a:prstGeom>
          <a:noFill/>
          <a:ln>
            <a:noFill/>
          </a:ln>
        </p:spPr>
      </p:pic>
      <p:sp>
        <p:nvSpPr>
          <p:cNvPr id="391" name="Google Shape;391;p40"/>
          <p:cNvSpPr txBox="1"/>
          <p:nvPr/>
        </p:nvSpPr>
        <p:spPr>
          <a:xfrm>
            <a:off x="4427225" y="762725"/>
            <a:ext cx="3310800" cy="2986200"/>
          </a:xfrm>
          <a:prstGeom prst="rect">
            <a:avLst/>
          </a:prstGeom>
          <a:noFill/>
          <a:ln>
            <a:noFill/>
          </a:ln>
        </p:spPr>
        <p:txBody>
          <a:bodyPr anchorCtr="0" anchor="t" bIns="45700" lIns="91425" spcFirstLastPara="1" rIns="91425" wrap="square" tIns="45700">
            <a:spAutoFit/>
          </a:bodyPr>
          <a:lstStyle/>
          <a:p>
            <a:pPr indent="-355600" lvl="0" marL="457200" rtl="0" algn="l">
              <a:spcBef>
                <a:spcPts val="0"/>
              </a:spcBef>
              <a:spcAft>
                <a:spcPts val="0"/>
              </a:spcAft>
              <a:buClr>
                <a:schemeClr val="lt1"/>
              </a:buClr>
              <a:buSzPts val="2000"/>
              <a:buChar char="•"/>
            </a:pPr>
            <a:r>
              <a:rPr lang="es" sz="1600">
                <a:solidFill>
                  <a:schemeClr val="lt1"/>
                </a:solidFill>
                <a:latin typeface="Poppins"/>
                <a:ea typeface="Poppins"/>
                <a:cs typeface="Poppins"/>
                <a:sym typeface="Poppins"/>
              </a:rPr>
              <a:t>3</a:t>
            </a:r>
            <a:endParaRPr sz="1600">
              <a:solidFill>
                <a:schemeClr val="lt1"/>
              </a:solidFill>
              <a:latin typeface="Poppins"/>
              <a:ea typeface="Poppins"/>
              <a:cs typeface="Poppins"/>
              <a:sym typeface="Poppins"/>
            </a:endParaRPr>
          </a:p>
          <a:p>
            <a:pPr indent="0" lvl="0" marL="457200" rtl="0" algn="l">
              <a:spcBef>
                <a:spcPts val="0"/>
              </a:spcBef>
              <a:spcAft>
                <a:spcPts val="0"/>
              </a:spcAft>
              <a:buNone/>
            </a:pPr>
            <a:r>
              <a:t/>
            </a:r>
            <a:endParaRPr sz="1600">
              <a:solidFill>
                <a:schemeClr val="lt1"/>
              </a:solidFill>
              <a:latin typeface="Poppins"/>
              <a:ea typeface="Poppins"/>
              <a:cs typeface="Poppins"/>
              <a:sym typeface="Poppins"/>
            </a:endParaRPr>
          </a:p>
          <a:p>
            <a:pPr indent="-355600" lvl="0" marL="457200" marR="0" rtl="0" algn="l">
              <a:lnSpc>
                <a:spcPct val="100000"/>
              </a:lnSpc>
              <a:spcBef>
                <a:spcPts val="0"/>
              </a:spcBef>
              <a:spcAft>
                <a:spcPts val="0"/>
              </a:spcAft>
              <a:buClr>
                <a:schemeClr val="lt1"/>
              </a:buClr>
              <a:buSzPts val="2000"/>
              <a:buFont typeface="Arial"/>
              <a:buChar char="•"/>
            </a:pPr>
            <a:r>
              <a:rPr lang="es" sz="1600">
                <a:solidFill>
                  <a:schemeClr val="lt1"/>
                </a:solidFill>
                <a:latin typeface="Poppins"/>
                <a:ea typeface="Poppins"/>
                <a:cs typeface="Poppins"/>
                <a:sym typeface="Poppins"/>
              </a:rPr>
              <a:t>2</a:t>
            </a:r>
            <a:endParaRPr sz="1600"/>
          </a:p>
          <a:p>
            <a:pPr indent="0" lvl="0" marL="457200" marR="0" rtl="0" algn="l">
              <a:lnSpc>
                <a:spcPct val="100000"/>
              </a:lnSpc>
              <a:spcBef>
                <a:spcPts val="0"/>
              </a:spcBef>
              <a:spcAft>
                <a:spcPts val="0"/>
              </a:spcAft>
              <a:buNone/>
            </a:pPr>
            <a:r>
              <a:t/>
            </a:r>
            <a:endParaRPr sz="1600">
              <a:solidFill>
                <a:schemeClr val="lt1"/>
              </a:solidFill>
              <a:latin typeface="Poppins"/>
              <a:ea typeface="Poppins"/>
              <a:cs typeface="Poppins"/>
              <a:sym typeface="Poppins"/>
            </a:endParaRPr>
          </a:p>
          <a:p>
            <a:pPr indent="-355600" lvl="0" marL="457200" marR="0" rtl="0" algn="l">
              <a:lnSpc>
                <a:spcPct val="100000"/>
              </a:lnSpc>
              <a:spcBef>
                <a:spcPts val="0"/>
              </a:spcBef>
              <a:spcAft>
                <a:spcPts val="0"/>
              </a:spcAft>
              <a:buClr>
                <a:schemeClr val="lt1"/>
              </a:buClr>
              <a:buSzPts val="2000"/>
              <a:buFont typeface="Arial"/>
              <a:buChar char="•"/>
            </a:pPr>
            <a:r>
              <a:rPr lang="es" sz="1600">
                <a:solidFill>
                  <a:schemeClr val="lt1"/>
                </a:solidFill>
                <a:latin typeface="Poppins"/>
                <a:ea typeface="Poppins"/>
                <a:cs typeface="Poppins"/>
                <a:sym typeface="Poppins"/>
              </a:rPr>
              <a:t>1</a:t>
            </a:r>
            <a:endParaRPr b="0" i="0" sz="1600" u="none" cap="none" strike="noStrike">
              <a:solidFill>
                <a:schemeClr val="lt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chemeClr val="lt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t/>
            </a:r>
            <a:endParaRPr b="1" i="0" sz="1600" u="none" cap="none" strike="noStrike">
              <a:solidFill>
                <a:schemeClr val="lt1"/>
              </a:solidFill>
              <a:latin typeface="Poppins"/>
              <a:ea typeface="Poppins"/>
              <a:cs typeface="Poppins"/>
              <a:sym typeface="Poppins"/>
            </a:endParaRPr>
          </a:p>
          <a:p>
            <a:pPr indent="-228600" lvl="0" marL="457200" marR="0" rtl="0" algn="l">
              <a:lnSpc>
                <a:spcPct val="100000"/>
              </a:lnSpc>
              <a:spcBef>
                <a:spcPts val="0"/>
              </a:spcBef>
              <a:spcAft>
                <a:spcPts val="0"/>
              </a:spcAft>
              <a:buClr>
                <a:schemeClr val="lt1"/>
              </a:buClr>
              <a:buSzPts val="1800"/>
              <a:buFont typeface="Arial"/>
              <a:buNone/>
            </a:pPr>
            <a:r>
              <a:t/>
            </a:r>
            <a:endParaRPr b="0" i="0" sz="1600" u="none" cap="none" strike="noStrike">
              <a:solidFill>
                <a:schemeClr val="lt1"/>
              </a:solidFill>
              <a:latin typeface="Poppins"/>
              <a:ea typeface="Poppins"/>
              <a:cs typeface="Poppins"/>
              <a:sym typeface="Poppins"/>
            </a:endParaRPr>
          </a:p>
          <a:p>
            <a:pPr indent="-228600" lvl="0" marL="457200" marR="0" rtl="0" algn="l">
              <a:lnSpc>
                <a:spcPct val="100000"/>
              </a:lnSpc>
              <a:spcBef>
                <a:spcPts val="0"/>
              </a:spcBef>
              <a:spcAft>
                <a:spcPts val="0"/>
              </a:spcAft>
              <a:buClr>
                <a:schemeClr val="lt1"/>
              </a:buClr>
              <a:buSzPts val="1800"/>
              <a:buFont typeface="Arial"/>
              <a:buNone/>
            </a:pPr>
            <a:r>
              <a:t/>
            </a:r>
            <a:endParaRPr b="0" i="0" sz="1600" u="none" cap="none" strike="noStrike">
              <a:solidFill>
                <a:schemeClr val="lt1"/>
              </a:solidFill>
              <a:latin typeface="Poppins"/>
              <a:ea typeface="Poppins"/>
              <a:cs typeface="Poppins"/>
              <a:sym typeface="Poppins"/>
            </a:endParaRPr>
          </a:p>
          <a:p>
            <a:pPr indent="-228600" lvl="0" marL="457200" marR="0" rtl="0" algn="l">
              <a:lnSpc>
                <a:spcPct val="100000"/>
              </a:lnSpc>
              <a:spcBef>
                <a:spcPts val="0"/>
              </a:spcBef>
              <a:spcAft>
                <a:spcPts val="0"/>
              </a:spcAft>
              <a:buClr>
                <a:schemeClr val="lt1"/>
              </a:buClr>
              <a:buSzPts val="1800"/>
              <a:buFont typeface="Arial"/>
              <a:buNone/>
            </a:pPr>
            <a:r>
              <a:t/>
            </a:r>
            <a:endParaRPr b="0" i="0" sz="1600" u="none" cap="none" strike="noStrike">
              <a:solidFill>
                <a:schemeClr val="lt1"/>
              </a:solidFill>
              <a:latin typeface="Poppins"/>
              <a:ea typeface="Poppins"/>
              <a:cs typeface="Poppins"/>
              <a:sym typeface="Poppins"/>
            </a:endParaRPr>
          </a:p>
          <a:p>
            <a:pPr indent="-228600" lvl="0" marL="457200" marR="0" rtl="0" algn="l">
              <a:lnSpc>
                <a:spcPct val="100000"/>
              </a:lnSpc>
              <a:spcBef>
                <a:spcPts val="0"/>
              </a:spcBef>
              <a:spcAft>
                <a:spcPts val="0"/>
              </a:spcAft>
              <a:buClr>
                <a:schemeClr val="lt1"/>
              </a:buClr>
              <a:buSzPts val="1800"/>
              <a:buFont typeface="Arial"/>
              <a:buNone/>
            </a:pPr>
            <a:r>
              <a:t/>
            </a:r>
            <a:endParaRPr b="0" i="0" sz="1600" u="none" cap="none" strike="noStrike">
              <a:solidFill>
                <a:schemeClr val="lt1"/>
              </a:solidFill>
              <a:latin typeface="Poppins"/>
              <a:ea typeface="Poppins"/>
              <a:cs typeface="Poppins"/>
              <a:sym typeface="Poppins"/>
            </a:endParaRPr>
          </a:p>
        </p:txBody>
      </p:sp>
      <p:pic>
        <p:nvPicPr>
          <p:cNvPr id="392" name="Google Shape;392;p40"/>
          <p:cNvPicPr preferRelativeResize="0"/>
          <p:nvPr/>
        </p:nvPicPr>
        <p:blipFill rotWithShape="1">
          <a:blip r:embed="rId7">
            <a:alphaModFix/>
          </a:blip>
          <a:srcRect b="0" l="0" r="0" t="0"/>
          <a:stretch/>
        </p:blipFill>
        <p:spPr>
          <a:xfrm>
            <a:off x="668103" y="2397849"/>
            <a:ext cx="1365667" cy="15342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sz="1000">
                <a:solidFill>
                  <a:srgbClr val="595959"/>
                </a:solidFill>
              </a:rPr>
              <a:t>‹#›</a:t>
            </a:fld>
            <a:endParaRPr sz="1000">
              <a:solidFill>
                <a:srgbClr val="595959"/>
              </a:solidFill>
            </a:endParaRPr>
          </a:p>
        </p:txBody>
      </p:sp>
      <p:sp>
        <p:nvSpPr>
          <p:cNvPr id="398" name="Google Shape;398;p41"/>
          <p:cNvSpPr txBox="1"/>
          <p:nvPr/>
        </p:nvSpPr>
        <p:spPr>
          <a:xfrm>
            <a:off x="759925" y="1234250"/>
            <a:ext cx="7574400" cy="12513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1" lang="es" sz="1500">
                <a:solidFill>
                  <a:srgbClr val="000000"/>
                </a:solidFill>
                <a:latin typeface="Proxima Nova"/>
                <a:ea typeface="Proxima Nova"/>
                <a:cs typeface="Proxima Nova"/>
                <a:sym typeface="Proxima Nova"/>
              </a:rPr>
              <a:t>Clubes de Ciencia y Tecnología - Plan de nivelación</a:t>
            </a:r>
            <a:endParaRPr b="1" sz="1500">
              <a:solidFill>
                <a:srgbClr val="000000"/>
              </a:solidFill>
              <a:latin typeface="Proxima Nova"/>
              <a:ea typeface="Proxima Nova"/>
              <a:cs typeface="Proxima Nova"/>
              <a:sym typeface="Proxima Nova"/>
            </a:endParaRPr>
          </a:p>
          <a:p>
            <a:pPr indent="0" lvl="0" marL="0" marR="0" rtl="0" algn="ctr">
              <a:lnSpc>
                <a:spcPct val="115000"/>
              </a:lnSpc>
              <a:spcBef>
                <a:spcPts val="1000"/>
              </a:spcBef>
              <a:spcAft>
                <a:spcPts val="0"/>
              </a:spcAft>
              <a:buClr>
                <a:srgbClr val="000000"/>
              </a:buClr>
              <a:buSzPts val="1000"/>
              <a:buFont typeface="Arial"/>
              <a:buNone/>
            </a:pPr>
            <a:r>
              <a:rPr lang="es" sz="1200">
                <a:solidFill>
                  <a:srgbClr val="000000"/>
                </a:solidFill>
                <a:latin typeface="Proxima Nova"/>
                <a:ea typeface="Proxima Nova"/>
                <a:cs typeface="Proxima Nova"/>
                <a:sym typeface="Proxima Nova"/>
              </a:rPr>
              <a:t>Estos materiales han sido elaborados por Benjamín Espinoza y Gaspar Fábrega para el Programa de Ciencia y Tecnología de Fundación Gabriel &amp; Mary Mustakis. Se permite su uso bajo licencia Creative Commons (CC) por las Universidades Socias del Programa de Ciencia y Tecnología de Fundación Gabriel &amp; Mary Mustakis.</a:t>
            </a:r>
            <a:endParaRPr sz="1200">
              <a:solidFill>
                <a:srgbClr val="000000"/>
              </a:solidFill>
              <a:latin typeface="Proxima Nova"/>
              <a:ea typeface="Proxima Nova"/>
              <a:cs typeface="Proxima Nova"/>
              <a:sym typeface="Proxima Nova"/>
            </a:endParaRPr>
          </a:p>
          <a:p>
            <a:pPr indent="0" lvl="0" marL="0" rtl="0" algn="ctr">
              <a:lnSpc>
                <a:spcPct val="115000"/>
              </a:lnSpc>
              <a:spcBef>
                <a:spcPts val="1000"/>
              </a:spcBef>
              <a:spcAft>
                <a:spcPts val="0"/>
              </a:spcAft>
              <a:buClr>
                <a:srgbClr val="000000"/>
              </a:buClr>
              <a:buSzPts val="1000"/>
              <a:buFont typeface="Arial"/>
              <a:buNone/>
            </a:pPr>
            <a:r>
              <a:rPr b="1" lang="es" sz="1200">
                <a:solidFill>
                  <a:srgbClr val="000000"/>
                </a:solidFill>
                <a:latin typeface="Proxima Nova"/>
                <a:ea typeface="Proxima Nova"/>
                <a:cs typeface="Proxima Nova"/>
                <a:sym typeface="Proxima Nova"/>
              </a:rPr>
              <a:t>Versión 2 - Abril 2024</a:t>
            </a:r>
            <a:endParaRPr b="1" sz="1200">
              <a:solidFill>
                <a:srgbClr val="000000"/>
              </a:solidFill>
              <a:latin typeface="Proxima Nova"/>
              <a:ea typeface="Proxima Nova"/>
              <a:cs typeface="Proxima Nova"/>
              <a:sym typeface="Proxima Nova"/>
            </a:endParaRPr>
          </a:p>
        </p:txBody>
      </p:sp>
      <p:sp>
        <p:nvSpPr>
          <p:cNvPr id="399" name="Google Shape;399;p41"/>
          <p:cNvSpPr txBox="1"/>
          <p:nvPr/>
        </p:nvSpPr>
        <p:spPr>
          <a:xfrm>
            <a:off x="2903400" y="4650625"/>
            <a:ext cx="3337200" cy="558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1" i="0" lang="es" sz="900" u="none" cap="none" strike="noStrike">
                <a:solidFill>
                  <a:srgbClr val="000000"/>
                </a:solidFill>
                <a:latin typeface="Proxima Nova"/>
                <a:ea typeface="Proxima Nova"/>
                <a:cs typeface="Proxima Nova"/>
                <a:sym typeface="Proxima Nova"/>
              </a:rPr>
              <a:t>Publicado Bajo Licencia Creative Commons</a:t>
            </a:r>
            <a:endParaRPr b="1" i="0" sz="900" u="none" cap="none" strike="noStrike">
              <a:solidFill>
                <a:srgbClr val="000000"/>
              </a:solidFill>
              <a:latin typeface="Proxima Nova"/>
              <a:ea typeface="Proxima Nova"/>
              <a:cs typeface="Proxima Nova"/>
              <a:sym typeface="Proxima Nova"/>
            </a:endParaRPr>
          </a:p>
          <a:p>
            <a:pPr indent="0" lvl="0" marL="0" marR="0" rtl="0" algn="ctr">
              <a:lnSpc>
                <a:spcPct val="115000"/>
              </a:lnSpc>
              <a:spcBef>
                <a:spcPts val="0"/>
              </a:spcBef>
              <a:spcAft>
                <a:spcPts val="0"/>
              </a:spcAft>
              <a:buClr>
                <a:srgbClr val="000000"/>
              </a:buClr>
              <a:buSzPts val="900"/>
              <a:buFont typeface="Arial"/>
              <a:buNone/>
            </a:pPr>
            <a:r>
              <a:rPr i="0" lang="es" sz="900" u="none" cap="none" strike="noStrike">
                <a:solidFill>
                  <a:srgbClr val="000000"/>
                </a:solidFill>
                <a:latin typeface="Proxima Nova"/>
                <a:ea typeface="Proxima Nova"/>
                <a:cs typeface="Proxima Nova"/>
                <a:sym typeface="Proxima Nova"/>
              </a:rPr>
              <a:t>Atribución-NoComercial-CompartirIgual (CC BY-NC-SA)</a:t>
            </a:r>
            <a:endParaRPr i="0" sz="900" u="none" cap="none" strike="noStrike">
              <a:solidFill>
                <a:srgbClr val="000000"/>
              </a:solidFill>
              <a:latin typeface="Proxima Nova"/>
              <a:ea typeface="Proxima Nova"/>
              <a:cs typeface="Proxima Nova"/>
              <a:sym typeface="Proxima Nova"/>
            </a:endParaRPr>
          </a:p>
        </p:txBody>
      </p:sp>
      <p:pic>
        <p:nvPicPr>
          <p:cNvPr id="400" name="Google Shape;400;p41"/>
          <p:cNvPicPr preferRelativeResize="0"/>
          <p:nvPr/>
        </p:nvPicPr>
        <p:blipFill rotWithShape="1">
          <a:blip r:embed="rId3">
            <a:alphaModFix/>
          </a:blip>
          <a:srcRect b="0" l="0" r="0" t="0"/>
          <a:stretch/>
        </p:blipFill>
        <p:spPr>
          <a:xfrm>
            <a:off x="4336213" y="3910275"/>
            <a:ext cx="471505" cy="471505"/>
          </a:xfrm>
          <a:prstGeom prst="rect">
            <a:avLst/>
          </a:prstGeom>
          <a:noFill/>
          <a:ln>
            <a:noFill/>
          </a:ln>
        </p:spPr>
      </p:pic>
      <p:pic>
        <p:nvPicPr>
          <p:cNvPr id="401" name="Google Shape;401;p41"/>
          <p:cNvPicPr preferRelativeResize="0"/>
          <p:nvPr/>
        </p:nvPicPr>
        <p:blipFill rotWithShape="1">
          <a:blip r:embed="rId4">
            <a:alphaModFix/>
          </a:blip>
          <a:srcRect b="0" l="0" r="0" t="0"/>
          <a:stretch/>
        </p:blipFill>
        <p:spPr>
          <a:xfrm>
            <a:off x="4135386" y="4411750"/>
            <a:ext cx="873238" cy="291096"/>
          </a:xfrm>
          <a:prstGeom prst="rect">
            <a:avLst/>
          </a:prstGeom>
          <a:noFill/>
          <a:ln>
            <a:noFill/>
          </a:ln>
        </p:spPr>
      </p:pic>
      <p:pic>
        <p:nvPicPr>
          <p:cNvPr id="402" name="Google Shape;402;p41"/>
          <p:cNvPicPr preferRelativeResize="0"/>
          <p:nvPr/>
        </p:nvPicPr>
        <p:blipFill>
          <a:blip r:embed="rId5">
            <a:alphaModFix/>
          </a:blip>
          <a:stretch>
            <a:fillRect/>
          </a:stretch>
        </p:blipFill>
        <p:spPr>
          <a:xfrm>
            <a:off x="2731486" y="3949"/>
            <a:ext cx="3680762" cy="1132713"/>
          </a:xfrm>
          <a:prstGeom prst="rect">
            <a:avLst/>
          </a:prstGeom>
          <a:noFill/>
          <a:ln>
            <a:noFill/>
          </a:ln>
        </p:spPr>
      </p:pic>
      <p:grpSp>
        <p:nvGrpSpPr>
          <p:cNvPr id="403" name="Google Shape;403;p41"/>
          <p:cNvGrpSpPr/>
          <p:nvPr/>
        </p:nvGrpSpPr>
        <p:grpSpPr>
          <a:xfrm>
            <a:off x="1401723" y="2909269"/>
            <a:ext cx="6290455" cy="732213"/>
            <a:chOff x="1013333" y="3795825"/>
            <a:chExt cx="8388391" cy="976283"/>
          </a:xfrm>
        </p:grpSpPr>
        <p:pic>
          <p:nvPicPr>
            <p:cNvPr descr="https://lh5.googleusercontent.com/wP2h_lc6--vyMzu5qXgRG-Bbe6w1LN7Ph5RgxIP2Ngd_pFZFcUDkC-cp09ZNvc-Xm3iTwoQ8go_elSTWCw68Lrn_HKTBlb9E-8CWQqnHg6t8L9JidsYDttMUJ7XHVUWj9hjtPLtPZtU" id="404" name="Google Shape;404;p41"/>
            <p:cNvPicPr preferRelativeResize="0"/>
            <p:nvPr/>
          </p:nvPicPr>
          <p:blipFill rotWithShape="1">
            <a:blip r:embed="rId6">
              <a:alphaModFix/>
            </a:blip>
            <a:srcRect b="0" l="5141" r="0" t="3428"/>
            <a:stretch/>
          </p:blipFill>
          <p:spPr>
            <a:xfrm>
              <a:off x="4796200" y="3836108"/>
              <a:ext cx="921960" cy="936000"/>
            </a:xfrm>
            <a:prstGeom prst="rect">
              <a:avLst/>
            </a:prstGeom>
            <a:noFill/>
            <a:ln>
              <a:noFill/>
            </a:ln>
          </p:spPr>
        </p:pic>
        <p:pic>
          <p:nvPicPr>
            <p:cNvPr descr="UTFSM-01" id="405" name="Google Shape;405;p41"/>
            <p:cNvPicPr preferRelativeResize="0"/>
            <p:nvPr/>
          </p:nvPicPr>
          <p:blipFill>
            <a:blip r:embed="rId7">
              <a:alphaModFix/>
            </a:blip>
            <a:stretch>
              <a:fillRect/>
            </a:stretch>
          </p:blipFill>
          <p:spPr>
            <a:xfrm>
              <a:off x="1013333" y="3836100"/>
              <a:ext cx="1806480" cy="936000"/>
            </a:xfrm>
            <a:prstGeom prst="rect">
              <a:avLst/>
            </a:prstGeom>
            <a:noFill/>
            <a:ln>
              <a:noFill/>
            </a:ln>
          </p:spPr>
        </p:pic>
        <p:pic>
          <p:nvPicPr>
            <p:cNvPr id="406" name="Google Shape;406;p41"/>
            <p:cNvPicPr preferRelativeResize="0"/>
            <p:nvPr/>
          </p:nvPicPr>
          <p:blipFill>
            <a:blip r:embed="rId8">
              <a:alphaModFix/>
            </a:blip>
            <a:stretch>
              <a:fillRect/>
            </a:stretch>
          </p:blipFill>
          <p:spPr>
            <a:xfrm>
              <a:off x="3228251" y="3795833"/>
              <a:ext cx="1159522" cy="936000"/>
            </a:xfrm>
            <a:prstGeom prst="rect">
              <a:avLst/>
            </a:prstGeom>
            <a:noFill/>
            <a:ln>
              <a:noFill/>
            </a:ln>
          </p:spPr>
        </p:pic>
        <p:pic>
          <p:nvPicPr>
            <p:cNvPr id="407" name="Google Shape;407;p41"/>
            <p:cNvPicPr preferRelativeResize="0"/>
            <p:nvPr/>
          </p:nvPicPr>
          <p:blipFill>
            <a:blip r:embed="rId9">
              <a:alphaModFix/>
            </a:blip>
            <a:stretch>
              <a:fillRect/>
            </a:stretch>
          </p:blipFill>
          <p:spPr>
            <a:xfrm>
              <a:off x="6126574" y="3836096"/>
              <a:ext cx="1111725" cy="935999"/>
            </a:xfrm>
            <a:prstGeom prst="rect">
              <a:avLst/>
            </a:prstGeom>
            <a:noFill/>
            <a:ln>
              <a:noFill/>
            </a:ln>
          </p:spPr>
        </p:pic>
        <p:pic>
          <p:nvPicPr>
            <p:cNvPr id="408" name="Google Shape;408;p41"/>
            <p:cNvPicPr preferRelativeResize="0"/>
            <p:nvPr/>
          </p:nvPicPr>
          <p:blipFill rotWithShape="1">
            <a:blip r:embed="rId10">
              <a:alphaModFix/>
            </a:blip>
            <a:srcRect b="18725" l="7227" r="0" t="17082"/>
            <a:stretch/>
          </p:blipFill>
          <p:spPr>
            <a:xfrm>
              <a:off x="7646725" y="3795825"/>
              <a:ext cx="1754999" cy="936000"/>
            </a:xfrm>
            <a:prstGeom prst="rect">
              <a:avLst/>
            </a:prstGeom>
            <a:noFill/>
            <a:ln>
              <a:noFill/>
            </a:ln>
          </p:spPr>
        </p:pic>
      </p:grpSp>
      <p:pic>
        <p:nvPicPr>
          <p:cNvPr id="409" name="Google Shape;409;p41"/>
          <p:cNvPicPr preferRelativeResize="0"/>
          <p:nvPr/>
        </p:nvPicPr>
        <p:blipFill rotWithShape="1">
          <a:blip r:embed="rId11">
            <a:alphaModFix/>
          </a:blip>
          <a:srcRect b="309" l="25827" r="0" t="0"/>
          <a:stretch/>
        </p:blipFill>
        <p:spPr>
          <a:xfrm rot="-5400000">
            <a:off x="2027107" y="-2027109"/>
            <a:ext cx="5223134" cy="9277347"/>
          </a:xfrm>
          <a:prstGeom prst="rect">
            <a:avLst/>
          </a:prstGeom>
          <a:noFill/>
          <a:ln>
            <a:noFill/>
          </a:ln>
        </p:spPr>
      </p:pic>
      <p:sp>
        <p:nvSpPr>
          <p:cNvPr id="410" name="Google Shape;410;p41"/>
          <p:cNvSpPr/>
          <p:nvPr/>
        </p:nvSpPr>
        <p:spPr>
          <a:xfrm>
            <a:off x="0" y="-4538"/>
            <a:ext cx="9277500" cy="5211600"/>
          </a:xfrm>
          <a:prstGeom prst="rect">
            <a:avLst/>
          </a:prstGeom>
          <a:solidFill>
            <a:srgbClr val="002060">
              <a:alpha val="4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Poppins"/>
              <a:ea typeface="Poppins"/>
              <a:cs typeface="Poppins"/>
              <a:sym typeface="Poppins"/>
            </a:endParaRPr>
          </a:p>
        </p:txBody>
      </p:sp>
      <p:sp>
        <p:nvSpPr>
          <p:cNvPr id="411" name="Google Shape;411;p41"/>
          <p:cNvSpPr txBox="1"/>
          <p:nvPr/>
        </p:nvSpPr>
        <p:spPr>
          <a:xfrm>
            <a:off x="1238541" y="1228118"/>
            <a:ext cx="6647700" cy="9795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1" i="1" lang="es" sz="1000">
                <a:solidFill>
                  <a:srgbClr val="FFFFFF"/>
                </a:solidFill>
                <a:latin typeface="Poppins"/>
                <a:ea typeface="Poppins"/>
                <a:cs typeface="Poppins"/>
                <a:sym typeface="Poppins"/>
              </a:rPr>
              <a:t>Clubes de Ciencia y Tecnología - Nivelación</a:t>
            </a:r>
            <a:endParaRPr b="1" i="1" sz="1000" u="none" cap="none" strike="noStrike">
              <a:solidFill>
                <a:srgbClr val="FFFFFF"/>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1000"/>
              <a:buFont typeface="Arial"/>
              <a:buNone/>
            </a:pPr>
            <a:r>
              <a:rPr b="1" i="0" lang="es" sz="1000" u="none" cap="none" strike="noStrike">
                <a:solidFill>
                  <a:srgbClr val="FFFFFF"/>
                </a:solidFill>
                <a:latin typeface="Poppins"/>
                <a:ea typeface="Poppins"/>
                <a:cs typeface="Poppins"/>
                <a:sym typeface="Poppins"/>
              </a:rPr>
              <a:t>Versión </a:t>
            </a:r>
            <a:r>
              <a:rPr b="1" lang="es" sz="1000">
                <a:solidFill>
                  <a:srgbClr val="FFFFFF"/>
                </a:solidFill>
                <a:latin typeface="Poppins"/>
                <a:ea typeface="Poppins"/>
                <a:cs typeface="Poppins"/>
                <a:sym typeface="Poppins"/>
              </a:rPr>
              <a:t>2</a:t>
            </a:r>
            <a:r>
              <a:rPr b="1" i="0" lang="es" sz="1000" u="none" cap="none" strike="noStrike">
                <a:solidFill>
                  <a:srgbClr val="FFFFFF"/>
                </a:solidFill>
                <a:latin typeface="Poppins"/>
                <a:ea typeface="Poppins"/>
                <a:cs typeface="Poppins"/>
                <a:sym typeface="Poppins"/>
              </a:rPr>
              <a:t>, 202</a:t>
            </a:r>
            <a:r>
              <a:rPr b="1" lang="es" sz="1000">
                <a:solidFill>
                  <a:srgbClr val="FFFFFF"/>
                </a:solidFill>
                <a:latin typeface="Poppins"/>
                <a:ea typeface="Poppins"/>
                <a:cs typeface="Poppins"/>
                <a:sym typeface="Poppins"/>
              </a:rPr>
              <a:t>5</a:t>
            </a:r>
            <a:endParaRPr b="1" i="0" sz="1000" u="none" cap="none" strike="noStrike">
              <a:solidFill>
                <a:srgbClr val="FFFFFF"/>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1000"/>
              <a:buFont typeface="Arial"/>
              <a:buNone/>
            </a:pPr>
            <a:r>
              <a:rPr b="0" i="0" lang="es" sz="1000" u="none" cap="none" strike="noStrike">
                <a:solidFill>
                  <a:srgbClr val="FFFFFF"/>
                </a:solidFill>
                <a:latin typeface="Poppins"/>
                <a:ea typeface="Poppins"/>
                <a:cs typeface="Poppins"/>
                <a:sym typeface="Poppins"/>
              </a:rPr>
              <a:t>Estos materiales han sido elaborados de manera colaborativa entre los equipos de las Universidades Socias del Programa de Robótica Educativa de la Fundación Gabriel &amp; Mary Mustakis.</a:t>
            </a:r>
            <a:endParaRPr b="0" i="0" sz="1000" u="none" cap="none" strike="noStrike">
              <a:solidFill>
                <a:srgbClr val="FFFFFF"/>
              </a:solidFill>
              <a:latin typeface="Poppins"/>
              <a:ea typeface="Poppins"/>
              <a:cs typeface="Poppins"/>
              <a:sym typeface="Poppins"/>
            </a:endParaRPr>
          </a:p>
        </p:txBody>
      </p:sp>
      <p:pic>
        <p:nvPicPr>
          <p:cNvPr id="412" name="Google Shape;412;p41"/>
          <p:cNvPicPr preferRelativeResize="0"/>
          <p:nvPr/>
        </p:nvPicPr>
        <p:blipFill rotWithShape="1">
          <a:blip r:embed="rId12">
            <a:alphaModFix/>
          </a:blip>
          <a:srcRect b="0" l="0" r="0" t="0"/>
          <a:stretch/>
        </p:blipFill>
        <p:spPr>
          <a:xfrm>
            <a:off x="3231328" y="257197"/>
            <a:ext cx="2662178" cy="820166"/>
          </a:xfrm>
          <a:prstGeom prst="rect">
            <a:avLst/>
          </a:prstGeom>
          <a:noFill/>
          <a:ln>
            <a:noFill/>
          </a:ln>
        </p:spPr>
      </p:pic>
      <p:sp>
        <p:nvSpPr>
          <p:cNvPr id="413" name="Google Shape;413;p41"/>
          <p:cNvSpPr txBox="1"/>
          <p:nvPr/>
        </p:nvSpPr>
        <p:spPr>
          <a:xfrm>
            <a:off x="2766215" y="4662465"/>
            <a:ext cx="3592500" cy="558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1" i="0" lang="es" sz="900" u="none" cap="none" strike="noStrike">
                <a:solidFill>
                  <a:srgbClr val="FFFFFF"/>
                </a:solidFill>
                <a:latin typeface="Poppins"/>
                <a:ea typeface="Poppins"/>
                <a:cs typeface="Poppins"/>
                <a:sym typeface="Poppins"/>
              </a:rPr>
              <a:t>Publicado Bajo Licencia Creative Commons</a:t>
            </a:r>
            <a:endParaRPr b="1" i="0" sz="900" u="none" cap="none" strike="noStrike">
              <a:solidFill>
                <a:srgbClr val="FFFFFF"/>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900"/>
              <a:buFont typeface="Arial"/>
              <a:buNone/>
            </a:pPr>
            <a:r>
              <a:rPr b="0" i="0" lang="es" sz="900" u="none" cap="none" strike="noStrike">
                <a:solidFill>
                  <a:srgbClr val="FFFFFF"/>
                </a:solidFill>
                <a:latin typeface="Poppins"/>
                <a:ea typeface="Poppins"/>
                <a:cs typeface="Poppins"/>
                <a:sym typeface="Poppins"/>
              </a:rPr>
              <a:t>Atribución-NoComercial-CompartirIgual (CC BY-NC-SA)</a:t>
            </a:r>
            <a:endParaRPr b="0" i="0" sz="900" u="none" cap="none" strike="noStrike">
              <a:solidFill>
                <a:srgbClr val="FFFFFF"/>
              </a:solidFill>
              <a:latin typeface="Poppins"/>
              <a:ea typeface="Poppins"/>
              <a:cs typeface="Poppins"/>
              <a:sym typeface="Poppins"/>
            </a:endParaRPr>
          </a:p>
        </p:txBody>
      </p:sp>
      <p:pic>
        <p:nvPicPr>
          <p:cNvPr id="414" name="Google Shape;414;p41"/>
          <p:cNvPicPr preferRelativeResize="0"/>
          <p:nvPr/>
        </p:nvPicPr>
        <p:blipFill rotWithShape="1">
          <a:blip r:embed="rId13">
            <a:alphaModFix/>
          </a:blip>
          <a:srcRect b="0" l="0" r="0" t="0"/>
          <a:stretch/>
        </p:blipFill>
        <p:spPr>
          <a:xfrm>
            <a:off x="1443526" y="2207618"/>
            <a:ext cx="6237780" cy="1381142"/>
          </a:xfrm>
          <a:prstGeom prst="rect">
            <a:avLst/>
          </a:prstGeom>
          <a:noFill/>
          <a:ln>
            <a:noFill/>
          </a:ln>
        </p:spPr>
      </p:pic>
      <p:pic>
        <p:nvPicPr>
          <p:cNvPr id="415" name="Google Shape;415;p41"/>
          <p:cNvPicPr preferRelativeResize="0"/>
          <p:nvPr/>
        </p:nvPicPr>
        <p:blipFill rotWithShape="1">
          <a:blip r:embed="rId14">
            <a:alphaModFix/>
          </a:blip>
          <a:srcRect b="0" l="0" r="0" t="0"/>
          <a:stretch/>
        </p:blipFill>
        <p:spPr>
          <a:xfrm>
            <a:off x="4003616" y="3846309"/>
            <a:ext cx="1117600" cy="800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