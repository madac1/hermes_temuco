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Proxima Nova"/>
      <p:regular r:id="rId34"/>
      <p:bold r:id="rId35"/>
      <p:italic r:id="rId36"/>
      <p:boldItalic r:id="rId37"/>
    </p:embeddedFont>
    <p:embeddedFont>
      <p:font typeface="Poppins"/>
      <p:regular r:id="rId38"/>
      <p:bold r:id="rId39"/>
      <p:italic r:id="rId40"/>
      <p:boldItalic r:id="rId41"/>
    </p:embeddedFont>
    <p:embeddedFont>
      <p:font typeface="Poppins Medium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italic.fntdata"/><Relationship Id="rId20" Type="http://schemas.openxmlformats.org/officeDocument/2006/relationships/slide" Target="slides/slide15.xml"/><Relationship Id="rId42" Type="http://schemas.openxmlformats.org/officeDocument/2006/relationships/font" Target="fonts/PoppinsMedium-regular.fntdata"/><Relationship Id="rId41" Type="http://schemas.openxmlformats.org/officeDocument/2006/relationships/font" Target="fonts/Poppins-boldItalic.fntdata"/><Relationship Id="rId22" Type="http://schemas.openxmlformats.org/officeDocument/2006/relationships/slide" Target="slides/slide17.xml"/><Relationship Id="rId44" Type="http://schemas.openxmlformats.org/officeDocument/2006/relationships/font" Target="fonts/PoppinsMedium-italic.fntdata"/><Relationship Id="rId21" Type="http://schemas.openxmlformats.org/officeDocument/2006/relationships/slide" Target="slides/slide16.xml"/><Relationship Id="rId43" Type="http://schemas.openxmlformats.org/officeDocument/2006/relationships/font" Target="fonts/PoppinsMedium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Poppins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ProximaNova-bold.fntdata"/><Relationship Id="rId12" Type="http://schemas.openxmlformats.org/officeDocument/2006/relationships/slide" Target="slides/slide7.xml"/><Relationship Id="rId34" Type="http://schemas.openxmlformats.org/officeDocument/2006/relationships/font" Target="fonts/ProximaNova-regular.fntdata"/><Relationship Id="rId15" Type="http://schemas.openxmlformats.org/officeDocument/2006/relationships/slide" Target="slides/slide10.xml"/><Relationship Id="rId37" Type="http://schemas.openxmlformats.org/officeDocument/2006/relationships/font" Target="fonts/ProximaNova-boldItalic.fntdata"/><Relationship Id="rId14" Type="http://schemas.openxmlformats.org/officeDocument/2006/relationships/slide" Target="slides/slide9.xml"/><Relationship Id="rId36" Type="http://schemas.openxmlformats.org/officeDocument/2006/relationships/font" Target="fonts/ProximaNova-italic.fntdata"/><Relationship Id="rId17" Type="http://schemas.openxmlformats.org/officeDocument/2006/relationships/slide" Target="slides/slide12.xml"/><Relationship Id="rId39" Type="http://schemas.openxmlformats.org/officeDocument/2006/relationships/font" Target="fonts/Poppins-bold.fntdata"/><Relationship Id="rId16" Type="http://schemas.openxmlformats.org/officeDocument/2006/relationships/slide" Target="slides/slide11.xml"/><Relationship Id="rId38" Type="http://schemas.openxmlformats.org/officeDocument/2006/relationships/font" Target="fonts/Poppins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f0795a553b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2f0795a553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f0795a55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2f0795a55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2e3a33eb8_0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82e3a33eb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NOTA PARA MENTORES: Deber indicar que los estudiantes usen sus robots creado en el 1er semestre para hacer el seguidor de linea en el semestre actual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2e3a33e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82e3a33e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0795a553b_0_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2f0795a553b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0795a553b_0_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2f0795a553b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f5b36507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2f5b36507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f5b365070a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2f5b365070a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Aquí mostrar que el sensor muestra la posición relativa a la línea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f5b365070a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2f5b365070a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f5b365070a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2f5b365070a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f5b365070a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2f5b365070a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5b365070a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2f5b365070a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f5b365070a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2f5b365070a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f5b365070a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2f5b365070a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f5b365070a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2f5b365070a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f5b365070a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2f5b365070a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f5b365070a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2f5b365070a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f5b365070a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2f5b365070a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f5b365070a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2f5b365070a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f5b365070a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2f5b365070a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f5b365070a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g2f5b365070a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f5b365070a_0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g2f5b365070a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f0795a553b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2f0795a553b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82e3a33eb8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382e3a33eb8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jpg"/><Relationship Id="rId4" Type="http://schemas.openxmlformats.org/officeDocument/2006/relationships/image" Target="../media/image20.png"/><Relationship Id="rId11" Type="http://schemas.openxmlformats.org/officeDocument/2006/relationships/image" Target="../media/image10.png"/><Relationship Id="rId10" Type="http://schemas.openxmlformats.org/officeDocument/2006/relationships/image" Target="../media/image14.png"/><Relationship Id="rId9" Type="http://schemas.openxmlformats.org/officeDocument/2006/relationships/image" Target="../media/image18.jp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13.jpg"/><Relationship Id="rId8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009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1805125"/>
            <a:ext cx="9144000" cy="10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Helvetica Neue"/>
              <a:buNone/>
            </a:pP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i="0" lang="es" sz="5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esió</a:t>
            </a: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 3</a:t>
            </a:r>
            <a:endParaRPr i="0" sz="5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Helvetica Neue"/>
              <a:buNone/>
            </a:pP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Clubes de Ciencia y Tecnología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Helvetica Neue"/>
              <a:buNone/>
            </a:pP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Línea robots velocistas</a:t>
            </a:r>
            <a:endParaRPr i="0" sz="2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8238" y="-4750"/>
            <a:ext cx="3967524" cy="1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1705350" y="1928400"/>
            <a:ext cx="57333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s" sz="720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¡Recordemos!</a:t>
            </a:r>
            <a:endParaRPr b="1" i="0" sz="72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538475" y="1032500"/>
            <a:ext cx="6770400" cy="2423400"/>
          </a:xfrm>
          <a:prstGeom prst="cloudCallout">
            <a:avLst>
              <a:gd fmla="val 51093" name="adj1"/>
              <a:gd fmla="val 65398" name="adj2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Char char="●"/>
            </a:pPr>
            <a:r>
              <a:rPr b="0" i="0" lang="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¿Qué es un sensor infrarrojo?</a:t>
            </a:r>
            <a:endParaRPr b="0" i="0" sz="2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Char char="●"/>
            </a:pPr>
            <a:r>
              <a:rPr b="0" i="0" lang="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¿Cómo funciona?</a:t>
            </a:r>
            <a:endParaRPr b="0" i="0" sz="2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Char char="●"/>
            </a:pPr>
            <a:r>
              <a:rPr b="0" i="0" lang="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¿Qué valores leía?¿Al leer cada sensor? ¿Y al leer la línea?</a:t>
            </a:r>
            <a:endParaRPr b="0" i="0" sz="2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2118600" y="214325"/>
            <a:ext cx="490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¿</a:t>
            </a: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Que</a:t>
            </a: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vimos la clase anterior?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3100" y="3069282"/>
            <a:ext cx="1919801" cy="2030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 rotWithShape="1">
          <a:blip r:embed="rId4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2089050" y="178775"/>
            <a:ext cx="4965900" cy="625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" sz="2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¿Que vimos la clase anterior?</a:t>
            </a:r>
            <a:endParaRPr b="1" i="0" sz="23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1448550" y="1836000"/>
            <a:ext cx="6246900" cy="14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0"/>
              <a:buFont typeface="Arial"/>
              <a:buNone/>
            </a:pPr>
            <a:r>
              <a:rPr b="1" lang="es" sz="4320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¡Recordemos cómo manipular a Hermes!</a:t>
            </a:r>
            <a:endParaRPr b="1" i="0" sz="432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8476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Nunca conectar algún componente en una orientación diferente a la mostrada en la placa.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Asegurarse de que los componentes estén correctamente conectados.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Nunca conectar el puerto usb al computador con la placa encendida.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Tener cuidado de manipular el robot con las manos secas (no es obligatorio pero el uso de guantes de látex es recomendable)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Preocuparse al final de la sesión dejar cargadas las baterías lipo para resguardar su vida útil.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1179325" y="145850"/>
            <a:ext cx="7189200" cy="5127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Consideraciones a tener: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205500" y="847675"/>
            <a:ext cx="8626800" cy="41499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b="0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Asegurarse de que el arduino esté correctamente conectado, con todos los pines y en la orientación correcta (mirar dibujo en la placa).</a:t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b="1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Nunca</a:t>
            </a:r>
            <a:r>
              <a:rPr b="0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desconectar el puente H.</a:t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b="1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Nunca</a:t>
            </a:r>
            <a:r>
              <a:rPr b="0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conectar el puerto usb al computador con la placa encendida.</a:t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b="0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 manipular el robot con las manos </a:t>
            </a:r>
            <a:r>
              <a:rPr b="1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húmedas</a:t>
            </a:r>
            <a:r>
              <a:rPr b="0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(no es obligatorio pero el uso de guantes de látex es recomendable)</a:t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b="0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Manipular con cuidado cables de los motores ya que son </a:t>
            </a:r>
            <a:r>
              <a:rPr b="1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frágiles</a:t>
            </a:r>
            <a:r>
              <a:rPr b="0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b="0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Evitar que el robot </a:t>
            </a:r>
            <a:r>
              <a:rPr b="1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choque</a:t>
            </a:r>
            <a:r>
              <a:rPr b="0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contra superficies.</a:t>
            </a:r>
            <a:endParaRPr b="1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/>
        </p:nvSpPr>
        <p:spPr>
          <a:xfrm>
            <a:off x="57177" y="1668375"/>
            <a:ext cx="91440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80"/>
              <a:buFont typeface="Arial"/>
              <a:buNone/>
            </a:pPr>
            <a:r>
              <a:rPr b="1" i="0" lang="es" sz="358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 Y…¿Qué haremos hoy?</a:t>
            </a:r>
            <a:endParaRPr b="1" i="0" sz="358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9275" y="2882132"/>
            <a:ext cx="1919801" cy="2030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9725" y="821300"/>
            <a:ext cx="4224550" cy="39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2791513" y="966040"/>
            <a:ext cx="356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" sz="2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Objetivos</a:t>
            </a:r>
            <a:endParaRPr b="1" i="0" sz="2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2587375" y="1660500"/>
            <a:ext cx="3969300" cy="27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b="1" lang="e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Encontraremos parecidos con</a:t>
            </a:r>
            <a:r>
              <a:rPr b="1" lang="e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el siguelineas del pasado.</a:t>
            </a:r>
            <a:endParaRPr b="1"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b="1" lang="e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Interpretaremos un modelo matemático.</a:t>
            </a:r>
            <a:endParaRPr b="1"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b="1" lang="e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Implementaremos el método proporcional para seguir la línea.</a:t>
            </a:r>
            <a:endParaRPr b="1"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8989" y="541687"/>
            <a:ext cx="725275" cy="72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/>
        </p:nvSpPr>
        <p:spPr>
          <a:xfrm>
            <a:off x="1941900" y="199775"/>
            <a:ext cx="573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¿Se acuerdan de IROH?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20"/>
          <p:cNvSpPr/>
          <p:nvPr/>
        </p:nvSpPr>
        <p:spPr>
          <a:xfrm>
            <a:off x="259250" y="2527400"/>
            <a:ext cx="3852000" cy="1762200"/>
          </a:xfrm>
          <a:prstGeom prst="roundRect">
            <a:avLst>
              <a:gd fmla="val 50000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Utilizando los 3 sensores de línea</a:t>
            </a:r>
            <a:endParaRPr b="0" i="1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3" name="Google Shape;1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7800" y="794775"/>
            <a:ext cx="5730000" cy="38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16750" y="1447413"/>
            <a:ext cx="353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22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¿Cómo seguía la línea?</a:t>
            </a:r>
            <a:endParaRPr b="1" i="0" sz="22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5" name="Google Shape;10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7250" y="2856275"/>
            <a:ext cx="1576550" cy="1245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oogle Shape;106;p20"/>
          <p:cNvGrpSpPr/>
          <p:nvPr/>
        </p:nvGrpSpPr>
        <p:grpSpPr>
          <a:xfrm>
            <a:off x="4209875" y="2780075"/>
            <a:ext cx="3155625" cy="1862450"/>
            <a:chOff x="4182800" y="2763900"/>
            <a:chExt cx="3155625" cy="1862450"/>
          </a:xfrm>
        </p:grpSpPr>
        <p:sp>
          <p:nvSpPr>
            <p:cNvPr id="107" name="Google Shape;107;p20"/>
            <p:cNvSpPr/>
            <p:nvPr/>
          </p:nvSpPr>
          <p:spPr>
            <a:xfrm>
              <a:off x="6325925" y="4101500"/>
              <a:ext cx="1012500" cy="5232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0"/>
            <p:cNvSpPr/>
            <p:nvPr/>
          </p:nvSpPr>
          <p:spPr>
            <a:xfrm>
              <a:off x="4182800" y="2763900"/>
              <a:ext cx="1980600" cy="13746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9" name="Google Shape;109;p20"/>
            <p:cNvCxnSpPr/>
            <p:nvPr/>
          </p:nvCxnSpPr>
          <p:spPr>
            <a:xfrm>
              <a:off x="6126375" y="2874750"/>
              <a:ext cx="1204800" cy="12489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" name="Google Shape;110;p20"/>
            <p:cNvCxnSpPr/>
            <p:nvPr/>
          </p:nvCxnSpPr>
          <p:spPr>
            <a:xfrm>
              <a:off x="4308425" y="4131050"/>
              <a:ext cx="2091300" cy="4953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/>
          <p:nvPr/>
        </p:nvSpPr>
        <p:spPr>
          <a:xfrm>
            <a:off x="2905375" y="1064175"/>
            <a:ext cx="738900" cy="407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1"/>
          <p:cNvSpPr/>
          <p:nvPr/>
        </p:nvSpPr>
        <p:spPr>
          <a:xfrm>
            <a:off x="887000" y="1064175"/>
            <a:ext cx="738900" cy="407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1941900" y="199775"/>
            <a:ext cx="573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¿Cómo seguimos la línea?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1896188" y="1064175"/>
            <a:ext cx="738900" cy="407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" name="Google Shape;119;p21"/>
          <p:cNvGrpSpPr/>
          <p:nvPr/>
        </p:nvGrpSpPr>
        <p:grpSpPr>
          <a:xfrm>
            <a:off x="887002" y="3252663"/>
            <a:ext cx="2757284" cy="2301273"/>
            <a:chOff x="783527" y="2402813"/>
            <a:chExt cx="2757284" cy="2301273"/>
          </a:xfrm>
        </p:grpSpPr>
        <p:pic>
          <p:nvPicPr>
            <p:cNvPr descr="Imagen que contiene dibujo, plato&#10;&#10;Descripción generada automáticamente" id="120" name="Google Shape;12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3527" y="2402813"/>
              <a:ext cx="789709" cy="23012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n que contiene dibujo, plato&#10;&#10;Descripción generada automáticamente" id="121" name="Google Shape;121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41477" y="2402813"/>
              <a:ext cx="789709" cy="23012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n que contiene dibujo, plato&#10;&#10;Descripción generada automáticamente" id="122" name="Google Shape;122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51102" y="2402813"/>
              <a:ext cx="789709" cy="23012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3" name="Google Shape;123;p21"/>
          <p:cNvSpPr txBox="1"/>
          <p:nvPr/>
        </p:nvSpPr>
        <p:spPr>
          <a:xfrm>
            <a:off x="4249300" y="2608725"/>
            <a:ext cx="4803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el sensor izquierdo lee negro:</a:t>
            </a:r>
            <a:endParaRPr b="0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girar IZQUIERDA</a:t>
            </a:r>
            <a:endParaRPr b="1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4249300" y="3687650"/>
            <a:ext cx="4441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el sensor derecho lee negro:</a:t>
            </a:r>
            <a:endParaRPr b="0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girar DERECHA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4249300" y="1448450"/>
            <a:ext cx="4729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el sensor central lee negro:</a:t>
            </a:r>
            <a:endParaRPr b="0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avanzar RECTO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/>
          <p:nvPr/>
        </p:nvSpPr>
        <p:spPr>
          <a:xfrm>
            <a:off x="95875" y="1406050"/>
            <a:ext cx="697800" cy="27522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22"/>
          <p:cNvPicPr preferRelativeResize="0"/>
          <p:nvPr/>
        </p:nvPicPr>
        <p:blipFill rotWithShape="1">
          <a:blip r:embed="rId3">
            <a:alphaModFix/>
          </a:blip>
          <a:srcRect b="6446" l="2567" r="27291" t="60309"/>
          <a:stretch/>
        </p:blipFill>
        <p:spPr>
          <a:xfrm>
            <a:off x="455125" y="2657450"/>
            <a:ext cx="2435874" cy="52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 txBox="1"/>
          <p:nvPr/>
        </p:nvSpPr>
        <p:spPr>
          <a:xfrm>
            <a:off x="3828900" y="4306175"/>
            <a:ext cx="14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Posición = 0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3" name="Google Shape;133;p22"/>
          <p:cNvSpPr/>
          <p:nvPr/>
        </p:nvSpPr>
        <p:spPr>
          <a:xfrm>
            <a:off x="4060213" y="1339375"/>
            <a:ext cx="697800" cy="27522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22"/>
          <p:cNvPicPr preferRelativeResize="0"/>
          <p:nvPr/>
        </p:nvPicPr>
        <p:blipFill rotWithShape="1">
          <a:blip r:embed="rId3">
            <a:alphaModFix/>
          </a:blip>
          <a:srcRect b="6446" l="0" r="27293" t="60309"/>
          <a:stretch/>
        </p:blipFill>
        <p:spPr>
          <a:xfrm>
            <a:off x="3146600" y="2629275"/>
            <a:ext cx="2525025" cy="52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2"/>
          <p:cNvSpPr txBox="1"/>
          <p:nvPr/>
        </p:nvSpPr>
        <p:spPr>
          <a:xfrm>
            <a:off x="668266" y="4306175"/>
            <a:ext cx="151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Posición = 255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7988975" y="1315350"/>
            <a:ext cx="697800" cy="27522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2"/>
          <p:cNvPicPr preferRelativeResize="0"/>
          <p:nvPr/>
        </p:nvPicPr>
        <p:blipFill rotWithShape="1">
          <a:blip r:embed="rId3">
            <a:alphaModFix/>
          </a:blip>
          <a:srcRect b="6446" l="0" r="28759" t="60309"/>
          <a:stretch/>
        </p:blipFill>
        <p:spPr>
          <a:xfrm>
            <a:off x="5877025" y="2647950"/>
            <a:ext cx="2474201" cy="52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2"/>
          <p:cNvSpPr txBox="1"/>
          <p:nvPr/>
        </p:nvSpPr>
        <p:spPr>
          <a:xfrm>
            <a:off x="6835325" y="4306150"/>
            <a:ext cx="16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Posición = -255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22"/>
          <p:cNvSpPr/>
          <p:nvPr/>
        </p:nvSpPr>
        <p:spPr>
          <a:xfrm>
            <a:off x="96450" y="4951450"/>
            <a:ext cx="690000" cy="11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630750" y="242275"/>
            <a:ext cx="783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Recordemos: posición del QTR8A</a:t>
            </a:r>
            <a:endParaRPr b="1" i="0" sz="3000" u="none" cap="none" strike="noStrike">
              <a:solidFill>
                <a:srgbClr val="FA8A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/>
        </p:nvSpPr>
        <p:spPr>
          <a:xfrm>
            <a:off x="655200" y="62175"/>
            <a:ext cx="783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Generalicemos con el QTR8A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23"/>
          <p:cNvSpPr/>
          <p:nvPr/>
        </p:nvSpPr>
        <p:spPr>
          <a:xfrm>
            <a:off x="443225" y="2084289"/>
            <a:ext cx="291300" cy="1293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23"/>
          <p:cNvPicPr preferRelativeResize="0"/>
          <p:nvPr/>
        </p:nvPicPr>
        <p:blipFill rotWithShape="1">
          <a:blip r:embed="rId3">
            <a:alphaModFix/>
          </a:blip>
          <a:srcRect b="6446" l="2567" r="27291" t="60309"/>
          <a:stretch/>
        </p:blipFill>
        <p:spPr>
          <a:xfrm>
            <a:off x="593107" y="2672247"/>
            <a:ext cx="1016266" cy="24681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3"/>
          <p:cNvSpPr/>
          <p:nvPr/>
        </p:nvSpPr>
        <p:spPr>
          <a:xfrm>
            <a:off x="2097177" y="2052963"/>
            <a:ext cx="291300" cy="1293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23"/>
          <p:cNvPicPr preferRelativeResize="0"/>
          <p:nvPr/>
        </p:nvPicPr>
        <p:blipFill rotWithShape="1">
          <a:blip r:embed="rId3">
            <a:alphaModFix/>
          </a:blip>
          <a:srcRect b="6446" l="0" r="27293" t="60309"/>
          <a:stretch/>
        </p:blipFill>
        <p:spPr>
          <a:xfrm>
            <a:off x="1716011" y="2659009"/>
            <a:ext cx="1053460" cy="24681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/>
          <p:nvPr/>
        </p:nvSpPr>
        <p:spPr>
          <a:xfrm>
            <a:off x="3736287" y="2041675"/>
            <a:ext cx="291300" cy="1293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23"/>
          <p:cNvPicPr preferRelativeResize="0"/>
          <p:nvPr/>
        </p:nvPicPr>
        <p:blipFill rotWithShape="1">
          <a:blip r:embed="rId3">
            <a:alphaModFix/>
          </a:blip>
          <a:srcRect b="6446" l="0" r="28759" t="60309"/>
          <a:stretch/>
        </p:blipFill>
        <p:spPr>
          <a:xfrm>
            <a:off x="2855165" y="2667784"/>
            <a:ext cx="1032256" cy="24681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 txBox="1"/>
          <p:nvPr/>
        </p:nvSpPr>
        <p:spPr>
          <a:xfrm>
            <a:off x="4766600" y="2482325"/>
            <a:ext cx="4803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el robot lee la línea a la izquierda:</a:t>
            </a:r>
            <a:endParaRPr b="0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girar IZQUIERDA</a:t>
            </a:r>
            <a:endParaRPr b="1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" name="Google Shape;153;p23"/>
          <p:cNvSpPr txBox="1"/>
          <p:nvPr/>
        </p:nvSpPr>
        <p:spPr>
          <a:xfrm>
            <a:off x="4766600" y="3561250"/>
            <a:ext cx="4441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el robot lee la línea a la derecha:</a:t>
            </a:r>
            <a:endParaRPr b="0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girar DERECHA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4766600" y="1322050"/>
            <a:ext cx="4729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el robot está al centro de la línea:</a:t>
            </a:r>
            <a:endParaRPr b="0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avanzar RECTO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-55525" y="3595119"/>
            <a:ext cx="128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IZQUIERDA</a:t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1598338" y="3595119"/>
            <a:ext cx="128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CENTRO</a:t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3237525" y="3595119"/>
            <a:ext cx="128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DERECHA</a:t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/>
        </p:nvSpPr>
        <p:spPr>
          <a:xfrm>
            <a:off x="77550" y="69575"/>
            <a:ext cx="898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Representación gráfica - Lo que tenemos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63" name="Google Shape;163;p24"/>
          <p:cNvGrpSpPr/>
          <p:nvPr/>
        </p:nvGrpSpPr>
        <p:grpSpPr>
          <a:xfrm>
            <a:off x="2217975" y="843400"/>
            <a:ext cx="6264575" cy="4122775"/>
            <a:chOff x="2217975" y="843400"/>
            <a:chExt cx="6264575" cy="4122775"/>
          </a:xfrm>
        </p:grpSpPr>
        <p:cxnSp>
          <p:nvCxnSpPr>
            <p:cNvPr id="164" name="Google Shape;164;p24"/>
            <p:cNvCxnSpPr/>
            <p:nvPr/>
          </p:nvCxnSpPr>
          <p:spPr>
            <a:xfrm>
              <a:off x="4572000" y="1130675"/>
              <a:ext cx="0" cy="3835500"/>
            </a:xfrm>
            <a:prstGeom prst="straightConnector1">
              <a:avLst/>
            </a:prstGeom>
            <a:noFill/>
            <a:ln cap="flat" cmpd="sng" w="762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24"/>
            <p:cNvCxnSpPr/>
            <p:nvPr/>
          </p:nvCxnSpPr>
          <p:spPr>
            <a:xfrm>
              <a:off x="4572000" y="1130675"/>
              <a:ext cx="0" cy="3835500"/>
            </a:xfrm>
            <a:prstGeom prst="straightConnector1">
              <a:avLst/>
            </a:prstGeom>
            <a:noFill/>
            <a:ln cap="flat" cmpd="sng" w="762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6" name="Google Shape;166;p24"/>
            <p:cNvSpPr txBox="1"/>
            <p:nvPr/>
          </p:nvSpPr>
          <p:spPr>
            <a:xfrm>
              <a:off x="2217975" y="2982800"/>
              <a:ext cx="1382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Izquierda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67" name="Google Shape;167;p24"/>
            <p:cNvSpPr txBox="1"/>
            <p:nvPr/>
          </p:nvSpPr>
          <p:spPr>
            <a:xfrm>
              <a:off x="5379500" y="2982800"/>
              <a:ext cx="1382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Derecha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68" name="Google Shape;168;p24"/>
            <p:cNvSpPr txBox="1"/>
            <p:nvPr/>
          </p:nvSpPr>
          <p:spPr>
            <a:xfrm>
              <a:off x="4217150" y="3048425"/>
              <a:ext cx="1382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Ir Recto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cxnSp>
          <p:nvCxnSpPr>
            <p:cNvPr id="169" name="Google Shape;169;p24"/>
            <p:cNvCxnSpPr/>
            <p:nvPr/>
          </p:nvCxnSpPr>
          <p:spPr>
            <a:xfrm flipH="1" rot="10800000">
              <a:off x="3611250" y="3041075"/>
              <a:ext cx="1921500" cy="14700"/>
            </a:xfrm>
            <a:prstGeom prst="straightConnector1">
              <a:avLst/>
            </a:prstGeom>
            <a:noFill/>
            <a:ln cap="flat" cmpd="sng" w="152400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" name="Google Shape;170;p24"/>
            <p:cNvCxnSpPr/>
            <p:nvPr/>
          </p:nvCxnSpPr>
          <p:spPr>
            <a:xfrm>
              <a:off x="5453875" y="1544525"/>
              <a:ext cx="4800" cy="1566900"/>
            </a:xfrm>
            <a:prstGeom prst="straightConnector1">
              <a:avLst/>
            </a:prstGeom>
            <a:noFill/>
            <a:ln cap="flat" cmpd="sng" w="152400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24"/>
            <p:cNvCxnSpPr/>
            <p:nvPr/>
          </p:nvCxnSpPr>
          <p:spPr>
            <a:xfrm>
              <a:off x="5379500" y="1603350"/>
              <a:ext cx="1072200" cy="300"/>
            </a:xfrm>
            <a:prstGeom prst="straightConnector1">
              <a:avLst/>
            </a:prstGeom>
            <a:noFill/>
            <a:ln cap="flat" cmpd="sng" w="152400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p24"/>
            <p:cNvCxnSpPr/>
            <p:nvPr/>
          </p:nvCxnSpPr>
          <p:spPr>
            <a:xfrm rot="10800000">
              <a:off x="3679750" y="2982800"/>
              <a:ext cx="4800" cy="1566900"/>
            </a:xfrm>
            <a:prstGeom prst="straightConnector1">
              <a:avLst/>
            </a:prstGeom>
            <a:noFill/>
            <a:ln cap="flat" cmpd="sng" w="152400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3" name="Google Shape;173;p24"/>
            <p:cNvCxnSpPr/>
            <p:nvPr/>
          </p:nvCxnSpPr>
          <p:spPr>
            <a:xfrm rot="10800000">
              <a:off x="2686725" y="4490575"/>
              <a:ext cx="1072200" cy="300"/>
            </a:xfrm>
            <a:prstGeom prst="straightConnector1">
              <a:avLst/>
            </a:prstGeom>
            <a:noFill/>
            <a:ln cap="flat" cmpd="sng" w="152400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4" name="Google Shape;174;p24"/>
            <p:cNvSpPr txBox="1"/>
            <p:nvPr/>
          </p:nvSpPr>
          <p:spPr>
            <a:xfrm>
              <a:off x="3189900" y="4596875"/>
              <a:ext cx="1382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Girar Izquierda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75" name="Google Shape;175;p24"/>
            <p:cNvSpPr txBox="1"/>
            <p:nvPr/>
          </p:nvSpPr>
          <p:spPr>
            <a:xfrm>
              <a:off x="3153150" y="1101150"/>
              <a:ext cx="1382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Girar Derecha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76" name="Google Shape;176;p24"/>
            <p:cNvSpPr txBox="1"/>
            <p:nvPr/>
          </p:nvSpPr>
          <p:spPr>
            <a:xfrm>
              <a:off x="3937150" y="843400"/>
              <a:ext cx="1382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" sz="1200" u="none" cap="none" strike="noStrike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GIRO (Y)</a:t>
              </a:r>
              <a:endParaRPr b="1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7" name="Google Shape;177;p24"/>
            <p:cNvSpPr txBox="1"/>
            <p:nvPr/>
          </p:nvSpPr>
          <p:spPr>
            <a:xfrm>
              <a:off x="6340550" y="2832725"/>
              <a:ext cx="2142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" sz="1200" u="none" cap="none" strike="noStrike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POSICIÓN LÍNEA (X)</a:t>
              </a:r>
              <a:endParaRPr b="1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cxnSp>
        <p:nvCxnSpPr>
          <p:cNvPr id="178" name="Google Shape;178;p24"/>
          <p:cNvCxnSpPr/>
          <p:nvPr/>
        </p:nvCxnSpPr>
        <p:spPr>
          <a:xfrm rot="10800000">
            <a:off x="2663375" y="3017375"/>
            <a:ext cx="3780000" cy="0"/>
          </a:xfrm>
          <a:prstGeom prst="straightConnector1">
            <a:avLst/>
          </a:prstGeom>
          <a:noFill/>
          <a:ln cap="flat" cmpd="sng" w="762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/>
          <p:nvPr/>
        </p:nvSpPr>
        <p:spPr>
          <a:xfrm>
            <a:off x="77550" y="69575"/>
            <a:ext cx="898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Lo que tenemos: Características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p25"/>
          <p:cNvSpPr/>
          <p:nvPr/>
        </p:nvSpPr>
        <p:spPr>
          <a:xfrm>
            <a:off x="699400" y="1980025"/>
            <a:ext cx="3996900" cy="7191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Giro en ZIG-ZAG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" name="Google Shape;185;p25"/>
          <p:cNvSpPr/>
          <p:nvPr/>
        </p:nvSpPr>
        <p:spPr>
          <a:xfrm>
            <a:off x="4147750" y="3344350"/>
            <a:ext cx="3996900" cy="7191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Giro Agresivo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86" name="Google Shape;186;p25"/>
          <p:cNvCxnSpPr>
            <a:endCxn id="185" idx="1"/>
          </p:cNvCxnSpPr>
          <p:nvPr/>
        </p:nvCxnSpPr>
        <p:spPr>
          <a:xfrm>
            <a:off x="2682550" y="2719600"/>
            <a:ext cx="1465200" cy="984300"/>
          </a:xfrm>
          <a:prstGeom prst="bentConnector3">
            <a:avLst>
              <a:gd fmla="val 3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/>
          <p:nvPr/>
        </p:nvSpPr>
        <p:spPr>
          <a:xfrm>
            <a:off x="77550" y="69575"/>
            <a:ext cx="898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Representación gráfica - Nuestro Objetivo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92" name="Google Shape;192;p26"/>
          <p:cNvGrpSpPr/>
          <p:nvPr/>
        </p:nvGrpSpPr>
        <p:grpSpPr>
          <a:xfrm>
            <a:off x="2323250" y="843400"/>
            <a:ext cx="6094150" cy="4122775"/>
            <a:chOff x="2323250" y="843400"/>
            <a:chExt cx="6094150" cy="4122775"/>
          </a:xfrm>
        </p:grpSpPr>
        <p:cxnSp>
          <p:nvCxnSpPr>
            <p:cNvPr id="193" name="Google Shape;193;p26"/>
            <p:cNvCxnSpPr/>
            <p:nvPr/>
          </p:nvCxnSpPr>
          <p:spPr>
            <a:xfrm>
              <a:off x="4572000" y="1130675"/>
              <a:ext cx="0" cy="3835500"/>
            </a:xfrm>
            <a:prstGeom prst="straightConnector1">
              <a:avLst/>
            </a:prstGeom>
            <a:noFill/>
            <a:ln cap="flat" cmpd="sng" w="762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4" name="Google Shape;194;p26"/>
            <p:cNvCxnSpPr/>
            <p:nvPr/>
          </p:nvCxnSpPr>
          <p:spPr>
            <a:xfrm>
              <a:off x="4572000" y="1130675"/>
              <a:ext cx="0" cy="3835500"/>
            </a:xfrm>
            <a:prstGeom prst="straightConnector1">
              <a:avLst/>
            </a:prstGeom>
            <a:noFill/>
            <a:ln cap="flat" cmpd="sng" w="762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5" name="Google Shape;195;p26"/>
            <p:cNvSpPr txBox="1"/>
            <p:nvPr/>
          </p:nvSpPr>
          <p:spPr>
            <a:xfrm>
              <a:off x="2323250" y="3048425"/>
              <a:ext cx="1382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Izquierda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96" name="Google Shape;196;p26"/>
            <p:cNvSpPr txBox="1"/>
            <p:nvPr/>
          </p:nvSpPr>
          <p:spPr>
            <a:xfrm>
              <a:off x="5368875" y="3048425"/>
              <a:ext cx="1382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Derecha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97" name="Google Shape;197;p26"/>
            <p:cNvSpPr txBox="1"/>
            <p:nvPr/>
          </p:nvSpPr>
          <p:spPr>
            <a:xfrm>
              <a:off x="4217150" y="3048425"/>
              <a:ext cx="1382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Ir Recto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cxnSp>
          <p:nvCxnSpPr>
            <p:cNvPr id="198" name="Google Shape;198;p26"/>
            <p:cNvCxnSpPr/>
            <p:nvPr/>
          </p:nvCxnSpPr>
          <p:spPr>
            <a:xfrm flipH="1" rot="10800000">
              <a:off x="2655450" y="1624025"/>
              <a:ext cx="3833100" cy="2848800"/>
            </a:xfrm>
            <a:prstGeom prst="straightConnector1">
              <a:avLst/>
            </a:prstGeom>
            <a:noFill/>
            <a:ln cap="flat" cmpd="sng" w="114300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9" name="Google Shape;199;p26"/>
            <p:cNvSpPr txBox="1"/>
            <p:nvPr/>
          </p:nvSpPr>
          <p:spPr>
            <a:xfrm>
              <a:off x="3233650" y="4596875"/>
              <a:ext cx="1382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Girar Izquierda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00" name="Google Shape;200;p26"/>
            <p:cNvSpPr txBox="1"/>
            <p:nvPr/>
          </p:nvSpPr>
          <p:spPr>
            <a:xfrm>
              <a:off x="3189900" y="1130675"/>
              <a:ext cx="1382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Girar Derecha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01" name="Google Shape;201;p26"/>
            <p:cNvSpPr txBox="1"/>
            <p:nvPr/>
          </p:nvSpPr>
          <p:spPr>
            <a:xfrm>
              <a:off x="3937150" y="843400"/>
              <a:ext cx="1382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" sz="1200" u="none" cap="none" strike="noStrike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GIRO (Y)</a:t>
              </a:r>
              <a:endParaRPr b="1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2" name="Google Shape;202;p26"/>
            <p:cNvSpPr txBox="1"/>
            <p:nvPr/>
          </p:nvSpPr>
          <p:spPr>
            <a:xfrm>
              <a:off x="6275400" y="2890175"/>
              <a:ext cx="2142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" sz="1200" u="none" cap="none" strike="noStrike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POSICIÓN LÍNEA (X)</a:t>
              </a:r>
              <a:endParaRPr b="1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cxnSp>
        <p:nvCxnSpPr>
          <p:cNvPr id="203" name="Google Shape;203;p26"/>
          <p:cNvCxnSpPr/>
          <p:nvPr/>
        </p:nvCxnSpPr>
        <p:spPr>
          <a:xfrm rot="10800000">
            <a:off x="2677950" y="3074825"/>
            <a:ext cx="3785100" cy="0"/>
          </a:xfrm>
          <a:prstGeom prst="straightConnector1">
            <a:avLst/>
          </a:prstGeom>
          <a:noFill/>
          <a:ln cap="flat" cmpd="sng" w="762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/>
          <p:nvPr/>
        </p:nvSpPr>
        <p:spPr>
          <a:xfrm>
            <a:off x="77550" y="69575"/>
            <a:ext cx="898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Nuestro objetivo: Características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9" name="Google Shape;209;p27"/>
          <p:cNvSpPr/>
          <p:nvPr/>
        </p:nvSpPr>
        <p:spPr>
          <a:xfrm>
            <a:off x="699400" y="1980025"/>
            <a:ext cx="3996900" cy="7191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Giro adaptativo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" name="Google Shape;210;p27"/>
          <p:cNvSpPr/>
          <p:nvPr/>
        </p:nvSpPr>
        <p:spPr>
          <a:xfrm>
            <a:off x="4147750" y="3344350"/>
            <a:ext cx="3996900" cy="7191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Transiciones más suaves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11" name="Google Shape;211;p27"/>
          <p:cNvCxnSpPr>
            <a:endCxn id="210" idx="1"/>
          </p:cNvCxnSpPr>
          <p:nvPr/>
        </p:nvCxnSpPr>
        <p:spPr>
          <a:xfrm>
            <a:off x="2682550" y="2719600"/>
            <a:ext cx="1465200" cy="984300"/>
          </a:xfrm>
          <a:prstGeom prst="bentConnector3">
            <a:avLst>
              <a:gd fmla="val 3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/>
        </p:nvSpPr>
        <p:spPr>
          <a:xfrm>
            <a:off x="77550" y="69575"/>
            <a:ext cx="898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Nuestro Objetivo:  Dándole números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17" name="Google Shape;217;p28"/>
          <p:cNvGrpSpPr/>
          <p:nvPr/>
        </p:nvGrpSpPr>
        <p:grpSpPr>
          <a:xfrm>
            <a:off x="1678575" y="761375"/>
            <a:ext cx="6588050" cy="4204800"/>
            <a:chOff x="1678575" y="761375"/>
            <a:chExt cx="6588050" cy="4204800"/>
          </a:xfrm>
        </p:grpSpPr>
        <p:cxnSp>
          <p:nvCxnSpPr>
            <p:cNvPr id="218" name="Google Shape;218;p28"/>
            <p:cNvCxnSpPr/>
            <p:nvPr/>
          </p:nvCxnSpPr>
          <p:spPr>
            <a:xfrm>
              <a:off x="4572000" y="1130675"/>
              <a:ext cx="0" cy="3835500"/>
            </a:xfrm>
            <a:prstGeom prst="straightConnector1">
              <a:avLst/>
            </a:prstGeom>
            <a:noFill/>
            <a:ln cap="flat" cmpd="sng" w="762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9" name="Google Shape;219;p28"/>
            <p:cNvCxnSpPr/>
            <p:nvPr/>
          </p:nvCxnSpPr>
          <p:spPr>
            <a:xfrm>
              <a:off x="4572000" y="1130675"/>
              <a:ext cx="0" cy="3835500"/>
            </a:xfrm>
            <a:prstGeom prst="straightConnector1">
              <a:avLst/>
            </a:prstGeom>
            <a:noFill/>
            <a:ln cap="flat" cmpd="sng" w="762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0" name="Google Shape;220;p28"/>
            <p:cNvSpPr txBox="1"/>
            <p:nvPr/>
          </p:nvSpPr>
          <p:spPr>
            <a:xfrm>
              <a:off x="1678575" y="3137125"/>
              <a:ext cx="1382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-255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21" name="Google Shape;221;p28"/>
            <p:cNvSpPr txBox="1"/>
            <p:nvPr/>
          </p:nvSpPr>
          <p:spPr>
            <a:xfrm>
              <a:off x="6033150" y="3124625"/>
              <a:ext cx="1382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255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22" name="Google Shape;222;p28"/>
            <p:cNvSpPr txBox="1"/>
            <p:nvPr/>
          </p:nvSpPr>
          <p:spPr>
            <a:xfrm>
              <a:off x="4084125" y="3048425"/>
              <a:ext cx="1382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0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cxnSp>
          <p:nvCxnSpPr>
            <p:cNvPr id="223" name="Google Shape;223;p28"/>
            <p:cNvCxnSpPr/>
            <p:nvPr/>
          </p:nvCxnSpPr>
          <p:spPr>
            <a:xfrm flipH="1" rot="10800000">
              <a:off x="2655450" y="1624025"/>
              <a:ext cx="3833100" cy="2848800"/>
            </a:xfrm>
            <a:prstGeom prst="straightConnector1">
              <a:avLst/>
            </a:prstGeom>
            <a:noFill/>
            <a:ln cap="flat" cmpd="sng" w="114300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4" name="Google Shape;224;p28"/>
            <p:cNvSpPr txBox="1"/>
            <p:nvPr/>
          </p:nvSpPr>
          <p:spPr>
            <a:xfrm>
              <a:off x="2045700" y="4489775"/>
              <a:ext cx="1382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(-255,-1)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25" name="Google Shape;225;p28"/>
            <p:cNvSpPr txBox="1"/>
            <p:nvPr/>
          </p:nvSpPr>
          <p:spPr>
            <a:xfrm>
              <a:off x="5716200" y="1246325"/>
              <a:ext cx="1382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(255,1)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26" name="Google Shape;226;p28"/>
            <p:cNvSpPr txBox="1"/>
            <p:nvPr/>
          </p:nvSpPr>
          <p:spPr>
            <a:xfrm>
              <a:off x="3944550" y="761375"/>
              <a:ext cx="1382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" sz="1200" u="none" cap="none" strike="noStrike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GIRO (Y)</a:t>
              </a:r>
              <a:endParaRPr b="1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7" name="Google Shape;227;p28"/>
            <p:cNvSpPr txBox="1"/>
            <p:nvPr/>
          </p:nvSpPr>
          <p:spPr>
            <a:xfrm>
              <a:off x="6124625" y="2863775"/>
              <a:ext cx="2142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" sz="1200" u="none" cap="none" strike="noStrike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ERROR (X)</a:t>
              </a:r>
              <a:endParaRPr b="1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228" name="Google Shape;228;p28"/>
            <p:cNvCxnSpPr/>
            <p:nvPr/>
          </p:nvCxnSpPr>
          <p:spPr>
            <a:xfrm flipH="1" rot="5400000">
              <a:off x="2588100" y="3044225"/>
              <a:ext cx="297300" cy="8400"/>
            </a:xfrm>
            <a:prstGeom prst="straightConnector1">
              <a:avLst/>
            </a:prstGeom>
            <a:noFill/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9" name="Google Shape;229;p28"/>
            <p:cNvCxnSpPr/>
            <p:nvPr/>
          </p:nvCxnSpPr>
          <p:spPr>
            <a:xfrm flipH="1" rot="5400000">
              <a:off x="6258600" y="3044225"/>
              <a:ext cx="297300" cy="8400"/>
            </a:xfrm>
            <a:prstGeom prst="straightConnector1">
              <a:avLst/>
            </a:prstGeom>
            <a:noFill/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0" name="Google Shape;230;p28"/>
            <p:cNvCxnSpPr/>
            <p:nvPr/>
          </p:nvCxnSpPr>
          <p:spPr>
            <a:xfrm flipH="1">
              <a:off x="4423350" y="4408025"/>
              <a:ext cx="297300" cy="8400"/>
            </a:xfrm>
            <a:prstGeom prst="straightConnector1">
              <a:avLst/>
            </a:prstGeom>
            <a:noFill/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" name="Google Shape;231;p28"/>
            <p:cNvCxnSpPr/>
            <p:nvPr/>
          </p:nvCxnSpPr>
          <p:spPr>
            <a:xfrm flipH="1">
              <a:off x="4423350" y="1688975"/>
              <a:ext cx="297300" cy="8400"/>
            </a:xfrm>
            <a:prstGeom prst="straightConnector1">
              <a:avLst/>
            </a:prstGeom>
            <a:noFill/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2" name="Google Shape;232;p28"/>
            <p:cNvSpPr txBox="1"/>
            <p:nvPr/>
          </p:nvSpPr>
          <p:spPr>
            <a:xfrm>
              <a:off x="4720650" y="4227575"/>
              <a:ext cx="745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-1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33" name="Google Shape;233;p28"/>
            <p:cNvSpPr txBox="1"/>
            <p:nvPr/>
          </p:nvSpPr>
          <p:spPr>
            <a:xfrm>
              <a:off x="4661525" y="1457325"/>
              <a:ext cx="297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1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34" name="Google Shape;234;p28"/>
            <p:cNvSpPr/>
            <p:nvPr/>
          </p:nvSpPr>
          <p:spPr>
            <a:xfrm>
              <a:off x="6325950" y="1615625"/>
              <a:ext cx="162600" cy="1551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8"/>
            <p:cNvSpPr/>
            <p:nvPr/>
          </p:nvSpPr>
          <p:spPr>
            <a:xfrm>
              <a:off x="2655450" y="4334675"/>
              <a:ext cx="162600" cy="1551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9"/>
          <p:cNvSpPr txBox="1"/>
          <p:nvPr/>
        </p:nvSpPr>
        <p:spPr>
          <a:xfrm>
            <a:off x="77550" y="69575"/>
            <a:ext cx="898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Nuestro Objetivo:  Fórmula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1" name="Google Shape;241;p29"/>
          <p:cNvSpPr txBox="1"/>
          <p:nvPr/>
        </p:nvSpPr>
        <p:spPr>
          <a:xfrm>
            <a:off x="5806300" y="1234150"/>
            <a:ext cx="327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Ecuación de la recta</a:t>
            </a:r>
            <a:endParaRPr b="0" i="0" sz="1800" u="none" cap="none" strike="noStrik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	</a:t>
            </a:r>
            <a:r>
              <a:rPr b="1" i="1" lang="es" sz="1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y = </a:t>
            </a:r>
            <a:r>
              <a:rPr b="1" i="1" lang="es" sz="1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b="1" i="1" lang="es" sz="1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x </a:t>
            </a:r>
            <a:r>
              <a:rPr b="1" i="1" lang="es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+ 10</a:t>
            </a:r>
            <a:endParaRPr b="1" i="1" sz="18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2" name="Google Shape;242;p29"/>
          <p:cNvSpPr txBox="1"/>
          <p:nvPr/>
        </p:nvSpPr>
        <p:spPr>
          <a:xfrm>
            <a:off x="5892200" y="2278500"/>
            <a:ext cx="327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s" sz="1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 </a:t>
            </a:r>
            <a:r>
              <a:rPr b="0" i="0" lang="es" sz="1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Representa la intersección con el eje y</a:t>
            </a:r>
            <a:endParaRPr b="0" i="0" sz="18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p29"/>
          <p:cNvSpPr txBox="1"/>
          <p:nvPr/>
        </p:nvSpPr>
        <p:spPr>
          <a:xfrm>
            <a:off x="5892200" y="3281250"/>
            <a:ext cx="327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¿Dónde intercepta?</a:t>
            </a:r>
            <a:endParaRPr b="1" i="0" sz="18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s" sz="1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	b = 0 </a:t>
            </a:r>
            <a:endParaRPr b="1" i="1" sz="18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p29"/>
          <p:cNvSpPr/>
          <p:nvPr/>
        </p:nvSpPr>
        <p:spPr>
          <a:xfrm>
            <a:off x="5835850" y="4165750"/>
            <a:ext cx="3214800" cy="8055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Nuestra ecuación queda</a:t>
            </a:r>
            <a:endParaRPr b="0" i="0" sz="18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	</a:t>
            </a:r>
            <a:r>
              <a:rPr b="1" i="1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y = mx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5" name="Google Shape;245;p29"/>
          <p:cNvGrpSpPr/>
          <p:nvPr/>
        </p:nvGrpSpPr>
        <p:grpSpPr>
          <a:xfrm>
            <a:off x="-114583" y="1101167"/>
            <a:ext cx="5590619" cy="3723771"/>
            <a:chOff x="1678575" y="761375"/>
            <a:chExt cx="6588050" cy="4204800"/>
          </a:xfrm>
        </p:grpSpPr>
        <p:cxnSp>
          <p:nvCxnSpPr>
            <p:cNvPr id="246" name="Google Shape;246;p29"/>
            <p:cNvCxnSpPr/>
            <p:nvPr/>
          </p:nvCxnSpPr>
          <p:spPr>
            <a:xfrm>
              <a:off x="4572000" y="1130675"/>
              <a:ext cx="0" cy="3835500"/>
            </a:xfrm>
            <a:prstGeom prst="straightConnector1">
              <a:avLst/>
            </a:prstGeom>
            <a:noFill/>
            <a:ln cap="flat" cmpd="sng" w="762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7" name="Google Shape;247;p29"/>
            <p:cNvCxnSpPr/>
            <p:nvPr/>
          </p:nvCxnSpPr>
          <p:spPr>
            <a:xfrm>
              <a:off x="4572000" y="1130675"/>
              <a:ext cx="0" cy="3835500"/>
            </a:xfrm>
            <a:prstGeom prst="straightConnector1">
              <a:avLst/>
            </a:prstGeom>
            <a:noFill/>
            <a:ln cap="flat" cmpd="sng" w="762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8" name="Google Shape;248;p29"/>
            <p:cNvSpPr txBox="1"/>
            <p:nvPr/>
          </p:nvSpPr>
          <p:spPr>
            <a:xfrm>
              <a:off x="1678575" y="3137125"/>
              <a:ext cx="1382100" cy="4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-255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49" name="Google Shape;249;p29"/>
            <p:cNvSpPr txBox="1"/>
            <p:nvPr/>
          </p:nvSpPr>
          <p:spPr>
            <a:xfrm>
              <a:off x="6033150" y="3124625"/>
              <a:ext cx="1382100" cy="4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255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50" name="Google Shape;250;p29"/>
            <p:cNvSpPr txBox="1"/>
            <p:nvPr/>
          </p:nvSpPr>
          <p:spPr>
            <a:xfrm>
              <a:off x="4084125" y="3048425"/>
              <a:ext cx="1382100" cy="4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0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cxnSp>
          <p:nvCxnSpPr>
            <p:cNvPr id="251" name="Google Shape;251;p29"/>
            <p:cNvCxnSpPr/>
            <p:nvPr/>
          </p:nvCxnSpPr>
          <p:spPr>
            <a:xfrm flipH="1" rot="10800000">
              <a:off x="2663892" y="1624025"/>
              <a:ext cx="3833100" cy="2848800"/>
            </a:xfrm>
            <a:prstGeom prst="straightConnector1">
              <a:avLst/>
            </a:prstGeom>
            <a:noFill/>
            <a:ln cap="flat" cmpd="sng" w="114300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2" name="Google Shape;252;p29"/>
            <p:cNvSpPr txBox="1"/>
            <p:nvPr/>
          </p:nvSpPr>
          <p:spPr>
            <a:xfrm>
              <a:off x="2045700" y="4489775"/>
              <a:ext cx="1382100" cy="4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(-255,-1)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53" name="Google Shape;253;p29"/>
            <p:cNvSpPr txBox="1"/>
            <p:nvPr/>
          </p:nvSpPr>
          <p:spPr>
            <a:xfrm>
              <a:off x="5716200" y="1246325"/>
              <a:ext cx="1382100" cy="4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(255,1)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54" name="Google Shape;254;p29"/>
            <p:cNvSpPr txBox="1"/>
            <p:nvPr/>
          </p:nvSpPr>
          <p:spPr>
            <a:xfrm>
              <a:off x="6124625" y="2863775"/>
              <a:ext cx="2142000" cy="4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" sz="1200" u="none" cap="none" strike="noStrike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ERROR (X)</a:t>
              </a:r>
              <a:endParaRPr b="1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255" name="Google Shape;255;p29"/>
            <p:cNvCxnSpPr/>
            <p:nvPr/>
          </p:nvCxnSpPr>
          <p:spPr>
            <a:xfrm flipH="1" rot="5400000">
              <a:off x="2588100" y="3044225"/>
              <a:ext cx="297300" cy="8400"/>
            </a:xfrm>
            <a:prstGeom prst="straightConnector1">
              <a:avLst/>
            </a:prstGeom>
            <a:noFill/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6" name="Google Shape;256;p29"/>
            <p:cNvCxnSpPr/>
            <p:nvPr/>
          </p:nvCxnSpPr>
          <p:spPr>
            <a:xfrm flipH="1" rot="5400000">
              <a:off x="6258600" y="3044225"/>
              <a:ext cx="297300" cy="8400"/>
            </a:xfrm>
            <a:prstGeom prst="straightConnector1">
              <a:avLst/>
            </a:prstGeom>
            <a:noFill/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7" name="Google Shape;257;p29"/>
            <p:cNvCxnSpPr/>
            <p:nvPr/>
          </p:nvCxnSpPr>
          <p:spPr>
            <a:xfrm flipH="1">
              <a:off x="4423350" y="4408025"/>
              <a:ext cx="297300" cy="8400"/>
            </a:xfrm>
            <a:prstGeom prst="straightConnector1">
              <a:avLst/>
            </a:prstGeom>
            <a:noFill/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8" name="Google Shape;258;p29"/>
            <p:cNvCxnSpPr/>
            <p:nvPr/>
          </p:nvCxnSpPr>
          <p:spPr>
            <a:xfrm flipH="1">
              <a:off x="4423350" y="1688975"/>
              <a:ext cx="297300" cy="8400"/>
            </a:xfrm>
            <a:prstGeom prst="straightConnector1">
              <a:avLst/>
            </a:prstGeom>
            <a:noFill/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9" name="Google Shape;259;p29"/>
            <p:cNvSpPr txBox="1"/>
            <p:nvPr/>
          </p:nvSpPr>
          <p:spPr>
            <a:xfrm>
              <a:off x="4720650" y="4227575"/>
              <a:ext cx="745500" cy="4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-1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60" name="Google Shape;260;p29"/>
            <p:cNvSpPr txBox="1"/>
            <p:nvPr/>
          </p:nvSpPr>
          <p:spPr>
            <a:xfrm>
              <a:off x="4661525" y="1457325"/>
              <a:ext cx="297300" cy="4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1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61" name="Google Shape;261;p29"/>
            <p:cNvSpPr/>
            <p:nvPr/>
          </p:nvSpPr>
          <p:spPr>
            <a:xfrm>
              <a:off x="6325950" y="1615625"/>
              <a:ext cx="162600" cy="1551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9"/>
            <p:cNvSpPr/>
            <p:nvPr/>
          </p:nvSpPr>
          <p:spPr>
            <a:xfrm>
              <a:off x="2655450" y="4334675"/>
              <a:ext cx="162600" cy="1551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9"/>
            <p:cNvSpPr txBox="1"/>
            <p:nvPr/>
          </p:nvSpPr>
          <p:spPr>
            <a:xfrm>
              <a:off x="3944550" y="761375"/>
              <a:ext cx="1382100" cy="4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" sz="1200" u="none" cap="none" strike="noStrike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GIRO (Y)</a:t>
              </a:r>
              <a:endParaRPr b="1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/>
        </p:nvSpPr>
        <p:spPr>
          <a:xfrm>
            <a:off x="77550" y="69575"/>
            <a:ext cx="898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Nuestro Objetivo:  Fórmula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69" name="Google Shape;269;p30"/>
          <p:cNvGrpSpPr/>
          <p:nvPr/>
        </p:nvGrpSpPr>
        <p:grpSpPr>
          <a:xfrm>
            <a:off x="-114583" y="1101167"/>
            <a:ext cx="5590619" cy="3723771"/>
            <a:chOff x="1678575" y="761375"/>
            <a:chExt cx="6588050" cy="4204800"/>
          </a:xfrm>
        </p:grpSpPr>
        <p:cxnSp>
          <p:nvCxnSpPr>
            <p:cNvPr id="270" name="Google Shape;270;p30"/>
            <p:cNvCxnSpPr/>
            <p:nvPr/>
          </p:nvCxnSpPr>
          <p:spPr>
            <a:xfrm>
              <a:off x="4572000" y="1130675"/>
              <a:ext cx="0" cy="3835500"/>
            </a:xfrm>
            <a:prstGeom prst="straightConnector1">
              <a:avLst/>
            </a:prstGeom>
            <a:noFill/>
            <a:ln cap="flat" cmpd="sng" w="762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1" name="Google Shape;271;p30"/>
            <p:cNvCxnSpPr/>
            <p:nvPr/>
          </p:nvCxnSpPr>
          <p:spPr>
            <a:xfrm>
              <a:off x="4572000" y="1130675"/>
              <a:ext cx="0" cy="3835500"/>
            </a:xfrm>
            <a:prstGeom prst="straightConnector1">
              <a:avLst/>
            </a:prstGeom>
            <a:noFill/>
            <a:ln cap="flat" cmpd="sng" w="762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2" name="Google Shape;272;p30"/>
            <p:cNvSpPr txBox="1"/>
            <p:nvPr/>
          </p:nvSpPr>
          <p:spPr>
            <a:xfrm>
              <a:off x="1678575" y="3137125"/>
              <a:ext cx="1382100" cy="4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-255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73" name="Google Shape;273;p30"/>
            <p:cNvSpPr txBox="1"/>
            <p:nvPr/>
          </p:nvSpPr>
          <p:spPr>
            <a:xfrm>
              <a:off x="6033150" y="3124625"/>
              <a:ext cx="1382100" cy="4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255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74" name="Google Shape;274;p30"/>
            <p:cNvSpPr txBox="1"/>
            <p:nvPr/>
          </p:nvSpPr>
          <p:spPr>
            <a:xfrm>
              <a:off x="4084125" y="3048425"/>
              <a:ext cx="1382100" cy="4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0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cxnSp>
          <p:nvCxnSpPr>
            <p:cNvPr id="275" name="Google Shape;275;p30"/>
            <p:cNvCxnSpPr/>
            <p:nvPr/>
          </p:nvCxnSpPr>
          <p:spPr>
            <a:xfrm flipH="1" rot="10800000">
              <a:off x="2655450" y="1624025"/>
              <a:ext cx="3833100" cy="2848800"/>
            </a:xfrm>
            <a:prstGeom prst="straightConnector1">
              <a:avLst/>
            </a:prstGeom>
            <a:noFill/>
            <a:ln cap="flat" cmpd="sng" w="114300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6" name="Google Shape;276;p30"/>
            <p:cNvSpPr txBox="1"/>
            <p:nvPr/>
          </p:nvSpPr>
          <p:spPr>
            <a:xfrm>
              <a:off x="2045700" y="4489775"/>
              <a:ext cx="1382100" cy="4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(-255,-1)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77" name="Google Shape;277;p30"/>
            <p:cNvSpPr txBox="1"/>
            <p:nvPr/>
          </p:nvSpPr>
          <p:spPr>
            <a:xfrm>
              <a:off x="5716200" y="1246325"/>
              <a:ext cx="1382100" cy="4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(255,1)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78" name="Google Shape;278;p30"/>
            <p:cNvSpPr txBox="1"/>
            <p:nvPr/>
          </p:nvSpPr>
          <p:spPr>
            <a:xfrm>
              <a:off x="3944550" y="761375"/>
              <a:ext cx="1382100" cy="4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" sz="1200" u="none" cap="none" strike="noStrike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GIRO (Y)</a:t>
              </a:r>
              <a:endParaRPr b="1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9" name="Google Shape;279;p30"/>
            <p:cNvSpPr txBox="1"/>
            <p:nvPr/>
          </p:nvSpPr>
          <p:spPr>
            <a:xfrm>
              <a:off x="6124625" y="2863775"/>
              <a:ext cx="2142000" cy="4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" sz="1200" u="none" cap="none" strike="noStrike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ERROR (X)</a:t>
              </a:r>
              <a:endParaRPr b="1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280" name="Google Shape;280;p30"/>
            <p:cNvCxnSpPr/>
            <p:nvPr/>
          </p:nvCxnSpPr>
          <p:spPr>
            <a:xfrm flipH="1" rot="5400000">
              <a:off x="2588100" y="3044225"/>
              <a:ext cx="297300" cy="8400"/>
            </a:xfrm>
            <a:prstGeom prst="straightConnector1">
              <a:avLst/>
            </a:prstGeom>
            <a:noFill/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1" name="Google Shape;281;p30"/>
            <p:cNvCxnSpPr/>
            <p:nvPr/>
          </p:nvCxnSpPr>
          <p:spPr>
            <a:xfrm flipH="1" rot="5400000">
              <a:off x="6258600" y="3044225"/>
              <a:ext cx="297300" cy="8400"/>
            </a:xfrm>
            <a:prstGeom prst="straightConnector1">
              <a:avLst/>
            </a:prstGeom>
            <a:noFill/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2" name="Google Shape;282;p30"/>
            <p:cNvCxnSpPr/>
            <p:nvPr/>
          </p:nvCxnSpPr>
          <p:spPr>
            <a:xfrm flipH="1">
              <a:off x="4423350" y="4408025"/>
              <a:ext cx="297300" cy="8400"/>
            </a:xfrm>
            <a:prstGeom prst="straightConnector1">
              <a:avLst/>
            </a:prstGeom>
            <a:noFill/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3" name="Google Shape;283;p30"/>
            <p:cNvCxnSpPr/>
            <p:nvPr/>
          </p:nvCxnSpPr>
          <p:spPr>
            <a:xfrm flipH="1">
              <a:off x="4423350" y="1688975"/>
              <a:ext cx="297300" cy="8400"/>
            </a:xfrm>
            <a:prstGeom prst="straightConnector1">
              <a:avLst/>
            </a:prstGeom>
            <a:noFill/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4" name="Google Shape;284;p30"/>
            <p:cNvSpPr txBox="1"/>
            <p:nvPr/>
          </p:nvSpPr>
          <p:spPr>
            <a:xfrm>
              <a:off x="4720650" y="4227575"/>
              <a:ext cx="745500" cy="4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-1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85" name="Google Shape;285;p30"/>
            <p:cNvSpPr txBox="1"/>
            <p:nvPr/>
          </p:nvSpPr>
          <p:spPr>
            <a:xfrm>
              <a:off x="4661525" y="1457325"/>
              <a:ext cx="297300" cy="4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1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86" name="Google Shape;286;p30"/>
            <p:cNvSpPr/>
            <p:nvPr/>
          </p:nvSpPr>
          <p:spPr>
            <a:xfrm>
              <a:off x="6325950" y="1615625"/>
              <a:ext cx="162600" cy="1551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30"/>
            <p:cNvSpPr/>
            <p:nvPr/>
          </p:nvSpPr>
          <p:spPr>
            <a:xfrm>
              <a:off x="2655450" y="4334675"/>
              <a:ext cx="162600" cy="1551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8" name="Google Shape;288;p30"/>
          <p:cNvSpPr txBox="1"/>
          <p:nvPr/>
        </p:nvSpPr>
        <p:spPr>
          <a:xfrm>
            <a:off x="5793900" y="1250775"/>
            <a:ext cx="327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Tenemos…</a:t>
            </a:r>
            <a:endParaRPr b="0" i="0" sz="1800" u="none" cap="none" strike="noStrik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	</a:t>
            </a:r>
            <a:r>
              <a:rPr b="1" i="1" lang="es" sz="1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y = mx</a:t>
            </a:r>
            <a:endParaRPr b="1" i="1" sz="18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9" name="Google Shape;289;p30"/>
          <p:cNvSpPr txBox="1"/>
          <p:nvPr/>
        </p:nvSpPr>
        <p:spPr>
          <a:xfrm>
            <a:off x="5838250" y="2194925"/>
            <a:ext cx="3273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Cambiamos las variables usando los nombres de nuestro gráfico</a:t>
            </a:r>
            <a:endParaRPr b="0" i="0" sz="1800" u="none" cap="none" strike="noStrik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	</a:t>
            </a:r>
            <a:r>
              <a:rPr b="1" i="1" lang="es" sz="1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giro = m * error</a:t>
            </a:r>
            <a:endParaRPr b="1" i="1" sz="18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0" name="Google Shape;290;p30"/>
          <p:cNvSpPr/>
          <p:nvPr/>
        </p:nvSpPr>
        <p:spPr>
          <a:xfrm>
            <a:off x="5823450" y="3870150"/>
            <a:ext cx="3214800" cy="8055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Pero… </a:t>
            </a:r>
            <a:endParaRPr b="0" i="0" sz="18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¿Cómo obtenemos </a:t>
            </a:r>
            <a:r>
              <a:rPr b="1" i="1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b="0" i="0" lang="es" sz="1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?</a:t>
            </a:r>
            <a:endParaRPr b="0" i="0" sz="18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1"/>
          <p:cNvSpPr txBox="1"/>
          <p:nvPr/>
        </p:nvSpPr>
        <p:spPr>
          <a:xfrm>
            <a:off x="77550" y="69575"/>
            <a:ext cx="898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Constante proporcional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6" name="Google Shape;296;p31"/>
          <p:cNvSpPr txBox="1"/>
          <p:nvPr/>
        </p:nvSpPr>
        <p:spPr>
          <a:xfrm>
            <a:off x="206925" y="1042000"/>
            <a:ext cx="673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Desde ahora llamaremos </a:t>
            </a:r>
            <a:r>
              <a:rPr b="1" i="1" lang="es" sz="1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Kp</a:t>
            </a:r>
            <a:r>
              <a:rPr b="1" i="0" lang="es" sz="1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s" sz="18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 </a:t>
            </a:r>
            <a:r>
              <a:rPr b="1" i="1" lang="es" sz="1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b="1" i="0" lang="es" sz="1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s" sz="18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→ giro = Kp * Error</a:t>
            </a:r>
            <a:endParaRPr b="0" i="0" sz="1800" u="none" cap="none" strike="noStrik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97" name="Google Shape;297;p31"/>
          <p:cNvSpPr/>
          <p:nvPr/>
        </p:nvSpPr>
        <p:spPr>
          <a:xfrm>
            <a:off x="256850" y="1658900"/>
            <a:ext cx="8512200" cy="17037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Kp se puede escoger arbitrariamente, pero una manera de obtener un valor inicial es usando la pendiente del gráfico.</a:t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¿Cómo calculamos la pendiente del gráfico?</a:t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8" name="Google Shape;298;p31"/>
          <p:cNvSpPr/>
          <p:nvPr/>
        </p:nvSpPr>
        <p:spPr>
          <a:xfrm>
            <a:off x="918350" y="3622325"/>
            <a:ext cx="7189200" cy="13488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Kp = 𝜟y/</a:t>
            </a:r>
            <a:r>
              <a:rPr b="0" i="0" lang="es" sz="2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𝜟x</a:t>
            </a:r>
            <a:endParaRPr b="0" i="0" sz="2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2"/>
          <p:cNvSpPr/>
          <p:nvPr/>
        </p:nvSpPr>
        <p:spPr>
          <a:xfrm>
            <a:off x="2387000" y="849850"/>
            <a:ext cx="303000" cy="407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2"/>
          <p:cNvSpPr txBox="1"/>
          <p:nvPr/>
        </p:nvSpPr>
        <p:spPr>
          <a:xfrm>
            <a:off x="77550" y="69575"/>
            <a:ext cx="898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Constante proporcional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5" name="Google Shape;30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525" y="2704775"/>
            <a:ext cx="3931499" cy="294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2"/>
          <p:cNvSpPr txBox="1"/>
          <p:nvPr/>
        </p:nvSpPr>
        <p:spPr>
          <a:xfrm>
            <a:off x="4641000" y="1101175"/>
            <a:ext cx="4323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Supongamos que cuando el robot esté por el centro de la línea, queremos que vaya a una velocidad de 100</a:t>
            </a:r>
            <a:endParaRPr b="1" i="1" sz="18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" name="Google Shape;307;p32"/>
          <p:cNvSpPr txBox="1"/>
          <p:nvPr/>
        </p:nvSpPr>
        <p:spPr>
          <a:xfrm>
            <a:off x="4641000" y="2638275"/>
            <a:ext cx="4323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Esto lo conoceremos como Target Power (poder objetivo) que denominaremos </a:t>
            </a:r>
            <a:r>
              <a:rPr b="1" i="0" lang="es" sz="1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Tp</a:t>
            </a:r>
            <a:endParaRPr b="1" i="1" sz="18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8" name="Google Shape;308;p32"/>
          <p:cNvSpPr/>
          <p:nvPr/>
        </p:nvSpPr>
        <p:spPr>
          <a:xfrm>
            <a:off x="4737100" y="4077075"/>
            <a:ext cx="3214800" cy="8055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Tp = 100</a:t>
            </a:r>
            <a:endParaRPr b="0" i="0" sz="18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/>
          <p:cNvSpPr/>
          <p:nvPr/>
        </p:nvSpPr>
        <p:spPr>
          <a:xfrm>
            <a:off x="6792331" y="2140462"/>
            <a:ext cx="257400" cy="3110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3"/>
          <p:cNvSpPr txBox="1"/>
          <p:nvPr/>
        </p:nvSpPr>
        <p:spPr>
          <a:xfrm>
            <a:off x="77550" y="69575"/>
            <a:ext cx="898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Constante proporcional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5" name="Google Shape;31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7450" y="2140444"/>
            <a:ext cx="3339775" cy="22481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6" name="Google Shape;316;p33"/>
          <p:cNvGrpSpPr/>
          <p:nvPr/>
        </p:nvGrpSpPr>
        <p:grpSpPr>
          <a:xfrm>
            <a:off x="143882" y="1652384"/>
            <a:ext cx="4519402" cy="2984172"/>
            <a:chOff x="143882" y="1652384"/>
            <a:chExt cx="4519402" cy="2984172"/>
          </a:xfrm>
        </p:grpSpPr>
        <p:cxnSp>
          <p:nvCxnSpPr>
            <p:cNvPr id="317" name="Google Shape;317;p33"/>
            <p:cNvCxnSpPr/>
            <p:nvPr/>
          </p:nvCxnSpPr>
          <p:spPr>
            <a:xfrm>
              <a:off x="2128771" y="1911374"/>
              <a:ext cx="0" cy="2689836"/>
            </a:xfrm>
            <a:prstGeom prst="straightConnector1">
              <a:avLst/>
            </a:prstGeom>
            <a:noFill/>
            <a:ln cap="flat" cmpd="sng" w="762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8" name="Google Shape;318;p33"/>
            <p:cNvCxnSpPr/>
            <p:nvPr/>
          </p:nvCxnSpPr>
          <p:spPr>
            <a:xfrm>
              <a:off x="2128771" y="1940716"/>
              <a:ext cx="0" cy="2631153"/>
            </a:xfrm>
            <a:prstGeom prst="straightConnector1">
              <a:avLst/>
            </a:prstGeom>
            <a:noFill/>
            <a:ln cap="flat" cmpd="sng" w="762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9" name="Google Shape;319;p33"/>
            <p:cNvSpPr txBox="1"/>
            <p:nvPr/>
          </p:nvSpPr>
          <p:spPr>
            <a:xfrm>
              <a:off x="143882" y="3318498"/>
              <a:ext cx="948121" cy="3694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-255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20" name="Google Shape;320;p33"/>
            <p:cNvSpPr txBox="1"/>
            <p:nvPr/>
          </p:nvSpPr>
          <p:spPr>
            <a:xfrm>
              <a:off x="3131120" y="3309731"/>
              <a:ext cx="948121" cy="3694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255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21" name="Google Shape;321;p33"/>
            <p:cNvSpPr txBox="1"/>
            <p:nvPr/>
          </p:nvSpPr>
          <p:spPr>
            <a:xfrm>
              <a:off x="1794089" y="3256292"/>
              <a:ext cx="948121" cy="3694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0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cxnSp>
          <p:nvCxnSpPr>
            <p:cNvPr id="322" name="Google Shape;322;p33"/>
            <p:cNvCxnSpPr/>
            <p:nvPr/>
          </p:nvCxnSpPr>
          <p:spPr>
            <a:xfrm flipH="1" rot="10800000">
              <a:off x="814018" y="2257361"/>
              <a:ext cx="2629507" cy="1997863"/>
            </a:xfrm>
            <a:prstGeom prst="straightConnector1">
              <a:avLst/>
            </a:prstGeom>
            <a:noFill/>
            <a:ln cap="flat" cmpd="sng" w="114300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3" name="Google Shape;323;p33"/>
            <p:cNvSpPr txBox="1"/>
            <p:nvPr/>
          </p:nvSpPr>
          <p:spPr>
            <a:xfrm>
              <a:off x="395730" y="4267111"/>
              <a:ext cx="948121" cy="3694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(-255,-1)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24" name="Google Shape;324;p33"/>
            <p:cNvSpPr txBox="1"/>
            <p:nvPr/>
          </p:nvSpPr>
          <p:spPr>
            <a:xfrm>
              <a:off x="2913693" y="1992479"/>
              <a:ext cx="948121" cy="3694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(255,1)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25" name="Google Shape;325;p33"/>
            <p:cNvSpPr txBox="1"/>
            <p:nvPr/>
          </p:nvSpPr>
          <p:spPr>
            <a:xfrm>
              <a:off x="1698341" y="1652384"/>
              <a:ext cx="948121" cy="3694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" sz="1200" u="none" cap="none" strike="noStrike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GIRO (Y)</a:t>
              </a:r>
              <a:endParaRPr b="1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6" name="Google Shape;326;p33"/>
            <p:cNvSpPr txBox="1"/>
            <p:nvPr/>
          </p:nvSpPr>
          <p:spPr>
            <a:xfrm>
              <a:off x="3193872" y="3126797"/>
              <a:ext cx="1469412" cy="3694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" sz="1200" u="none" cap="none" strike="noStrike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ERROR (X)</a:t>
              </a:r>
              <a:endParaRPr b="1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327" name="Google Shape;327;p33"/>
            <p:cNvCxnSpPr/>
            <p:nvPr/>
          </p:nvCxnSpPr>
          <p:spPr>
            <a:xfrm flipH="1" rot="5400000">
              <a:off x="765542" y="3253411"/>
              <a:ext cx="208496" cy="5762"/>
            </a:xfrm>
            <a:prstGeom prst="straightConnector1">
              <a:avLst/>
            </a:prstGeom>
            <a:noFill/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8" name="Google Shape;328;p33"/>
            <p:cNvCxnSpPr/>
            <p:nvPr/>
          </p:nvCxnSpPr>
          <p:spPr>
            <a:xfrm flipH="1" rot="5400000">
              <a:off x="3283505" y="3253411"/>
              <a:ext cx="208496" cy="5762"/>
            </a:xfrm>
            <a:prstGeom prst="straightConnector1">
              <a:avLst/>
            </a:prstGeom>
            <a:noFill/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9" name="Google Shape;329;p33"/>
            <p:cNvCxnSpPr/>
            <p:nvPr/>
          </p:nvCxnSpPr>
          <p:spPr>
            <a:xfrm flipH="1">
              <a:off x="2026798" y="4209780"/>
              <a:ext cx="203948" cy="5891"/>
            </a:xfrm>
            <a:prstGeom prst="straightConnector1">
              <a:avLst/>
            </a:prstGeom>
            <a:noFill/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0" name="Google Shape;330;p33"/>
            <p:cNvCxnSpPr/>
            <p:nvPr/>
          </p:nvCxnSpPr>
          <p:spPr>
            <a:xfrm flipH="1">
              <a:off x="2026798" y="2302910"/>
              <a:ext cx="203948" cy="5891"/>
            </a:xfrm>
            <a:prstGeom prst="straightConnector1">
              <a:avLst/>
            </a:prstGeom>
            <a:noFill/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1" name="Google Shape;331;p33"/>
            <p:cNvSpPr txBox="1"/>
            <p:nvPr/>
          </p:nvSpPr>
          <p:spPr>
            <a:xfrm>
              <a:off x="2230745" y="4083230"/>
              <a:ext cx="511413" cy="3694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-1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32" name="Google Shape;332;p33"/>
            <p:cNvSpPr txBox="1"/>
            <p:nvPr/>
          </p:nvSpPr>
          <p:spPr>
            <a:xfrm>
              <a:off x="2190186" y="2140454"/>
              <a:ext cx="203948" cy="3694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1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33" name="Google Shape;333;p33"/>
            <p:cNvSpPr/>
            <p:nvPr/>
          </p:nvSpPr>
          <p:spPr>
            <a:xfrm>
              <a:off x="2072968" y="3204827"/>
              <a:ext cx="111600" cy="1089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4" name="Google Shape;334;p33"/>
          <p:cNvSpPr/>
          <p:nvPr/>
        </p:nvSpPr>
        <p:spPr>
          <a:xfrm>
            <a:off x="433375" y="954175"/>
            <a:ext cx="3996900" cy="7191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 nuestro error es 0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5" name="Google Shape;335;p33"/>
          <p:cNvSpPr/>
          <p:nvPr/>
        </p:nvSpPr>
        <p:spPr>
          <a:xfrm>
            <a:off x="4760325" y="954175"/>
            <a:ext cx="3996900" cy="7191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Nuestro giro es 0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500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/>
          <p:nvPr/>
        </p:nvSpPr>
        <p:spPr>
          <a:xfrm>
            <a:off x="6792331" y="2140462"/>
            <a:ext cx="257400" cy="3110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4"/>
          <p:cNvSpPr txBox="1"/>
          <p:nvPr/>
        </p:nvSpPr>
        <p:spPr>
          <a:xfrm>
            <a:off x="77550" y="69575"/>
            <a:ext cx="898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Constante proporcional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2" name="Google Shape;34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7975" y="2722744"/>
            <a:ext cx="3339775" cy="22481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3" name="Google Shape;343;p34"/>
          <p:cNvGrpSpPr/>
          <p:nvPr/>
        </p:nvGrpSpPr>
        <p:grpSpPr>
          <a:xfrm>
            <a:off x="143882" y="1652384"/>
            <a:ext cx="4519390" cy="2984027"/>
            <a:chOff x="143882" y="1652384"/>
            <a:chExt cx="4519390" cy="2984027"/>
          </a:xfrm>
        </p:grpSpPr>
        <p:cxnSp>
          <p:nvCxnSpPr>
            <p:cNvPr id="344" name="Google Shape;344;p34"/>
            <p:cNvCxnSpPr/>
            <p:nvPr/>
          </p:nvCxnSpPr>
          <p:spPr>
            <a:xfrm>
              <a:off x="2128771" y="1911374"/>
              <a:ext cx="0" cy="2689800"/>
            </a:xfrm>
            <a:prstGeom prst="straightConnector1">
              <a:avLst/>
            </a:prstGeom>
            <a:noFill/>
            <a:ln cap="flat" cmpd="sng" w="762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5" name="Google Shape;345;p34"/>
            <p:cNvCxnSpPr/>
            <p:nvPr/>
          </p:nvCxnSpPr>
          <p:spPr>
            <a:xfrm>
              <a:off x="2128698" y="1940642"/>
              <a:ext cx="0" cy="2631300"/>
            </a:xfrm>
            <a:prstGeom prst="straightConnector1">
              <a:avLst/>
            </a:prstGeom>
            <a:noFill/>
            <a:ln cap="flat" cmpd="sng" w="762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6" name="Google Shape;346;p34"/>
            <p:cNvSpPr txBox="1"/>
            <p:nvPr/>
          </p:nvSpPr>
          <p:spPr>
            <a:xfrm>
              <a:off x="143882" y="3318498"/>
              <a:ext cx="948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-255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47" name="Google Shape;347;p34"/>
            <p:cNvSpPr txBox="1"/>
            <p:nvPr/>
          </p:nvSpPr>
          <p:spPr>
            <a:xfrm>
              <a:off x="3131120" y="3309731"/>
              <a:ext cx="948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255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48" name="Google Shape;348;p34"/>
            <p:cNvSpPr txBox="1"/>
            <p:nvPr/>
          </p:nvSpPr>
          <p:spPr>
            <a:xfrm>
              <a:off x="1794089" y="3256292"/>
              <a:ext cx="948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0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cxnSp>
          <p:nvCxnSpPr>
            <p:cNvPr id="349" name="Google Shape;349;p34"/>
            <p:cNvCxnSpPr/>
            <p:nvPr/>
          </p:nvCxnSpPr>
          <p:spPr>
            <a:xfrm flipH="1" rot="10800000">
              <a:off x="814018" y="2257224"/>
              <a:ext cx="2629500" cy="1998000"/>
            </a:xfrm>
            <a:prstGeom prst="straightConnector1">
              <a:avLst/>
            </a:prstGeom>
            <a:noFill/>
            <a:ln cap="flat" cmpd="sng" w="114300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0" name="Google Shape;350;p34"/>
            <p:cNvSpPr txBox="1"/>
            <p:nvPr/>
          </p:nvSpPr>
          <p:spPr>
            <a:xfrm>
              <a:off x="395730" y="4267111"/>
              <a:ext cx="948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(-255,-1)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51" name="Google Shape;351;p34"/>
            <p:cNvSpPr txBox="1"/>
            <p:nvPr/>
          </p:nvSpPr>
          <p:spPr>
            <a:xfrm>
              <a:off x="2913693" y="1992479"/>
              <a:ext cx="948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(255,1)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52" name="Google Shape;352;p34"/>
            <p:cNvSpPr txBox="1"/>
            <p:nvPr/>
          </p:nvSpPr>
          <p:spPr>
            <a:xfrm>
              <a:off x="1698341" y="1652384"/>
              <a:ext cx="948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" sz="1200" u="none" cap="none" strike="noStrike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GIRO (Y)</a:t>
              </a:r>
              <a:endParaRPr b="1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53" name="Google Shape;353;p34"/>
            <p:cNvSpPr txBox="1"/>
            <p:nvPr/>
          </p:nvSpPr>
          <p:spPr>
            <a:xfrm>
              <a:off x="3193872" y="3126797"/>
              <a:ext cx="1469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" sz="1200" u="none" cap="none" strike="noStrike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ERROR (X)</a:t>
              </a:r>
              <a:endParaRPr b="1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354" name="Google Shape;354;p34"/>
            <p:cNvCxnSpPr/>
            <p:nvPr/>
          </p:nvCxnSpPr>
          <p:spPr>
            <a:xfrm flipH="1" rot="5400000">
              <a:off x="765571" y="3253440"/>
              <a:ext cx="208500" cy="5700"/>
            </a:xfrm>
            <a:prstGeom prst="straightConnector1">
              <a:avLst/>
            </a:prstGeom>
            <a:noFill/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5" name="Google Shape;355;p34"/>
            <p:cNvCxnSpPr/>
            <p:nvPr/>
          </p:nvCxnSpPr>
          <p:spPr>
            <a:xfrm flipH="1" rot="5400000">
              <a:off x="3283534" y="3253440"/>
              <a:ext cx="208500" cy="5700"/>
            </a:xfrm>
            <a:prstGeom prst="straightConnector1">
              <a:avLst/>
            </a:prstGeom>
            <a:noFill/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6" name="Google Shape;356;p34"/>
            <p:cNvCxnSpPr/>
            <p:nvPr/>
          </p:nvCxnSpPr>
          <p:spPr>
            <a:xfrm flipH="1">
              <a:off x="2026745" y="4209780"/>
              <a:ext cx="204000" cy="6000"/>
            </a:xfrm>
            <a:prstGeom prst="straightConnector1">
              <a:avLst/>
            </a:prstGeom>
            <a:noFill/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7" name="Google Shape;357;p34"/>
            <p:cNvCxnSpPr/>
            <p:nvPr/>
          </p:nvCxnSpPr>
          <p:spPr>
            <a:xfrm flipH="1">
              <a:off x="2026745" y="2302910"/>
              <a:ext cx="204000" cy="6000"/>
            </a:xfrm>
            <a:prstGeom prst="straightConnector1">
              <a:avLst/>
            </a:prstGeom>
            <a:noFill/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8" name="Google Shape;358;p34"/>
            <p:cNvSpPr txBox="1"/>
            <p:nvPr/>
          </p:nvSpPr>
          <p:spPr>
            <a:xfrm>
              <a:off x="2230745" y="4083230"/>
              <a:ext cx="511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-1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59" name="Google Shape;359;p34"/>
            <p:cNvSpPr txBox="1"/>
            <p:nvPr/>
          </p:nvSpPr>
          <p:spPr>
            <a:xfrm>
              <a:off x="2190186" y="2140454"/>
              <a:ext cx="204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1</a:t>
              </a:r>
              <a:endParaRPr b="0" i="0" sz="12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31968" y="2251452"/>
              <a:ext cx="111600" cy="1089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1" name="Google Shape;361;p34"/>
          <p:cNvSpPr/>
          <p:nvPr/>
        </p:nvSpPr>
        <p:spPr>
          <a:xfrm>
            <a:off x="433375" y="954175"/>
            <a:ext cx="3996900" cy="7191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 nuestro error es 255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2" name="Google Shape;362;p34"/>
          <p:cNvSpPr/>
          <p:nvPr/>
        </p:nvSpPr>
        <p:spPr>
          <a:xfrm>
            <a:off x="4760325" y="954175"/>
            <a:ext cx="3996900" cy="7191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Queremos que el giro sea a una velocidad en especifico de </a:t>
            </a:r>
            <a:r>
              <a:rPr b="1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100</a:t>
            </a:r>
            <a:endParaRPr b="1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5"/>
          <p:cNvSpPr txBox="1"/>
          <p:nvPr/>
        </p:nvSpPr>
        <p:spPr>
          <a:xfrm>
            <a:off x="77550" y="69575"/>
            <a:ext cx="898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Constante proporcional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8" name="Google Shape;368;p35"/>
          <p:cNvSpPr/>
          <p:nvPr/>
        </p:nvSpPr>
        <p:spPr>
          <a:xfrm>
            <a:off x="433375" y="954175"/>
            <a:ext cx="8316600" cy="11151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Pero, ¿por qué queremos que nuestro giro sea de 100?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9" name="Google Shape;369;p35"/>
          <p:cNvSpPr/>
          <p:nvPr/>
        </p:nvSpPr>
        <p:spPr>
          <a:xfrm>
            <a:off x="433375" y="2276150"/>
            <a:ext cx="8316600" cy="11151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Porque si esa velocidad se suma a la rueda derecha y se resta a la rueda izquierda, como nuestro Tp = 100, una rueda quedará en 200 mientras que la otra en 0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0" name="Google Shape;37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8175" y="3517678"/>
            <a:ext cx="2415274" cy="162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3375" y="3448378"/>
            <a:ext cx="2415274" cy="162582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5"/>
          <p:cNvSpPr txBox="1"/>
          <p:nvPr/>
        </p:nvSpPr>
        <p:spPr>
          <a:xfrm>
            <a:off x="2820488" y="4611425"/>
            <a:ext cx="121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VD = 100</a:t>
            </a:r>
            <a:endParaRPr b="0" i="0" sz="1400" u="none" cap="none" strike="noStrik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73" name="Google Shape;373;p35"/>
          <p:cNvSpPr txBox="1"/>
          <p:nvPr/>
        </p:nvSpPr>
        <p:spPr>
          <a:xfrm>
            <a:off x="433375" y="4611425"/>
            <a:ext cx="121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VI = 100</a:t>
            </a:r>
            <a:endParaRPr b="0" i="0" sz="1400" u="none" cap="none" strike="noStrik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74" name="Google Shape;374;p35"/>
          <p:cNvSpPr txBox="1"/>
          <p:nvPr/>
        </p:nvSpPr>
        <p:spPr>
          <a:xfrm>
            <a:off x="2820500" y="4335200"/>
            <a:ext cx="121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FF00"/>
                </a:solidFill>
                <a:latin typeface="Poppins"/>
                <a:ea typeface="Poppins"/>
                <a:cs typeface="Poppins"/>
                <a:sym typeface="Poppins"/>
              </a:rPr>
              <a:t>+100</a:t>
            </a:r>
            <a:endParaRPr b="1" i="0" sz="1400" u="none" cap="none" strike="noStrike">
              <a:solidFill>
                <a:srgbClr val="00FF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5" name="Google Shape;375;p35"/>
          <p:cNvSpPr txBox="1"/>
          <p:nvPr/>
        </p:nvSpPr>
        <p:spPr>
          <a:xfrm>
            <a:off x="433375" y="4379525"/>
            <a:ext cx="121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-100</a:t>
            </a:r>
            <a:endParaRPr b="1" i="0" sz="14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6" name="Google Shape;376;p35"/>
          <p:cNvSpPr txBox="1"/>
          <p:nvPr/>
        </p:nvSpPr>
        <p:spPr>
          <a:xfrm>
            <a:off x="4376900" y="4577950"/>
            <a:ext cx="121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VI = 0</a:t>
            </a:r>
            <a:endParaRPr b="0" i="0" sz="1400" u="none" cap="none" strike="noStrik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77" name="Google Shape;377;p35"/>
          <p:cNvSpPr txBox="1"/>
          <p:nvPr/>
        </p:nvSpPr>
        <p:spPr>
          <a:xfrm>
            <a:off x="7854438" y="4542125"/>
            <a:ext cx="121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VD = 200</a:t>
            </a:r>
            <a:endParaRPr b="0" i="0" sz="1400" u="none" cap="none" strike="noStrik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"/>
          <p:cNvSpPr txBox="1"/>
          <p:nvPr/>
        </p:nvSpPr>
        <p:spPr>
          <a:xfrm>
            <a:off x="77550" y="69575"/>
            <a:ext cx="898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Constante proporcional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3" name="Google Shape;383;p36"/>
          <p:cNvSpPr txBox="1"/>
          <p:nvPr/>
        </p:nvSpPr>
        <p:spPr>
          <a:xfrm>
            <a:off x="369500" y="1041975"/>
            <a:ext cx="765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Ahora tenemos dos puntos para calcular la pendiente Kp</a:t>
            </a:r>
            <a:endParaRPr b="0" i="0" sz="1800" u="none" cap="none" strike="noStrik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84" name="Google Shape;384;p36"/>
          <p:cNvSpPr/>
          <p:nvPr/>
        </p:nvSpPr>
        <p:spPr>
          <a:xfrm>
            <a:off x="413700" y="1707975"/>
            <a:ext cx="8316600" cy="11151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X</a:t>
            </a:r>
            <a:r>
              <a:rPr b="1" baseline="-2500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b="1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= (0, 0)                    </a:t>
            </a: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//(error = 0 , giro = 0)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5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X</a:t>
            </a:r>
            <a:r>
              <a:rPr b="1" baseline="-25000" i="0" lang="es" sz="15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b="1" i="0" lang="es" sz="15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= (255, 100)        </a:t>
            </a:r>
            <a:r>
              <a:rPr b="0" i="0" lang="es" sz="15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//(error = 255 , giro = 100)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5" name="Google Shape;385;p36"/>
          <p:cNvSpPr/>
          <p:nvPr/>
        </p:nvSpPr>
        <p:spPr>
          <a:xfrm>
            <a:off x="413700" y="2941250"/>
            <a:ext cx="8316600" cy="5100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Calculamos, ahora sí </a:t>
            </a:r>
            <a:r>
              <a:rPr b="1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Kp</a:t>
            </a:r>
            <a:endParaRPr b="1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86" name="Google Shape;386;p36"/>
          <p:cNvGrpSpPr/>
          <p:nvPr/>
        </p:nvGrpSpPr>
        <p:grpSpPr>
          <a:xfrm>
            <a:off x="514525" y="3684825"/>
            <a:ext cx="2054400" cy="834700"/>
            <a:chOff x="514525" y="3684825"/>
            <a:chExt cx="2054400" cy="834700"/>
          </a:xfrm>
        </p:grpSpPr>
        <p:sp>
          <p:nvSpPr>
            <p:cNvPr id="387" name="Google Shape;387;p36"/>
            <p:cNvSpPr txBox="1"/>
            <p:nvPr/>
          </p:nvSpPr>
          <p:spPr>
            <a:xfrm>
              <a:off x="514525" y="3684825"/>
              <a:ext cx="1458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" sz="18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Kp = y</a:t>
              </a:r>
              <a:r>
                <a:rPr b="0" baseline="-25000" i="0" lang="es" sz="18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2</a:t>
              </a:r>
              <a:r>
                <a:rPr b="0" i="0" lang="es" sz="18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-y</a:t>
              </a:r>
              <a:r>
                <a:rPr b="0" baseline="-25000" i="0" lang="es" sz="18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1</a:t>
              </a:r>
              <a:endParaRPr b="0" i="0" sz="18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88" name="Google Shape;388;p36"/>
            <p:cNvSpPr txBox="1"/>
            <p:nvPr/>
          </p:nvSpPr>
          <p:spPr>
            <a:xfrm>
              <a:off x="1110325" y="4057825"/>
              <a:ext cx="1458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" sz="18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x</a:t>
              </a:r>
              <a:r>
                <a:rPr b="0" baseline="-25000" i="0" lang="es" sz="18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2</a:t>
              </a:r>
              <a:r>
                <a:rPr b="0" i="0" lang="es" sz="18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-x</a:t>
              </a:r>
              <a:r>
                <a:rPr b="0" baseline="-25000" i="0" lang="es" sz="18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1</a:t>
              </a:r>
              <a:endParaRPr b="0" i="0" sz="18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cxnSp>
          <p:nvCxnSpPr>
            <p:cNvPr id="389" name="Google Shape;389;p36"/>
            <p:cNvCxnSpPr/>
            <p:nvPr/>
          </p:nvCxnSpPr>
          <p:spPr>
            <a:xfrm flipH="1" rot="10800000">
              <a:off x="1110325" y="4146525"/>
              <a:ext cx="679800" cy="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90" name="Google Shape;390;p36"/>
          <p:cNvGrpSpPr/>
          <p:nvPr/>
        </p:nvGrpSpPr>
        <p:grpSpPr>
          <a:xfrm>
            <a:off x="2832225" y="3725675"/>
            <a:ext cx="3545400" cy="793850"/>
            <a:chOff x="2832225" y="3725675"/>
            <a:chExt cx="3545400" cy="793850"/>
          </a:xfrm>
        </p:grpSpPr>
        <p:sp>
          <p:nvSpPr>
            <p:cNvPr id="391" name="Google Shape;391;p36"/>
            <p:cNvSpPr txBox="1"/>
            <p:nvPr/>
          </p:nvSpPr>
          <p:spPr>
            <a:xfrm>
              <a:off x="2832225" y="3725675"/>
              <a:ext cx="354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" sz="18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Kp = 100-0   = 0.39</a:t>
              </a:r>
              <a:endParaRPr b="0" i="0" sz="18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92" name="Google Shape;392;p36"/>
            <p:cNvSpPr txBox="1"/>
            <p:nvPr/>
          </p:nvSpPr>
          <p:spPr>
            <a:xfrm>
              <a:off x="3448325" y="4057825"/>
              <a:ext cx="1458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" sz="1800" u="none" cap="none" strike="noStrike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255-0</a:t>
              </a:r>
              <a:endParaRPr b="0" i="0" sz="18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cxnSp>
          <p:nvCxnSpPr>
            <p:cNvPr id="393" name="Google Shape;393;p36"/>
            <p:cNvCxnSpPr/>
            <p:nvPr/>
          </p:nvCxnSpPr>
          <p:spPr>
            <a:xfrm flipH="1" rot="10800000">
              <a:off x="3524100" y="4098675"/>
              <a:ext cx="679800" cy="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94" name="Google Shape;394;p36"/>
          <p:cNvSpPr/>
          <p:nvPr/>
        </p:nvSpPr>
        <p:spPr>
          <a:xfrm rot="-715515">
            <a:off x="6381874" y="3748048"/>
            <a:ext cx="1862701" cy="1282554"/>
          </a:xfrm>
          <a:prstGeom prst="foldedCorner">
            <a:avLst>
              <a:gd fmla="val 16667" name="adj"/>
            </a:avLst>
          </a:prstGeom>
          <a:solidFill>
            <a:srgbClr val="FFE2A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 esto ya tenemos un Kp base con el cual experimentar</a:t>
            </a:r>
            <a:endParaRPr b="0" i="0" sz="1400" u="none" cap="none" strike="noStrike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7"/>
          <p:cNvSpPr txBox="1"/>
          <p:nvPr/>
        </p:nvSpPr>
        <p:spPr>
          <a:xfrm>
            <a:off x="77550" y="69575"/>
            <a:ext cx="898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Control proporcional simple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0" name="Google Shape;400;p37"/>
          <p:cNvSpPr txBox="1"/>
          <p:nvPr/>
        </p:nvSpPr>
        <p:spPr>
          <a:xfrm>
            <a:off x="369500" y="1041975"/>
            <a:ext cx="765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Finalmente, podemos establecer un algoritmo de control proporcional simple con los valores obtenidos</a:t>
            </a:r>
            <a:endParaRPr b="0" i="0" sz="1800" u="none" cap="none" strike="noStrik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01" name="Google Shape;401;p37"/>
          <p:cNvSpPr/>
          <p:nvPr/>
        </p:nvSpPr>
        <p:spPr>
          <a:xfrm>
            <a:off x="369500" y="1885325"/>
            <a:ext cx="4079400" cy="2992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233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Nuestras variables</a:t>
            </a:r>
            <a:endParaRPr b="1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Kp= 0.39  </a:t>
            </a:r>
            <a:r>
              <a:rPr b="0" i="0" lang="es" sz="1500" u="none" cap="none" strike="noStrike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//Constante proporcional</a:t>
            </a:r>
            <a:b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ref= 0    </a:t>
            </a:r>
            <a:r>
              <a:rPr b="0" i="0" lang="es" sz="1500" u="none" cap="none" strike="noStrike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//Valor objetivo(centro)</a:t>
            </a:r>
            <a:endParaRPr b="0" i="0" sz="1500" u="none" cap="none" strike="noStrike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Tp= 100   </a:t>
            </a:r>
            <a:r>
              <a:rPr b="0" i="0" lang="es" sz="1500" u="none" cap="none" strike="noStrik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//Velocidad base</a:t>
            </a:r>
            <a:endParaRPr b="0" i="0" sz="1500" u="none" cap="none" strike="noStrike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error= 0  </a:t>
            </a:r>
            <a:r>
              <a:rPr b="0" i="0" lang="es" sz="1500" u="none" cap="none" strike="noStrik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//Variable que almacena</a:t>
            </a:r>
            <a:endParaRPr b="0" i="0" sz="1500" u="none" cap="none" strike="noStrike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          el error</a:t>
            </a:r>
            <a:endParaRPr b="0" i="0" sz="1500" u="none" cap="none" strike="noStrike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2" name="Google Shape;402;p37"/>
          <p:cNvSpPr/>
          <p:nvPr/>
        </p:nvSpPr>
        <p:spPr>
          <a:xfrm>
            <a:off x="4734250" y="1885325"/>
            <a:ext cx="4079400" cy="2992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A8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 nuestro loop</a:t>
            </a:r>
            <a:endParaRPr b="1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posicion = leerSensores()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error = posicion - ref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giro = Kp * error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velIzq = Tp </a:t>
            </a: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giro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velDer = Tp </a:t>
            </a: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giro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moverMotores(velIzq, velDer)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7" name="Google Shape;407;p38"/>
          <p:cNvCxnSpPr/>
          <p:nvPr/>
        </p:nvCxnSpPr>
        <p:spPr>
          <a:xfrm>
            <a:off x="437675" y="939100"/>
            <a:ext cx="2692200" cy="5231100"/>
          </a:xfrm>
          <a:prstGeom prst="straightConnector1">
            <a:avLst/>
          </a:prstGeom>
          <a:noFill/>
          <a:ln cap="flat" cmpd="sng" w="228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p38"/>
          <p:cNvSpPr/>
          <p:nvPr/>
        </p:nvSpPr>
        <p:spPr>
          <a:xfrm>
            <a:off x="345525" y="81475"/>
            <a:ext cx="8512200" cy="625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Desafío</a:t>
            </a:r>
            <a:endParaRPr b="0" i="0" sz="2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9" name="Google Shape;409;p38"/>
          <p:cNvSpPr/>
          <p:nvPr/>
        </p:nvSpPr>
        <p:spPr>
          <a:xfrm>
            <a:off x="345525" y="1014550"/>
            <a:ext cx="8512200" cy="21780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 los datos entregados anteriormente, hacer que nuestro Hermes siga la línea usando el control proporcional simple.</a:t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Hint 1: Recuerda que puedes ir variando valores que se ajusten a tu robot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0" name="Google Shape;41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751" y="2471250"/>
            <a:ext cx="3020050" cy="302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5" name="Google Shape;415;p39"/>
          <p:cNvCxnSpPr/>
          <p:nvPr/>
        </p:nvCxnSpPr>
        <p:spPr>
          <a:xfrm>
            <a:off x="437675" y="939100"/>
            <a:ext cx="2692200" cy="5231100"/>
          </a:xfrm>
          <a:prstGeom prst="straightConnector1">
            <a:avLst/>
          </a:prstGeom>
          <a:noFill/>
          <a:ln cap="flat" cmpd="sng" w="228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6" name="Google Shape;416;p39"/>
          <p:cNvSpPr/>
          <p:nvPr/>
        </p:nvSpPr>
        <p:spPr>
          <a:xfrm>
            <a:off x="345525" y="81475"/>
            <a:ext cx="8512200" cy="625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¿Qué vimos esta sesión?</a:t>
            </a:r>
            <a:endParaRPr b="0" i="0" sz="2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7" name="Google Shape;417;p39"/>
          <p:cNvSpPr/>
          <p:nvPr/>
        </p:nvSpPr>
        <p:spPr>
          <a:xfrm>
            <a:off x="3724125" y="1287175"/>
            <a:ext cx="5043900" cy="31239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Char char="●"/>
            </a:pPr>
            <a:r>
              <a:rPr b="1" lang="e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Comparamos el seguidor de linea del Hermes con el del Iroh.</a:t>
            </a:r>
            <a:endParaRPr b="1"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Char char="●"/>
            </a:pPr>
            <a:r>
              <a:rPr b="1" lang="e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Modelamos un método de giro proporcional.</a:t>
            </a:r>
            <a:endParaRPr b="1"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Char char="●"/>
            </a:pPr>
            <a:r>
              <a:rPr b="1" lang="e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Calculamos Kp con datos reales.</a:t>
            </a:r>
            <a:endParaRPr b="1"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Char char="●"/>
            </a:pPr>
            <a:r>
              <a:rPr b="1" lang="e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Implementamos el método proporcional.</a:t>
            </a:r>
            <a:endParaRPr b="1"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Char char="●"/>
            </a:pPr>
            <a:r>
              <a:rPr b="1" lang="e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Añadimos complejidad al programa.</a:t>
            </a:r>
            <a:endParaRPr b="1"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8" name="Google Shape;41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751" y="2471250"/>
            <a:ext cx="3020050" cy="302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0"/>
          <p:cNvSpPr txBox="1"/>
          <p:nvPr/>
        </p:nvSpPr>
        <p:spPr>
          <a:xfrm>
            <a:off x="759925" y="1234250"/>
            <a:ext cx="7574400" cy="12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5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Clubes de Ciencia y Tecnología 202</a:t>
            </a:r>
            <a:r>
              <a:rPr b="1" lang="es" sz="1500">
                <a:latin typeface="Proxima Nova"/>
                <a:ea typeface="Proxima Nova"/>
                <a:cs typeface="Proxima Nova"/>
                <a:sym typeface="Proxima Nova"/>
              </a:rPr>
              <a:t>6</a:t>
            </a:r>
            <a:r>
              <a:rPr b="1" i="0" lang="es" sz="15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- Línea robots velocistas HERMES</a:t>
            </a:r>
            <a:endParaRPr b="1" i="0" sz="15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Estos materiales han sido elaborados por Benjamín Espinoza y René Garcés para el Programa de Ciencia y Tecnología de Fundación Gabriel &amp; Mary Mustakis. Se permite su uso bajo licencia Creative Commons (CC) por las Universidades Socias del Programa de Ciencia y Tecnología de Fundación Gabriel &amp; Mary Mustakis.</a:t>
            </a:r>
            <a:endParaRPr b="0"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Versión </a:t>
            </a:r>
            <a:r>
              <a:rPr b="1" lang="es" sz="1200"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r>
              <a:rPr b="1" i="0" lang="es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- Agosto 202</a:t>
            </a:r>
            <a:r>
              <a:rPr b="1" lang="es" sz="1200">
                <a:latin typeface="Proxima Nova"/>
                <a:ea typeface="Proxima Nova"/>
                <a:cs typeface="Proxima Nova"/>
                <a:sym typeface="Proxima Nova"/>
              </a:rPr>
              <a:t>6</a:t>
            </a:r>
            <a:r>
              <a:rPr b="1" i="0" lang="es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b="1"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5" name="Google Shape;425;p40"/>
          <p:cNvSpPr txBox="1"/>
          <p:nvPr/>
        </p:nvSpPr>
        <p:spPr>
          <a:xfrm>
            <a:off x="2903438" y="4663225"/>
            <a:ext cx="33372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Publicado Bajo Licencia Creative Commons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Atribución-NoComercial-CompartirIgual (CC BY-NC-SA)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" name="Google Shape;42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6213" y="3910275"/>
            <a:ext cx="471550" cy="4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5386" y="4411750"/>
            <a:ext cx="873325" cy="2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ACH-01-01" id="428" name="Google Shape;428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7975" y="2847163"/>
            <a:ext cx="147637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TC-01" id="429" name="Google Shape;429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60325" y="2847163"/>
            <a:ext cx="136207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5.googleusercontent.com/wP2h_lc6--vyMzu5qXgRG-Bbe6w1LN7Ph5RgxIP2Ngd_pFZFcUDkC-cp09ZNvc-Xm3iTwoQ8go_elSTWCw68Lrn_HKTBlb9E-8CWQqnHg6t8L9JidsYDttMUJ7XHVUWj9hjtPLtPZtU" id="430" name="Google Shape;430;p40"/>
          <p:cNvPicPr preferRelativeResize="0"/>
          <p:nvPr/>
        </p:nvPicPr>
        <p:blipFill rotWithShape="1">
          <a:blip r:embed="rId7">
            <a:alphaModFix/>
          </a:blip>
          <a:srcRect b="0" l="5141" r="0" t="3427"/>
          <a:stretch/>
        </p:blipFill>
        <p:spPr>
          <a:xfrm>
            <a:off x="4884250" y="2828650"/>
            <a:ext cx="769150" cy="7799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TFSM-01" id="431" name="Google Shape;431;p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9925" y="2877075"/>
            <a:ext cx="1303350" cy="683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4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19488" y="2836300"/>
            <a:ext cx="895350" cy="723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4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22801" y="2845825"/>
            <a:ext cx="838115" cy="70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4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731486" y="3949"/>
            <a:ext cx="3681126" cy="113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