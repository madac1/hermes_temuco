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y="5143500" cx="9144000"/>
  <p:notesSz cx="6858000" cy="9144000"/>
  <p:embeddedFontLst>
    <p:embeddedFont>
      <p:font typeface="Proxima Nova"/>
      <p:regular r:id="rId64"/>
      <p:bold r:id="rId65"/>
      <p:italic r:id="rId66"/>
      <p:boldItalic r:id="rId67"/>
    </p:embeddedFont>
    <p:embeddedFont>
      <p:font typeface="Poppins"/>
      <p:regular r:id="rId68"/>
      <p:bold r:id="rId69"/>
      <p:italic r:id="rId70"/>
      <p:boldItalic r:id="rId71"/>
    </p:embeddedFont>
    <p:embeddedFont>
      <p:font typeface="Helvetica Neue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Manuel Infant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22A9EF-95C2-4308-999E-ECB131674C94}">
  <a:tblStyle styleId="{5222A9EF-95C2-4308-999E-ECB131674C9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HelveticaNeue-bold.fntdata"/><Relationship Id="rId72" Type="http://schemas.openxmlformats.org/officeDocument/2006/relationships/font" Target="fonts/HelveticaNeue-regular.fntdata"/><Relationship Id="rId31" Type="http://schemas.openxmlformats.org/officeDocument/2006/relationships/slide" Target="slides/slide24.xml"/><Relationship Id="rId75" Type="http://schemas.openxmlformats.org/officeDocument/2006/relationships/font" Target="fonts/HelveticaNeue-boldItalic.fntdata"/><Relationship Id="rId30" Type="http://schemas.openxmlformats.org/officeDocument/2006/relationships/slide" Target="slides/slide23.xml"/><Relationship Id="rId74" Type="http://schemas.openxmlformats.org/officeDocument/2006/relationships/font" Target="fonts/HelveticaNeue-italic.fntdata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Poppins-boldItalic.fntdata"/><Relationship Id="rId70" Type="http://schemas.openxmlformats.org/officeDocument/2006/relationships/font" Target="fonts/Poppins-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font" Target="fonts/ProximaNova-regular.fntdata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font" Target="fonts/ProximaNova-italic.fntdata"/><Relationship Id="rId21" Type="http://schemas.openxmlformats.org/officeDocument/2006/relationships/slide" Target="slides/slide14.xml"/><Relationship Id="rId65" Type="http://schemas.openxmlformats.org/officeDocument/2006/relationships/font" Target="fonts/ProximaNova-bold.fntdata"/><Relationship Id="rId24" Type="http://schemas.openxmlformats.org/officeDocument/2006/relationships/slide" Target="slides/slide17.xml"/><Relationship Id="rId68" Type="http://schemas.openxmlformats.org/officeDocument/2006/relationships/font" Target="fonts/Poppins-regular.fntdata"/><Relationship Id="rId23" Type="http://schemas.openxmlformats.org/officeDocument/2006/relationships/slide" Target="slides/slide16.xml"/><Relationship Id="rId67" Type="http://schemas.openxmlformats.org/officeDocument/2006/relationships/font" Target="fonts/ProximaNova-boldItalic.fntdata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Poppins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8-07T04:07:44.960">
    <p:pos x="6000" y="0"/>
    <p:text>https://youtu.be/2P3PhcpnyYs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4-08-07T04:07:24.186">
    <p:pos x="6000" y="0"/>
    <p:text>https://youtu.be/-lKzpRz43kQ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788ef6942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2788ef6942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Se realiza la “Ceremonia de compromiso” , donde los aspirantes a programadores pasan a firmar el Ploter de compromiso. Luego es necesario tomar la foto grupal.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788ef6942c_1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2788ef6942c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88ef6942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2788ef6942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Se realiza la “Ceremonia de compromiso” , donde los aspirantes a programadores pasan a firmar el Ploter de compromiso. Luego es necesario tomar la foto grupal.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Se realiza la “Ceremonia de compromiso” , donde los aspirantes a programadores pasan a firmar el Ploter de compromiso. Luego es necesario tomar la foto grupal.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88ef6942c_1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2788ef6942c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788ef6942c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2788ef6942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88ef6942c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788ef6942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f5dcab48e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2ef5dcab48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Aquí explicar que es la brc y como fue la experiencia el año pasado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788ef6942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2788ef6942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Aquí explicar que es la brc y como fue la experiencia el año pasado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788ef6942c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2788ef6942c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Aquí explicar que es la brc y como fue la experiencia el año pasado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88ef6942c_2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2788ef6942c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788ef6942c_2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2788ef6942c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f076c23fa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2f076c23fa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f076c23f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2f076c23f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788ef6942c_2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2788ef6942c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NOTA PARA MENTORES: Deber indicar que los estudiantes usen sus robots creado en el 1er semestre para hacer el seguidor de linea en el semestre actual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f076c23fa3_0_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2f076c23fa3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NOTA PARA MENTORES: Deber indicar que los estudiantes usen sus robots creado en el 1er semestre para hacer el seguidor de linea en el semestre actual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f076c23fa3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2f076c23fa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f076c23fa3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2f076c23fa3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f076c23fa3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2f076c23fa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f076c23fa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2f076c23fa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076c23fa3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2f076c23fa3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f076c23fa3_0_3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2f076c23fa3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NOTA PARA MENTORES: Deber indicar que los estudiantes usen sus robots creado en el 1er semestre para hacer el seguidor de linea en el semestre actual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f076c23fa3_0_4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2f076c23fa3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NOTA PARA MENTORES: Deber indicar que los estudiantes usen sus robots creado en el 1er semestre para hacer el seguidor de linea en el semestre actual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f076c23fa3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2f076c23fa3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Explicar que los motores que vamos a utilizar se llaman N20 y que son un tipo de motor DC.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Explicar que para controlar los motores vamos a necesitar algo que se llama puente H y el modelo es el tb6612fng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Por último mostrar las fotos del motor ya montado en el robot.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f076c23fa3_0_3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2f076c23fa3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NOTA PARA MENTORES: Deber indicar que los estudiantes usen sus robots creado en el 1er semestre para hacer el seguidor de linea en el semestre actual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f076c23fa3_0_3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2f076c23fa3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NOTA PARA MENTORES: Deber indicar que los estudiantes usen sus robots creado en el 1er semestre para hacer el seguidor de linea en el semestre actual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076c23fa3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2f076c23fa3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f076c23fa3_0_4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2f076c23fa3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076c23fa3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2f076c23fa3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f076c23fa3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2f076c23fa3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f076c23fa3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2f076c23fa3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f076c23fa3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2f076c23fa3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f076c23fa3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2f076c23fa3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f076c23fa3_0_6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2f076c23fa3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f076c23fa3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2f076c23fa3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f076c23fa3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2f076c23fa3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f076c23fa3_0_8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g2f076c23fa3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f076c23fa3_0_8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2f076c23fa3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f076c23fa3_0_7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2f076c23fa3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f076c23fa3_0_8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g2f076c23fa3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f076c23fa3_0_7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2f076c23fa3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f076c23fa3_0_7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2f076c23fa3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f076c23fa3_0_7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2f076c23fa3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f076c23fa3_0_7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2f076c23fa3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f076c23fa3_0_7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g2f076c23fa3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f076c23fa3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2f076c23fa3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f076c23fa3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2f076c23fa3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f076c23fa3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2f076c23fa3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788fa1107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g2788fa1107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4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98.png"/><Relationship Id="rId9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youtube.com/watch?v=nGJ3SQmLtJo" TargetMode="External"/><Relationship Id="rId4" Type="http://schemas.openxmlformats.org/officeDocument/2006/relationships/image" Target="../media/image23.jpg"/><Relationship Id="rId5" Type="http://schemas.openxmlformats.org/officeDocument/2006/relationships/hyperlink" Target="http://www.youtube.com/watch?v=nGJ3SQmLtJo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youtube.com/watch?v=5WP3niW2A90&amp;list=LL&amp;index=56" TargetMode="External"/><Relationship Id="rId4" Type="http://schemas.openxmlformats.org/officeDocument/2006/relationships/image" Target="../media/image24.jpg"/><Relationship Id="rId5" Type="http://schemas.openxmlformats.org/officeDocument/2006/relationships/hyperlink" Target="https://www.youtube.com/watch?v=5WP3niW2A90&amp;list=LL&amp;index=56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jpg"/><Relationship Id="rId4" Type="http://schemas.openxmlformats.org/officeDocument/2006/relationships/image" Target="../media/image33.jpg"/><Relationship Id="rId5" Type="http://schemas.openxmlformats.org/officeDocument/2006/relationships/image" Target="../media/image22.jpg"/><Relationship Id="rId6" Type="http://schemas.openxmlformats.org/officeDocument/2006/relationships/image" Target="../media/image26.jpg"/><Relationship Id="rId7" Type="http://schemas.openxmlformats.org/officeDocument/2006/relationships/image" Target="../media/image29.jpg"/><Relationship Id="rId8" Type="http://schemas.openxmlformats.org/officeDocument/2006/relationships/image" Target="../media/image3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6.jpg"/><Relationship Id="rId6" Type="http://schemas.openxmlformats.org/officeDocument/2006/relationships/image" Target="../media/image48.jpg"/><Relationship Id="rId7" Type="http://schemas.openxmlformats.org/officeDocument/2006/relationships/image" Target="../media/image25.jpg"/><Relationship Id="rId8" Type="http://schemas.openxmlformats.org/officeDocument/2006/relationships/image" Target="../media/image4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1.xml"/><Relationship Id="rId4" Type="http://schemas.openxmlformats.org/officeDocument/2006/relationships/image" Target="../media/image42.png"/><Relationship Id="rId9" Type="http://schemas.openxmlformats.org/officeDocument/2006/relationships/hyperlink" Target="https://youtu.be/2P3PhcpnyYs" TargetMode="External"/><Relationship Id="rId5" Type="http://schemas.openxmlformats.org/officeDocument/2006/relationships/image" Target="../media/image31.png"/><Relationship Id="rId6" Type="http://schemas.openxmlformats.org/officeDocument/2006/relationships/image" Target="../media/image40.png"/><Relationship Id="rId7" Type="http://schemas.openxmlformats.org/officeDocument/2006/relationships/image" Target="../media/image50.png"/><Relationship Id="rId8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0" Type="http://schemas.openxmlformats.org/officeDocument/2006/relationships/hyperlink" Target="https://youtu.be/-lKzpRz43kQ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2.xml"/><Relationship Id="rId4" Type="http://schemas.openxmlformats.org/officeDocument/2006/relationships/image" Target="../media/image52.png"/><Relationship Id="rId9" Type="http://schemas.openxmlformats.org/officeDocument/2006/relationships/image" Target="../media/image46.png"/><Relationship Id="rId5" Type="http://schemas.openxmlformats.org/officeDocument/2006/relationships/image" Target="../media/image56.png"/><Relationship Id="rId6" Type="http://schemas.openxmlformats.org/officeDocument/2006/relationships/image" Target="../media/image54.png"/><Relationship Id="rId7" Type="http://schemas.openxmlformats.org/officeDocument/2006/relationships/image" Target="../media/image43.png"/><Relationship Id="rId8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Relationship Id="rId4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7.png"/><Relationship Id="rId4" Type="http://schemas.openxmlformats.org/officeDocument/2006/relationships/image" Target="../media/image39.png"/><Relationship Id="rId5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1.jpg"/><Relationship Id="rId4" Type="http://schemas.openxmlformats.org/officeDocument/2006/relationships/image" Target="../media/image67.png"/><Relationship Id="rId5" Type="http://schemas.openxmlformats.org/officeDocument/2006/relationships/image" Target="../media/image55.png"/><Relationship Id="rId6" Type="http://schemas.openxmlformats.org/officeDocument/2006/relationships/image" Target="../media/image65.png"/><Relationship Id="rId7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1.jpg"/><Relationship Id="rId4" Type="http://schemas.openxmlformats.org/officeDocument/2006/relationships/image" Target="../media/image58.png"/><Relationship Id="rId5" Type="http://schemas.openxmlformats.org/officeDocument/2006/relationships/image" Target="../media/image5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1.jpg"/><Relationship Id="rId4" Type="http://schemas.openxmlformats.org/officeDocument/2006/relationships/image" Target="../media/image66.png"/><Relationship Id="rId5" Type="http://schemas.openxmlformats.org/officeDocument/2006/relationships/image" Target="../media/image51.png"/><Relationship Id="rId6" Type="http://schemas.openxmlformats.org/officeDocument/2006/relationships/image" Target="../media/image6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1.jpg"/><Relationship Id="rId4" Type="http://schemas.openxmlformats.org/officeDocument/2006/relationships/image" Target="../media/image70.png"/><Relationship Id="rId5" Type="http://schemas.openxmlformats.org/officeDocument/2006/relationships/image" Target="../media/image59.png"/><Relationship Id="rId6" Type="http://schemas.openxmlformats.org/officeDocument/2006/relationships/image" Target="../media/image51.png"/><Relationship Id="rId7" Type="http://schemas.openxmlformats.org/officeDocument/2006/relationships/image" Target="../media/image6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1.jpg"/><Relationship Id="rId4" Type="http://schemas.openxmlformats.org/officeDocument/2006/relationships/image" Target="../media/image70.png"/><Relationship Id="rId5" Type="http://schemas.openxmlformats.org/officeDocument/2006/relationships/image" Target="../media/image51.png"/><Relationship Id="rId6" Type="http://schemas.openxmlformats.org/officeDocument/2006/relationships/image" Target="../media/image63.png"/><Relationship Id="rId7" Type="http://schemas.openxmlformats.org/officeDocument/2006/relationships/image" Target="../media/image77.jpg"/><Relationship Id="rId8" Type="http://schemas.openxmlformats.org/officeDocument/2006/relationships/image" Target="../media/image7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3.png"/><Relationship Id="rId4" Type="http://schemas.openxmlformats.org/officeDocument/2006/relationships/image" Target="../media/image71.png"/><Relationship Id="rId5" Type="http://schemas.openxmlformats.org/officeDocument/2006/relationships/image" Target="../media/image5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5.png"/><Relationship Id="rId4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8.png"/><Relationship Id="rId4" Type="http://schemas.openxmlformats.org/officeDocument/2006/relationships/image" Target="../media/image71.png"/><Relationship Id="rId5" Type="http://schemas.openxmlformats.org/officeDocument/2006/relationships/image" Target="../media/image5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4.jpg"/><Relationship Id="rId4" Type="http://schemas.openxmlformats.org/officeDocument/2006/relationships/image" Target="../media/image80.jpg"/><Relationship Id="rId5" Type="http://schemas.openxmlformats.org/officeDocument/2006/relationships/image" Target="../media/image101.jpg"/><Relationship Id="rId6" Type="http://schemas.openxmlformats.org/officeDocument/2006/relationships/image" Target="../media/image5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5.jpg"/><Relationship Id="rId4" Type="http://schemas.openxmlformats.org/officeDocument/2006/relationships/image" Target="../media/image81.jpg"/><Relationship Id="rId5" Type="http://schemas.openxmlformats.org/officeDocument/2006/relationships/image" Target="../media/image5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8.jpg"/><Relationship Id="rId4" Type="http://schemas.openxmlformats.org/officeDocument/2006/relationships/image" Target="../media/image74.jpg"/><Relationship Id="rId5" Type="http://schemas.openxmlformats.org/officeDocument/2006/relationships/image" Target="../media/image5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1.jpg"/><Relationship Id="rId4" Type="http://schemas.openxmlformats.org/officeDocument/2006/relationships/image" Target="../media/image99.jpg"/><Relationship Id="rId5" Type="http://schemas.openxmlformats.org/officeDocument/2006/relationships/image" Target="../media/image5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5.png"/><Relationship Id="rId4" Type="http://schemas.openxmlformats.org/officeDocument/2006/relationships/image" Target="../media/image102.png"/><Relationship Id="rId5" Type="http://schemas.openxmlformats.org/officeDocument/2006/relationships/image" Target="../media/image5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5.png"/><Relationship Id="rId4" Type="http://schemas.openxmlformats.org/officeDocument/2006/relationships/image" Target="../media/image3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9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0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0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6.png"/></Relationships>
</file>

<file path=ppt/slides/_rels/slide56.xml.rels><?xml version="1.0" encoding="UTF-8" standalone="yes"?><Relationships xmlns="http://schemas.openxmlformats.org/package/2006/relationships"><Relationship Id="rId11" Type="http://schemas.openxmlformats.org/officeDocument/2006/relationships/image" Target="../media/image92.png"/><Relationship Id="rId10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6.jpg"/><Relationship Id="rId4" Type="http://schemas.openxmlformats.org/officeDocument/2006/relationships/image" Target="../media/image105.png"/><Relationship Id="rId9" Type="http://schemas.openxmlformats.org/officeDocument/2006/relationships/image" Target="../media/image94.jpg"/><Relationship Id="rId5" Type="http://schemas.openxmlformats.org/officeDocument/2006/relationships/image" Target="../media/image106.png"/><Relationship Id="rId6" Type="http://schemas.openxmlformats.org/officeDocument/2006/relationships/image" Target="../media/image88.png"/><Relationship Id="rId7" Type="http://schemas.openxmlformats.org/officeDocument/2006/relationships/image" Target="../media/image86.jpg"/><Relationship Id="rId8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009C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0" y="1805125"/>
            <a:ext cx="91440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Helvetica Neue"/>
              <a:buNone/>
            </a:pPr>
            <a:r>
              <a:rPr b="1"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="1" i="0" lang="es" sz="5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esió</a:t>
            </a:r>
            <a:r>
              <a:rPr b="1"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 1</a:t>
            </a:r>
            <a:endParaRPr b="1" i="0" sz="5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Clubes de Ciencia y Tecnología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Línea robots velocistas</a:t>
            </a:r>
            <a:endParaRPr i="0" sz="2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8238" y="-4750"/>
            <a:ext cx="3967524" cy="1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2367300" y="344950"/>
            <a:ext cx="4409400" cy="44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¡Bienvenidos al segundo semestre!</a:t>
            </a:r>
            <a:endParaRPr b="1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501750" y="4431350"/>
            <a:ext cx="567600" cy="15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96450" y="4951450"/>
            <a:ext cx="690000" cy="11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8875" y="1481875"/>
            <a:ext cx="4286250" cy="31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1705350" y="1928400"/>
            <a:ext cx="57333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" sz="72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Pero antes…</a:t>
            </a:r>
            <a:endParaRPr b="1" i="0" sz="72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2367300" y="255100"/>
            <a:ext cx="440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Comprometámonos!!</a:t>
            </a:r>
            <a:endParaRPr b="1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3501750" y="4431350"/>
            <a:ext cx="567600" cy="15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96450" y="4951450"/>
            <a:ext cx="690000" cy="11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2850" y="917825"/>
            <a:ext cx="4098308" cy="374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2661225" y="125050"/>
            <a:ext cx="343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8 Acuerdos</a:t>
            </a:r>
            <a:endParaRPr b="1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1939250" y="2219288"/>
            <a:ext cx="155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Pausa activa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b="39827" l="24217" r="24210" t="0"/>
          <a:stretch/>
        </p:blipFill>
        <p:spPr>
          <a:xfrm>
            <a:off x="2185868" y="1004137"/>
            <a:ext cx="1064359" cy="1161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8910" y="1382360"/>
            <a:ext cx="929550" cy="8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3391727" y="2219288"/>
            <a:ext cx="144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Escucharnos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5">
            <a:alphaModFix/>
          </a:blip>
          <a:srcRect b="6893" l="9662" r="8797" t="9744"/>
          <a:stretch/>
        </p:blipFill>
        <p:spPr>
          <a:xfrm>
            <a:off x="4917145" y="1038783"/>
            <a:ext cx="2287596" cy="10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5224512" y="2165438"/>
            <a:ext cx="167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Mantener orden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09551" y="3106336"/>
            <a:ext cx="1217450" cy="113846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1082128" y="4258633"/>
            <a:ext cx="167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Pedir la palabra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92888" y="2998800"/>
            <a:ext cx="1217450" cy="1301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70125" y="2801551"/>
            <a:ext cx="567600" cy="56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2965503" y="4300421"/>
            <a:ext cx="167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 Avisar para salir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12763" y="985438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4848888" y="4139238"/>
            <a:ext cx="167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6.Todos nos ayudamos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05588" y="2823238"/>
            <a:ext cx="1444200" cy="14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17663" y="3106325"/>
            <a:ext cx="1444200" cy="111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6349788" y="4124975"/>
            <a:ext cx="167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7.Cuidemos los equipos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87300" y="1221700"/>
            <a:ext cx="2402375" cy="240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3540975" y="3258475"/>
            <a:ext cx="167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8.Divirtámonos aprendiendo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96450" y="4951450"/>
            <a:ext cx="690000" cy="11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766915" y="2881048"/>
            <a:ext cx="1145708" cy="1091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1705350" y="1928400"/>
            <a:ext cx="57333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" sz="72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¡Recordemos!</a:t>
            </a:r>
            <a:endParaRPr b="1" i="0" sz="72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144350" y="0"/>
            <a:ext cx="6324300" cy="3326400"/>
          </a:xfrm>
          <a:prstGeom prst="cloudCallout">
            <a:avLst>
              <a:gd fmla="val 62431" name="adj1"/>
              <a:gd fmla="val 4021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6025" y="3004582"/>
            <a:ext cx="1919801" cy="203086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807463" y="446000"/>
            <a:ext cx="5401800" cy="22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●"/>
            </a:pPr>
            <a:r>
              <a:rPr b="1" i="0" lang="es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¿Qué es un puente H?</a:t>
            </a:r>
            <a:endParaRPr b="1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●"/>
            </a:pPr>
            <a:r>
              <a:rPr b="1" i="0" lang="es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¿Cómo logramos hacer que nuestra base se mueva?</a:t>
            </a:r>
            <a:endParaRPr b="1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●"/>
            </a:pPr>
            <a:r>
              <a:rPr b="1" i="0" lang="es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¿Cómo trabajan los sensores del robot?</a:t>
            </a:r>
            <a:endParaRPr b="1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●"/>
            </a:pPr>
            <a:r>
              <a:rPr b="1" i="0" lang="es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¿Cómo  funciona un seguidor de línea?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20"/>
          <p:cNvGrpSpPr/>
          <p:nvPr/>
        </p:nvGrpSpPr>
        <p:grpSpPr>
          <a:xfrm>
            <a:off x="2372869" y="2740712"/>
            <a:ext cx="2826942" cy="2294734"/>
            <a:chOff x="2058369" y="1320656"/>
            <a:chExt cx="5133361" cy="3863188"/>
          </a:xfrm>
        </p:grpSpPr>
        <p:pic>
          <p:nvPicPr>
            <p:cNvPr id="125" name="Google Shape;12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47873" y="1487938"/>
              <a:ext cx="3502189" cy="36959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atrón de fondo&#10;&#10;Descripción generada automáticamente" id="126" name="Google Shape;126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21407" y="2433760"/>
              <a:ext cx="1052267" cy="18042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cono&#10;&#10;Descripción generada automáticamente" id="127" name="Google Shape;127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05409" y="2433261"/>
              <a:ext cx="343073" cy="9624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n que contiene dibujo, plato&#10;&#10;Descripción generada automáticamente" id="128" name="Google Shape;128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098242" y="1337074"/>
              <a:ext cx="224910" cy="738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n que contiene dibujo, plato&#10;&#10;Descripción generada automáticamente" id="129" name="Google Shape;129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64491" y="1320656"/>
              <a:ext cx="224910" cy="738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n que contiene dibujo, plato&#10;&#10;Descripción generada automáticamente" id="130" name="Google Shape;130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837096" y="1331920"/>
              <a:ext cx="224910" cy="738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orma&#10;&#10;Descripción generada automáticamente" id="131" name="Google Shape;131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633539" y="2554862"/>
              <a:ext cx="870759" cy="1871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nterfaz de usuario gráfica&#10;&#10;Descripción generada automáticamente con confianza baja" id="132" name="Google Shape;132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rot="-5400000">
              <a:off x="4319262" y="3778711"/>
              <a:ext cx="515369" cy="16347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orma&#10;&#10;Descripción generada automáticamente" id="133" name="Google Shape;133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>
              <a:off x="2734132" y="2554862"/>
              <a:ext cx="870759" cy="1871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n que contiene exterior, estacionado, ciudad, lado&#10;&#10;Descripción generada automáticamente" id="134" name="Google Shape;134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rot="-5400000">
              <a:off x="4304115" y="3301839"/>
              <a:ext cx="440843" cy="6762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atrón de fondo&#10;&#10;Descripción generada automáticamente" id="135" name="Google Shape;135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058369" y="3244745"/>
              <a:ext cx="870760" cy="16203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atrón de fondo&#10;&#10;Descripción generada automáticamente" id="136" name="Google Shape;136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320970" y="3244745"/>
              <a:ext cx="870760" cy="16203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7" name="Google Shape;137;p20"/>
            <p:cNvGrpSpPr/>
            <p:nvPr/>
          </p:nvGrpSpPr>
          <p:grpSpPr>
            <a:xfrm rot="10800000">
              <a:off x="4323147" y="3884412"/>
              <a:ext cx="407213" cy="292802"/>
              <a:chOff x="2554554" y="2281078"/>
              <a:chExt cx="818355" cy="637357"/>
            </a:xfrm>
          </p:grpSpPr>
          <p:sp>
            <p:nvSpPr>
              <p:cNvPr id="138" name="Google Shape;138;p20"/>
              <p:cNvSpPr/>
              <p:nvPr/>
            </p:nvSpPr>
            <p:spPr>
              <a:xfrm rot="10800000">
                <a:off x="3197729" y="2716102"/>
                <a:ext cx="174300" cy="45600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20"/>
              <p:cNvSpPr/>
              <p:nvPr/>
            </p:nvSpPr>
            <p:spPr>
              <a:xfrm rot="10800000">
                <a:off x="3198608" y="2392923"/>
                <a:ext cx="174300" cy="45600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0" name="Google Shape;140;p20"/>
              <p:cNvGrpSpPr/>
              <p:nvPr/>
            </p:nvGrpSpPr>
            <p:grpSpPr>
              <a:xfrm rot="5400000">
                <a:off x="2630784" y="2204847"/>
                <a:ext cx="637357" cy="789818"/>
                <a:chOff x="7525834" y="977295"/>
                <a:chExt cx="1092300" cy="1326310"/>
              </a:xfrm>
            </p:grpSpPr>
            <p:grpSp>
              <p:nvGrpSpPr>
                <p:cNvPr id="141" name="Google Shape;141;p20"/>
                <p:cNvGrpSpPr/>
                <p:nvPr/>
              </p:nvGrpSpPr>
              <p:grpSpPr>
                <a:xfrm>
                  <a:off x="7525834" y="1090880"/>
                  <a:ext cx="1092300" cy="1212725"/>
                  <a:chOff x="9378736" y="1080557"/>
                  <a:chExt cx="1092300" cy="1212725"/>
                </a:xfrm>
              </p:grpSpPr>
              <p:grpSp>
                <p:nvGrpSpPr>
                  <p:cNvPr id="142" name="Google Shape;142;p20"/>
                  <p:cNvGrpSpPr/>
                  <p:nvPr/>
                </p:nvGrpSpPr>
                <p:grpSpPr>
                  <a:xfrm>
                    <a:off x="9378736" y="1080557"/>
                    <a:ext cx="1092300" cy="966656"/>
                    <a:chOff x="8154970" y="1257234"/>
                    <a:chExt cx="1092300" cy="966656"/>
                  </a:xfrm>
                </p:grpSpPr>
                <p:sp>
                  <p:nvSpPr>
                    <p:cNvPr id="143" name="Google Shape;143;p20"/>
                    <p:cNvSpPr/>
                    <p:nvPr/>
                  </p:nvSpPr>
                  <p:spPr>
                    <a:xfrm>
                      <a:off x="8154970" y="1265090"/>
                      <a:ext cx="1092300" cy="958800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3F3F3F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4" name="Google Shape;144;p20"/>
                    <p:cNvSpPr/>
                    <p:nvPr/>
                  </p:nvSpPr>
                  <p:spPr>
                    <a:xfrm>
                      <a:off x="8154970" y="1257234"/>
                      <a:ext cx="1092300" cy="891600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59595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45" name="Google Shape;145;p20"/>
                  <p:cNvSpPr/>
                  <p:nvPr/>
                </p:nvSpPr>
                <p:spPr>
                  <a:xfrm>
                    <a:off x="9454034" y="1797060"/>
                    <a:ext cx="99900" cy="99900"/>
                  </a:xfrm>
                  <a:prstGeom prst="ellipse">
                    <a:avLst/>
                  </a:prstGeom>
                  <a:solidFill>
                    <a:srgbClr val="26262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6" name="Google Shape;146;p20"/>
                  <p:cNvSpPr/>
                  <p:nvPr/>
                </p:nvSpPr>
                <p:spPr>
                  <a:xfrm>
                    <a:off x="9435814" y="1127923"/>
                    <a:ext cx="99900" cy="99900"/>
                  </a:xfrm>
                  <a:prstGeom prst="ellipse">
                    <a:avLst/>
                  </a:prstGeom>
                  <a:solidFill>
                    <a:srgbClr val="26262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7" name="Google Shape;147;p20"/>
                  <p:cNvSpPr/>
                  <p:nvPr/>
                </p:nvSpPr>
                <p:spPr>
                  <a:xfrm>
                    <a:off x="10305094" y="1791907"/>
                    <a:ext cx="99900" cy="99900"/>
                  </a:xfrm>
                  <a:prstGeom prst="ellipse">
                    <a:avLst/>
                  </a:prstGeom>
                  <a:solidFill>
                    <a:srgbClr val="26262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8" name="Google Shape;148;p20"/>
                  <p:cNvSpPr/>
                  <p:nvPr/>
                </p:nvSpPr>
                <p:spPr>
                  <a:xfrm>
                    <a:off x="10305094" y="1127923"/>
                    <a:ext cx="99900" cy="99900"/>
                  </a:xfrm>
                  <a:prstGeom prst="ellipse">
                    <a:avLst/>
                  </a:prstGeom>
                  <a:solidFill>
                    <a:srgbClr val="26262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9" name="Google Shape;149;p20"/>
                  <p:cNvSpPr/>
                  <p:nvPr/>
                </p:nvSpPr>
                <p:spPr>
                  <a:xfrm rot="5400000">
                    <a:off x="10035610" y="2107882"/>
                    <a:ext cx="292500" cy="78300"/>
                  </a:xfrm>
                  <a:prstGeom prst="rect">
                    <a:avLst/>
                  </a:prstGeom>
                  <a:solidFill>
                    <a:srgbClr val="A7A7A7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50" name="Google Shape;150;p20"/>
                <p:cNvSpPr/>
                <p:nvPr/>
              </p:nvSpPr>
              <p:spPr>
                <a:xfrm>
                  <a:off x="7599647" y="1037942"/>
                  <a:ext cx="935400" cy="901200"/>
                </a:xfrm>
                <a:prstGeom prst="ellipse">
                  <a:avLst/>
                </a:prstGeom>
                <a:solidFill>
                  <a:srgbClr val="40404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51" name="Google Shape;151;p20"/>
                <p:cNvGrpSpPr/>
                <p:nvPr/>
              </p:nvGrpSpPr>
              <p:grpSpPr>
                <a:xfrm>
                  <a:off x="7599853" y="977295"/>
                  <a:ext cx="935400" cy="937984"/>
                  <a:chOff x="9448326" y="956775"/>
                  <a:chExt cx="935400" cy="971400"/>
                </a:xfrm>
              </p:grpSpPr>
              <p:sp>
                <p:nvSpPr>
                  <p:cNvPr id="152" name="Google Shape;152;p20"/>
                  <p:cNvSpPr/>
                  <p:nvPr/>
                </p:nvSpPr>
                <p:spPr>
                  <a:xfrm>
                    <a:off x="9448326" y="994875"/>
                    <a:ext cx="935400" cy="933300"/>
                  </a:xfrm>
                  <a:prstGeom prst="ellipse">
                    <a:avLst/>
                  </a:prstGeom>
                  <a:solidFill>
                    <a:srgbClr val="3762A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3" name="Google Shape;153;p20"/>
                  <p:cNvSpPr/>
                  <p:nvPr/>
                </p:nvSpPr>
                <p:spPr>
                  <a:xfrm>
                    <a:off x="9493081" y="956775"/>
                    <a:ext cx="842700" cy="842700"/>
                  </a:xfrm>
                  <a:prstGeom prst="ellipse">
                    <a:avLst/>
                  </a:prstGeom>
                  <a:solidFill>
                    <a:srgbClr val="4285F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54" name="Google Shape;154;p20"/>
              <p:cNvSpPr/>
              <p:nvPr/>
            </p:nvSpPr>
            <p:spPr>
              <a:xfrm rot="10800000">
                <a:off x="2561695" y="2375351"/>
                <a:ext cx="174300" cy="45600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/>
        </p:nvSpPr>
        <p:spPr>
          <a:xfrm>
            <a:off x="1705350" y="1928400"/>
            <a:ext cx="57333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00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" sz="72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¡Comencemos!</a:t>
            </a:r>
            <a:endParaRPr b="1" i="0" sz="72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/>
        </p:nvSpPr>
        <p:spPr>
          <a:xfrm>
            <a:off x="1635600" y="2125300"/>
            <a:ext cx="5872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1" sz="1900" u="none" cap="none" strike="noStrike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2032500" y="813900"/>
            <a:ext cx="5475900" cy="20184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“Son robots siguelineas diseñados para alcanzar la mayor velocidad posible, utilizando</a:t>
            </a:r>
            <a:endParaRPr b="1" i="1" sz="1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sensores de alta precisión y motores super rápidos. Se busca que pese lo mínimo posible”</a:t>
            </a:r>
            <a:endParaRPr b="1" i="1" sz="1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2617650" y="106150"/>
            <a:ext cx="390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¿Qué son los robots velocistas?</a:t>
            </a:r>
            <a:endParaRPr b="1" i="0" sz="18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67" name="Google Shape;167;p22"/>
          <p:cNvCxnSpPr/>
          <p:nvPr/>
        </p:nvCxnSpPr>
        <p:spPr>
          <a:xfrm>
            <a:off x="445050" y="-43800"/>
            <a:ext cx="2692200" cy="5231100"/>
          </a:xfrm>
          <a:prstGeom prst="straightConnector1">
            <a:avLst/>
          </a:prstGeom>
          <a:noFill/>
          <a:ln cap="flat" cmpd="sng" w="228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8" name="Google Shape;1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126" y="1488350"/>
            <a:ext cx="3020050" cy="30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/>
        </p:nvSpPr>
        <p:spPr>
          <a:xfrm>
            <a:off x="1689000" y="171175"/>
            <a:ext cx="576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s" sz="2200" u="none" cap="none" strike="noStrike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Un video dice más que las palabras....</a:t>
            </a:r>
            <a:endParaRPr b="1" i="0" sz="2200" u="none" cap="none" strike="noStrike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4" name="Google Shape;174;p2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425" y="769550"/>
            <a:ext cx="6854899" cy="38559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>
            <a:hlinkClick r:id="rId5"/>
          </p:cNvPr>
          <p:cNvSpPr/>
          <p:nvPr/>
        </p:nvSpPr>
        <p:spPr>
          <a:xfrm>
            <a:off x="3372900" y="3174750"/>
            <a:ext cx="2398200" cy="51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Click para ver </a:t>
            </a:r>
            <a:endParaRPr b="1" i="0" sz="1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/>
        </p:nvSpPr>
        <p:spPr>
          <a:xfrm>
            <a:off x="1689000" y="178475"/>
            <a:ext cx="576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2200" u="none" cap="none" strike="noStrike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Un video dice más que las palabras....</a:t>
            </a:r>
            <a:endParaRPr b="1" i="0" sz="2200" u="none" cap="none" strike="noStrike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1" name="Google Shape;181;p2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7770" l="0" r="0" t="7769"/>
          <a:stretch/>
        </p:blipFill>
        <p:spPr>
          <a:xfrm>
            <a:off x="1610500" y="933875"/>
            <a:ext cx="6071923" cy="34154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>
            <a:hlinkClick r:id="rId5"/>
          </p:cNvPr>
          <p:cNvSpPr/>
          <p:nvPr/>
        </p:nvSpPr>
        <p:spPr>
          <a:xfrm>
            <a:off x="3372900" y="3174750"/>
            <a:ext cx="2398200" cy="51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Click para ver </a:t>
            </a:r>
            <a:endParaRPr b="1" i="0" sz="1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/>
        </p:nvSpPr>
        <p:spPr>
          <a:xfrm>
            <a:off x="1503150" y="1854300"/>
            <a:ext cx="6137700" cy="14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47500" lnSpcReduction="100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" sz="72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¿objetivos para este semestre?</a:t>
            </a:r>
            <a:endParaRPr b="1" i="0" sz="72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 b="12234" l="21942" r="0" t="0"/>
          <a:stretch/>
        </p:blipFill>
        <p:spPr>
          <a:xfrm>
            <a:off x="0" y="2490381"/>
            <a:ext cx="3537802" cy="265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6"/>
          <p:cNvPicPr preferRelativeResize="0"/>
          <p:nvPr/>
        </p:nvPicPr>
        <p:blipFill rotWithShape="1">
          <a:blip r:embed="rId4">
            <a:alphaModFix/>
          </a:blip>
          <a:srcRect b="12002" l="0" r="0" t="0"/>
          <a:stretch/>
        </p:blipFill>
        <p:spPr>
          <a:xfrm>
            <a:off x="3537800" y="2490375"/>
            <a:ext cx="2038976" cy="2653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" y="-1"/>
            <a:ext cx="3736489" cy="249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3000" y="0"/>
            <a:ext cx="3858575" cy="249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6"/>
          <p:cNvPicPr preferRelativeResize="0"/>
          <p:nvPr/>
        </p:nvPicPr>
        <p:blipFill rotWithShape="1">
          <a:blip r:embed="rId7">
            <a:alphaModFix/>
          </a:blip>
          <a:srcRect b="1244" l="0" r="0" t="0"/>
          <a:stretch/>
        </p:blipFill>
        <p:spPr>
          <a:xfrm>
            <a:off x="5576775" y="2490375"/>
            <a:ext cx="3567227" cy="265312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/>
          <p:nvPr/>
        </p:nvSpPr>
        <p:spPr>
          <a:xfrm>
            <a:off x="2878200" y="2315400"/>
            <a:ext cx="3387600" cy="512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Competencia</a:t>
            </a:r>
            <a:r>
              <a:rPr b="0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FIRVI </a:t>
            </a:r>
            <a:endParaRPr b="1" i="0" sz="1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8" name="Google Shape;198;p26"/>
          <p:cNvPicPr preferRelativeResize="0"/>
          <p:nvPr/>
        </p:nvPicPr>
        <p:blipFill rotWithShape="1">
          <a:blip r:embed="rId8">
            <a:alphaModFix/>
          </a:blip>
          <a:srcRect b="0" l="0" r="28324" t="0"/>
          <a:stretch/>
        </p:blipFill>
        <p:spPr>
          <a:xfrm>
            <a:off x="6466000" y="0"/>
            <a:ext cx="2678001" cy="249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4575" y="1"/>
            <a:ext cx="3987876" cy="265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7"/>
          <p:cNvPicPr preferRelativeResize="0"/>
          <p:nvPr/>
        </p:nvPicPr>
        <p:blipFill rotWithShape="1">
          <a:blip r:embed="rId4">
            <a:alphaModFix/>
          </a:blip>
          <a:srcRect b="0" l="8100" r="11615" t="0"/>
          <a:stretch/>
        </p:blipFill>
        <p:spPr>
          <a:xfrm>
            <a:off x="5942450" y="0"/>
            <a:ext cx="3201551" cy="265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7"/>
          <p:cNvPicPr preferRelativeResize="0"/>
          <p:nvPr/>
        </p:nvPicPr>
        <p:blipFill rotWithShape="1">
          <a:blip r:embed="rId5">
            <a:alphaModFix/>
          </a:blip>
          <a:srcRect b="0" l="9804" r="0" t="0"/>
          <a:stretch/>
        </p:blipFill>
        <p:spPr>
          <a:xfrm>
            <a:off x="3083125" y="2571750"/>
            <a:ext cx="3480474" cy="257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7"/>
          <p:cNvPicPr preferRelativeResize="0"/>
          <p:nvPr/>
        </p:nvPicPr>
        <p:blipFill rotWithShape="1">
          <a:blip r:embed="rId6">
            <a:alphaModFix/>
          </a:blip>
          <a:srcRect b="2097" l="20432" r="0" t="9407"/>
          <a:stretch/>
        </p:blipFill>
        <p:spPr>
          <a:xfrm>
            <a:off x="0" y="2571750"/>
            <a:ext cx="3083126" cy="257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7"/>
          <p:cNvPicPr preferRelativeResize="0"/>
          <p:nvPr/>
        </p:nvPicPr>
        <p:blipFill rotWithShape="1">
          <a:blip r:embed="rId7">
            <a:alphaModFix/>
          </a:blip>
          <a:srcRect b="35339" l="0" r="0" t="14659"/>
          <a:stretch/>
        </p:blipFill>
        <p:spPr>
          <a:xfrm>
            <a:off x="0" y="0"/>
            <a:ext cx="2314575" cy="257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/>
          <p:cNvPicPr preferRelativeResize="0"/>
          <p:nvPr/>
        </p:nvPicPr>
        <p:blipFill rotWithShape="1">
          <a:blip r:embed="rId8">
            <a:alphaModFix/>
          </a:blip>
          <a:srcRect b="2161" l="19599" r="6773" t="0"/>
          <a:stretch/>
        </p:blipFill>
        <p:spPr>
          <a:xfrm>
            <a:off x="6563600" y="2571750"/>
            <a:ext cx="2580398" cy="257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/>
          <p:nvPr/>
        </p:nvSpPr>
        <p:spPr>
          <a:xfrm>
            <a:off x="1349675" y="2145200"/>
            <a:ext cx="6222000" cy="512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Competencia</a:t>
            </a:r>
            <a:r>
              <a:rPr b="0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BRC (Beauchef Robotics Challenge)</a:t>
            </a:r>
            <a:endParaRPr b="1" i="0" sz="1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1850" y="0"/>
            <a:ext cx="4422150" cy="274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8"/>
          <p:cNvPicPr preferRelativeResize="0"/>
          <p:nvPr/>
        </p:nvPicPr>
        <p:blipFill rotWithShape="1">
          <a:blip r:embed="rId5">
            <a:alphaModFix/>
          </a:blip>
          <a:srcRect b="0" l="0" r="0" t="8659"/>
          <a:stretch/>
        </p:blipFill>
        <p:spPr>
          <a:xfrm>
            <a:off x="0" y="-13751"/>
            <a:ext cx="4721850" cy="275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8"/>
          <p:cNvPicPr preferRelativeResize="0"/>
          <p:nvPr/>
        </p:nvPicPr>
        <p:blipFill rotWithShape="1">
          <a:blip r:embed="rId6">
            <a:alphaModFix/>
          </a:blip>
          <a:srcRect b="4278" l="0" r="0" t="0"/>
          <a:stretch/>
        </p:blipFill>
        <p:spPr>
          <a:xfrm>
            <a:off x="0" y="2745050"/>
            <a:ext cx="3055351" cy="239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8"/>
          <p:cNvPicPr preferRelativeResize="0"/>
          <p:nvPr/>
        </p:nvPicPr>
        <p:blipFill rotWithShape="1">
          <a:blip r:embed="rId7">
            <a:alphaModFix/>
          </a:blip>
          <a:srcRect b="10289" l="0" r="0" t="0"/>
          <a:stretch/>
        </p:blipFill>
        <p:spPr>
          <a:xfrm>
            <a:off x="3055350" y="2745050"/>
            <a:ext cx="3606826" cy="23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2175" y="2745050"/>
            <a:ext cx="2481825" cy="239844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/>
          <p:nvPr/>
        </p:nvSpPr>
        <p:spPr>
          <a:xfrm>
            <a:off x="1461000" y="2402200"/>
            <a:ext cx="6222000" cy="512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Competencia</a:t>
            </a:r>
            <a:r>
              <a:rPr b="0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BRC (Beauchef Robotics Challenge)</a:t>
            </a:r>
            <a:endParaRPr b="1" i="0" sz="1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p28">
            <a:hlinkClick r:id="rId9"/>
          </p:cNvPr>
          <p:cNvSpPr/>
          <p:nvPr/>
        </p:nvSpPr>
        <p:spPr>
          <a:xfrm>
            <a:off x="3372900" y="3174750"/>
            <a:ext cx="2398200" cy="51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Click para ver </a:t>
            </a:r>
            <a:endParaRPr b="1" i="0" sz="1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9"/>
          <p:cNvPicPr preferRelativeResize="0"/>
          <p:nvPr/>
        </p:nvPicPr>
        <p:blipFill rotWithShape="1">
          <a:blip r:embed="rId4">
            <a:alphaModFix/>
          </a:blip>
          <a:srcRect b="26001" l="32750" r="0" t="0"/>
          <a:stretch/>
        </p:blipFill>
        <p:spPr>
          <a:xfrm>
            <a:off x="1430100" y="0"/>
            <a:ext cx="2936548" cy="215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9450" y="0"/>
            <a:ext cx="4834551" cy="243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75173" y="2154750"/>
            <a:ext cx="5668826" cy="298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1430100" cy="236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9"/>
          <p:cNvPicPr preferRelativeResize="0"/>
          <p:nvPr/>
        </p:nvPicPr>
        <p:blipFill rotWithShape="1">
          <a:blip r:embed="rId8">
            <a:alphaModFix/>
          </a:blip>
          <a:srcRect b="0" l="3063" r="0" t="0"/>
          <a:stretch/>
        </p:blipFill>
        <p:spPr>
          <a:xfrm>
            <a:off x="0" y="2154750"/>
            <a:ext cx="5150499" cy="298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9"/>
          <p:cNvPicPr preferRelativeResize="0"/>
          <p:nvPr/>
        </p:nvPicPr>
        <p:blipFill rotWithShape="1">
          <a:blip r:embed="rId9">
            <a:alphaModFix/>
          </a:blip>
          <a:srcRect b="32943" l="0" r="8991" t="0"/>
          <a:stretch/>
        </p:blipFill>
        <p:spPr>
          <a:xfrm>
            <a:off x="3437050" y="-316625"/>
            <a:ext cx="2269900" cy="167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/>
          <p:nvPr/>
        </p:nvSpPr>
        <p:spPr>
          <a:xfrm>
            <a:off x="1659175" y="1872075"/>
            <a:ext cx="5690400" cy="512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Competencia ACRC (ALL CHILE ROBOT CONTEST)</a:t>
            </a:r>
            <a:endParaRPr b="1" i="0" sz="1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29">
            <a:hlinkClick r:id="rId10"/>
          </p:cNvPr>
          <p:cNvSpPr/>
          <p:nvPr/>
        </p:nvSpPr>
        <p:spPr>
          <a:xfrm>
            <a:off x="3372900" y="3174750"/>
            <a:ext cx="2398200" cy="51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Click para ver </a:t>
            </a:r>
            <a:endParaRPr b="1" i="0" sz="1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/>
        </p:nvSpPr>
        <p:spPr>
          <a:xfrm>
            <a:off x="57177" y="1668375"/>
            <a:ext cx="91440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80"/>
              <a:buFont typeface="Arial"/>
              <a:buNone/>
            </a:pPr>
            <a:r>
              <a:rPr b="1" i="0" lang="es" sz="358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 Y…¿Qué haremos hoy?</a:t>
            </a:r>
            <a:endParaRPr b="1" i="0" sz="358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8" name="Google Shape;2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9275" y="2882132"/>
            <a:ext cx="1919801" cy="203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/>
        </p:nvSpPr>
        <p:spPr>
          <a:xfrm>
            <a:off x="2791500" y="292150"/>
            <a:ext cx="35610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900" u="none" cap="none" strike="noStrike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endParaRPr b="1" i="0" sz="2900" u="none" cap="none" strike="noStrike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5925" y="1091051"/>
            <a:ext cx="3652150" cy="344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 txBox="1"/>
          <p:nvPr/>
        </p:nvSpPr>
        <p:spPr>
          <a:xfrm>
            <a:off x="3060450" y="1660500"/>
            <a:ext cx="3023100" cy="2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"/>
              <a:buAutoNum type="arabicPeriod"/>
            </a:pPr>
            <a:r>
              <a:rPr b="1" i="0" lang="es" sz="1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Conocer el robot velocista.</a:t>
            </a:r>
            <a:endParaRPr b="1" i="0" sz="1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"/>
              <a:buAutoNum type="arabicPeriod"/>
            </a:pPr>
            <a:r>
              <a:rPr b="1" i="0" lang="es" sz="1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Reglas para manipular el robot.</a:t>
            </a:r>
            <a:endParaRPr b="1" i="0" sz="1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"/>
              <a:buAutoNum type="arabicPeriod"/>
            </a:pPr>
            <a:r>
              <a:rPr b="1" i="0" lang="es" sz="1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Ensamble del motor</a:t>
            </a:r>
            <a:endParaRPr b="1" i="0" sz="1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"/>
              <a:buAutoNum type="arabicPeriod"/>
            </a:pPr>
            <a:r>
              <a:rPr b="1" i="0" lang="es" sz="1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Puente H</a:t>
            </a:r>
            <a:endParaRPr b="1" i="0" sz="1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6" name="Google Shape;24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9364" y="900037"/>
            <a:ext cx="725275" cy="7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/>
          <p:nvPr/>
        </p:nvSpPr>
        <p:spPr>
          <a:xfrm>
            <a:off x="4625025" y="1392750"/>
            <a:ext cx="4249500" cy="2960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2" name="Google Shape;2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718150">
            <a:off x="4775287" y="896312"/>
            <a:ext cx="3948975" cy="3763877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2"/>
          <p:cNvSpPr/>
          <p:nvPr/>
        </p:nvSpPr>
        <p:spPr>
          <a:xfrm>
            <a:off x="348950" y="1392750"/>
            <a:ext cx="4249500" cy="2960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4" name="Google Shape;254;p32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5000" y="1636725"/>
            <a:ext cx="3557400" cy="238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2"/>
          <p:cNvSpPr/>
          <p:nvPr/>
        </p:nvSpPr>
        <p:spPr>
          <a:xfrm>
            <a:off x="2042700" y="193875"/>
            <a:ext cx="5058600" cy="769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Conozcamos a Hermes</a:t>
            </a:r>
            <a:endParaRPr b="1" i="0" sz="21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idx="1" type="body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Nunca conectar algún componente en una orientación diferente a la mostrada en la placa.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Asegurarse de que los componentes estén correctamente conectados.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Nunca conectar el puerto usb al computador con la placa encendida.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Tener cuidado de manipular el robot con las manos secas (no es obligatorio pero el uso de guantes de látex es recomendable)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Preocuparse al final de la sesión dejar cargadas las baterías lipo para resguardar su vida útil.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p33"/>
          <p:cNvSpPr/>
          <p:nvPr/>
        </p:nvSpPr>
        <p:spPr>
          <a:xfrm>
            <a:off x="1179325" y="145850"/>
            <a:ext cx="7189200" cy="512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Consideraciones a tener: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33"/>
          <p:cNvSpPr/>
          <p:nvPr/>
        </p:nvSpPr>
        <p:spPr>
          <a:xfrm>
            <a:off x="205500" y="847675"/>
            <a:ext cx="8626800" cy="41499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Asegurarse de que el arduino esté correctamente conectado, con todos los pines y en la orientación correcta (mirar dibujo en la placa).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1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Nunca</a:t>
            </a: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desconectar el puente H.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1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Nunca</a:t>
            </a: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conectar el puerto usb al computador con la placa encendida.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manipular el robot con las manos </a:t>
            </a:r>
            <a:r>
              <a:rPr b="1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húmedas</a:t>
            </a: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(no es obligatorio pero el uso de guantes de látex es recomendable)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Manipular con cuidado cables de los motores ya que son </a:t>
            </a:r>
            <a:r>
              <a:rPr b="1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frágiles</a:t>
            </a: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Evitar que el robot </a:t>
            </a:r>
            <a:r>
              <a:rPr b="1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choque</a:t>
            </a: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contra superficies.</a:t>
            </a:r>
            <a:endParaRPr b="1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/>
        </p:nvSpPr>
        <p:spPr>
          <a:xfrm>
            <a:off x="1448550" y="1836000"/>
            <a:ext cx="62469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550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" sz="72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¡Ensamble del Hermes!</a:t>
            </a:r>
            <a:endParaRPr b="1" i="0" sz="72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/>
        </p:nvSpPr>
        <p:spPr>
          <a:xfrm>
            <a:off x="1448550" y="1836000"/>
            <a:ext cx="62469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" sz="61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Placa</a:t>
            </a:r>
            <a:endParaRPr b="1" i="0" sz="55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/>
          <p:nvPr/>
        </p:nvSpPr>
        <p:spPr>
          <a:xfrm>
            <a:off x="7898075" y="0"/>
            <a:ext cx="1245900" cy="5143500"/>
          </a:xfrm>
          <a:prstGeom prst="snip2SameRect">
            <a:avLst>
              <a:gd fmla="val 999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36"/>
          <p:cNvPicPr preferRelativeResize="0"/>
          <p:nvPr/>
        </p:nvPicPr>
        <p:blipFill rotWithShape="1">
          <a:blip r:embed="rId3">
            <a:alphaModFix/>
          </a:blip>
          <a:srcRect b="3381" l="0" r="0" t="0"/>
          <a:stretch/>
        </p:blipFill>
        <p:spPr>
          <a:xfrm>
            <a:off x="1288550" y="598250"/>
            <a:ext cx="5728050" cy="39470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6"/>
          <p:cNvSpPr/>
          <p:nvPr/>
        </p:nvSpPr>
        <p:spPr>
          <a:xfrm>
            <a:off x="3742525" y="3737650"/>
            <a:ext cx="874500" cy="7542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6000" y="3681650"/>
            <a:ext cx="790400" cy="79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6"/>
          <p:cNvSpPr/>
          <p:nvPr/>
        </p:nvSpPr>
        <p:spPr>
          <a:xfrm>
            <a:off x="3294250" y="2826750"/>
            <a:ext cx="1825500" cy="8346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6"/>
          <p:cNvSpPr/>
          <p:nvPr/>
        </p:nvSpPr>
        <p:spPr>
          <a:xfrm>
            <a:off x="5399400" y="2476875"/>
            <a:ext cx="216600" cy="554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6"/>
          <p:cNvSpPr/>
          <p:nvPr/>
        </p:nvSpPr>
        <p:spPr>
          <a:xfrm>
            <a:off x="5655825" y="2604375"/>
            <a:ext cx="8745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6"/>
          <p:cNvPicPr preferRelativeResize="0"/>
          <p:nvPr/>
        </p:nvPicPr>
        <p:blipFill rotWithShape="1">
          <a:blip r:embed="rId5">
            <a:alphaModFix/>
          </a:blip>
          <a:srcRect b="24400" l="0" r="0" t="28320"/>
          <a:stretch/>
        </p:blipFill>
        <p:spPr>
          <a:xfrm>
            <a:off x="3144513" y="712350"/>
            <a:ext cx="2070524" cy="97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6"/>
          <p:cNvSpPr/>
          <p:nvPr/>
        </p:nvSpPr>
        <p:spPr>
          <a:xfrm rot="-5400000">
            <a:off x="3634225" y="2167125"/>
            <a:ext cx="10911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4642538" y="3968550"/>
            <a:ext cx="8745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0150" y="2195888"/>
            <a:ext cx="1083275" cy="10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7"/>
          <p:cNvPicPr preferRelativeResize="0"/>
          <p:nvPr/>
        </p:nvPicPr>
        <p:blipFill rotWithShape="1">
          <a:blip r:embed="rId3">
            <a:alphaModFix/>
          </a:blip>
          <a:srcRect b="3381" l="0" r="0" t="0"/>
          <a:stretch/>
        </p:blipFill>
        <p:spPr>
          <a:xfrm>
            <a:off x="1288550" y="598250"/>
            <a:ext cx="5728050" cy="394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3275" y="2138038"/>
            <a:ext cx="1043225" cy="10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7"/>
          <p:cNvSpPr/>
          <p:nvPr/>
        </p:nvSpPr>
        <p:spPr>
          <a:xfrm>
            <a:off x="4704500" y="4002863"/>
            <a:ext cx="216600" cy="266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37"/>
          <p:cNvCxnSpPr>
            <a:stCxn id="298" idx="3"/>
            <a:endCxn id="296" idx="1"/>
          </p:cNvCxnSpPr>
          <p:nvPr/>
        </p:nvCxnSpPr>
        <p:spPr>
          <a:xfrm>
            <a:off x="3638525" y="4136213"/>
            <a:ext cx="1065900" cy="0"/>
          </a:xfrm>
          <a:prstGeom prst="straightConnector1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37"/>
          <p:cNvSpPr/>
          <p:nvPr/>
        </p:nvSpPr>
        <p:spPr>
          <a:xfrm rot="-5400000">
            <a:off x="3803413" y="3659813"/>
            <a:ext cx="7362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7"/>
          <p:cNvSpPr/>
          <p:nvPr/>
        </p:nvSpPr>
        <p:spPr>
          <a:xfrm>
            <a:off x="3421925" y="4002863"/>
            <a:ext cx="216600" cy="266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7"/>
          <p:cNvSpPr/>
          <p:nvPr/>
        </p:nvSpPr>
        <p:spPr>
          <a:xfrm>
            <a:off x="7898075" y="0"/>
            <a:ext cx="1245900" cy="5143500"/>
          </a:xfrm>
          <a:prstGeom prst="snip2SameRect">
            <a:avLst>
              <a:gd fmla="val 999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8"/>
          <p:cNvPicPr preferRelativeResize="0"/>
          <p:nvPr/>
        </p:nvPicPr>
        <p:blipFill rotWithShape="1">
          <a:blip r:embed="rId3">
            <a:alphaModFix/>
          </a:blip>
          <a:srcRect b="3381" l="0" r="0" t="0"/>
          <a:stretch/>
        </p:blipFill>
        <p:spPr>
          <a:xfrm>
            <a:off x="1288550" y="598250"/>
            <a:ext cx="5728050" cy="394700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8"/>
          <p:cNvSpPr/>
          <p:nvPr/>
        </p:nvSpPr>
        <p:spPr>
          <a:xfrm>
            <a:off x="2706775" y="2460011"/>
            <a:ext cx="351600" cy="5040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1525" y="2168500"/>
            <a:ext cx="1086999" cy="10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8"/>
          <p:cNvSpPr/>
          <p:nvPr/>
        </p:nvSpPr>
        <p:spPr>
          <a:xfrm>
            <a:off x="3058375" y="2603688"/>
            <a:ext cx="7362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5675" y="3956800"/>
            <a:ext cx="996300" cy="9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8"/>
          <p:cNvSpPr/>
          <p:nvPr/>
        </p:nvSpPr>
        <p:spPr>
          <a:xfrm rot="-5400000">
            <a:off x="4778375" y="4259304"/>
            <a:ext cx="225900" cy="4533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8"/>
          <p:cNvSpPr/>
          <p:nvPr/>
        </p:nvSpPr>
        <p:spPr>
          <a:xfrm>
            <a:off x="5117976" y="4377661"/>
            <a:ext cx="7362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8"/>
          <p:cNvSpPr/>
          <p:nvPr/>
        </p:nvSpPr>
        <p:spPr>
          <a:xfrm>
            <a:off x="7898075" y="0"/>
            <a:ext cx="1245900" cy="5143500"/>
          </a:xfrm>
          <a:prstGeom prst="snip2SameRect">
            <a:avLst>
              <a:gd fmla="val 999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39"/>
          <p:cNvPicPr preferRelativeResize="0"/>
          <p:nvPr/>
        </p:nvPicPr>
        <p:blipFill rotWithShape="1">
          <a:blip r:embed="rId3">
            <a:alphaModFix/>
          </a:blip>
          <a:srcRect b="3381" l="0" r="0" t="0"/>
          <a:stretch/>
        </p:blipFill>
        <p:spPr>
          <a:xfrm>
            <a:off x="1288550" y="598250"/>
            <a:ext cx="5728050" cy="394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0325" y="3927500"/>
            <a:ext cx="948925" cy="94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9"/>
          <p:cNvSpPr/>
          <p:nvPr/>
        </p:nvSpPr>
        <p:spPr>
          <a:xfrm>
            <a:off x="2816350" y="4298075"/>
            <a:ext cx="665100" cy="266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0150" y="3772275"/>
            <a:ext cx="1214100" cy="118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/>
          <p:nvPr/>
        </p:nvSpPr>
        <p:spPr>
          <a:xfrm>
            <a:off x="5132550" y="4223925"/>
            <a:ext cx="469800" cy="3561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9"/>
          <p:cNvSpPr/>
          <p:nvPr/>
        </p:nvSpPr>
        <p:spPr>
          <a:xfrm>
            <a:off x="5589125" y="4293663"/>
            <a:ext cx="7362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9"/>
          <p:cNvSpPr/>
          <p:nvPr/>
        </p:nvSpPr>
        <p:spPr>
          <a:xfrm rot="10800000">
            <a:off x="2080150" y="4323113"/>
            <a:ext cx="7362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9"/>
          <p:cNvSpPr/>
          <p:nvPr/>
        </p:nvSpPr>
        <p:spPr>
          <a:xfrm>
            <a:off x="3820025" y="2056525"/>
            <a:ext cx="736200" cy="5151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9"/>
          <p:cNvSpPr/>
          <p:nvPr/>
        </p:nvSpPr>
        <p:spPr>
          <a:xfrm>
            <a:off x="4572000" y="2205763"/>
            <a:ext cx="7362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67275" y="1758600"/>
            <a:ext cx="1052700" cy="10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9"/>
          <p:cNvSpPr/>
          <p:nvPr/>
        </p:nvSpPr>
        <p:spPr>
          <a:xfrm>
            <a:off x="7898075" y="0"/>
            <a:ext cx="1245900" cy="5143500"/>
          </a:xfrm>
          <a:prstGeom prst="snip2SameRect">
            <a:avLst>
              <a:gd fmla="val 999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0"/>
          <p:cNvPicPr preferRelativeResize="0"/>
          <p:nvPr/>
        </p:nvPicPr>
        <p:blipFill rotWithShape="1">
          <a:blip r:embed="rId3">
            <a:alphaModFix/>
          </a:blip>
          <a:srcRect b="3381" l="0" r="0" t="0"/>
          <a:stretch/>
        </p:blipFill>
        <p:spPr>
          <a:xfrm>
            <a:off x="1288550" y="598250"/>
            <a:ext cx="5728050" cy="394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0325" y="3927500"/>
            <a:ext cx="948925" cy="94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0"/>
          <p:cNvSpPr/>
          <p:nvPr/>
        </p:nvSpPr>
        <p:spPr>
          <a:xfrm>
            <a:off x="2816350" y="4298075"/>
            <a:ext cx="665100" cy="266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0"/>
          <p:cNvSpPr/>
          <p:nvPr/>
        </p:nvSpPr>
        <p:spPr>
          <a:xfrm>
            <a:off x="5132550" y="4223925"/>
            <a:ext cx="469800" cy="3561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0"/>
          <p:cNvSpPr/>
          <p:nvPr/>
        </p:nvSpPr>
        <p:spPr>
          <a:xfrm>
            <a:off x="5589125" y="4293663"/>
            <a:ext cx="7362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0"/>
          <p:cNvSpPr/>
          <p:nvPr/>
        </p:nvSpPr>
        <p:spPr>
          <a:xfrm rot="10800000">
            <a:off x="2080150" y="4323113"/>
            <a:ext cx="7362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0"/>
          <p:cNvSpPr/>
          <p:nvPr/>
        </p:nvSpPr>
        <p:spPr>
          <a:xfrm>
            <a:off x="3820025" y="2056525"/>
            <a:ext cx="736200" cy="5151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0"/>
          <p:cNvSpPr/>
          <p:nvPr/>
        </p:nvSpPr>
        <p:spPr>
          <a:xfrm>
            <a:off x="4572000" y="2205763"/>
            <a:ext cx="7362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7275" y="1758600"/>
            <a:ext cx="1052700" cy="10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8500" y="549550"/>
            <a:ext cx="5788100" cy="42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0"/>
          <p:cNvPicPr preferRelativeResize="0"/>
          <p:nvPr/>
        </p:nvPicPr>
        <p:blipFill rotWithShape="1">
          <a:blip r:embed="rId8">
            <a:alphaModFix/>
          </a:blip>
          <a:srcRect b="19296" l="17122" r="0" t="0"/>
          <a:stretch/>
        </p:blipFill>
        <p:spPr>
          <a:xfrm>
            <a:off x="3383648" y="2442625"/>
            <a:ext cx="1808425" cy="176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0"/>
          <p:cNvSpPr/>
          <p:nvPr/>
        </p:nvSpPr>
        <p:spPr>
          <a:xfrm>
            <a:off x="1731025" y="1493700"/>
            <a:ext cx="736200" cy="5151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0"/>
          <p:cNvSpPr/>
          <p:nvPr/>
        </p:nvSpPr>
        <p:spPr>
          <a:xfrm rot="5400000">
            <a:off x="3818075" y="1844378"/>
            <a:ext cx="9396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0"/>
          <p:cNvSpPr/>
          <p:nvPr/>
        </p:nvSpPr>
        <p:spPr>
          <a:xfrm>
            <a:off x="5964025" y="1541425"/>
            <a:ext cx="736200" cy="5151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0"/>
          <p:cNvSpPr/>
          <p:nvPr/>
        </p:nvSpPr>
        <p:spPr>
          <a:xfrm>
            <a:off x="3724350" y="946200"/>
            <a:ext cx="1216800" cy="5475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0"/>
          <p:cNvSpPr/>
          <p:nvPr/>
        </p:nvSpPr>
        <p:spPr>
          <a:xfrm>
            <a:off x="2467225" y="1642950"/>
            <a:ext cx="3496800" cy="216600"/>
          </a:xfrm>
          <a:prstGeom prst="rightArrow">
            <a:avLst>
              <a:gd fmla="val 50000" name="adj1"/>
              <a:gd fmla="val 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0"/>
          <p:cNvSpPr/>
          <p:nvPr/>
        </p:nvSpPr>
        <p:spPr>
          <a:xfrm>
            <a:off x="7898075" y="0"/>
            <a:ext cx="1245900" cy="5143500"/>
          </a:xfrm>
          <a:prstGeom prst="snip2SameRect">
            <a:avLst>
              <a:gd fmla="val 999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"/>
          <p:cNvSpPr txBox="1"/>
          <p:nvPr/>
        </p:nvSpPr>
        <p:spPr>
          <a:xfrm>
            <a:off x="1448550" y="1836000"/>
            <a:ext cx="62469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550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8032"/>
              <a:buFont typeface="Arial"/>
              <a:buNone/>
            </a:pPr>
            <a:r>
              <a:rPr b="1" i="0" lang="es" sz="61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¿Como se mueve el hermes?</a:t>
            </a:r>
            <a:endParaRPr b="1" i="0" sz="55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 txBox="1"/>
          <p:nvPr/>
        </p:nvSpPr>
        <p:spPr>
          <a:xfrm>
            <a:off x="2589600" y="1836000"/>
            <a:ext cx="39648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" sz="61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	Motores</a:t>
            </a:r>
            <a:endParaRPr b="1" i="0" sz="55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3"/>
          <p:cNvSpPr/>
          <p:nvPr/>
        </p:nvSpPr>
        <p:spPr>
          <a:xfrm>
            <a:off x="96450" y="4951450"/>
            <a:ext cx="690000" cy="11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325" y="1263913"/>
            <a:ext cx="2615675" cy="261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3"/>
          <p:cNvPicPr preferRelativeResize="0"/>
          <p:nvPr/>
        </p:nvPicPr>
        <p:blipFill rotWithShape="1">
          <a:blip r:embed="rId4">
            <a:alphaModFix/>
          </a:blip>
          <a:srcRect b="16881" l="0" r="0" t="30561"/>
          <a:stretch/>
        </p:blipFill>
        <p:spPr>
          <a:xfrm>
            <a:off x="4332450" y="1369000"/>
            <a:ext cx="2898199" cy="270329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3"/>
          <p:cNvSpPr txBox="1"/>
          <p:nvPr/>
        </p:nvSpPr>
        <p:spPr>
          <a:xfrm>
            <a:off x="2617650" y="106150"/>
            <a:ext cx="3908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Motor N20 DC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43"/>
          <p:cNvSpPr/>
          <p:nvPr/>
        </p:nvSpPr>
        <p:spPr>
          <a:xfrm>
            <a:off x="7898075" y="0"/>
            <a:ext cx="1245900" cy="5143500"/>
          </a:xfrm>
          <a:prstGeom prst="snip2SameRect">
            <a:avLst>
              <a:gd fmla="val 999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3"/>
          <p:cNvSpPr/>
          <p:nvPr/>
        </p:nvSpPr>
        <p:spPr>
          <a:xfrm>
            <a:off x="1634150" y="214150"/>
            <a:ext cx="5058600" cy="769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Motor N20 DC</a:t>
            </a:r>
            <a:endParaRPr b="1" i="0" sz="21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"/>
          <p:cNvSpPr txBox="1"/>
          <p:nvPr/>
        </p:nvSpPr>
        <p:spPr>
          <a:xfrm>
            <a:off x="1448550" y="1836000"/>
            <a:ext cx="62469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550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8032"/>
              <a:buFont typeface="Arial"/>
              <a:buNone/>
            </a:pPr>
            <a:r>
              <a:rPr b="1" i="0" lang="es" sz="61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Controlador de los motores</a:t>
            </a:r>
            <a:endParaRPr b="1" i="0" sz="55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"/>
          <p:cNvSpPr txBox="1"/>
          <p:nvPr/>
        </p:nvSpPr>
        <p:spPr>
          <a:xfrm>
            <a:off x="1448550" y="1836000"/>
            <a:ext cx="62469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" sz="61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Puente h</a:t>
            </a:r>
            <a:endParaRPr b="1" i="0" sz="55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8413" y="683075"/>
            <a:ext cx="4427775" cy="442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6"/>
          <p:cNvSpPr/>
          <p:nvPr/>
        </p:nvSpPr>
        <p:spPr>
          <a:xfrm>
            <a:off x="7898075" y="0"/>
            <a:ext cx="1245900" cy="5143500"/>
          </a:xfrm>
          <a:prstGeom prst="snip2SameRect">
            <a:avLst>
              <a:gd fmla="val 999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6"/>
          <p:cNvSpPr/>
          <p:nvPr/>
        </p:nvSpPr>
        <p:spPr>
          <a:xfrm>
            <a:off x="1634150" y="214150"/>
            <a:ext cx="5058600" cy="769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TB6612FNG</a:t>
            </a:r>
            <a:endParaRPr b="1" i="0" sz="21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7"/>
          <p:cNvSpPr txBox="1"/>
          <p:nvPr/>
        </p:nvSpPr>
        <p:spPr>
          <a:xfrm>
            <a:off x="1448550" y="1836000"/>
            <a:ext cx="62469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550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8032"/>
              <a:buFont typeface="Arial"/>
              <a:buNone/>
            </a:pPr>
            <a:r>
              <a:rPr b="1" i="0" lang="es" sz="61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Ensamble de los motores</a:t>
            </a:r>
            <a:endParaRPr b="1" i="0" sz="55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48"/>
          <p:cNvPicPr preferRelativeResize="0"/>
          <p:nvPr/>
        </p:nvPicPr>
        <p:blipFill rotWithShape="1">
          <a:blip r:embed="rId3">
            <a:alphaModFix/>
          </a:blip>
          <a:srcRect b="10515" l="0" r="0" t="41946"/>
          <a:stretch/>
        </p:blipFill>
        <p:spPr>
          <a:xfrm>
            <a:off x="780188" y="1131825"/>
            <a:ext cx="2624525" cy="24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8"/>
          <p:cNvPicPr preferRelativeResize="0"/>
          <p:nvPr/>
        </p:nvPicPr>
        <p:blipFill rotWithShape="1">
          <a:blip r:embed="rId4">
            <a:alphaModFix/>
          </a:blip>
          <a:srcRect b="16881" l="0" r="0" t="30561"/>
          <a:stretch/>
        </p:blipFill>
        <p:spPr>
          <a:xfrm>
            <a:off x="4503138" y="1131825"/>
            <a:ext cx="2624525" cy="244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8"/>
          <p:cNvSpPr/>
          <p:nvPr/>
        </p:nvSpPr>
        <p:spPr>
          <a:xfrm>
            <a:off x="950450" y="153038"/>
            <a:ext cx="6374100" cy="512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Ensamble de motores: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0" name="Google Shape;410;p48"/>
          <p:cNvSpPr/>
          <p:nvPr/>
        </p:nvSpPr>
        <p:spPr>
          <a:xfrm>
            <a:off x="315700" y="3789300"/>
            <a:ext cx="3553500" cy="1010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Antes</a:t>
            </a:r>
            <a:endParaRPr b="1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1" name="Google Shape;411;p48"/>
          <p:cNvSpPr/>
          <p:nvPr/>
        </p:nvSpPr>
        <p:spPr>
          <a:xfrm>
            <a:off x="4085300" y="3789300"/>
            <a:ext cx="3460200" cy="1010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Después </a:t>
            </a:r>
            <a:endParaRPr b="1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2" name="Google Shape;412;p48"/>
          <p:cNvSpPr/>
          <p:nvPr/>
        </p:nvSpPr>
        <p:spPr>
          <a:xfrm>
            <a:off x="7898075" y="0"/>
            <a:ext cx="1245900" cy="5143500"/>
          </a:xfrm>
          <a:prstGeom prst="snip2SameRect">
            <a:avLst>
              <a:gd fmla="val 999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/>
        </p:nvSpPr>
        <p:spPr>
          <a:xfrm>
            <a:off x="2617650" y="106150"/>
            <a:ext cx="39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Ensamblaje Motores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9" name="Google Shape;419;p49"/>
          <p:cNvGrpSpPr/>
          <p:nvPr/>
        </p:nvGrpSpPr>
        <p:grpSpPr>
          <a:xfrm>
            <a:off x="101580" y="1059052"/>
            <a:ext cx="2431153" cy="2184558"/>
            <a:chOff x="210875" y="761625"/>
            <a:chExt cx="3392148" cy="2824251"/>
          </a:xfrm>
        </p:grpSpPr>
        <p:pic>
          <p:nvPicPr>
            <p:cNvPr id="420" name="Google Shape;420;p49"/>
            <p:cNvPicPr preferRelativeResize="0"/>
            <p:nvPr/>
          </p:nvPicPr>
          <p:blipFill rotWithShape="1">
            <a:blip r:embed="rId3">
              <a:alphaModFix/>
            </a:blip>
            <a:srcRect b="0" l="15618" r="16702" t="0"/>
            <a:stretch/>
          </p:blipFill>
          <p:spPr>
            <a:xfrm>
              <a:off x="210875" y="761625"/>
              <a:ext cx="3392148" cy="2824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1" name="Google Shape;421;p49"/>
            <p:cNvSpPr/>
            <p:nvPr/>
          </p:nvSpPr>
          <p:spPr>
            <a:xfrm>
              <a:off x="508125" y="1641250"/>
              <a:ext cx="680100" cy="629100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2" name="Google Shape;422;p49"/>
            <p:cNvCxnSpPr>
              <a:stCxn id="421" idx="6"/>
              <a:endCxn id="423" idx="2"/>
            </p:cNvCxnSpPr>
            <p:nvPr/>
          </p:nvCxnSpPr>
          <p:spPr>
            <a:xfrm>
              <a:off x="1188225" y="1955800"/>
              <a:ext cx="668700" cy="1650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23" name="Google Shape;423;p49"/>
            <p:cNvSpPr/>
            <p:nvPr/>
          </p:nvSpPr>
          <p:spPr>
            <a:xfrm>
              <a:off x="1857050" y="1734800"/>
              <a:ext cx="903900" cy="771900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p49"/>
          <p:cNvSpPr/>
          <p:nvPr/>
        </p:nvSpPr>
        <p:spPr>
          <a:xfrm>
            <a:off x="315700" y="3789300"/>
            <a:ext cx="3553500" cy="1010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Alinear la pestaña del interior del bracket con la esquina contraria a la caja reductora </a:t>
            </a:r>
            <a:endParaRPr b="1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5" name="Google Shape;425;p49"/>
          <p:cNvPicPr preferRelativeResize="0"/>
          <p:nvPr/>
        </p:nvPicPr>
        <p:blipFill rotWithShape="1">
          <a:blip r:embed="rId4">
            <a:alphaModFix/>
          </a:blip>
          <a:srcRect b="0" l="26414" r="5172" t="0"/>
          <a:stretch/>
        </p:blipFill>
        <p:spPr>
          <a:xfrm>
            <a:off x="2617650" y="1059050"/>
            <a:ext cx="2521001" cy="218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9"/>
          <p:cNvPicPr preferRelativeResize="0"/>
          <p:nvPr/>
        </p:nvPicPr>
        <p:blipFill rotWithShape="1">
          <a:blip r:embed="rId5">
            <a:alphaModFix/>
          </a:blip>
          <a:srcRect b="0" l="16170" r="28164" t="0"/>
          <a:stretch/>
        </p:blipFill>
        <p:spPr>
          <a:xfrm>
            <a:off x="5223575" y="1059050"/>
            <a:ext cx="2202450" cy="2184551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9"/>
          <p:cNvSpPr/>
          <p:nvPr/>
        </p:nvSpPr>
        <p:spPr>
          <a:xfrm>
            <a:off x="4085300" y="3789300"/>
            <a:ext cx="3460200" cy="1010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Alinear los orificios del bracket con los de la placa </a:t>
            </a:r>
            <a:endParaRPr b="1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p49"/>
          <p:cNvSpPr/>
          <p:nvPr/>
        </p:nvSpPr>
        <p:spPr>
          <a:xfrm>
            <a:off x="950450" y="153038"/>
            <a:ext cx="6374100" cy="512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Ensamble de motores: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9" name="Google Shape;429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9"/>
          <p:cNvSpPr/>
          <p:nvPr/>
        </p:nvSpPr>
        <p:spPr>
          <a:xfrm>
            <a:off x="7898075" y="0"/>
            <a:ext cx="1245900" cy="5143500"/>
          </a:xfrm>
          <a:prstGeom prst="snip2SameRect">
            <a:avLst>
              <a:gd fmla="val 999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50"/>
          <p:cNvPicPr preferRelativeResize="0"/>
          <p:nvPr/>
        </p:nvPicPr>
        <p:blipFill rotWithShape="1">
          <a:blip r:embed="rId3">
            <a:alphaModFix/>
          </a:blip>
          <a:srcRect b="24681" l="22531" r="20726" t="0"/>
          <a:stretch/>
        </p:blipFill>
        <p:spPr>
          <a:xfrm>
            <a:off x="672350" y="926750"/>
            <a:ext cx="3019525" cy="225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0"/>
          <p:cNvPicPr preferRelativeResize="0"/>
          <p:nvPr/>
        </p:nvPicPr>
        <p:blipFill rotWithShape="1">
          <a:blip r:embed="rId4">
            <a:alphaModFix/>
          </a:blip>
          <a:srcRect b="9049" l="7247" r="28899" t="10796"/>
          <a:stretch/>
        </p:blipFill>
        <p:spPr>
          <a:xfrm>
            <a:off x="3907475" y="926750"/>
            <a:ext cx="3193006" cy="225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0"/>
          <p:cNvSpPr/>
          <p:nvPr/>
        </p:nvSpPr>
        <p:spPr>
          <a:xfrm>
            <a:off x="315700" y="3789300"/>
            <a:ext cx="3553500" cy="1010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5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3. Introducir el tornillo por debajo de la placa </a:t>
            </a:r>
            <a:endParaRPr b="1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" name="Google Shape;440;p50"/>
          <p:cNvSpPr/>
          <p:nvPr/>
        </p:nvSpPr>
        <p:spPr>
          <a:xfrm>
            <a:off x="4085300" y="3789300"/>
            <a:ext cx="3460200" cy="1010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4. Colocar la tuerca por arriba y apretar</a:t>
            </a:r>
            <a:endParaRPr b="1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1" name="Google Shape;441;p50"/>
          <p:cNvSpPr/>
          <p:nvPr/>
        </p:nvSpPr>
        <p:spPr>
          <a:xfrm>
            <a:off x="950450" y="153038"/>
            <a:ext cx="6374100" cy="512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Ensamble de motores: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" name="Google Shape;442;p50"/>
          <p:cNvSpPr/>
          <p:nvPr/>
        </p:nvSpPr>
        <p:spPr>
          <a:xfrm>
            <a:off x="7898075" y="0"/>
            <a:ext cx="1245900" cy="5143500"/>
          </a:xfrm>
          <a:prstGeom prst="snip2SameRect">
            <a:avLst>
              <a:gd fmla="val 999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51"/>
          <p:cNvPicPr preferRelativeResize="0"/>
          <p:nvPr/>
        </p:nvPicPr>
        <p:blipFill rotWithShape="1">
          <a:blip r:embed="rId3">
            <a:alphaModFix/>
          </a:blip>
          <a:srcRect b="7044" l="22529" r="12635" t="0"/>
          <a:stretch/>
        </p:blipFill>
        <p:spPr>
          <a:xfrm>
            <a:off x="385900" y="945125"/>
            <a:ext cx="3460198" cy="2459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51"/>
          <p:cNvPicPr preferRelativeResize="0"/>
          <p:nvPr/>
        </p:nvPicPr>
        <p:blipFill rotWithShape="1">
          <a:blip r:embed="rId4">
            <a:alphaModFix/>
          </a:blip>
          <a:srcRect b="0" l="13739" r="10219" t="0"/>
          <a:stretch/>
        </p:blipFill>
        <p:spPr>
          <a:xfrm>
            <a:off x="4085300" y="945125"/>
            <a:ext cx="3460198" cy="2459451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51"/>
          <p:cNvSpPr/>
          <p:nvPr/>
        </p:nvSpPr>
        <p:spPr>
          <a:xfrm>
            <a:off x="315700" y="3789300"/>
            <a:ext cx="3553500" cy="1010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3. Introducir el tornillo por debajo de la placa </a:t>
            </a:r>
            <a:endParaRPr b="1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1" name="Google Shape;451;p51"/>
          <p:cNvSpPr/>
          <p:nvPr/>
        </p:nvSpPr>
        <p:spPr>
          <a:xfrm>
            <a:off x="4085300" y="3789300"/>
            <a:ext cx="3460200" cy="1010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4. Colocar la tuerca por arriba y apretar</a:t>
            </a:r>
            <a:endParaRPr b="1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2" name="Google Shape;452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1"/>
          <p:cNvSpPr/>
          <p:nvPr/>
        </p:nvSpPr>
        <p:spPr>
          <a:xfrm>
            <a:off x="950450" y="153038"/>
            <a:ext cx="6374100" cy="512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Ensamble de motores: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" name="Google Shape;454;p51"/>
          <p:cNvSpPr/>
          <p:nvPr/>
        </p:nvSpPr>
        <p:spPr>
          <a:xfrm>
            <a:off x="7898075" y="0"/>
            <a:ext cx="1245900" cy="5143500"/>
          </a:xfrm>
          <a:prstGeom prst="snip2SameRect">
            <a:avLst>
              <a:gd fmla="val 999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52"/>
          <p:cNvPicPr preferRelativeResize="0"/>
          <p:nvPr/>
        </p:nvPicPr>
        <p:blipFill rotWithShape="1">
          <a:blip r:embed="rId3">
            <a:alphaModFix/>
          </a:blip>
          <a:srcRect b="0" l="16025" r="10254" t="0"/>
          <a:stretch/>
        </p:blipFill>
        <p:spPr>
          <a:xfrm>
            <a:off x="513875" y="758750"/>
            <a:ext cx="3794074" cy="2801574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52"/>
          <p:cNvSpPr/>
          <p:nvPr/>
        </p:nvSpPr>
        <p:spPr>
          <a:xfrm>
            <a:off x="797150" y="1573325"/>
            <a:ext cx="935100" cy="896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2"/>
          <p:cNvSpPr/>
          <p:nvPr/>
        </p:nvSpPr>
        <p:spPr>
          <a:xfrm>
            <a:off x="513875" y="3802050"/>
            <a:ext cx="3325200" cy="1065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El conector que se usa es el blanco 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3" name="Google Shape;463;p52"/>
          <p:cNvPicPr preferRelativeResize="0"/>
          <p:nvPr/>
        </p:nvPicPr>
        <p:blipFill rotWithShape="1">
          <a:blip r:embed="rId4">
            <a:alphaModFix/>
          </a:blip>
          <a:srcRect b="23452" l="28498" r="18001" t="0"/>
          <a:stretch/>
        </p:blipFill>
        <p:spPr>
          <a:xfrm>
            <a:off x="4395500" y="758750"/>
            <a:ext cx="3325076" cy="2801574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52"/>
          <p:cNvSpPr/>
          <p:nvPr/>
        </p:nvSpPr>
        <p:spPr>
          <a:xfrm>
            <a:off x="4227500" y="3802050"/>
            <a:ext cx="3325200" cy="1065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El cable sólo conecta en una dirección (no forzarlo) 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5" name="Google Shape;465;p52"/>
          <p:cNvSpPr/>
          <p:nvPr/>
        </p:nvSpPr>
        <p:spPr>
          <a:xfrm>
            <a:off x="2442575" y="1282550"/>
            <a:ext cx="2751000" cy="2322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¡Warning!</a:t>
            </a:r>
            <a:endParaRPr b="1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conectar la batería con el interruptor en ON</a:t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6" name="Google Shape;466;p52"/>
          <p:cNvSpPr/>
          <p:nvPr/>
        </p:nvSpPr>
        <p:spPr>
          <a:xfrm>
            <a:off x="7898075" y="0"/>
            <a:ext cx="1245900" cy="5143500"/>
          </a:xfrm>
          <a:prstGeom prst="snip2SameRect">
            <a:avLst>
              <a:gd fmla="val 999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52"/>
          <p:cNvSpPr/>
          <p:nvPr/>
        </p:nvSpPr>
        <p:spPr>
          <a:xfrm>
            <a:off x="950450" y="153038"/>
            <a:ext cx="6374100" cy="5127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Conexión de la batería: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3"/>
          <p:cNvSpPr txBox="1"/>
          <p:nvPr/>
        </p:nvSpPr>
        <p:spPr>
          <a:xfrm>
            <a:off x="1448550" y="1836000"/>
            <a:ext cx="62469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8032"/>
              <a:buFont typeface="Arial"/>
              <a:buNone/>
            </a:pPr>
            <a:r>
              <a:rPr b="1" i="0" lang="es" sz="61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Pines del puente h</a:t>
            </a:r>
            <a:endParaRPr b="1" i="0" sz="55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0788" y="597050"/>
            <a:ext cx="4427775" cy="44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4"/>
          <p:cNvSpPr/>
          <p:nvPr/>
        </p:nvSpPr>
        <p:spPr>
          <a:xfrm>
            <a:off x="6160529" y="2047500"/>
            <a:ext cx="684600" cy="2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4"/>
          <p:cNvSpPr txBox="1"/>
          <p:nvPr/>
        </p:nvSpPr>
        <p:spPr>
          <a:xfrm>
            <a:off x="6846450" y="1955850"/>
            <a:ext cx="314400" cy="40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1" name="Google Shape;481;p54"/>
          <p:cNvSpPr/>
          <p:nvPr/>
        </p:nvSpPr>
        <p:spPr>
          <a:xfrm>
            <a:off x="6160529" y="1600600"/>
            <a:ext cx="684600" cy="2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54"/>
          <p:cNvSpPr txBox="1"/>
          <p:nvPr/>
        </p:nvSpPr>
        <p:spPr>
          <a:xfrm>
            <a:off x="6846450" y="1486475"/>
            <a:ext cx="314400" cy="40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3" name="Google Shape;483;p54"/>
          <p:cNvSpPr/>
          <p:nvPr/>
        </p:nvSpPr>
        <p:spPr>
          <a:xfrm>
            <a:off x="6103354" y="1108750"/>
            <a:ext cx="684600" cy="2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4"/>
          <p:cNvSpPr txBox="1"/>
          <p:nvPr/>
        </p:nvSpPr>
        <p:spPr>
          <a:xfrm>
            <a:off x="6846450" y="1017100"/>
            <a:ext cx="314400" cy="40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5" name="Google Shape;485;p54"/>
          <p:cNvSpPr/>
          <p:nvPr/>
        </p:nvSpPr>
        <p:spPr>
          <a:xfrm>
            <a:off x="6225604" y="2842250"/>
            <a:ext cx="684600" cy="2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4"/>
          <p:cNvSpPr txBox="1"/>
          <p:nvPr/>
        </p:nvSpPr>
        <p:spPr>
          <a:xfrm>
            <a:off x="6950400" y="2797300"/>
            <a:ext cx="314400" cy="40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7" name="Google Shape;487;p54"/>
          <p:cNvSpPr/>
          <p:nvPr/>
        </p:nvSpPr>
        <p:spPr>
          <a:xfrm>
            <a:off x="6225604" y="3242450"/>
            <a:ext cx="684600" cy="2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54"/>
          <p:cNvSpPr txBox="1"/>
          <p:nvPr/>
        </p:nvSpPr>
        <p:spPr>
          <a:xfrm>
            <a:off x="6950400" y="3197500"/>
            <a:ext cx="314400" cy="40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p54"/>
          <p:cNvSpPr/>
          <p:nvPr/>
        </p:nvSpPr>
        <p:spPr>
          <a:xfrm>
            <a:off x="6225604" y="3687600"/>
            <a:ext cx="684600" cy="2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4"/>
          <p:cNvSpPr txBox="1"/>
          <p:nvPr/>
        </p:nvSpPr>
        <p:spPr>
          <a:xfrm>
            <a:off x="6950400" y="3642650"/>
            <a:ext cx="314400" cy="40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1" name="Google Shape;491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625" y="1118350"/>
            <a:ext cx="1745175" cy="166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650" y="2974175"/>
            <a:ext cx="1745175" cy="16629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3" name="Google Shape;493;p54"/>
          <p:cNvCxnSpPr/>
          <p:nvPr/>
        </p:nvCxnSpPr>
        <p:spPr>
          <a:xfrm rot="10800000">
            <a:off x="2067125" y="2200750"/>
            <a:ext cx="998100" cy="3576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54"/>
          <p:cNvCxnSpPr/>
          <p:nvPr/>
        </p:nvCxnSpPr>
        <p:spPr>
          <a:xfrm rot="10800000">
            <a:off x="1803725" y="2371163"/>
            <a:ext cx="1261500" cy="5925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54"/>
          <p:cNvCxnSpPr/>
          <p:nvPr/>
        </p:nvCxnSpPr>
        <p:spPr>
          <a:xfrm flipH="1">
            <a:off x="1884800" y="3459350"/>
            <a:ext cx="1267800" cy="5574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54"/>
          <p:cNvCxnSpPr/>
          <p:nvPr/>
        </p:nvCxnSpPr>
        <p:spPr>
          <a:xfrm flipH="1">
            <a:off x="1678200" y="3867425"/>
            <a:ext cx="1462500" cy="3927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97" name="Google Shape;49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4"/>
          <p:cNvSpPr/>
          <p:nvPr/>
        </p:nvSpPr>
        <p:spPr>
          <a:xfrm>
            <a:off x="7898075" y="0"/>
            <a:ext cx="1245900" cy="5143500"/>
          </a:xfrm>
          <a:prstGeom prst="snip2SameRect">
            <a:avLst>
              <a:gd fmla="val 999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291" y="135692"/>
            <a:ext cx="823233" cy="547386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54"/>
          <p:cNvSpPr/>
          <p:nvPr/>
        </p:nvSpPr>
        <p:spPr>
          <a:xfrm>
            <a:off x="1634150" y="214150"/>
            <a:ext cx="5058600" cy="769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TB6612FNG</a:t>
            </a:r>
            <a:endParaRPr b="1" i="0" sz="21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5"/>
          <p:cNvSpPr txBox="1"/>
          <p:nvPr/>
        </p:nvSpPr>
        <p:spPr>
          <a:xfrm>
            <a:off x="2617650" y="106150"/>
            <a:ext cx="457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Lógica de funcionamiento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6" name="Google Shape;506;p55"/>
          <p:cNvPicPr preferRelativeResize="0"/>
          <p:nvPr/>
        </p:nvPicPr>
        <p:blipFill rotWithShape="1">
          <a:blip r:embed="rId3">
            <a:alphaModFix/>
          </a:blip>
          <a:srcRect b="9908" l="9356" r="10808" t="9980"/>
          <a:stretch/>
        </p:blipFill>
        <p:spPr>
          <a:xfrm>
            <a:off x="225675" y="867175"/>
            <a:ext cx="3248160" cy="3259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55"/>
          <p:cNvSpPr/>
          <p:nvPr/>
        </p:nvSpPr>
        <p:spPr>
          <a:xfrm>
            <a:off x="3504367" y="1343275"/>
            <a:ext cx="684600" cy="2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233A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55"/>
          <p:cNvSpPr/>
          <p:nvPr/>
        </p:nvSpPr>
        <p:spPr>
          <a:xfrm>
            <a:off x="3504367" y="1753700"/>
            <a:ext cx="684600" cy="2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233A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55"/>
          <p:cNvSpPr/>
          <p:nvPr/>
        </p:nvSpPr>
        <p:spPr>
          <a:xfrm>
            <a:off x="4219500" y="1240900"/>
            <a:ext cx="1733700" cy="9222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Estos 2 pines controlan la dirección del motor y reciben señales digitales(HIGH/LOW)</a:t>
            </a:r>
            <a:endParaRPr b="0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0" name="Google Shape;510;p55"/>
          <p:cNvSpPr/>
          <p:nvPr/>
        </p:nvSpPr>
        <p:spPr>
          <a:xfrm>
            <a:off x="3504325" y="893325"/>
            <a:ext cx="2688900" cy="2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233A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55"/>
          <p:cNvSpPr/>
          <p:nvPr/>
        </p:nvSpPr>
        <p:spPr>
          <a:xfrm>
            <a:off x="6193225" y="867175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Este pin controla la velocidad del motor de manera independiente</a:t>
            </a:r>
            <a:endParaRPr b="0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512" name="Google Shape;512;p55"/>
          <p:cNvGraphicFramePr/>
          <p:nvPr/>
        </p:nvGraphicFramePr>
        <p:xfrm>
          <a:off x="4288763" y="2309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{5222A9EF-95C2-4308-999E-ECB131674C94}</a:tableStyleId>
              </a:tblPr>
              <a:tblGrid>
                <a:gridCol w="668700"/>
                <a:gridCol w="593500"/>
                <a:gridCol w="795750"/>
                <a:gridCol w="2264950"/>
              </a:tblGrid>
              <a:tr h="369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AI1</a:t>
                      </a:r>
                      <a:endParaRPr b="1" sz="14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AI2</a:t>
                      </a:r>
                      <a:endParaRPr b="1" sz="14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PWMA</a:t>
                      </a:r>
                      <a:endParaRPr b="1" sz="14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ACCIÓN</a:t>
                      </a:r>
                      <a:endParaRPr b="1" sz="14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</a:tr>
              <a:tr h="369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LOW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LOW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Motor apagado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</a:tr>
              <a:tr h="712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LOW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1-255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Motor gira en un sentido con la velocidad en base a PWMA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  <a:tr h="712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LOW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1-255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Motor gira en un sentido contrario con la velocidad en base a</a:t>
                      </a: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PWMA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</a:tr>
              <a:tr h="369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0-255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Bloqueo del motor</a:t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</a:tbl>
          </a:graphicData>
        </a:graphic>
      </p:graphicFrame>
      <p:sp>
        <p:nvSpPr>
          <p:cNvPr id="513" name="Google Shape;513;p55"/>
          <p:cNvSpPr/>
          <p:nvPr/>
        </p:nvSpPr>
        <p:spPr>
          <a:xfrm>
            <a:off x="150675" y="4223975"/>
            <a:ext cx="4038300" cy="7275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Tratar de evitar el último estado ya que puede dañar los motores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4" name="Google Shape;514;p55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55"/>
          <p:cNvSpPr/>
          <p:nvPr/>
        </p:nvSpPr>
        <p:spPr>
          <a:xfrm>
            <a:off x="2006225" y="47075"/>
            <a:ext cx="5058600" cy="769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Funcionamiento</a:t>
            </a:r>
            <a:endParaRPr b="1" i="0" sz="21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6"/>
          <p:cNvSpPr txBox="1"/>
          <p:nvPr/>
        </p:nvSpPr>
        <p:spPr>
          <a:xfrm>
            <a:off x="29200" y="1250550"/>
            <a:ext cx="9144000" cy="26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" sz="53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Listo!</a:t>
            </a:r>
            <a:endParaRPr b="1" i="0" sz="5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7"/>
          <p:cNvSpPr txBox="1"/>
          <p:nvPr/>
        </p:nvSpPr>
        <p:spPr>
          <a:xfrm>
            <a:off x="29200" y="1250550"/>
            <a:ext cx="9144000" cy="26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" sz="53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Ahora!</a:t>
            </a:r>
            <a:endParaRPr b="1" i="0" sz="5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8"/>
          <p:cNvSpPr txBox="1"/>
          <p:nvPr/>
        </p:nvSpPr>
        <p:spPr>
          <a:xfrm>
            <a:off x="0" y="1285050"/>
            <a:ext cx="9144000" cy="26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" sz="53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A Programar!</a:t>
            </a:r>
            <a:endParaRPr b="1" i="0" sz="5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9"/>
          <p:cNvSpPr txBox="1"/>
          <p:nvPr/>
        </p:nvSpPr>
        <p:spPr>
          <a:xfrm>
            <a:off x="1448550" y="1836000"/>
            <a:ext cx="62469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Arial"/>
              <a:buNone/>
            </a:pPr>
            <a:r>
              <a:rPr b="1" i="0" lang="es" sz="3655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Recordando el uso de ventanas</a:t>
            </a:r>
            <a:endParaRPr b="1" i="0" sz="3325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60"/>
          <p:cNvPicPr preferRelativeResize="0"/>
          <p:nvPr/>
        </p:nvPicPr>
        <p:blipFill rotWithShape="1">
          <a:blip r:embed="rId3">
            <a:alphaModFix/>
          </a:blip>
          <a:srcRect b="17654" l="0" r="0" t="0"/>
          <a:stretch/>
        </p:blipFill>
        <p:spPr>
          <a:xfrm>
            <a:off x="1157175" y="588375"/>
            <a:ext cx="7039300" cy="35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60"/>
          <p:cNvSpPr/>
          <p:nvPr/>
        </p:nvSpPr>
        <p:spPr>
          <a:xfrm>
            <a:off x="7661570" y="1297166"/>
            <a:ext cx="534900" cy="351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60"/>
          <p:cNvSpPr/>
          <p:nvPr/>
        </p:nvSpPr>
        <p:spPr>
          <a:xfrm>
            <a:off x="315899" y="3326634"/>
            <a:ext cx="8512200" cy="1228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crear una ventana: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atajo: CTRL+MAYUS+N</a:t>
            </a: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575" y="694531"/>
            <a:ext cx="6617175" cy="32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61"/>
          <p:cNvSpPr/>
          <p:nvPr/>
        </p:nvSpPr>
        <p:spPr>
          <a:xfrm>
            <a:off x="3097691" y="2011100"/>
            <a:ext cx="3633900" cy="468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61"/>
          <p:cNvSpPr/>
          <p:nvPr/>
        </p:nvSpPr>
        <p:spPr>
          <a:xfrm>
            <a:off x="315899" y="3326634"/>
            <a:ext cx="8512200" cy="1228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Nómbralo y le damos a </a:t>
            </a: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enter</a:t>
            </a: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nombre: variable.h 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523" y="246950"/>
            <a:ext cx="7854950" cy="412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62"/>
          <p:cNvSpPr/>
          <p:nvPr/>
        </p:nvSpPr>
        <p:spPr>
          <a:xfrm>
            <a:off x="315899" y="3281234"/>
            <a:ext cx="8512200" cy="1228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Usaremos #define para definir variables: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Valores de un motor, completa el otro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6" name="Google Shape;556;p62"/>
          <p:cNvSpPr/>
          <p:nvPr/>
        </p:nvSpPr>
        <p:spPr>
          <a:xfrm>
            <a:off x="549524" y="1458700"/>
            <a:ext cx="2404500" cy="1461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625" y="204725"/>
            <a:ext cx="7275125" cy="42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63"/>
          <p:cNvSpPr/>
          <p:nvPr/>
        </p:nvSpPr>
        <p:spPr>
          <a:xfrm>
            <a:off x="315899" y="3487782"/>
            <a:ext cx="8512200" cy="10674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Usaremos #include para llamar a la ventana “variable.h”: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3" name="Google Shape;563;p63"/>
          <p:cNvSpPr/>
          <p:nvPr/>
        </p:nvSpPr>
        <p:spPr>
          <a:xfrm>
            <a:off x="693126" y="1278775"/>
            <a:ext cx="3204000" cy="35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4150" y="1350500"/>
            <a:ext cx="6713925" cy="22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64"/>
          <p:cNvSpPr/>
          <p:nvPr/>
        </p:nvSpPr>
        <p:spPr>
          <a:xfrm>
            <a:off x="315899" y="3487782"/>
            <a:ext cx="8512200" cy="10674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Creamos una ventana nueva, nómbrala y le damos a </a:t>
            </a: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enter</a:t>
            </a: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nombre: motores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0" name="Google Shape;570;p64"/>
          <p:cNvSpPr/>
          <p:nvPr/>
        </p:nvSpPr>
        <p:spPr>
          <a:xfrm>
            <a:off x="3135675" y="1933275"/>
            <a:ext cx="5072400" cy="4281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213" y="169825"/>
            <a:ext cx="8373575" cy="441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65"/>
          <p:cNvSpPr/>
          <p:nvPr/>
        </p:nvSpPr>
        <p:spPr>
          <a:xfrm>
            <a:off x="315899" y="3664407"/>
            <a:ext cx="8512200" cy="10674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Creamos las función void motorSetup y void motores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375" y="65225"/>
            <a:ext cx="8353975" cy="4416925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66"/>
          <p:cNvSpPr/>
          <p:nvPr/>
        </p:nvSpPr>
        <p:spPr>
          <a:xfrm>
            <a:off x="315899" y="3487782"/>
            <a:ext cx="8512200" cy="10674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Las funciones pueden llamarse de la siguiente manera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7" name="Google Shape;587;p67"/>
          <p:cNvCxnSpPr/>
          <p:nvPr/>
        </p:nvCxnSpPr>
        <p:spPr>
          <a:xfrm>
            <a:off x="445050" y="-43800"/>
            <a:ext cx="2692200" cy="5231100"/>
          </a:xfrm>
          <a:prstGeom prst="straightConnector1">
            <a:avLst/>
          </a:prstGeom>
          <a:noFill/>
          <a:ln cap="flat" cmpd="sng" w="228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8" name="Google Shape;588;p67"/>
          <p:cNvSpPr/>
          <p:nvPr/>
        </p:nvSpPr>
        <p:spPr>
          <a:xfrm>
            <a:off x="345525" y="81475"/>
            <a:ext cx="85122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Desafío</a:t>
            </a:r>
            <a:endParaRPr b="0" i="0" sz="2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p67"/>
          <p:cNvSpPr/>
          <p:nvPr/>
        </p:nvSpPr>
        <p:spPr>
          <a:xfrm>
            <a:off x="345525" y="1014550"/>
            <a:ext cx="8512200" cy="1228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 las funciones para que Hermes pueda moverse.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0" name="Google Shape;59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126" y="1488350"/>
            <a:ext cx="3020050" cy="30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Google Shape;59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9425" y="2809157"/>
            <a:ext cx="1919801" cy="2030868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68"/>
          <p:cNvSpPr/>
          <p:nvPr/>
        </p:nvSpPr>
        <p:spPr>
          <a:xfrm>
            <a:off x="213125" y="676500"/>
            <a:ext cx="5380800" cy="3029700"/>
          </a:xfrm>
          <a:prstGeom prst="cloudCallout">
            <a:avLst>
              <a:gd fmla="val 72679" name="adj1"/>
              <a:gd fmla="val 317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" sz="23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¿Qué aprendimos hoy?</a:t>
            </a:r>
            <a:endParaRPr b="1" i="0" sz="23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02" name="Google Shape;602;p69"/>
          <p:cNvSpPr txBox="1"/>
          <p:nvPr/>
        </p:nvSpPr>
        <p:spPr>
          <a:xfrm>
            <a:off x="759925" y="1234250"/>
            <a:ext cx="75744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Clubes de Ciencia y Tecnología 2024 - Línea robots velocistas HERMES</a:t>
            </a:r>
            <a:endParaRPr b="1" i="0" sz="15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Estos materiales han sido elaborados por René Garcés  para el Programa de Ciencia y Tecnología de Fundación Gabriel &amp; Mary Mustakis. Se permite su uso bajo licencia Creative Commons (CC) por las Universidades Socias del Programa de Ciencia y Tecnología de Fundación Gabriel &amp; Mary Mustakis.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Versión 3 - Agosto 2024 </a:t>
            </a:r>
            <a:endParaRPr b="1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3" name="Google Shape;603;p69"/>
          <p:cNvSpPr txBox="1"/>
          <p:nvPr/>
        </p:nvSpPr>
        <p:spPr>
          <a:xfrm>
            <a:off x="2903400" y="4650625"/>
            <a:ext cx="3337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Publicado Bajo Licencia Creative Commons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Atribución-NoComercial-CompartirIgual (CC BY-NC-SA)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4" name="Google Shape;60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213" y="3910275"/>
            <a:ext cx="471550" cy="4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5386" y="4411750"/>
            <a:ext cx="873325" cy="2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ACH-01-01" id="606" name="Google Shape;606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7975" y="2847163"/>
            <a:ext cx="14763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TC-01" id="607" name="Google Shape;607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60325" y="2847163"/>
            <a:ext cx="13620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wP2h_lc6--vyMzu5qXgRG-Bbe6w1LN7Ph5RgxIP2Ngd_pFZFcUDkC-cp09ZNvc-Xm3iTwoQ8go_elSTWCw68Lrn_HKTBlb9E-8CWQqnHg6t8L9JidsYDttMUJ7XHVUWj9hjtPLtPZtU" id="608" name="Google Shape;608;p69"/>
          <p:cNvPicPr preferRelativeResize="0"/>
          <p:nvPr/>
        </p:nvPicPr>
        <p:blipFill rotWithShape="1">
          <a:blip r:embed="rId7">
            <a:alphaModFix/>
          </a:blip>
          <a:srcRect b="0" l="5141" r="0" t="3427"/>
          <a:stretch/>
        </p:blipFill>
        <p:spPr>
          <a:xfrm>
            <a:off x="4884250" y="2828650"/>
            <a:ext cx="769150" cy="779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TFSM-01" id="609" name="Google Shape;609;p6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9925" y="2877075"/>
            <a:ext cx="1303350" cy="683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6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9488" y="2836300"/>
            <a:ext cx="895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6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22801" y="2845825"/>
            <a:ext cx="838115" cy="70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6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31486" y="3949"/>
            <a:ext cx="3681126" cy="11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