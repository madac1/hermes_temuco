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Proxima Nova"/>
      <p:regular r:id="rId29"/>
      <p:bold r:id="rId30"/>
      <p:italic r:id="rId31"/>
      <p:boldItalic r:id="rId32"/>
    </p:embeddedFont>
    <p:embeddedFont>
      <p:font typeface="Poppi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A25C6C-8D82-4E88-A543-4EBFABDAACE7}">
  <a:tblStyle styleId="{5DA25C6C-8D82-4E88-A543-4EBFABDAAC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5.xml"/><Relationship Id="rId33" Type="http://schemas.openxmlformats.org/officeDocument/2006/relationships/font" Target="fonts/Poppins-regular.fntdata"/><Relationship Id="rId10" Type="http://schemas.openxmlformats.org/officeDocument/2006/relationships/slide" Target="slides/slide4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-italic.fntdata"/><Relationship Id="rId12" Type="http://schemas.openxmlformats.org/officeDocument/2006/relationships/slide" Target="slides/slide6.xml"/><Relationship Id="rId34" Type="http://schemas.openxmlformats.org/officeDocument/2006/relationships/font" Target="fonts/Poppi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f0795a553b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2f0795a553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0795a55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2f0795a55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f0795a553b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2f0795a553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f0795a553b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2f0795a553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GIRA Y COMENTA 5 MIN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dca2655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6dca2655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0795a553b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2f0795a553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Aquí mostrar que el sensor muestra la posición relativa a la línea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f0795a553b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2f0795a553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0795a553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2f0795a553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0795a553b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2f0795a553b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0795a553b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2f0795a553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0795a553b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2f0795a553b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0795a553b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2f0795a553b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f0795a553b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2f0795a553b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0795a553b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2f0795a553b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0795a553b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2f0795a553b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0795a553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2f0795a553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6.png"/><Relationship Id="rId5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Relationship Id="rId4" Type="http://schemas.openxmlformats.org/officeDocument/2006/relationships/image" Target="../media/image32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9" Type="http://schemas.openxmlformats.org/officeDocument/2006/relationships/image" Target="../media/image22.jp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20.jp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009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1805125"/>
            <a:ext cx="91440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Helvetica Neue"/>
              <a:buNone/>
            </a:pP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i="0" lang="es" sz="5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esió</a:t>
            </a:r>
            <a:r>
              <a:rPr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2</a:t>
            </a:r>
            <a:endParaRPr i="0" sz="5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Clubes de Ciencia y Tecnología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Línea robots velocistas</a:t>
            </a:r>
            <a:endParaRPr i="0" sz="2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8238" y="-4750"/>
            <a:ext cx="3967524" cy="1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1705350" y="1928400"/>
            <a:ext cx="57333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¡Recordemos!</a:t>
            </a:r>
            <a:endParaRPr b="1" i="0" sz="7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1388325" y="1017725"/>
            <a:ext cx="5929800" cy="2423400"/>
          </a:xfrm>
          <a:prstGeom prst="cloudCallout">
            <a:avLst>
              <a:gd fmla="val 51093" name="adj1"/>
              <a:gd fmla="val 65398" name="adj2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son los motores?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es un puente H?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¿Cómo logramos hacer que nuestro robot se mueva?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118600" y="214325"/>
            <a:ext cx="49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vimos la clase anterior?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3100" y="3069282"/>
            <a:ext cx="1919801" cy="2030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2089050" y="178775"/>
            <a:ext cx="49659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¿Que vimos la clase anterior?</a:t>
            </a:r>
            <a:endParaRPr b="1" i="0" sz="23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57177" y="1668375"/>
            <a:ext cx="91440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80"/>
              <a:buFont typeface="Arial"/>
              <a:buNone/>
            </a:pPr>
            <a:r>
              <a:rPr b="1" i="0" lang="es" sz="358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 Y…¿Qué haremos hoy?</a:t>
            </a:r>
            <a:endParaRPr b="1" i="0" sz="358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9275" y="2882132"/>
            <a:ext cx="1919801" cy="203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791500" y="292150"/>
            <a:ext cx="35610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900" u="none" cap="none" strike="noStrik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1" i="0" sz="2900" u="none" cap="none" strike="noStrike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5925" y="1091051"/>
            <a:ext cx="3652150" cy="3442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3060450" y="1660500"/>
            <a:ext cx="3023100" cy="25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"/>
              <a:buAutoNum type="arabicPeriod"/>
            </a:pP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Aprender de sensores de línea.</a:t>
            </a:r>
            <a:endParaRPr b="1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"/>
              <a:buAutoNum type="arabicPeriod"/>
            </a:pP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Sensor QTR8A.</a:t>
            </a:r>
            <a:endParaRPr b="1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"/>
              <a:buAutoNum type="arabicPeriod"/>
            </a:pP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Configurar el sensor</a:t>
            </a:r>
            <a:endParaRPr b="1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oppins"/>
              <a:buAutoNum type="arabicPeriod"/>
            </a:pPr>
            <a:r>
              <a:rPr b="1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lectura del sensor</a:t>
            </a:r>
            <a:endParaRPr b="1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9364" y="900037"/>
            <a:ext cx="725275" cy="7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439525" y="1209600"/>
            <a:ext cx="5730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5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¿Qué es un sensor infrarrojo?</a:t>
            </a:r>
            <a:endParaRPr b="1" i="0" sz="5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5875" y="2051300"/>
            <a:ext cx="3363525" cy="2656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8223150" y="139500"/>
            <a:ext cx="763525" cy="7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1941900" y="199775"/>
            <a:ext cx="57300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¿Qué es un sensor infrarrojo?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291975" y="2035925"/>
            <a:ext cx="3852000" cy="1762200"/>
          </a:xfrm>
          <a:prstGeom prst="roundRect">
            <a:avLst>
              <a:gd fmla="val 50000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tipo de sensor que puede medir la reflectancia de una superficie</a:t>
            </a:r>
            <a:endParaRPr b="0" i="1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9875" y="1508100"/>
            <a:ext cx="3363525" cy="2656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dibujo, plato&#10;&#10;Descripción generada automáticamente" id="99" name="Google Shape;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2052" y="2166313"/>
            <a:ext cx="789709" cy="2301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1941900" y="47375"/>
            <a:ext cx="573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¿Cómo funciona?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3">
            <a:alphaModFix/>
          </a:blip>
          <a:srcRect b="37255" l="42592" r="4119" t="22033"/>
          <a:stretch/>
        </p:blipFill>
        <p:spPr>
          <a:xfrm rot="5400000">
            <a:off x="3416726" y="1063634"/>
            <a:ext cx="2127525" cy="162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20"/>
          <p:cNvCxnSpPr/>
          <p:nvPr/>
        </p:nvCxnSpPr>
        <p:spPr>
          <a:xfrm rot="10800000">
            <a:off x="1859063" y="1620600"/>
            <a:ext cx="2463300" cy="10836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p20"/>
          <p:cNvSpPr/>
          <p:nvPr/>
        </p:nvSpPr>
        <p:spPr>
          <a:xfrm>
            <a:off x="253013" y="99830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Emisor infrarrojo</a:t>
            </a:r>
            <a:endParaRPr b="0" i="0" sz="1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3342763" y="4040625"/>
            <a:ext cx="2564400" cy="88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Superficie blanca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 flipH="1">
            <a:off x="4430788" y="2754775"/>
            <a:ext cx="21600" cy="128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20"/>
          <p:cNvCxnSpPr>
            <a:endCxn id="111" idx="3"/>
          </p:cNvCxnSpPr>
          <p:nvPr/>
        </p:nvCxnSpPr>
        <p:spPr>
          <a:xfrm rot="10800000">
            <a:off x="2015388" y="3174075"/>
            <a:ext cx="2335800" cy="1371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20"/>
          <p:cNvSpPr/>
          <p:nvPr/>
        </p:nvSpPr>
        <p:spPr>
          <a:xfrm>
            <a:off x="375888" y="2630175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emite una luz infrarroja</a:t>
            </a:r>
            <a:endParaRPr b="0" i="0" sz="1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2" name="Google Shape;112;p20"/>
          <p:cNvCxnSpPr/>
          <p:nvPr/>
        </p:nvCxnSpPr>
        <p:spPr>
          <a:xfrm flipH="1" rot="10800000">
            <a:off x="4951613" y="2754775"/>
            <a:ext cx="21600" cy="128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20"/>
          <p:cNvCxnSpPr>
            <a:endCxn id="114" idx="1"/>
          </p:cNvCxnSpPr>
          <p:nvPr/>
        </p:nvCxnSpPr>
        <p:spPr>
          <a:xfrm flipH="1" rot="10800000">
            <a:off x="5080988" y="2786125"/>
            <a:ext cx="1786800" cy="6261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20"/>
          <p:cNvSpPr/>
          <p:nvPr/>
        </p:nvSpPr>
        <p:spPr>
          <a:xfrm>
            <a:off x="6867963" y="2341225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 ser una superficie blanca, la luz rebota</a:t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6" name="Google Shape;116;p20"/>
          <p:cNvCxnSpPr/>
          <p:nvPr/>
        </p:nvCxnSpPr>
        <p:spPr>
          <a:xfrm flipH="1" rot="10800000">
            <a:off x="5138688" y="1490575"/>
            <a:ext cx="1878300" cy="10836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20"/>
          <p:cNvSpPr/>
          <p:nvPr/>
        </p:nvSpPr>
        <p:spPr>
          <a:xfrm>
            <a:off x="7068463" y="76060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Receptor infrarrojo</a:t>
            </a:r>
            <a:endParaRPr b="0" i="0" sz="1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6280063" y="3592750"/>
            <a:ext cx="2610900" cy="1402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receptor detecta la luz infrarroja y se lee un valor cercano a 0</a:t>
            </a:r>
            <a:endParaRPr b="0" i="0" sz="1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3342763" y="4040625"/>
            <a:ext cx="2564400" cy="881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Superficie negra</a:t>
            </a:r>
            <a:endParaRPr b="0" i="0" sz="19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0" name="Google Shape;120;p20"/>
          <p:cNvCxnSpPr>
            <a:endCxn id="114" idx="1"/>
          </p:cNvCxnSpPr>
          <p:nvPr/>
        </p:nvCxnSpPr>
        <p:spPr>
          <a:xfrm flipH="1" rot="10800000">
            <a:off x="5182088" y="2786125"/>
            <a:ext cx="1685700" cy="11844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20"/>
          <p:cNvSpPr/>
          <p:nvPr/>
        </p:nvSpPr>
        <p:spPr>
          <a:xfrm>
            <a:off x="6867788" y="2143225"/>
            <a:ext cx="2023200" cy="1285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 ser una superficie negra, la luz es absorbida</a:t>
            </a:r>
            <a:endParaRPr b="0" i="0" sz="1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6280063" y="3592750"/>
            <a:ext cx="2610900" cy="1402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receptor no detecta luz infrarroja y lee un valor cercano a 1023</a:t>
            </a:r>
            <a:endParaRPr b="0" i="0" sz="1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425" y="1277066"/>
            <a:ext cx="8807150" cy="368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449200" y="4829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Recordemos…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/>
        </p:nvSpPr>
        <p:spPr>
          <a:xfrm>
            <a:off x="1941900" y="199775"/>
            <a:ext cx="573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" sz="3000" u="none" cap="none" strike="noStrike">
                <a:solidFill>
                  <a:srgbClr val="FA8A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QTR-8A</a:t>
            </a:r>
            <a:endParaRPr b="1" i="0" sz="30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 rotWithShape="1">
          <a:blip r:embed="rId3">
            <a:alphaModFix/>
          </a:blip>
          <a:srcRect b="25785" l="0" r="0" t="26925"/>
          <a:stretch/>
        </p:blipFill>
        <p:spPr>
          <a:xfrm>
            <a:off x="277525" y="932150"/>
            <a:ext cx="4294475" cy="203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4958250" y="1038050"/>
            <a:ext cx="39087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900" u="none" cap="none" strike="noStrik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Este semestre trabajaremos con este sensor, el cual es muy utilizado en robots velocistas debido a su precisión y facilidad de uso.</a:t>
            </a:r>
            <a:endParaRPr b="1" i="0" sz="1900" u="none" cap="none" strike="noStrike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977400" y="3252825"/>
            <a:ext cx="7189200" cy="1348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Funciona exactamente igual que los sensores del iroh, excepto que en este caso, en vez de ser 3 sensores separados, se tienen 6 en la misma placa.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1266025" y="154550"/>
            <a:ext cx="6286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QTR-8A</a:t>
            </a:r>
            <a:endParaRPr b="1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/>
          <p:nvPr/>
        </p:nvSpPr>
        <p:spPr>
          <a:xfrm>
            <a:off x="95875" y="1406050"/>
            <a:ext cx="697800" cy="2752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6446" l="2567" r="27291" t="60309"/>
          <a:stretch/>
        </p:blipFill>
        <p:spPr>
          <a:xfrm>
            <a:off x="455125" y="2657450"/>
            <a:ext cx="2435874" cy="5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/>
        </p:nvSpPr>
        <p:spPr>
          <a:xfrm>
            <a:off x="3828900" y="4306175"/>
            <a:ext cx="14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Posición = 0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4060213" y="1339375"/>
            <a:ext cx="697800" cy="2752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 b="6446" l="0" r="27293" t="60309"/>
          <a:stretch/>
        </p:blipFill>
        <p:spPr>
          <a:xfrm>
            <a:off x="3146600" y="2629275"/>
            <a:ext cx="2525025" cy="5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/>
        </p:nvSpPr>
        <p:spPr>
          <a:xfrm>
            <a:off x="668266" y="4306175"/>
            <a:ext cx="151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Posición = 255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7988975" y="1315350"/>
            <a:ext cx="697800" cy="2752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 rotWithShape="1">
          <a:blip r:embed="rId3">
            <a:alphaModFix/>
          </a:blip>
          <a:srcRect b="6446" l="0" r="28759" t="60309"/>
          <a:stretch/>
        </p:blipFill>
        <p:spPr>
          <a:xfrm>
            <a:off x="5877025" y="2647950"/>
            <a:ext cx="2474201" cy="5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/>
        </p:nvSpPr>
        <p:spPr>
          <a:xfrm>
            <a:off x="6835325" y="4306150"/>
            <a:ext cx="16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Posición = -255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96450" y="4951450"/>
            <a:ext cx="690000" cy="1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2083350" y="106150"/>
            <a:ext cx="497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¿Cómo funciona?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>
            <a:off x="1266025" y="154550"/>
            <a:ext cx="6286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¿Cómo funciona?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275" y="562250"/>
            <a:ext cx="5127450" cy="2852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24"/>
          <p:cNvGraphicFramePr/>
          <p:nvPr/>
        </p:nvGraphicFramePr>
        <p:xfrm>
          <a:off x="2231925" y="32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{5DA25C6C-8D82-4E88-A543-4EBFABDAACE7}</a:tableStyleId>
              </a:tblPr>
              <a:tblGrid>
                <a:gridCol w="594250"/>
                <a:gridCol w="594250"/>
                <a:gridCol w="594250"/>
                <a:gridCol w="594250"/>
                <a:gridCol w="594250"/>
                <a:gridCol w="594250"/>
                <a:gridCol w="594250"/>
                <a:gridCol w="594250"/>
                <a:gridCol w="5942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LED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VCC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0" name="Google Shape;160;p24"/>
          <p:cNvGraphicFramePr/>
          <p:nvPr/>
        </p:nvGraphicFramePr>
        <p:xfrm>
          <a:off x="2231925" y="447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{5DA25C6C-8D82-4E88-A543-4EBFABDAACE7}</a:tableStyleId>
              </a:tblPr>
              <a:tblGrid>
                <a:gridCol w="594250"/>
                <a:gridCol w="594250"/>
                <a:gridCol w="594250"/>
                <a:gridCol w="594250"/>
                <a:gridCol w="594250"/>
                <a:gridCol w="594250"/>
                <a:gridCol w="594250"/>
                <a:gridCol w="594250"/>
                <a:gridCol w="5942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VCC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1" name="Google Shape;161;p24"/>
          <p:cNvSpPr/>
          <p:nvPr/>
        </p:nvSpPr>
        <p:spPr>
          <a:xfrm rot="5400000">
            <a:off x="6840525" y="3977200"/>
            <a:ext cx="8070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/>
          <p:nvPr/>
        </p:nvSpPr>
        <p:spPr>
          <a:xfrm rot="5400000">
            <a:off x="6307125" y="3977200"/>
            <a:ext cx="8070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/>
          <p:nvPr/>
        </p:nvSpPr>
        <p:spPr>
          <a:xfrm rot="5400000">
            <a:off x="5697525" y="3977200"/>
            <a:ext cx="8070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/>
          <p:nvPr/>
        </p:nvSpPr>
        <p:spPr>
          <a:xfrm rot="5400000">
            <a:off x="5087925" y="3977200"/>
            <a:ext cx="8070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4"/>
          <p:cNvSpPr/>
          <p:nvPr/>
        </p:nvSpPr>
        <p:spPr>
          <a:xfrm rot="5400000">
            <a:off x="4478325" y="3977200"/>
            <a:ext cx="8070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/>
          <p:nvPr/>
        </p:nvSpPr>
        <p:spPr>
          <a:xfrm rot="5400000">
            <a:off x="3868725" y="3977200"/>
            <a:ext cx="8070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4"/>
          <p:cNvSpPr/>
          <p:nvPr/>
        </p:nvSpPr>
        <p:spPr>
          <a:xfrm rot="5400000">
            <a:off x="3335325" y="3977200"/>
            <a:ext cx="8070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/>
          <p:nvPr/>
        </p:nvSpPr>
        <p:spPr>
          <a:xfrm rot="5400000">
            <a:off x="2725725" y="3977200"/>
            <a:ext cx="8070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/>
          <p:nvPr/>
        </p:nvSpPr>
        <p:spPr>
          <a:xfrm rot="5400000">
            <a:off x="2116125" y="3977200"/>
            <a:ext cx="807000" cy="21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/>
          <p:nvPr/>
        </p:nvSpPr>
        <p:spPr>
          <a:xfrm rot="-905971">
            <a:off x="4545969" y="2202104"/>
            <a:ext cx="1337062" cy="238622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96450" y="4951450"/>
            <a:ext cx="690000" cy="11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988800" y="106150"/>
            <a:ext cx="71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¿Cómo está conectado internamente?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636624"/>
            <a:ext cx="3913948" cy="293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2617650" y="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Ensamblaje Sensor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425950" y="3687100"/>
            <a:ext cx="3996900" cy="719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Asegurarse de que los sensores estén apuntando hacia abajo 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4572000" y="3654625"/>
            <a:ext cx="3996900" cy="719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Conectar el sensor de manera que todos los pines queden conectados. 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5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8047482" y="95099"/>
            <a:ext cx="1020395" cy="459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975" y="652875"/>
            <a:ext cx="3913943" cy="293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/>
        </p:nvSpPr>
        <p:spPr>
          <a:xfrm>
            <a:off x="988800" y="106150"/>
            <a:ext cx="71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Instalando la librería</a:t>
            </a:r>
            <a:endParaRPr b="1" i="0" sz="2400" u="none" cap="none" strike="noStrike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 rotWithShape="1">
          <a:blip r:embed="rId3">
            <a:alphaModFix/>
          </a:blip>
          <a:srcRect b="0" l="0" r="23005" t="0"/>
          <a:stretch/>
        </p:blipFill>
        <p:spPr>
          <a:xfrm>
            <a:off x="218325" y="790675"/>
            <a:ext cx="3199675" cy="385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2500" y="945775"/>
            <a:ext cx="5540625" cy="310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/>
          <p:nvPr/>
        </p:nvSpPr>
        <p:spPr>
          <a:xfrm>
            <a:off x="1577400" y="1004150"/>
            <a:ext cx="291000" cy="17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26"/>
          <p:cNvCxnSpPr/>
          <p:nvPr/>
        </p:nvCxnSpPr>
        <p:spPr>
          <a:xfrm>
            <a:off x="824275" y="296750"/>
            <a:ext cx="892200" cy="70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26"/>
          <p:cNvSpPr/>
          <p:nvPr/>
        </p:nvSpPr>
        <p:spPr>
          <a:xfrm>
            <a:off x="1577400" y="1907100"/>
            <a:ext cx="1744200" cy="17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26"/>
          <p:cNvCxnSpPr>
            <a:endCxn id="193" idx="2"/>
          </p:cNvCxnSpPr>
          <p:nvPr/>
        </p:nvCxnSpPr>
        <p:spPr>
          <a:xfrm rot="10800000">
            <a:off x="2449500" y="2077800"/>
            <a:ext cx="834900" cy="999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26"/>
          <p:cNvSpPr/>
          <p:nvPr/>
        </p:nvSpPr>
        <p:spPr>
          <a:xfrm>
            <a:off x="218325" y="1986738"/>
            <a:ext cx="1744200" cy="17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26"/>
          <p:cNvCxnSpPr>
            <a:endCxn id="195" idx="2"/>
          </p:cNvCxnSpPr>
          <p:nvPr/>
        </p:nvCxnSpPr>
        <p:spPr>
          <a:xfrm rot="10800000">
            <a:off x="1090425" y="2157438"/>
            <a:ext cx="834900" cy="999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" name="Google Shape;197;p26"/>
          <p:cNvSpPr/>
          <p:nvPr/>
        </p:nvSpPr>
        <p:spPr>
          <a:xfrm>
            <a:off x="5380713" y="1174850"/>
            <a:ext cx="1744200" cy="17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26"/>
          <p:cNvCxnSpPr>
            <a:endCxn id="197" idx="0"/>
          </p:cNvCxnSpPr>
          <p:nvPr/>
        </p:nvCxnSpPr>
        <p:spPr>
          <a:xfrm flipH="1">
            <a:off x="6252813" y="505250"/>
            <a:ext cx="681000" cy="66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26"/>
          <p:cNvSpPr/>
          <p:nvPr/>
        </p:nvSpPr>
        <p:spPr>
          <a:xfrm>
            <a:off x="3639117" y="3537775"/>
            <a:ext cx="593100" cy="170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26"/>
          <p:cNvCxnSpPr/>
          <p:nvPr/>
        </p:nvCxnSpPr>
        <p:spPr>
          <a:xfrm rot="10800000">
            <a:off x="4168729" y="3768075"/>
            <a:ext cx="574500" cy="687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26"/>
          <p:cNvSpPr/>
          <p:nvPr/>
        </p:nvSpPr>
        <p:spPr>
          <a:xfrm>
            <a:off x="3482492" y="2902600"/>
            <a:ext cx="5409000" cy="999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5493975" y="4208400"/>
            <a:ext cx="3026400" cy="7074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Usaremos la V3.1!!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3" name="Google Shape;203;p26"/>
          <p:cNvPicPr preferRelativeResize="0"/>
          <p:nvPr/>
        </p:nvPicPr>
        <p:blipFill rotWithShape="1">
          <a:blip r:embed="rId5">
            <a:alphaModFix/>
          </a:blip>
          <a:srcRect b="21938" l="9222" r="8364" t="22367"/>
          <a:stretch/>
        </p:blipFill>
        <p:spPr>
          <a:xfrm>
            <a:off x="8047482" y="95099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/>
        </p:nvSpPr>
        <p:spPr>
          <a:xfrm>
            <a:off x="1941900" y="199775"/>
            <a:ext cx="573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QTR-8A: Programación</a:t>
            </a:r>
            <a:endParaRPr b="0" i="0" sz="3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288800" y="846275"/>
            <a:ext cx="8710800" cy="3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i="0" lang="es" sz="16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i="0" lang="es" sz="16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QTRSensors</a:t>
            </a: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.h&gt;</a:t>
            </a:r>
            <a:endParaRPr b="1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#define </a:t>
            </a: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NUM_SENSORS 				6	</a:t>
            </a:r>
            <a:r>
              <a:rPr b="1" i="0" lang="es" sz="16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Número sensores usados</a:t>
            </a:r>
            <a:endParaRPr b="1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b="1" i="0" lang="es" sz="1600" u="none" cap="none" strike="noStrike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NUM_SAMPLES_PER_SENSOR 	4	</a:t>
            </a:r>
            <a:r>
              <a:rPr b="1" i="0" lang="es" sz="16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Muestras por sensor (DEJAR EN 4)</a:t>
            </a:r>
            <a:endParaRPr b="1" i="0" sz="1600" u="none" cap="none" strike="noStrike"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#define </a:t>
            </a: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EMITTER_PIN             11  	</a:t>
            </a:r>
            <a:r>
              <a:rPr b="1" i="0" lang="es" sz="16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Pin del emisor</a:t>
            </a:r>
            <a:endParaRPr b="1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Se crea la variable que representa al sensor</a:t>
            </a:r>
            <a:endParaRPr b="1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QTRSensorsAnalog </a:t>
            </a: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qtra ((</a:t>
            </a:r>
            <a:r>
              <a:rPr b="1" i="0" lang="es" sz="16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unsigned char</a:t>
            </a: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[])</a:t>
            </a: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{5,4,3,2,1,0}</a:t>
            </a: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1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NUM_SENSORS, NUM_SAMPLES_PER_SENSOR, EMITTER_PIN);</a:t>
            </a:r>
            <a:endParaRPr b="1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FAB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unsigned int </a:t>
            </a:r>
            <a:r>
              <a:rPr b="1" i="0" lang="e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sensorValues[NUM_SENSORS]; </a:t>
            </a:r>
            <a:r>
              <a:rPr b="1" i="0" lang="es" sz="16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Lista para guardar las lecturas</a:t>
            </a:r>
            <a:endParaRPr b="1" i="0" sz="1600" u="none" cap="none" strike="noStrike"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#define </a:t>
            </a:r>
            <a:r>
              <a:rPr b="1" i="0" lang="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BOTON 12</a:t>
            </a:r>
            <a:endParaRPr b="1" i="0" sz="1600" u="none" cap="none" strike="noStrike"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0" name="Google Shape;210;p27"/>
          <p:cNvCxnSpPr/>
          <p:nvPr/>
        </p:nvCxnSpPr>
        <p:spPr>
          <a:xfrm flipH="1" rot="10800000">
            <a:off x="2563750" y="2011525"/>
            <a:ext cx="2163300" cy="8025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27"/>
          <p:cNvSpPr/>
          <p:nvPr/>
        </p:nvSpPr>
        <p:spPr>
          <a:xfrm>
            <a:off x="4743100" y="105290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Este es el nombre del sensor dentro del código, luego para usarlo más adelante es importante utilizar este mismo nombre</a:t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12" name="Google Shape;212;p27"/>
          <p:cNvCxnSpPr/>
          <p:nvPr/>
        </p:nvCxnSpPr>
        <p:spPr>
          <a:xfrm flipH="1" rot="10800000">
            <a:off x="5740450" y="2084975"/>
            <a:ext cx="1443000" cy="411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p27"/>
          <p:cNvSpPr/>
          <p:nvPr/>
        </p:nvSpPr>
        <p:spPr>
          <a:xfrm>
            <a:off x="7260800" y="1152175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número de los pines análogos a los que está conectado el sensor</a:t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14" name="Google Shape;214;p27"/>
          <p:cNvCxnSpPr/>
          <p:nvPr/>
        </p:nvCxnSpPr>
        <p:spPr>
          <a:xfrm>
            <a:off x="2521500" y="4012675"/>
            <a:ext cx="3551700" cy="4332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" name="Google Shape;215;p27"/>
          <p:cNvSpPr/>
          <p:nvPr/>
        </p:nvSpPr>
        <p:spPr>
          <a:xfrm>
            <a:off x="6114100" y="393895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Este es el pin del botón incorporado en Hermes</a:t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6" name="Google Shape;216;p27"/>
          <p:cNvPicPr preferRelativeResize="0"/>
          <p:nvPr/>
        </p:nvPicPr>
        <p:blipFill rotWithShape="1">
          <a:blip r:embed="rId3">
            <a:alphaModFix/>
          </a:blip>
          <a:srcRect b="21938" l="9222" r="8364" t="22367"/>
          <a:stretch/>
        </p:blipFill>
        <p:spPr>
          <a:xfrm>
            <a:off x="8047482" y="95099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8"/>
          <p:cNvPicPr preferRelativeResize="0"/>
          <p:nvPr/>
        </p:nvPicPr>
        <p:blipFill rotWithShape="1">
          <a:blip r:embed="rId3">
            <a:alphaModFix/>
          </a:blip>
          <a:srcRect b="6446" l="0" r="27293" t="60309"/>
          <a:stretch/>
        </p:blipFill>
        <p:spPr>
          <a:xfrm>
            <a:off x="1052250" y="3703950"/>
            <a:ext cx="6716399" cy="139733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8"/>
          <p:cNvSpPr txBox="1"/>
          <p:nvPr/>
        </p:nvSpPr>
        <p:spPr>
          <a:xfrm>
            <a:off x="240450" y="832625"/>
            <a:ext cx="87108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i="0" sz="1800" u="none" cap="none" strike="noStrike"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qtra.</a:t>
            </a:r>
            <a:r>
              <a:rPr b="1" i="0" lang="es" sz="18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read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(sensorValues); 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Se leen los valores y se guardan en la lista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298750" y="142275"/>
            <a:ext cx="840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Por el momento, no es necesario hacer configuraciones extra en el void setup para que el sensor funcione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24" name="Google Shape;224;p28"/>
          <p:cNvGraphicFramePr/>
          <p:nvPr/>
        </p:nvGraphicFramePr>
        <p:xfrm>
          <a:off x="1143700" y="427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{5DA25C6C-8D82-4E88-A543-4EBFABDAACE7}</a:tableStyleId>
              </a:tblPr>
              <a:tblGrid>
                <a:gridCol w="1119400"/>
                <a:gridCol w="1119400"/>
                <a:gridCol w="1119400"/>
                <a:gridCol w="1119400"/>
                <a:gridCol w="1119400"/>
                <a:gridCol w="111940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&lt;Valor&gt;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>
                          <a:solidFill>
                            <a:schemeClr val="dk1"/>
                          </a:solidFill>
                        </a:rPr>
                        <a:t>&lt;Valor&gt;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>
                          <a:solidFill>
                            <a:schemeClr val="dk1"/>
                          </a:solidFill>
                        </a:rPr>
                        <a:t>&lt;Valor&gt;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u="none" cap="none" strike="noStrike">
                          <a:solidFill>
                            <a:schemeClr val="dk1"/>
                          </a:solidFill>
                        </a:rPr>
                        <a:t>&lt;Valor&gt;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u="none" cap="none" strike="noStrike">
                          <a:solidFill>
                            <a:schemeClr val="dk1"/>
                          </a:solidFill>
                        </a:rPr>
                        <a:t>&lt;Valor&gt;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u="none" cap="none" strike="noStrike">
                          <a:solidFill>
                            <a:schemeClr val="dk1"/>
                          </a:solidFill>
                        </a:rPr>
                        <a:t>&lt;Valor&gt;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28"/>
          <p:cNvSpPr txBox="1"/>
          <p:nvPr/>
        </p:nvSpPr>
        <p:spPr>
          <a:xfrm>
            <a:off x="3382500" y="3254388"/>
            <a:ext cx="16509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sensorValues</a:t>
            </a:r>
            <a:endParaRPr b="1" i="0" sz="15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907300" y="1878875"/>
            <a:ext cx="7189200" cy="1348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Así se vería representado la lista sensorValues con las lecturas de cada sensor de la placa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/>
          <p:nvPr/>
        </p:nvSpPr>
        <p:spPr>
          <a:xfrm>
            <a:off x="345525" y="81475"/>
            <a:ext cx="8512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Desafío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345525" y="1014550"/>
            <a:ext cx="8512200" cy="122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Muestra los valores del arreglo por pantalla 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HINT:</a:t>
            </a: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1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más fácil utilizando un for.</a:t>
            </a:r>
            <a:endParaRPr b="0" i="1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3" name="Google Shape;23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8575" y="3219575"/>
            <a:ext cx="1923926" cy="192392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/>
          <p:nvPr/>
        </p:nvSpPr>
        <p:spPr>
          <a:xfrm>
            <a:off x="239975" y="2550925"/>
            <a:ext cx="5936100" cy="1528500"/>
          </a:xfrm>
          <a:prstGeom prst="cloudCallout">
            <a:avLst>
              <a:gd fmla="val 53190" name="adj1"/>
              <a:gd fmla="val 41739" name="adj2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¿Se te ocurre cómo podría ser un siguelineas así?</a:t>
            </a:r>
            <a:endParaRPr b="0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¿Fácil? ¿Difícil?</a:t>
            </a:r>
            <a:endParaRPr b="0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/>
        </p:nvSpPr>
        <p:spPr>
          <a:xfrm>
            <a:off x="1941900" y="-105025"/>
            <a:ext cx="573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QTR-8A: Programación</a:t>
            </a:r>
            <a:endParaRPr b="0" i="0" sz="3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216600" y="492350"/>
            <a:ext cx="8710800" cy="4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Configuración, corre una vez al inicio</a:t>
            </a:r>
            <a:endParaRPr b="1" i="0" sz="1800" u="none" cap="none" strike="noStrike">
              <a:solidFill>
                <a:srgbClr val="08A6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//Se inicia la comunicación serial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Serial.begin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(9600);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//Se calibra el sensor</a:t>
            </a:r>
            <a:endParaRPr b="1" i="0" sz="1800" u="none" cap="none" strike="noStrike"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s" sz="1800" u="none" cap="none" strike="noStrike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i=0; i&lt;</a:t>
            </a: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00;i++){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qtra</a:t>
            </a:r>
            <a:r>
              <a:rPr b="1" i="0" lang="es" sz="18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.calibrate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//Espera a que se apriete el botón para continuar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s" sz="1800" u="none" cap="none" strike="noStrike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s" sz="18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digitalRead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(BOTON)==1){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41" name="Google Shape;241;p30"/>
          <p:cNvCxnSpPr>
            <a:endCxn id="242" idx="1"/>
          </p:cNvCxnSpPr>
          <p:nvPr/>
        </p:nvCxnSpPr>
        <p:spPr>
          <a:xfrm flipH="1" rot="10800000">
            <a:off x="3713275" y="1693975"/>
            <a:ext cx="2838900" cy="660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30"/>
          <p:cNvSpPr/>
          <p:nvPr/>
        </p:nvSpPr>
        <p:spPr>
          <a:xfrm>
            <a:off x="6552175" y="816325"/>
            <a:ext cx="2502000" cy="17553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necesario calibrar el sensor, para eso, durante los primeros segundos del código, se tiene que mover el robot de tal manera que todos los sensores miren el blanco y el negro de la pista </a:t>
            </a:r>
            <a:endParaRPr b="0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43" name="Google Shape;243;p30"/>
          <p:cNvCxnSpPr>
            <a:endCxn id="244" idx="1"/>
          </p:cNvCxnSpPr>
          <p:nvPr/>
        </p:nvCxnSpPr>
        <p:spPr>
          <a:xfrm>
            <a:off x="4543900" y="3604875"/>
            <a:ext cx="1777800" cy="642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" name="Google Shape;244;p30"/>
          <p:cNvSpPr/>
          <p:nvPr/>
        </p:nvSpPr>
        <p:spPr>
          <a:xfrm>
            <a:off x="6321700" y="3539775"/>
            <a:ext cx="2267700" cy="1416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 permite que el programa espere a que se apriete el botón para continuar con la ejecución</a:t>
            </a:r>
            <a:endParaRPr b="0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5" name="Google Shape;245;p30"/>
          <p:cNvPicPr preferRelativeResize="0"/>
          <p:nvPr/>
        </p:nvPicPr>
        <p:blipFill rotWithShape="1">
          <a:blip r:embed="rId3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/>
        </p:nvSpPr>
        <p:spPr>
          <a:xfrm>
            <a:off x="0" y="541475"/>
            <a:ext cx="8710800" cy="4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Codigo</a:t>
            </a:r>
            <a:endParaRPr b="1" i="0" sz="1800" u="none" cap="none" strike="noStrike">
              <a:solidFill>
                <a:srgbClr val="08A6A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i="0" lang="es" sz="1800" u="none" cap="none" strike="noStrike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Línea blanca sobre fondo negro</a:t>
            </a:r>
            <a:endParaRPr b="1" i="0" sz="1800" u="none" cap="none" strike="noStrike"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s" sz="1800" u="none" cap="none" strike="noStrike">
                <a:solidFill>
                  <a:srgbClr val="4285F4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posicion = qtra.</a:t>
            </a:r>
            <a:r>
              <a:rPr b="1" i="0" lang="es" sz="18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(sensorValues, </a:t>
            </a:r>
            <a:r>
              <a:rPr b="1" i="0" lang="es" sz="1800" u="none" cap="none" strike="noStrike">
                <a:solidFill>
                  <a:srgbClr val="4285F4"/>
                </a:solidFill>
                <a:latin typeface="Consolas"/>
                <a:ea typeface="Consolas"/>
                <a:cs typeface="Consolas"/>
                <a:sym typeface="Consolas"/>
              </a:rPr>
              <a:t>true 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i="0" lang="es" sz="1800" u="none" cap="none" strike="noStrike">
                <a:solidFill>
                  <a:srgbClr val="4285F4"/>
                </a:solidFill>
                <a:latin typeface="Consolas"/>
                <a:ea typeface="Consolas"/>
                <a:cs typeface="Consolas"/>
                <a:sym typeface="Consolas"/>
              </a:rPr>
              <a:t> true 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Línea negra sobre fondo blanco</a:t>
            </a:r>
            <a:endParaRPr b="1" i="0" sz="1800" u="none" cap="none" strike="noStrike"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i="0" lang="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posicion = qtra.</a:t>
            </a:r>
            <a:r>
              <a:rPr b="1" i="0" lang="es" sz="18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1" i="0" lang="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(sensorValues, </a:t>
            </a:r>
            <a:r>
              <a:rPr b="1" i="0" lang="e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true </a:t>
            </a:r>
            <a:r>
              <a:rPr b="1" i="0" lang="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i="0" lang="e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false </a:t>
            </a:r>
            <a:r>
              <a:rPr b="1" i="0" lang="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//transformar la lectura de estar entre 0 y 5000 a -255 y 255</a:t>
            </a:r>
            <a:endParaRPr b="1" i="0" sz="1800" u="none" cap="none" strike="noStrike"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posicion = </a:t>
            </a:r>
            <a:r>
              <a:rPr b="1" i="0" lang="es" sz="18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(posicion, 0, 5000, -255, 255);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//Se muestra lo leído por la comunicación serial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Serial.println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(posicion);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800" u="none" cap="none" strike="noStrike">
                <a:solidFill>
                  <a:srgbClr val="FFAB40"/>
                </a:solidFill>
                <a:latin typeface="Consolas"/>
                <a:ea typeface="Consolas"/>
                <a:cs typeface="Consolas"/>
                <a:sym typeface="Consolas"/>
              </a:rPr>
              <a:t>delay</a:t>
            </a: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(250);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1941900" y="-105025"/>
            <a:ext cx="573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QTR-8A: Programación</a:t>
            </a:r>
            <a:endParaRPr b="0" i="0" sz="3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52" name="Google Shape;252;p31"/>
          <p:cNvCxnSpPr/>
          <p:nvPr/>
        </p:nvCxnSpPr>
        <p:spPr>
          <a:xfrm>
            <a:off x="6559400" y="2304450"/>
            <a:ext cx="1359000" cy="1221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3" name="Google Shape;253;p31"/>
          <p:cNvSpPr/>
          <p:nvPr/>
        </p:nvSpPr>
        <p:spPr>
          <a:xfrm>
            <a:off x="6914075" y="3525325"/>
            <a:ext cx="2267700" cy="1416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Usar sólo 1 de los 2 comandos, dependiendo del tipo de pista en el que se esté trabajando</a:t>
            </a:r>
            <a:endParaRPr b="0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54" name="Google Shape;254;p31"/>
          <p:cNvCxnSpPr/>
          <p:nvPr/>
        </p:nvCxnSpPr>
        <p:spPr>
          <a:xfrm>
            <a:off x="6718325" y="1712100"/>
            <a:ext cx="1872600" cy="18132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55" name="Google Shape;255;p31"/>
          <p:cNvPicPr preferRelativeResize="0"/>
          <p:nvPr/>
        </p:nvPicPr>
        <p:blipFill rotWithShape="1">
          <a:blip r:embed="rId3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32"/>
          <p:cNvCxnSpPr/>
          <p:nvPr/>
        </p:nvCxnSpPr>
        <p:spPr>
          <a:xfrm>
            <a:off x="445050" y="-43800"/>
            <a:ext cx="2692200" cy="5231100"/>
          </a:xfrm>
          <a:prstGeom prst="straightConnector1">
            <a:avLst/>
          </a:prstGeom>
          <a:noFill/>
          <a:ln cap="flat" cmpd="sng" w="228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32"/>
          <p:cNvSpPr/>
          <p:nvPr/>
        </p:nvSpPr>
        <p:spPr>
          <a:xfrm>
            <a:off x="345525" y="81475"/>
            <a:ext cx="8512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Ejercicio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345525" y="1014550"/>
            <a:ext cx="8512200" cy="122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 el código anterior y mira cómo se comporta en la pista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3" name="Google Shape;2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126" y="1488350"/>
            <a:ext cx="3020050" cy="3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33"/>
          <p:cNvCxnSpPr/>
          <p:nvPr/>
        </p:nvCxnSpPr>
        <p:spPr>
          <a:xfrm>
            <a:off x="445050" y="-43800"/>
            <a:ext cx="2692200" cy="5231100"/>
          </a:xfrm>
          <a:prstGeom prst="straightConnector1">
            <a:avLst/>
          </a:prstGeom>
          <a:noFill/>
          <a:ln cap="flat" cmpd="sng" w="2286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33"/>
          <p:cNvSpPr/>
          <p:nvPr/>
        </p:nvSpPr>
        <p:spPr>
          <a:xfrm>
            <a:off x="345525" y="81475"/>
            <a:ext cx="8512200" cy="625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Desafío</a:t>
            </a:r>
            <a:endParaRPr b="0" i="0" sz="2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33"/>
          <p:cNvSpPr/>
          <p:nvPr/>
        </p:nvSpPr>
        <p:spPr>
          <a:xfrm>
            <a:off x="345525" y="1014550"/>
            <a:ext cx="8512200" cy="122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Programemos un código que permita a Hermes seguir una línea.</a:t>
            </a:r>
            <a:endParaRPr b="0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1" name="Google Shape;2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126" y="1488350"/>
            <a:ext cx="3020050" cy="3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202</a:t>
            </a:r>
            <a:r>
              <a:rPr b="1" lang="es" sz="1500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i="0" lang="es" sz="15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- Línea robots velocistas HERMES</a:t>
            </a:r>
            <a:endParaRPr b="1" i="0" sz="15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Benjamín Espinoza y René Garcés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3 - Agosto 202</a:t>
            </a:r>
            <a:r>
              <a:rPr b="1" lang="es" sz="1200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b="1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2903438" y="46632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Publicado Bajo Licencia Creative Commons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Atribución-NoComercial-CompartirIgual (CC BY-NC-SA)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50" cy="4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325" cy="2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ACH-01-01" id="281" name="Google Shape;28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7975" y="2847163"/>
            <a:ext cx="14763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TC-01" id="282" name="Google Shape;28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0325" y="2847163"/>
            <a:ext cx="13620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wP2h_lc6--vyMzu5qXgRG-Bbe6w1LN7Ph5RgxIP2Ngd_pFZFcUDkC-cp09ZNvc-Xm3iTwoQ8go_elSTWCw68Lrn_HKTBlb9E-8CWQqnHg6t8L9JidsYDttMUJ7XHVUWj9hjtPLtPZtU" id="283" name="Google Shape;283;p34"/>
          <p:cNvPicPr preferRelativeResize="0"/>
          <p:nvPr/>
        </p:nvPicPr>
        <p:blipFill rotWithShape="1">
          <a:blip r:embed="rId7">
            <a:alphaModFix/>
          </a:blip>
          <a:srcRect b="0" l="5141" r="0" t="3428"/>
          <a:stretch/>
        </p:blipFill>
        <p:spPr>
          <a:xfrm>
            <a:off x="4884250" y="2828650"/>
            <a:ext cx="769150" cy="779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TFSM-01" id="284" name="Google Shape;284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9925" y="2877075"/>
            <a:ext cx="1303350" cy="683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9488" y="2836300"/>
            <a:ext cx="895350" cy="72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22801" y="2845825"/>
            <a:ext cx="838115" cy="70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31486" y="3949"/>
            <a:ext cx="3681126" cy="11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