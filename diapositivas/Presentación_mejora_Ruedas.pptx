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oppi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jgMKHJXRW6sJQeA3utwOWvnNmZ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7dc2ef77f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2" name="Google Shape;82;g397dc2ef77f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3" name="Google Shape;83;g397dc2ef77f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97dc2ef77f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97dc2ef77f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g397dc2ef77f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7dc2ef77f_0_9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2" name="Google Shape;102;g397dc2ef77f_0_9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3" name="Google Shape;103;g397dc2ef77f_0_98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97dc2ef77f_0_9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Lluvia de ideas para repaso participativo, dar feedback positivo a aquellos que recuerdan contenidos, rectificar ideas, y motivar a los que no recuerdan mucho</a:t>
            </a:r>
            <a:endParaRPr/>
          </a:p>
        </p:txBody>
      </p:sp>
      <p:sp>
        <p:nvSpPr>
          <p:cNvPr id="105" name="Google Shape;105;g397dc2ef77f_0_9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6" name="Google Shape;106;g397dc2ef77f_0_9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7dc2ef77f_0_20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4" name="Google Shape;124;g397dc2ef77f_0_20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5" name="Google Shape;125;g397dc2ef77f_0_20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97dc2ef77f_0_20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7dc2ef77f_0_20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8" name="Google Shape;128;g397dc2ef77f_0_20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7dc2ef77f_0_30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0" name="Google Shape;140;g397dc2ef77f_0_30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1" name="Google Shape;141;g397dc2ef77f_0_30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97dc2ef77f_0_30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7dc2ef77f_0_30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4" name="Google Shape;144;g397dc2ef77f_0_30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7dc2ef77f_0_3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6" name="Google Shape;156;g397dc2ef77f_0_3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7" name="Google Shape;157;g397dc2ef77f_0_31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7dc2ef77f_0_31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97dc2ef77f_0_31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0" name="Google Shape;160;g397dc2ef77f_0_31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7dc2ef77f_0_33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g397dc2ef77f_0_33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2" name="Google Shape;172;g397dc2ef77f_0_33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97dc2ef77f_0_33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97dc2ef77f_0_33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5" name="Google Shape;175;g397dc2ef77f_0_33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7dc2ef77f_0_34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6" name="Google Shape;186;g397dc2ef77f_0_34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7" name="Google Shape;187;g397dc2ef77f_0_34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97dc2ef77f_0_34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97dc2ef77f_0_34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0" name="Google Shape;190;g397dc2ef77f_0_34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7dc2ef77f_0_37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3" name="Google Shape;203;g397dc2ef77f_0_37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4" name="Google Shape;204;g397dc2ef77f_0_378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97dc2ef77f_0_37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97dc2ef77f_0_37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7" name="Google Shape;207;g397dc2ef77f_0_37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7dc2ef77f_0_42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8" name="Google Shape;218;g397dc2ef77f_0_42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9" name="Google Shape;219;g397dc2ef77f_0_423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97dc2ef77f_0_42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Lluvia de ideas para repaso participativo, dar feedback positivo a aquellos que recuerdan contenidos, rectificar ideas, y motivar a los que no recuerdan mucho</a:t>
            </a:r>
            <a:endParaRPr/>
          </a:p>
        </p:txBody>
      </p:sp>
      <p:sp>
        <p:nvSpPr>
          <p:cNvPr id="221" name="Google Shape;221;g397dc2ef77f_0_423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2" name="Google Shape;222;g397dc2ef77f_0_42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jp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1.jp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9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7dc2ef77f_0_0"/>
          <p:cNvSpPr/>
          <p:nvPr/>
        </p:nvSpPr>
        <p:spPr>
          <a:xfrm>
            <a:off x="174545" y="3908711"/>
            <a:ext cx="8969407" cy="1234821"/>
          </a:xfrm>
          <a:custGeom>
            <a:rect b="b" l="l" r="r" t="t"/>
            <a:pathLst>
              <a:path extrusionOk="0" h="3292856" w="23918418">
                <a:moveTo>
                  <a:pt x="0" y="0"/>
                </a:moveTo>
                <a:lnTo>
                  <a:pt x="23918418" y="0"/>
                </a:lnTo>
                <a:lnTo>
                  <a:pt x="23918418" y="3292856"/>
                </a:lnTo>
                <a:lnTo>
                  <a:pt x="0" y="3292856"/>
                </a:lnTo>
                <a:close/>
              </a:path>
            </a:pathLst>
          </a:custGeom>
          <a:solidFill>
            <a:srgbClr val="011893"/>
          </a:solidFill>
          <a:ln>
            <a:noFill/>
          </a:ln>
        </p:spPr>
      </p:sp>
      <p:sp>
        <p:nvSpPr>
          <p:cNvPr id="89" name="Google Shape;89;g397dc2ef77f_0_0"/>
          <p:cNvSpPr/>
          <p:nvPr/>
        </p:nvSpPr>
        <p:spPr>
          <a:xfrm rot="-5400000">
            <a:off x="2617637" y="-2617653"/>
            <a:ext cx="3908727" cy="9144000"/>
          </a:xfrm>
          <a:custGeom>
            <a:rect b="b" l="l" r="r" t="t"/>
            <a:pathLst>
              <a:path extrusionOk="0" h="24384000" w="10423271">
                <a:moveTo>
                  <a:pt x="0" y="0"/>
                </a:moveTo>
                <a:lnTo>
                  <a:pt x="10423271" y="0"/>
                </a:lnTo>
                <a:lnTo>
                  <a:pt x="10423271" y="24384000"/>
                </a:lnTo>
                <a:lnTo>
                  <a:pt x="0" y="2438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560" l="-80989" r="0" t="10"/>
            </a:stretch>
          </a:blipFill>
          <a:ln>
            <a:noFill/>
          </a:ln>
        </p:spPr>
      </p:sp>
      <p:sp>
        <p:nvSpPr>
          <p:cNvPr id="90" name="Google Shape;90;g397dc2ef77f_0_0"/>
          <p:cNvSpPr/>
          <p:nvPr/>
        </p:nvSpPr>
        <p:spPr>
          <a:xfrm>
            <a:off x="2" y="0"/>
            <a:ext cx="9144000" cy="3908679"/>
          </a:xfrm>
          <a:custGeom>
            <a:rect b="b" l="l" r="r" t="t"/>
            <a:pathLst>
              <a:path extrusionOk="0" h="10423144" w="24384000">
                <a:moveTo>
                  <a:pt x="0" y="0"/>
                </a:moveTo>
                <a:lnTo>
                  <a:pt x="24384000" y="0"/>
                </a:lnTo>
                <a:lnTo>
                  <a:pt x="24384000" y="10423144"/>
                </a:lnTo>
                <a:lnTo>
                  <a:pt x="0" y="10423144"/>
                </a:lnTo>
                <a:close/>
              </a:path>
            </a:pathLst>
          </a:custGeom>
          <a:solidFill>
            <a:srgbClr val="002060">
              <a:alpha val="23140"/>
            </a:srgbClr>
          </a:solidFill>
          <a:ln>
            <a:noFill/>
          </a:ln>
        </p:spPr>
      </p:sp>
      <p:sp>
        <p:nvSpPr>
          <p:cNvPr id="91" name="Google Shape;91;g397dc2ef77f_0_0"/>
          <p:cNvSpPr/>
          <p:nvPr/>
        </p:nvSpPr>
        <p:spPr>
          <a:xfrm>
            <a:off x="6354346" y="192405"/>
            <a:ext cx="2587514" cy="812673"/>
          </a:xfrm>
          <a:custGeom>
            <a:rect b="b" l="l" r="r" t="t"/>
            <a:pathLst>
              <a:path extrusionOk="0" h="2167128" w="6900037">
                <a:moveTo>
                  <a:pt x="0" y="0"/>
                </a:moveTo>
                <a:lnTo>
                  <a:pt x="6900037" y="0"/>
                </a:lnTo>
                <a:lnTo>
                  <a:pt x="6900037" y="2167128"/>
                </a:lnTo>
                <a:lnTo>
                  <a:pt x="0" y="2167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910" t="0"/>
            </a:stretch>
          </a:blipFill>
          <a:ln>
            <a:noFill/>
          </a:ln>
        </p:spPr>
      </p:sp>
      <p:sp>
        <p:nvSpPr>
          <p:cNvPr id="92" name="Google Shape;92;g397dc2ef77f_0_0"/>
          <p:cNvSpPr txBox="1"/>
          <p:nvPr/>
        </p:nvSpPr>
        <p:spPr>
          <a:xfrm>
            <a:off x="906872" y="2105413"/>
            <a:ext cx="45903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Clubes de</a:t>
            </a:r>
            <a:endParaRPr sz="7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Ciencia y Tecnología</a:t>
            </a:r>
            <a:endParaRPr sz="700"/>
          </a:p>
        </p:txBody>
      </p:sp>
      <p:sp>
        <p:nvSpPr>
          <p:cNvPr id="93" name="Google Shape;93;g397dc2ef77f_0_0"/>
          <p:cNvSpPr/>
          <p:nvPr/>
        </p:nvSpPr>
        <p:spPr>
          <a:xfrm>
            <a:off x="874189" y="3545219"/>
            <a:ext cx="1544384" cy="410099"/>
          </a:xfrm>
          <a:custGeom>
            <a:rect b="b" l="l" r="r" t="t"/>
            <a:pathLst>
              <a:path extrusionOk="0" h="1093597" w="4118356">
                <a:moveTo>
                  <a:pt x="0" y="0"/>
                </a:moveTo>
                <a:lnTo>
                  <a:pt x="4118356" y="0"/>
                </a:lnTo>
                <a:lnTo>
                  <a:pt x="4118356" y="1093597"/>
                </a:lnTo>
                <a:lnTo>
                  <a:pt x="0" y="1093597"/>
                </a:lnTo>
                <a:close/>
              </a:path>
            </a:pathLst>
          </a:custGeom>
          <a:solidFill>
            <a:srgbClr val="011893"/>
          </a:solidFill>
          <a:ln>
            <a:noFill/>
          </a:ln>
        </p:spPr>
      </p:sp>
      <p:sp>
        <p:nvSpPr>
          <p:cNvPr id="94" name="Google Shape;94;g397dc2ef77f_0_0"/>
          <p:cNvSpPr txBox="1"/>
          <p:nvPr/>
        </p:nvSpPr>
        <p:spPr>
          <a:xfrm>
            <a:off x="1020011" y="3603588"/>
            <a:ext cx="145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r>
              <a:rPr b="0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b="0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.202</a:t>
            </a:r>
            <a:r>
              <a:rPr lang="en-U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700"/>
          </a:p>
        </p:txBody>
      </p:sp>
      <p:sp>
        <p:nvSpPr>
          <p:cNvPr id="95" name="Google Shape;95;g397dc2ef77f_0_0"/>
          <p:cNvSpPr txBox="1"/>
          <p:nvPr/>
        </p:nvSpPr>
        <p:spPr>
          <a:xfrm rot="-5400000">
            <a:off x="7476029" y="3166236"/>
            <a:ext cx="2854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sz="700"/>
          </a:p>
        </p:txBody>
      </p:sp>
      <p:sp>
        <p:nvSpPr>
          <p:cNvPr id="96" name="Google Shape;96;g397dc2ef77f_0_0"/>
          <p:cNvSpPr txBox="1"/>
          <p:nvPr/>
        </p:nvSpPr>
        <p:spPr>
          <a:xfrm>
            <a:off x="906872" y="1528977"/>
            <a:ext cx="235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Sesión Nº 1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endParaRPr sz="700"/>
          </a:p>
        </p:txBody>
      </p:sp>
      <p:sp>
        <p:nvSpPr>
          <p:cNvPr id="97" name="Google Shape;97;g397dc2ef77f_0_0"/>
          <p:cNvSpPr txBox="1"/>
          <p:nvPr/>
        </p:nvSpPr>
        <p:spPr>
          <a:xfrm>
            <a:off x="1020011" y="4196136"/>
            <a:ext cx="248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LÍNEA 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VELOCISTAS</a:t>
            </a:r>
            <a:endParaRPr sz="700"/>
          </a:p>
        </p:txBody>
      </p:sp>
      <p:cxnSp>
        <p:nvCxnSpPr>
          <p:cNvPr id="98" name="Google Shape;98;g397dc2ef77f_0_0"/>
          <p:cNvCxnSpPr/>
          <p:nvPr/>
        </p:nvCxnSpPr>
        <p:spPr>
          <a:xfrm rot="26908">
            <a:off x="920282" y="1864971"/>
            <a:ext cx="2031362" cy="0"/>
          </a:xfrm>
          <a:prstGeom prst="straightConnector1">
            <a:avLst/>
          </a:prstGeom>
          <a:noFill/>
          <a:ln cap="rnd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g397dc2ef77f_0_0"/>
          <p:cNvSpPr/>
          <p:nvPr/>
        </p:nvSpPr>
        <p:spPr>
          <a:xfrm>
            <a:off x="5054057" y="1742688"/>
            <a:ext cx="3402616" cy="2171033"/>
          </a:xfrm>
          <a:custGeom>
            <a:rect b="b" l="l" r="r" t="t"/>
            <a:pathLst>
              <a:path extrusionOk="0" h="5789422" w="9073642">
                <a:moveTo>
                  <a:pt x="0" y="0"/>
                </a:moveTo>
                <a:lnTo>
                  <a:pt x="9073642" y="0"/>
                </a:lnTo>
                <a:lnTo>
                  <a:pt x="9073642" y="5789422"/>
                </a:lnTo>
                <a:lnTo>
                  <a:pt x="0" y="57894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3129" l="-94628" r="-102487" t="-9613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7dc2ef77f_0_98"/>
          <p:cNvSpPr/>
          <p:nvPr/>
        </p:nvSpPr>
        <p:spPr>
          <a:xfrm>
            <a:off x="5902035" y="-34234"/>
            <a:ext cx="3310795" cy="5143500"/>
          </a:xfrm>
          <a:custGeom>
            <a:rect b="b" l="l" r="r" t="t"/>
            <a:pathLst>
              <a:path extrusionOk="0" h="13716000" w="8828786">
                <a:moveTo>
                  <a:pt x="0" y="0"/>
                </a:moveTo>
                <a:lnTo>
                  <a:pt x="8828786" y="0"/>
                </a:lnTo>
                <a:lnTo>
                  <a:pt x="882878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3000"/>
            </a:blip>
            <a:stretch>
              <a:fillRect b="0" l="-101049" r="0" t="0"/>
            </a:stretch>
          </a:blipFill>
          <a:ln>
            <a:noFill/>
          </a:ln>
        </p:spPr>
      </p:sp>
      <p:sp>
        <p:nvSpPr>
          <p:cNvPr id="109" name="Google Shape;109;g397dc2ef77f_0_98"/>
          <p:cNvSpPr/>
          <p:nvPr/>
        </p:nvSpPr>
        <p:spPr>
          <a:xfrm rot="5400000">
            <a:off x="-1140936" y="1116579"/>
            <a:ext cx="5172837" cy="2890790"/>
          </a:xfrm>
          <a:custGeom>
            <a:rect b="b" l="l" r="r" t="t"/>
            <a:pathLst>
              <a:path extrusionOk="0" h="7708773" w="13794232">
                <a:moveTo>
                  <a:pt x="0" y="0"/>
                </a:moveTo>
                <a:lnTo>
                  <a:pt x="13794232" y="0"/>
                </a:lnTo>
                <a:lnTo>
                  <a:pt x="13794232" y="7708773"/>
                </a:lnTo>
                <a:lnTo>
                  <a:pt x="0" y="77087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20061" l="-34940" r="0" t="0"/>
            </a:stretch>
          </a:blipFill>
          <a:ln>
            <a:noFill/>
          </a:ln>
        </p:spPr>
      </p:sp>
      <p:grpSp>
        <p:nvGrpSpPr>
          <p:cNvPr id="110" name="Google Shape;110;g397dc2ef77f_0_98"/>
          <p:cNvGrpSpPr/>
          <p:nvPr/>
        </p:nvGrpSpPr>
        <p:grpSpPr>
          <a:xfrm>
            <a:off x="2884427" y="-11662"/>
            <a:ext cx="6264211" cy="5153025"/>
            <a:chOff x="0" y="0"/>
            <a:chExt cx="16704563" cy="13741400"/>
          </a:xfrm>
        </p:grpSpPr>
        <p:sp>
          <p:nvSpPr>
            <p:cNvPr id="111" name="Google Shape;111;g397dc2ef77f_0_98"/>
            <p:cNvSpPr/>
            <p:nvPr/>
          </p:nvSpPr>
          <p:spPr>
            <a:xfrm>
              <a:off x="12700" y="12700"/>
              <a:ext cx="16679163" cy="13716000"/>
            </a:xfrm>
            <a:custGeom>
              <a:rect b="b" l="l" r="r" t="t"/>
              <a:pathLst>
                <a:path extrusionOk="0" h="13716000" w="16679163">
                  <a:moveTo>
                    <a:pt x="0" y="0"/>
                  </a:moveTo>
                  <a:lnTo>
                    <a:pt x="16679163" y="0"/>
                  </a:lnTo>
                  <a:lnTo>
                    <a:pt x="1667916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B5A6FF"/>
            </a:solidFill>
            <a:ln>
              <a:noFill/>
            </a:ln>
          </p:spPr>
        </p:sp>
        <p:sp>
          <p:nvSpPr>
            <p:cNvPr id="112" name="Google Shape;112;g397dc2ef77f_0_98"/>
            <p:cNvSpPr/>
            <p:nvPr/>
          </p:nvSpPr>
          <p:spPr>
            <a:xfrm>
              <a:off x="0" y="0"/>
              <a:ext cx="16704563" cy="13741400"/>
            </a:xfrm>
            <a:custGeom>
              <a:rect b="b" l="l" r="r" t="t"/>
              <a:pathLst>
                <a:path extrusionOk="0" h="13741400" w="16704563">
                  <a:moveTo>
                    <a:pt x="12700" y="0"/>
                  </a:moveTo>
                  <a:lnTo>
                    <a:pt x="16691863" y="0"/>
                  </a:lnTo>
                  <a:cubicBezTo>
                    <a:pt x="16698849" y="0"/>
                    <a:pt x="16704563" y="5715"/>
                    <a:pt x="16704563" y="12700"/>
                  </a:cubicBezTo>
                  <a:lnTo>
                    <a:pt x="16704563" y="13728700"/>
                  </a:lnTo>
                  <a:cubicBezTo>
                    <a:pt x="16704563" y="13735686"/>
                    <a:pt x="16698849" y="13741400"/>
                    <a:pt x="16691863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16691863" y="13716000"/>
                  </a:lnTo>
                  <a:lnTo>
                    <a:pt x="16691863" y="13728700"/>
                  </a:lnTo>
                  <a:lnTo>
                    <a:pt x="16679163" y="13728700"/>
                  </a:lnTo>
                  <a:lnTo>
                    <a:pt x="16679163" y="12700"/>
                  </a:lnTo>
                  <a:lnTo>
                    <a:pt x="16691863" y="12700"/>
                  </a:lnTo>
                  <a:lnTo>
                    <a:pt x="1669186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g397dc2ef77f_0_98"/>
          <p:cNvSpPr/>
          <p:nvPr/>
        </p:nvSpPr>
        <p:spPr>
          <a:xfrm>
            <a:off x="-10633" y="-29340"/>
            <a:ext cx="2901601" cy="5172885"/>
          </a:xfrm>
          <a:custGeom>
            <a:rect b="b" l="l" r="r" t="t"/>
            <a:pathLst>
              <a:path extrusionOk="0" h="13794360" w="7737602">
                <a:moveTo>
                  <a:pt x="0" y="0"/>
                </a:moveTo>
                <a:lnTo>
                  <a:pt x="7737602" y="0"/>
                </a:lnTo>
                <a:lnTo>
                  <a:pt x="7737602" y="13794360"/>
                </a:lnTo>
                <a:lnTo>
                  <a:pt x="0" y="13794360"/>
                </a:lnTo>
                <a:close/>
              </a:path>
            </a:pathLst>
          </a:custGeom>
          <a:solidFill>
            <a:srgbClr val="000000">
              <a:alpha val="10590"/>
            </a:srgbClr>
          </a:solidFill>
          <a:ln>
            <a:noFill/>
          </a:ln>
        </p:spPr>
      </p:sp>
      <p:grpSp>
        <p:nvGrpSpPr>
          <p:cNvPr id="114" name="Google Shape;114;g397dc2ef77f_0_98"/>
          <p:cNvGrpSpPr/>
          <p:nvPr/>
        </p:nvGrpSpPr>
        <p:grpSpPr>
          <a:xfrm>
            <a:off x="834093" y="590644"/>
            <a:ext cx="3163062" cy="1556909"/>
            <a:chOff x="-468884" y="-196215"/>
            <a:chExt cx="8434832" cy="4151757"/>
          </a:xfrm>
        </p:grpSpPr>
        <p:sp>
          <p:nvSpPr>
            <p:cNvPr id="115" name="Google Shape;115;g397dc2ef77f_0_98"/>
            <p:cNvSpPr/>
            <p:nvPr/>
          </p:nvSpPr>
          <p:spPr>
            <a:xfrm>
              <a:off x="-468884" y="-196215"/>
              <a:ext cx="8434832" cy="4151757"/>
            </a:xfrm>
            <a:custGeom>
              <a:rect b="b" l="l" r="r" t="t"/>
              <a:pathLst>
                <a:path extrusionOk="0" h="4151757" w="8434832">
                  <a:moveTo>
                    <a:pt x="2692400" y="4151757"/>
                  </a:moveTo>
                  <a:lnTo>
                    <a:pt x="2407412" y="3485388"/>
                  </a:lnTo>
                  <a:cubicBezTo>
                    <a:pt x="697230" y="3040253"/>
                    <a:pt x="0" y="2068830"/>
                    <a:pt x="796671" y="1241044"/>
                  </a:cubicBezTo>
                  <a:cubicBezTo>
                    <a:pt x="1593342" y="413258"/>
                    <a:pt x="3622929" y="0"/>
                    <a:pt x="5485765" y="286385"/>
                  </a:cubicBezTo>
                  <a:cubicBezTo>
                    <a:pt x="7348601" y="572770"/>
                    <a:pt x="8434832" y="1465072"/>
                    <a:pt x="7995285" y="2347722"/>
                  </a:cubicBezTo>
                  <a:cubicBezTo>
                    <a:pt x="7555738" y="3230372"/>
                    <a:pt x="5734304" y="3814572"/>
                    <a:pt x="3787267" y="3697478"/>
                  </a:cubicBezTo>
                  <a:close/>
                </a:path>
              </a:pathLst>
            </a:custGeom>
            <a:solidFill>
              <a:srgbClr val="D4D2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g397dc2ef77f_0_98"/>
            <p:cNvSpPr txBox="1"/>
            <p:nvPr/>
          </p:nvSpPr>
          <p:spPr>
            <a:xfrm>
              <a:off x="0" y="-38100"/>
              <a:ext cx="7623300" cy="3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0" u="none" cap="none" strike="noStrike">
                  <a:solidFill>
                    <a:srgbClr val="11009C"/>
                  </a:solidFill>
                  <a:latin typeface="Poppins"/>
                  <a:ea typeface="Poppins"/>
                  <a:cs typeface="Poppins"/>
                  <a:sym typeface="Poppins"/>
                </a:rPr>
                <a:t>¿</a:t>
              </a:r>
              <a:r>
                <a:rPr b="1" lang="en-US" sz="1300">
                  <a:solidFill>
                    <a:srgbClr val="11009C"/>
                  </a:solidFill>
                  <a:latin typeface="Poppins"/>
                  <a:ea typeface="Poppins"/>
                  <a:cs typeface="Poppins"/>
                  <a:sym typeface="Poppins"/>
                </a:rPr>
                <a:t>Cómo podemos hacer que nuestro velocista ande más rápido</a:t>
              </a:r>
              <a:r>
                <a:rPr b="1" i="0" lang="en-US" sz="1300" u="none" cap="none" strike="noStrike">
                  <a:solidFill>
                    <a:srgbClr val="11009C"/>
                  </a:solidFill>
                  <a:latin typeface="Poppins"/>
                  <a:ea typeface="Poppins"/>
                  <a:cs typeface="Poppins"/>
                  <a:sym typeface="Poppins"/>
                </a:rPr>
                <a:t>?</a:t>
              </a:r>
              <a:endParaRPr sz="200"/>
            </a:p>
          </p:txBody>
        </p:sp>
      </p:grpSp>
      <p:sp>
        <p:nvSpPr>
          <p:cNvPr id="117" name="Google Shape;117;g397dc2ef77f_0_98"/>
          <p:cNvSpPr/>
          <p:nvPr/>
        </p:nvSpPr>
        <p:spPr>
          <a:xfrm>
            <a:off x="119398" y="114505"/>
            <a:ext cx="548688" cy="389001"/>
          </a:xfrm>
          <a:custGeom>
            <a:rect b="b" l="l" r="r" t="t"/>
            <a:pathLst>
              <a:path extrusionOk="0" h="1037336" w="1463167">
                <a:moveTo>
                  <a:pt x="0" y="0"/>
                </a:moveTo>
                <a:lnTo>
                  <a:pt x="1463167" y="0"/>
                </a:lnTo>
                <a:lnTo>
                  <a:pt x="1463167" y="1037336"/>
                </a:lnTo>
                <a:lnTo>
                  <a:pt x="0" y="1037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g397dc2ef77f_0_98"/>
          <p:cNvSpPr/>
          <p:nvPr/>
        </p:nvSpPr>
        <p:spPr>
          <a:xfrm>
            <a:off x="393748" y="2355760"/>
            <a:ext cx="2143268" cy="2407825"/>
          </a:xfrm>
          <a:custGeom>
            <a:rect b="b" l="l" r="r" t="t"/>
            <a:pathLst>
              <a:path extrusionOk="0" h="6420866" w="5715381">
                <a:moveTo>
                  <a:pt x="0" y="0"/>
                </a:moveTo>
                <a:lnTo>
                  <a:pt x="5715381" y="0"/>
                </a:lnTo>
                <a:lnTo>
                  <a:pt x="5715381" y="6420866"/>
                </a:lnTo>
                <a:lnTo>
                  <a:pt x="0" y="64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8160" t="0"/>
            </a:stretch>
          </a:blipFill>
          <a:ln>
            <a:noFill/>
          </a:ln>
        </p:spPr>
      </p:sp>
      <p:sp>
        <p:nvSpPr>
          <p:cNvPr id="119" name="Google Shape;119;g397dc2ef77f_0_98"/>
          <p:cNvSpPr txBox="1"/>
          <p:nvPr/>
        </p:nvSpPr>
        <p:spPr>
          <a:xfrm>
            <a:off x="8634779" y="4763583"/>
            <a:ext cx="2745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rgbClr val="FFFFFF"/>
                </a:solidFill>
              </a:rPr>
              <a:t>‹#›</a:t>
            </a:fld>
            <a:endParaRPr sz="1300">
              <a:solidFill>
                <a:srgbClr val="FFFFFF"/>
              </a:solidFill>
            </a:endParaRPr>
          </a:p>
        </p:txBody>
      </p:sp>
      <p:sp>
        <p:nvSpPr>
          <p:cNvPr id="120" name="Google Shape;120;g397dc2ef77f_0_98"/>
          <p:cNvSpPr txBox="1"/>
          <p:nvPr/>
        </p:nvSpPr>
        <p:spPr>
          <a:xfrm>
            <a:off x="3944775" y="208462"/>
            <a:ext cx="48387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Contexto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Necesitamos que nuestro robot </a:t>
            </a: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velocista Hermes</a:t>
            </a: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 alcance una mayor velocidad y tenga mejor control (adherencia).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2100"/>
              <a:buFont typeface="Poppins"/>
              <a:buChar char="●"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Compite en pistas exigentes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2100"/>
              <a:buFont typeface="Poppins"/>
              <a:buChar char="●"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Las ruedas son clave en tracción y estabilidad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g397dc2ef77f_0_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676238">
            <a:off x="2835671" y="3490646"/>
            <a:ext cx="2312852" cy="155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7dc2ef77f_0_201"/>
          <p:cNvSpPr/>
          <p:nvPr/>
        </p:nvSpPr>
        <p:spPr>
          <a:xfrm rot="5400000">
            <a:off x="4325181" y="329932"/>
            <a:ext cx="401431" cy="9235726"/>
          </a:xfrm>
          <a:custGeom>
            <a:rect b="b" l="l" r="r" t="t"/>
            <a:pathLst>
              <a:path extrusionOk="0" h="24628602" w="1070483">
                <a:moveTo>
                  <a:pt x="0" y="0"/>
                </a:moveTo>
                <a:lnTo>
                  <a:pt x="1070483" y="0"/>
                </a:lnTo>
                <a:lnTo>
                  <a:pt x="1070483" y="24628602"/>
                </a:lnTo>
                <a:lnTo>
                  <a:pt x="0" y="246286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0041" l="-1436790" r="-4012589" t="0"/>
            </a:stretch>
          </a:blipFill>
          <a:ln>
            <a:noFill/>
          </a:ln>
        </p:spPr>
      </p:sp>
      <p:sp>
        <p:nvSpPr>
          <p:cNvPr id="131" name="Google Shape;131;g397dc2ef77f_0_201"/>
          <p:cNvSpPr/>
          <p:nvPr/>
        </p:nvSpPr>
        <p:spPr>
          <a:xfrm>
            <a:off x="-126275" y="4746700"/>
            <a:ext cx="9270302" cy="401431"/>
          </a:xfrm>
          <a:custGeom>
            <a:rect b="b" l="l" r="r" t="t"/>
            <a:pathLst>
              <a:path extrusionOk="0" h="1070483" w="24720804">
                <a:moveTo>
                  <a:pt x="0" y="0"/>
                </a:moveTo>
                <a:lnTo>
                  <a:pt x="24720804" y="0"/>
                </a:lnTo>
                <a:lnTo>
                  <a:pt x="24720804" y="1070483"/>
                </a:lnTo>
                <a:lnTo>
                  <a:pt x="0" y="1070483"/>
                </a:lnTo>
                <a:close/>
              </a:path>
            </a:pathLst>
          </a:custGeom>
          <a:solidFill>
            <a:srgbClr val="000000">
              <a:alpha val="10590"/>
            </a:srgbClr>
          </a:solidFill>
          <a:ln>
            <a:noFill/>
          </a:ln>
        </p:spPr>
      </p:sp>
      <p:sp>
        <p:nvSpPr>
          <p:cNvPr id="132" name="Google Shape;132;g397dc2ef77f_0_201"/>
          <p:cNvSpPr/>
          <p:nvPr/>
        </p:nvSpPr>
        <p:spPr>
          <a:xfrm>
            <a:off x="8256352" y="156884"/>
            <a:ext cx="676989" cy="304562"/>
          </a:xfrm>
          <a:custGeom>
            <a:rect b="b" l="l" r="r" t="t"/>
            <a:pathLst>
              <a:path extrusionOk="0" h="812165" w="1805305">
                <a:moveTo>
                  <a:pt x="0" y="0"/>
                </a:moveTo>
                <a:lnTo>
                  <a:pt x="1805305" y="0"/>
                </a:lnTo>
                <a:lnTo>
                  <a:pt x="1805305" y="812165"/>
                </a:lnTo>
                <a:lnTo>
                  <a:pt x="0" y="81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380" l="-11190" r="-10159" t="-40159"/>
            </a:stretch>
          </a:blipFill>
          <a:ln>
            <a:noFill/>
          </a:ln>
        </p:spPr>
      </p:sp>
      <p:sp>
        <p:nvSpPr>
          <p:cNvPr id="133" name="Google Shape;133;g397dc2ef77f_0_201"/>
          <p:cNvSpPr txBox="1"/>
          <p:nvPr/>
        </p:nvSpPr>
        <p:spPr>
          <a:xfrm>
            <a:off x="275667" y="4853227"/>
            <a:ext cx="2672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sz="700"/>
          </a:p>
        </p:txBody>
      </p:sp>
      <p:sp>
        <p:nvSpPr>
          <p:cNvPr id="134" name="Google Shape;134;g397dc2ef77f_0_201"/>
          <p:cNvSpPr txBox="1"/>
          <p:nvPr/>
        </p:nvSpPr>
        <p:spPr>
          <a:xfrm rot="-799">
            <a:off x="1991923" y="135391"/>
            <a:ext cx="516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Problema detectado</a:t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g397dc2ef77f_0_201"/>
          <p:cNvSpPr txBox="1"/>
          <p:nvPr/>
        </p:nvSpPr>
        <p:spPr>
          <a:xfrm>
            <a:off x="8693787" y="4832426"/>
            <a:ext cx="2745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rgbClr val="FFFFFF"/>
                </a:solidFill>
              </a:rPr>
              <a:t>‹#›</a:t>
            </a:fld>
            <a:endParaRPr sz="1300">
              <a:solidFill>
                <a:srgbClr val="FFFFFF"/>
              </a:solidFill>
            </a:endParaRPr>
          </a:p>
        </p:txBody>
      </p:sp>
      <p:pic>
        <p:nvPicPr>
          <p:cNvPr id="136" name="Google Shape;136;g397dc2ef77f_0_2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698" y="1480693"/>
            <a:ext cx="2341049" cy="190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97dc2ef77f_0_201"/>
          <p:cNvSpPr txBox="1"/>
          <p:nvPr/>
        </p:nvSpPr>
        <p:spPr>
          <a:xfrm>
            <a:off x="3305525" y="929050"/>
            <a:ext cx="56277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Las ruedas actuales del Hermes tienen los siguientes problemas: </a:t>
            </a:r>
            <a:endParaRPr sz="18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Nos entregan un bajo rendimiento.</a:t>
            </a:r>
            <a:endParaRPr sz="18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Su radio afecta a la velocidad que puede alcanzar el robot. </a:t>
            </a:r>
            <a:endParaRPr sz="18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Deslizamiento en curvas.</a:t>
            </a:r>
            <a:endParaRPr sz="18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Pérdida de control en alta velocidad.</a:t>
            </a:r>
            <a:endParaRPr sz="18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7dc2ef77f_0_300"/>
          <p:cNvSpPr/>
          <p:nvPr/>
        </p:nvSpPr>
        <p:spPr>
          <a:xfrm rot="5400000">
            <a:off x="4325181" y="329932"/>
            <a:ext cx="401431" cy="9235726"/>
          </a:xfrm>
          <a:custGeom>
            <a:rect b="b" l="l" r="r" t="t"/>
            <a:pathLst>
              <a:path extrusionOk="0" h="24628602" w="1070483">
                <a:moveTo>
                  <a:pt x="0" y="0"/>
                </a:moveTo>
                <a:lnTo>
                  <a:pt x="1070483" y="0"/>
                </a:lnTo>
                <a:lnTo>
                  <a:pt x="1070483" y="24628602"/>
                </a:lnTo>
                <a:lnTo>
                  <a:pt x="0" y="246286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0041" l="-1436790" r="-4012589" t="0"/>
            </a:stretch>
          </a:blipFill>
          <a:ln>
            <a:noFill/>
          </a:ln>
        </p:spPr>
      </p:sp>
      <p:sp>
        <p:nvSpPr>
          <p:cNvPr id="147" name="Google Shape;147;g397dc2ef77f_0_300"/>
          <p:cNvSpPr/>
          <p:nvPr/>
        </p:nvSpPr>
        <p:spPr>
          <a:xfrm>
            <a:off x="-126275" y="4746700"/>
            <a:ext cx="9270302" cy="401431"/>
          </a:xfrm>
          <a:custGeom>
            <a:rect b="b" l="l" r="r" t="t"/>
            <a:pathLst>
              <a:path extrusionOk="0" h="1070483" w="24720804">
                <a:moveTo>
                  <a:pt x="0" y="0"/>
                </a:moveTo>
                <a:lnTo>
                  <a:pt x="24720804" y="0"/>
                </a:lnTo>
                <a:lnTo>
                  <a:pt x="24720804" y="1070483"/>
                </a:lnTo>
                <a:lnTo>
                  <a:pt x="0" y="1070483"/>
                </a:lnTo>
                <a:close/>
              </a:path>
            </a:pathLst>
          </a:custGeom>
          <a:solidFill>
            <a:srgbClr val="000000">
              <a:alpha val="10590"/>
            </a:srgbClr>
          </a:solidFill>
          <a:ln>
            <a:noFill/>
          </a:ln>
        </p:spPr>
      </p:sp>
      <p:sp>
        <p:nvSpPr>
          <p:cNvPr id="148" name="Google Shape;148;g397dc2ef77f_0_300"/>
          <p:cNvSpPr/>
          <p:nvPr/>
        </p:nvSpPr>
        <p:spPr>
          <a:xfrm>
            <a:off x="8256352" y="156884"/>
            <a:ext cx="676989" cy="304562"/>
          </a:xfrm>
          <a:custGeom>
            <a:rect b="b" l="l" r="r" t="t"/>
            <a:pathLst>
              <a:path extrusionOk="0" h="812165" w="1805305">
                <a:moveTo>
                  <a:pt x="0" y="0"/>
                </a:moveTo>
                <a:lnTo>
                  <a:pt x="1805305" y="0"/>
                </a:lnTo>
                <a:lnTo>
                  <a:pt x="1805305" y="812165"/>
                </a:lnTo>
                <a:lnTo>
                  <a:pt x="0" y="81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380" l="-11190" r="-10159" t="-40159"/>
            </a:stretch>
          </a:blipFill>
          <a:ln>
            <a:noFill/>
          </a:ln>
        </p:spPr>
      </p:sp>
      <p:sp>
        <p:nvSpPr>
          <p:cNvPr id="149" name="Google Shape;149;g397dc2ef77f_0_300"/>
          <p:cNvSpPr txBox="1"/>
          <p:nvPr/>
        </p:nvSpPr>
        <p:spPr>
          <a:xfrm>
            <a:off x="275667" y="4853227"/>
            <a:ext cx="2672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sz="700"/>
          </a:p>
        </p:txBody>
      </p:sp>
      <p:sp>
        <p:nvSpPr>
          <p:cNvPr id="150" name="Google Shape;150;g397dc2ef77f_0_300"/>
          <p:cNvSpPr txBox="1"/>
          <p:nvPr/>
        </p:nvSpPr>
        <p:spPr>
          <a:xfrm rot="-799">
            <a:off x="2867173" y="2039941"/>
            <a:ext cx="5160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Para eso haremos la siguiente modificación </a:t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g397dc2ef77f_0_300"/>
          <p:cNvSpPr txBox="1"/>
          <p:nvPr/>
        </p:nvSpPr>
        <p:spPr>
          <a:xfrm>
            <a:off x="8693787" y="4832426"/>
            <a:ext cx="2745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rgbClr val="FFFFFF"/>
                </a:solidFill>
              </a:rPr>
              <a:t>‹#›</a:t>
            </a:fld>
            <a:endParaRPr sz="1300">
              <a:solidFill>
                <a:srgbClr val="FFFFFF"/>
              </a:solidFill>
            </a:endParaRPr>
          </a:p>
        </p:txBody>
      </p:sp>
      <p:pic>
        <p:nvPicPr>
          <p:cNvPr id="152" name="Google Shape;152;g397dc2ef77f_0_3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676238">
            <a:off x="603221" y="1423046"/>
            <a:ext cx="2312852" cy="15569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97dc2ef77f_0_300"/>
          <p:cNvSpPr txBox="1"/>
          <p:nvPr/>
        </p:nvSpPr>
        <p:spPr>
          <a:xfrm rot="-799">
            <a:off x="2867173" y="2984041"/>
            <a:ext cx="516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¡</a:t>
            </a: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Cambiaremos las ruedas!</a:t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7dc2ef77f_0_316"/>
          <p:cNvSpPr/>
          <p:nvPr/>
        </p:nvSpPr>
        <p:spPr>
          <a:xfrm rot="5400000">
            <a:off x="4325181" y="329932"/>
            <a:ext cx="401431" cy="9235726"/>
          </a:xfrm>
          <a:custGeom>
            <a:rect b="b" l="l" r="r" t="t"/>
            <a:pathLst>
              <a:path extrusionOk="0" h="24628602" w="1070483">
                <a:moveTo>
                  <a:pt x="0" y="0"/>
                </a:moveTo>
                <a:lnTo>
                  <a:pt x="1070483" y="0"/>
                </a:lnTo>
                <a:lnTo>
                  <a:pt x="1070483" y="24628602"/>
                </a:lnTo>
                <a:lnTo>
                  <a:pt x="0" y="246286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0041" l="-1436790" r="-4012589" t="0"/>
            </a:stretch>
          </a:blipFill>
          <a:ln>
            <a:noFill/>
          </a:ln>
        </p:spPr>
      </p:sp>
      <p:sp>
        <p:nvSpPr>
          <p:cNvPr id="163" name="Google Shape;163;g397dc2ef77f_0_316"/>
          <p:cNvSpPr/>
          <p:nvPr/>
        </p:nvSpPr>
        <p:spPr>
          <a:xfrm>
            <a:off x="-126275" y="4746700"/>
            <a:ext cx="9270302" cy="401431"/>
          </a:xfrm>
          <a:custGeom>
            <a:rect b="b" l="l" r="r" t="t"/>
            <a:pathLst>
              <a:path extrusionOk="0" h="1070483" w="24720804">
                <a:moveTo>
                  <a:pt x="0" y="0"/>
                </a:moveTo>
                <a:lnTo>
                  <a:pt x="24720804" y="0"/>
                </a:lnTo>
                <a:lnTo>
                  <a:pt x="24720804" y="1070483"/>
                </a:lnTo>
                <a:lnTo>
                  <a:pt x="0" y="1070483"/>
                </a:lnTo>
                <a:close/>
              </a:path>
            </a:pathLst>
          </a:custGeom>
          <a:solidFill>
            <a:srgbClr val="000000">
              <a:alpha val="10590"/>
            </a:srgbClr>
          </a:solidFill>
          <a:ln>
            <a:noFill/>
          </a:ln>
        </p:spPr>
      </p:sp>
      <p:sp>
        <p:nvSpPr>
          <p:cNvPr id="164" name="Google Shape;164;g397dc2ef77f_0_316"/>
          <p:cNvSpPr/>
          <p:nvPr/>
        </p:nvSpPr>
        <p:spPr>
          <a:xfrm>
            <a:off x="8256352" y="156884"/>
            <a:ext cx="676989" cy="304562"/>
          </a:xfrm>
          <a:custGeom>
            <a:rect b="b" l="l" r="r" t="t"/>
            <a:pathLst>
              <a:path extrusionOk="0" h="812165" w="1805305">
                <a:moveTo>
                  <a:pt x="0" y="0"/>
                </a:moveTo>
                <a:lnTo>
                  <a:pt x="1805305" y="0"/>
                </a:lnTo>
                <a:lnTo>
                  <a:pt x="1805305" y="812165"/>
                </a:lnTo>
                <a:lnTo>
                  <a:pt x="0" y="81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380" l="-11190" r="-10159" t="-40159"/>
            </a:stretch>
          </a:blipFill>
          <a:ln>
            <a:noFill/>
          </a:ln>
        </p:spPr>
      </p:sp>
      <p:sp>
        <p:nvSpPr>
          <p:cNvPr id="165" name="Google Shape;165;g397dc2ef77f_0_316"/>
          <p:cNvSpPr txBox="1"/>
          <p:nvPr/>
        </p:nvSpPr>
        <p:spPr>
          <a:xfrm>
            <a:off x="275667" y="4853227"/>
            <a:ext cx="2672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sz="700"/>
          </a:p>
        </p:txBody>
      </p:sp>
      <p:sp>
        <p:nvSpPr>
          <p:cNvPr id="166" name="Google Shape;166;g397dc2ef77f_0_316"/>
          <p:cNvSpPr txBox="1"/>
          <p:nvPr/>
        </p:nvSpPr>
        <p:spPr>
          <a:xfrm rot="-799">
            <a:off x="2867173" y="997473"/>
            <a:ext cx="5160000" cy="27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El objetivo de esta mejora es:</a:t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2100"/>
              <a:buFont typeface="Poppins"/>
              <a:buChar char="●"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Optimizar la tracción y el control.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2100"/>
              <a:buFont typeface="Poppins"/>
              <a:buChar char="●"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Aumentar velocidad sin perder estabilidad.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2100"/>
              <a:buFont typeface="Poppins"/>
              <a:buChar char="●"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Mejorar desempeño en la pista.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g397dc2ef77f_0_316"/>
          <p:cNvSpPr txBox="1"/>
          <p:nvPr/>
        </p:nvSpPr>
        <p:spPr>
          <a:xfrm>
            <a:off x="8693787" y="4832426"/>
            <a:ext cx="2745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rgbClr val="FFFFFF"/>
                </a:solidFill>
              </a:rPr>
              <a:t>‹#›</a:t>
            </a:fld>
            <a:endParaRPr sz="1300">
              <a:solidFill>
                <a:srgbClr val="FFFFFF"/>
              </a:solidFill>
            </a:endParaRPr>
          </a:p>
        </p:txBody>
      </p:sp>
      <p:pic>
        <p:nvPicPr>
          <p:cNvPr id="168" name="Google Shape;168;g397dc2ef77f_0_3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676238">
            <a:off x="603221" y="1423046"/>
            <a:ext cx="2312852" cy="155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7dc2ef77f_0_331"/>
          <p:cNvSpPr/>
          <p:nvPr/>
        </p:nvSpPr>
        <p:spPr>
          <a:xfrm rot="5400000">
            <a:off x="4325181" y="329932"/>
            <a:ext cx="401431" cy="9235726"/>
          </a:xfrm>
          <a:custGeom>
            <a:rect b="b" l="l" r="r" t="t"/>
            <a:pathLst>
              <a:path extrusionOk="0" h="24628602" w="1070483">
                <a:moveTo>
                  <a:pt x="0" y="0"/>
                </a:moveTo>
                <a:lnTo>
                  <a:pt x="1070483" y="0"/>
                </a:lnTo>
                <a:lnTo>
                  <a:pt x="1070483" y="24628602"/>
                </a:lnTo>
                <a:lnTo>
                  <a:pt x="0" y="246286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0041" l="-1436790" r="-4012589" t="0"/>
            </a:stretch>
          </a:blipFill>
          <a:ln>
            <a:noFill/>
          </a:ln>
        </p:spPr>
      </p:sp>
      <p:sp>
        <p:nvSpPr>
          <p:cNvPr id="178" name="Google Shape;178;g397dc2ef77f_0_331"/>
          <p:cNvSpPr/>
          <p:nvPr/>
        </p:nvSpPr>
        <p:spPr>
          <a:xfrm>
            <a:off x="-126275" y="4746700"/>
            <a:ext cx="9270302" cy="401431"/>
          </a:xfrm>
          <a:custGeom>
            <a:rect b="b" l="l" r="r" t="t"/>
            <a:pathLst>
              <a:path extrusionOk="0" h="1070483" w="24720804">
                <a:moveTo>
                  <a:pt x="0" y="0"/>
                </a:moveTo>
                <a:lnTo>
                  <a:pt x="24720804" y="0"/>
                </a:lnTo>
                <a:lnTo>
                  <a:pt x="24720804" y="1070483"/>
                </a:lnTo>
                <a:lnTo>
                  <a:pt x="0" y="1070483"/>
                </a:lnTo>
                <a:close/>
              </a:path>
            </a:pathLst>
          </a:custGeom>
          <a:solidFill>
            <a:srgbClr val="000000">
              <a:alpha val="10590"/>
            </a:srgbClr>
          </a:solidFill>
          <a:ln>
            <a:noFill/>
          </a:ln>
        </p:spPr>
      </p:sp>
      <p:sp>
        <p:nvSpPr>
          <p:cNvPr id="179" name="Google Shape;179;g397dc2ef77f_0_331"/>
          <p:cNvSpPr/>
          <p:nvPr/>
        </p:nvSpPr>
        <p:spPr>
          <a:xfrm>
            <a:off x="8256352" y="156884"/>
            <a:ext cx="676989" cy="304562"/>
          </a:xfrm>
          <a:custGeom>
            <a:rect b="b" l="l" r="r" t="t"/>
            <a:pathLst>
              <a:path extrusionOk="0" h="812165" w="1805305">
                <a:moveTo>
                  <a:pt x="0" y="0"/>
                </a:moveTo>
                <a:lnTo>
                  <a:pt x="1805305" y="0"/>
                </a:lnTo>
                <a:lnTo>
                  <a:pt x="1805305" y="812165"/>
                </a:lnTo>
                <a:lnTo>
                  <a:pt x="0" y="81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380" l="-11190" r="-10159" t="-40159"/>
            </a:stretch>
          </a:blipFill>
          <a:ln>
            <a:noFill/>
          </a:ln>
        </p:spPr>
      </p:sp>
      <p:sp>
        <p:nvSpPr>
          <p:cNvPr id="180" name="Google Shape;180;g397dc2ef77f_0_331"/>
          <p:cNvSpPr txBox="1"/>
          <p:nvPr/>
        </p:nvSpPr>
        <p:spPr>
          <a:xfrm>
            <a:off x="275667" y="4853227"/>
            <a:ext cx="2672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sz="700"/>
          </a:p>
        </p:txBody>
      </p:sp>
      <p:sp>
        <p:nvSpPr>
          <p:cNvPr id="181" name="Google Shape;181;g397dc2ef77f_0_331"/>
          <p:cNvSpPr txBox="1"/>
          <p:nvPr/>
        </p:nvSpPr>
        <p:spPr>
          <a:xfrm rot="-799">
            <a:off x="2867173" y="486073"/>
            <a:ext cx="51600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Pero tendremos que ajustar nuestro PID</a:t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Debido al cambio de componentes del robot, es posible que los parámetros que antes ofrecían buenos resultados </a:t>
            </a: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ahora no sean igual de eficientes.﻿</a:t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g397dc2ef77f_0_331"/>
          <p:cNvSpPr txBox="1"/>
          <p:nvPr/>
        </p:nvSpPr>
        <p:spPr>
          <a:xfrm>
            <a:off x="8693787" y="4832426"/>
            <a:ext cx="2745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rgbClr val="FFFFFF"/>
                </a:solidFill>
              </a:rPr>
              <a:t>‹#›</a:t>
            </a:fld>
            <a:endParaRPr sz="1300">
              <a:solidFill>
                <a:srgbClr val="FFFFFF"/>
              </a:solidFill>
            </a:endParaRPr>
          </a:p>
        </p:txBody>
      </p:sp>
      <p:pic>
        <p:nvPicPr>
          <p:cNvPr id="183" name="Google Shape;183;g397dc2ef77f_0_3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676238">
            <a:off x="603221" y="1423046"/>
            <a:ext cx="2312852" cy="155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7dc2ef77f_0_345"/>
          <p:cNvSpPr/>
          <p:nvPr/>
        </p:nvSpPr>
        <p:spPr>
          <a:xfrm rot="5400000">
            <a:off x="4325181" y="329932"/>
            <a:ext cx="401431" cy="9235726"/>
          </a:xfrm>
          <a:custGeom>
            <a:rect b="b" l="l" r="r" t="t"/>
            <a:pathLst>
              <a:path extrusionOk="0" h="24628602" w="1070483">
                <a:moveTo>
                  <a:pt x="0" y="0"/>
                </a:moveTo>
                <a:lnTo>
                  <a:pt x="1070483" y="0"/>
                </a:lnTo>
                <a:lnTo>
                  <a:pt x="1070483" y="24628602"/>
                </a:lnTo>
                <a:lnTo>
                  <a:pt x="0" y="246286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0041" l="-1436790" r="-4012589" t="0"/>
            </a:stretch>
          </a:blipFill>
          <a:ln>
            <a:noFill/>
          </a:ln>
        </p:spPr>
      </p:sp>
      <p:sp>
        <p:nvSpPr>
          <p:cNvPr id="193" name="Google Shape;193;g397dc2ef77f_0_345"/>
          <p:cNvSpPr/>
          <p:nvPr/>
        </p:nvSpPr>
        <p:spPr>
          <a:xfrm>
            <a:off x="-126275" y="4746700"/>
            <a:ext cx="9270302" cy="401431"/>
          </a:xfrm>
          <a:custGeom>
            <a:rect b="b" l="l" r="r" t="t"/>
            <a:pathLst>
              <a:path extrusionOk="0" h="1070483" w="24720804">
                <a:moveTo>
                  <a:pt x="0" y="0"/>
                </a:moveTo>
                <a:lnTo>
                  <a:pt x="24720804" y="0"/>
                </a:lnTo>
                <a:lnTo>
                  <a:pt x="24720804" y="1070483"/>
                </a:lnTo>
                <a:lnTo>
                  <a:pt x="0" y="1070483"/>
                </a:lnTo>
                <a:close/>
              </a:path>
            </a:pathLst>
          </a:custGeom>
          <a:solidFill>
            <a:srgbClr val="000000">
              <a:alpha val="10590"/>
            </a:srgbClr>
          </a:solidFill>
          <a:ln>
            <a:noFill/>
          </a:ln>
        </p:spPr>
      </p:sp>
      <p:sp>
        <p:nvSpPr>
          <p:cNvPr id="194" name="Google Shape;194;g397dc2ef77f_0_345"/>
          <p:cNvSpPr/>
          <p:nvPr/>
        </p:nvSpPr>
        <p:spPr>
          <a:xfrm>
            <a:off x="8256352" y="156884"/>
            <a:ext cx="676989" cy="304562"/>
          </a:xfrm>
          <a:custGeom>
            <a:rect b="b" l="l" r="r" t="t"/>
            <a:pathLst>
              <a:path extrusionOk="0" h="812165" w="1805305">
                <a:moveTo>
                  <a:pt x="0" y="0"/>
                </a:moveTo>
                <a:lnTo>
                  <a:pt x="1805305" y="0"/>
                </a:lnTo>
                <a:lnTo>
                  <a:pt x="1805305" y="812165"/>
                </a:lnTo>
                <a:lnTo>
                  <a:pt x="0" y="81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380" l="-11190" r="-10159" t="-40159"/>
            </a:stretch>
          </a:blipFill>
          <a:ln>
            <a:noFill/>
          </a:ln>
        </p:spPr>
      </p:sp>
      <p:sp>
        <p:nvSpPr>
          <p:cNvPr id="195" name="Google Shape;195;g397dc2ef77f_0_345"/>
          <p:cNvSpPr txBox="1"/>
          <p:nvPr/>
        </p:nvSpPr>
        <p:spPr>
          <a:xfrm>
            <a:off x="275667" y="4853227"/>
            <a:ext cx="2672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sz="700"/>
          </a:p>
        </p:txBody>
      </p:sp>
      <p:sp>
        <p:nvSpPr>
          <p:cNvPr id="196" name="Google Shape;196;g397dc2ef77f_0_345"/>
          <p:cNvSpPr txBox="1"/>
          <p:nvPr/>
        </p:nvSpPr>
        <p:spPr>
          <a:xfrm rot="-783">
            <a:off x="275676" y="157164"/>
            <a:ext cx="79077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Comparación técnica</a:t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Ruedas antiguas vs nuevas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Goma lisa → rueda de </a:t>
            </a: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Silicona</a:t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Tracción media → </a:t>
            </a: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alta: </a:t>
            </a:r>
            <a:r>
              <a:rPr i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Mayor fricción = mejor agarre</a:t>
            </a:r>
            <a:endParaRPr i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Estabilidad mejorada</a:t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g397dc2ef77f_0_345"/>
          <p:cNvSpPr txBox="1"/>
          <p:nvPr/>
        </p:nvSpPr>
        <p:spPr>
          <a:xfrm>
            <a:off x="8693787" y="4832426"/>
            <a:ext cx="2745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rgbClr val="FFFFFF"/>
                </a:solidFill>
              </a:rPr>
              <a:t>‹#›</a:t>
            </a:fld>
            <a:endParaRPr sz="1300">
              <a:solidFill>
                <a:srgbClr val="FFFFFF"/>
              </a:solidFill>
            </a:endParaRPr>
          </a:p>
        </p:txBody>
      </p:sp>
      <p:pic>
        <p:nvPicPr>
          <p:cNvPr id="198" name="Google Shape;198;g397dc2ef77f_0_3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9350" y="2896292"/>
            <a:ext cx="1606603" cy="13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97dc2ef77f_0_345"/>
          <p:cNvPicPr preferRelativeResize="0"/>
          <p:nvPr/>
        </p:nvPicPr>
        <p:blipFill rotWithShape="1">
          <a:blip r:embed="rId6">
            <a:alphaModFix/>
          </a:blip>
          <a:srcRect b="0" l="0" r="8130" t="10064"/>
          <a:stretch/>
        </p:blipFill>
        <p:spPr>
          <a:xfrm>
            <a:off x="4964375" y="2896294"/>
            <a:ext cx="1955325" cy="114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g397dc2ef77f_0_345"/>
          <p:cNvCxnSpPr/>
          <p:nvPr/>
        </p:nvCxnSpPr>
        <p:spPr>
          <a:xfrm>
            <a:off x="3330550" y="3309617"/>
            <a:ext cx="1278600" cy="99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7dc2ef77f_0_378"/>
          <p:cNvSpPr/>
          <p:nvPr/>
        </p:nvSpPr>
        <p:spPr>
          <a:xfrm rot="5400000">
            <a:off x="4325181" y="329932"/>
            <a:ext cx="401431" cy="9235726"/>
          </a:xfrm>
          <a:custGeom>
            <a:rect b="b" l="l" r="r" t="t"/>
            <a:pathLst>
              <a:path extrusionOk="0" h="24628602" w="1070483">
                <a:moveTo>
                  <a:pt x="0" y="0"/>
                </a:moveTo>
                <a:lnTo>
                  <a:pt x="1070483" y="0"/>
                </a:lnTo>
                <a:lnTo>
                  <a:pt x="1070483" y="24628602"/>
                </a:lnTo>
                <a:lnTo>
                  <a:pt x="0" y="246286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0041" l="-1436790" r="-4012589" t="0"/>
            </a:stretch>
          </a:blipFill>
          <a:ln>
            <a:noFill/>
          </a:ln>
        </p:spPr>
      </p:sp>
      <p:sp>
        <p:nvSpPr>
          <p:cNvPr id="210" name="Google Shape;210;g397dc2ef77f_0_378"/>
          <p:cNvSpPr/>
          <p:nvPr/>
        </p:nvSpPr>
        <p:spPr>
          <a:xfrm>
            <a:off x="-126275" y="4746700"/>
            <a:ext cx="9270302" cy="401431"/>
          </a:xfrm>
          <a:custGeom>
            <a:rect b="b" l="l" r="r" t="t"/>
            <a:pathLst>
              <a:path extrusionOk="0" h="1070483" w="24720804">
                <a:moveTo>
                  <a:pt x="0" y="0"/>
                </a:moveTo>
                <a:lnTo>
                  <a:pt x="24720804" y="0"/>
                </a:lnTo>
                <a:lnTo>
                  <a:pt x="24720804" y="1070483"/>
                </a:lnTo>
                <a:lnTo>
                  <a:pt x="0" y="1070483"/>
                </a:lnTo>
                <a:close/>
              </a:path>
            </a:pathLst>
          </a:custGeom>
          <a:solidFill>
            <a:srgbClr val="000000">
              <a:alpha val="10590"/>
            </a:srgbClr>
          </a:solidFill>
          <a:ln>
            <a:noFill/>
          </a:ln>
        </p:spPr>
      </p:sp>
      <p:sp>
        <p:nvSpPr>
          <p:cNvPr id="211" name="Google Shape;211;g397dc2ef77f_0_378"/>
          <p:cNvSpPr/>
          <p:nvPr/>
        </p:nvSpPr>
        <p:spPr>
          <a:xfrm>
            <a:off x="8256352" y="156884"/>
            <a:ext cx="676989" cy="304562"/>
          </a:xfrm>
          <a:custGeom>
            <a:rect b="b" l="l" r="r" t="t"/>
            <a:pathLst>
              <a:path extrusionOk="0" h="812165" w="1805305">
                <a:moveTo>
                  <a:pt x="0" y="0"/>
                </a:moveTo>
                <a:lnTo>
                  <a:pt x="1805305" y="0"/>
                </a:lnTo>
                <a:lnTo>
                  <a:pt x="1805305" y="812165"/>
                </a:lnTo>
                <a:lnTo>
                  <a:pt x="0" y="81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380" l="-11190" r="-10159" t="-40159"/>
            </a:stretch>
          </a:blipFill>
          <a:ln>
            <a:noFill/>
          </a:ln>
        </p:spPr>
      </p:sp>
      <p:sp>
        <p:nvSpPr>
          <p:cNvPr id="212" name="Google Shape;212;g397dc2ef77f_0_378"/>
          <p:cNvSpPr txBox="1"/>
          <p:nvPr/>
        </p:nvSpPr>
        <p:spPr>
          <a:xfrm>
            <a:off x="275667" y="4853227"/>
            <a:ext cx="2672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sz="700"/>
          </a:p>
        </p:txBody>
      </p:sp>
      <p:sp>
        <p:nvSpPr>
          <p:cNvPr id="213" name="Google Shape;213;g397dc2ef77f_0_378"/>
          <p:cNvSpPr txBox="1"/>
          <p:nvPr/>
        </p:nvSpPr>
        <p:spPr>
          <a:xfrm rot="-783">
            <a:off x="275676" y="157164"/>
            <a:ext cx="7907700" cy="4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Resultados Esperados</a:t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95250" lvl="0" marL="234315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2100"/>
              <a:buFont typeface="Poppins"/>
              <a:buChar char="●"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Menor tiempo por vuelta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95250" lvl="0" marL="23431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009C"/>
              </a:buClr>
              <a:buSzPts val="2100"/>
              <a:buFont typeface="Poppins"/>
              <a:buChar char="●"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Mejor control en curvas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95250" lvl="0" marL="23431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009C"/>
              </a:buClr>
              <a:buSzPts val="2100"/>
              <a:buFont typeface="Poppins"/>
              <a:buChar char="●"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Arranques más estables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95250" lvl="0" marL="23431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009C"/>
              </a:buClr>
              <a:buSzPts val="2100"/>
              <a:buFont typeface="Poppins"/>
              <a:buChar char="●"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Mayor adherencia a la pista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g397dc2ef77f_0_378"/>
          <p:cNvSpPr txBox="1"/>
          <p:nvPr/>
        </p:nvSpPr>
        <p:spPr>
          <a:xfrm>
            <a:off x="8693787" y="4832426"/>
            <a:ext cx="2745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rgbClr val="FFFFFF"/>
                </a:solidFill>
              </a:rPr>
              <a:t>‹#›</a:t>
            </a:fld>
            <a:endParaRPr sz="1300">
              <a:solidFill>
                <a:srgbClr val="FFFFFF"/>
              </a:solidFill>
            </a:endParaRPr>
          </a:p>
        </p:txBody>
      </p:sp>
      <p:pic>
        <p:nvPicPr>
          <p:cNvPr id="215" name="Google Shape;215;g397dc2ef77f_0_3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676238">
            <a:off x="259010" y="1423046"/>
            <a:ext cx="2312852" cy="155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7dc2ef77f_0_423"/>
          <p:cNvSpPr/>
          <p:nvPr/>
        </p:nvSpPr>
        <p:spPr>
          <a:xfrm>
            <a:off x="5902035" y="-34234"/>
            <a:ext cx="3310795" cy="5143500"/>
          </a:xfrm>
          <a:custGeom>
            <a:rect b="b" l="l" r="r" t="t"/>
            <a:pathLst>
              <a:path extrusionOk="0" h="13716000" w="8828786">
                <a:moveTo>
                  <a:pt x="0" y="0"/>
                </a:moveTo>
                <a:lnTo>
                  <a:pt x="8828786" y="0"/>
                </a:lnTo>
                <a:lnTo>
                  <a:pt x="882878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3000"/>
            </a:blip>
            <a:stretch>
              <a:fillRect b="0" l="-101049" r="0" t="0"/>
            </a:stretch>
          </a:blipFill>
          <a:ln>
            <a:noFill/>
          </a:ln>
        </p:spPr>
      </p:sp>
      <p:sp>
        <p:nvSpPr>
          <p:cNvPr id="225" name="Google Shape;225;g397dc2ef77f_0_423"/>
          <p:cNvSpPr/>
          <p:nvPr/>
        </p:nvSpPr>
        <p:spPr>
          <a:xfrm rot="5400000">
            <a:off x="-1140936" y="1116579"/>
            <a:ext cx="5172837" cy="2890790"/>
          </a:xfrm>
          <a:custGeom>
            <a:rect b="b" l="l" r="r" t="t"/>
            <a:pathLst>
              <a:path extrusionOk="0" h="7708773" w="13794232">
                <a:moveTo>
                  <a:pt x="0" y="0"/>
                </a:moveTo>
                <a:lnTo>
                  <a:pt x="13794232" y="0"/>
                </a:lnTo>
                <a:lnTo>
                  <a:pt x="13794232" y="7708773"/>
                </a:lnTo>
                <a:lnTo>
                  <a:pt x="0" y="77087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20061" l="-34940" r="0" t="0"/>
            </a:stretch>
          </a:blipFill>
          <a:ln>
            <a:noFill/>
          </a:ln>
        </p:spPr>
      </p:sp>
      <p:grpSp>
        <p:nvGrpSpPr>
          <p:cNvPr id="226" name="Google Shape;226;g397dc2ef77f_0_423"/>
          <p:cNvGrpSpPr/>
          <p:nvPr/>
        </p:nvGrpSpPr>
        <p:grpSpPr>
          <a:xfrm>
            <a:off x="2884427" y="-11662"/>
            <a:ext cx="6264211" cy="5153025"/>
            <a:chOff x="0" y="0"/>
            <a:chExt cx="16704563" cy="13741400"/>
          </a:xfrm>
        </p:grpSpPr>
        <p:sp>
          <p:nvSpPr>
            <p:cNvPr id="227" name="Google Shape;227;g397dc2ef77f_0_423"/>
            <p:cNvSpPr/>
            <p:nvPr/>
          </p:nvSpPr>
          <p:spPr>
            <a:xfrm>
              <a:off x="12700" y="12700"/>
              <a:ext cx="16679163" cy="13716000"/>
            </a:xfrm>
            <a:custGeom>
              <a:rect b="b" l="l" r="r" t="t"/>
              <a:pathLst>
                <a:path extrusionOk="0" h="13716000" w="16679163">
                  <a:moveTo>
                    <a:pt x="0" y="0"/>
                  </a:moveTo>
                  <a:lnTo>
                    <a:pt x="16679163" y="0"/>
                  </a:lnTo>
                  <a:lnTo>
                    <a:pt x="1667916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B5A6FF"/>
            </a:solidFill>
            <a:ln>
              <a:noFill/>
            </a:ln>
          </p:spPr>
        </p:sp>
        <p:sp>
          <p:nvSpPr>
            <p:cNvPr id="228" name="Google Shape;228;g397dc2ef77f_0_423"/>
            <p:cNvSpPr/>
            <p:nvPr/>
          </p:nvSpPr>
          <p:spPr>
            <a:xfrm>
              <a:off x="0" y="0"/>
              <a:ext cx="16704563" cy="13741400"/>
            </a:xfrm>
            <a:custGeom>
              <a:rect b="b" l="l" r="r" t="t"/>
              <a:pathLst>
                <a:path extrusionOk="0" h="13741400" w="16704563">
                  <a:moveTo>
                    <a:pt x="12700" y="0"/>
                  </a:moveTo>
                  <a:lnTo>
                    <a:pt x="16691863" y="0"/>
                  </a:lnTo>
                  <a:cubicBezTo>
                    <a:pt x="16698849" y="0"/>
                    <a:pt x="16704563" y="5715"/>
                    <a:pt x="16704563" y="12700"/>
                  </a:cubicBezTo>
                  <a:lnTo>
                    <a:pt x="16704563" y="13728700"/>
                  </a:lnTo>
                  <a:cubicBezTo>
                    <a:pt x="16704563" y="13735686"/>
                    <a:pt x="16698849" y="13741400"/>
                    <a:pt x="16691863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16691863" y="13716000"/>
                  </a:lnTo>
                  <a:lnTo>
                    <a:pt x="16691863" y="13728700"/>
                  </a:lnTo>
                  <a:lnTo>
                    <a:pt x="16679163" y="13728700"/>
                  </a:lnTo>
                  <a:lnTo>
                    <a:pt x="16679163" y="12700"/>
                  </a:lnTo>
                  <a:lnTo>
                    <a:pt x="16691863" y="12700"/>
                  </a:lnTo>
                  <a:lnTo>
                    <a:pt x="1669186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" name="Google Shape;229;g397dc2ef77f_0_423"/>
          <p:cNvSpPr/>
          <p:nvPr/>
        </p:nvSpPr>
        <p:spPr>
          <a:xfrm>
            <a:off x="-10633" y="-29340"/>
            <a:ext cx="2901601" cy="5172885"/>
          </a:xfrm>
          <a:custGeom>
            <a:rect b="b" l="l" r="r" t="t"/>
            <a:pathLst>
              <a:path extrusionOk="0" h="13794360" w="7737602">
                <a:moveTo>
                  <a:pt x="0" y="0"/>
                </a:moveTo>
                <a:lnTo>
                  <a:pt x="7737602" y="0"/>
                </a:lnTo>
                <a:lnTo>
                  <a:pt x="7737602" y="13794360"/>
                </a:lnTo>
                <a:lnTo>
                  <a:pt x="0" y="13794360"/>
                </a:lnTo>
                <a:close/>
              </a:path>
            </a:pathLst>
          </a:custGeom>
          <a:solidFill>
            <a:srgbClr val="000000">
              <a:alpha val="10590"/>
            </a:srgbClr>
          </a:solidFill>
          <a:ln>
            <a:noFill/>
          </a:ln>
        </p:spPr>
      </p:sp>
      <p:grpSp>
        <p:nvGrpSpPr>
          <p:cNvPr id="230" name="Google Shape;230;g397dc2ef77f_0_423"/>
          <p:cNvGrpSpPr/>
          <p:nvPr/>
        </p:nvGrpSpPr>
        <p:grpSpPr>
          <a:xfrm>
            <a:off x="834093" y="590644"/>
            <a:ext cx="3163062" cy="1556909"/>
            <a:chOff x="-468884" y="-196215"/>
            <a:chExt cx="8434832" cy="4151757"/>
          </a:xfrm>
        </p:grpSpPr>
        <p:sp>
          <p:nvSpPr>
            <p:cNvPr id="231" name="Google Shape;231;g397dc2ef77f_0_423"/>
            <p:cNvSpPr/>
            <p:nvPr/>
          </p:nvSpPr>
          <p:spPr>
            <a:xfrm>
              <a:off x="-468884" y="-196215"/>
              <a:ext cx="8434832" cy="4151757"/>
            </a:xfrm>
            <a:custGeom>
              <a:rect b="b" l="l" r="r" t="t"/>
              <a:pathLst>
                <a:path extrusionOk="0" h="4151757" w="8434832">
                  <a:moveTo>
                    <a:pt x="2692400" y="4151757"/>
                  </a:moveTo>
                  <a:lnTo>
                    <a:pt x="2407412" y="3485388"/>
                  </a:lnTo>
                  <a:cubicBezTo>
                    <a:pt x="697230" y="3040253"/>
                    <a:pt x="0" y="2068830"/>
                    <a:pt x="796671" y="1241044"/>
                  </a:cubicBezTo>
                  <a:cubicBezTo>
                    <a:pt x="1593342" y="413258"/>
                    <a:pt x="3622929" y="0"/>
                    <a:pt x="5485765" y="286385"/>
                  </a:cubicBezTo>
                  <a:cubicBezTo>
                    <a:pt x="7348601" y="572770"/>
                    <a:pt x="8434832" y="1465072"/>
                    <a:pt x="7995285" y="2347722"/>
                  </a:cubicBezTo>
                  <a:cubicBezTo>
                    <a:pt x="7555738" y="3230372"/>
                    <a:pt x="5734304" y="3814572"/>
                    <a:pt x="3787267" y="3697478"/>
                  </a:cubicBezTo>
                  <a:close/>
                </a:path>
              </a:pathLst>
            </a:custGeom>
            <a:solidFill>
              <a:srgbClr val="D4D2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g397dc2ef77f_0_423"/>
            <p:cNvSpPr txBox="1"/>
            <p:nvPr/>
          </p:nvSpPr>
          <p:spPr>
            <a:xfrm>
              <a:off x="0" y="-38100"/>
              <a:ext cx="7623300" cy="3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/>
            </a:p>
          </p:txBody>
        </p:sp>
      </p:grpSp>
      <p:sp>
        <p:nvSpPr>
          <p:cNvPr id="233" name="Google Shape;233;g397dc2ef77f_0_423"/>
          <p:cNvSpPr/>
          <p:nvPr/>
        </p:nvSpPr>
        <p:spPr>
          <a:xfrm>
            <a:off x="119398" y="114505"/>
            <a:ext cx="548688" cy="389001"/>
          </a:xfrm>
          <a:custGeom>
            <a:rect b="b" l="l" r="r" t="t"/>
            <a:pathLst>
              <a:path extrusionOk="0" h="1037336" w="1463167">
                <a:moveTo>
                  <a:pt x="0" y="0"/>
                </a:moveTo>
                <a:lnTo>
                  <a:pt x="1463167" y="0"/>
                </a:lnTo>
                <a:lnTo>
                  <a:pt x="1463167" y="1037336"/>
                </a:lnTo>
                <a:lnTo>
                  <a:pt x="0" y="1037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g397dc2ef77f_0_423"/>
          <p:cNvSpPr/>
          <p:nvPr/>
        </p:nvSpPr>
        <p:spPr>
          <a:xfrm>
            <a:off x="393748" y="2355760"/>
            <a:ext cx="2143268" cy="2407825"/>
          </a:xfrm>
          <a:custGeom>
            <a:rect b="b" l="l" r="r" t="t"/>
            <a:pathLst>
              <a:path extrusionOk="0" h="6420866" w="5715381">
                <a:moveTo>
                  <a:pt x="0" y="0"/>
                </a:moveTo>
                <a:lnTo>
                  <a:pt x="5715381" y="0"/>
                </a:lnTo>
                <a:lnTo>
                  <a:pt x="5715381" y="6420866"/>
                </a:lnTo>
                <a:lnTo>
                  <a:pt x="0" y="64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8160" t="0"/>
            </a:stretch>
          </a:blipFill>
          <a:ln>
            <a:noFill/>
          </a:ln>
        </p:spPr>
      </p:sp>
      <p:sp>
        <p:nvSpPr>
          <p:cNvPr id="235" name="Google Shape;235;g397dc2ef77f_0_423"/>
          <p:cNvSpPr txBox="1"/>
          <p:nvPr/>
        </p:nvSpPr>
        <p:spPr>
          <a:xfrm>
            <a:off x="8634779" y="4763583"/>
            <a:ext cx="2745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rgbClr val="FFFFFF"/>
                </a:solidFill>
              </a:rPr>
              <a:t>‹#›</a:t>
            </a:fld>
            <a:endParaRPr sz="1300">
              <a:solidFill>
                <a:srgbClr val="FFFFFF"/>
              </a:solidFill>
            </a:endParaRPr>
          </a:p>
        </p:txBody>
      </p:sp>
      <p:sp>
        <p:nvSpPr>
          <p:cNvPr id="236" name="Google Shape;236;g397dc2ef77f_0_423"/>
          <p:cNvSpPr txBox="1"/>
          <p:nvPr/>
        </p:nvSpPr>
        <p:spPr>
          <a:xfrm>
            <a:off x="3944775" y="208462"/>
            <a:ext cx="48387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2100"/>
              <a:buFont typeface="Poppins"/>
              <a:buChar char="●"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Pequeños cambios generan grandes mejoras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2100"/>
              <a:buFont typeface="Poppins"/>
              <a:buChar char="●"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Experimentación = aprendizaje STEM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Clr>
                <a:srgbClr val="11009C"/>
              </a:buClr>
              <a:buSzPts val="2100"/>
              <a:buFont typeface="Poppins"/>
              <a:buChar char="●"/>
            </a:pPr>
            <a:r>
              <a:rPr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Tracción y material: factores decisivos para la competencia</a:t>
            </a:r>
            <a:endParaRPr sz="2100">
              <a:solidFill>
                <a:srgbClr val="11009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7" name="Google Shape;237;g397dc2ef77f_0_4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676238">
            <a:off x="2835671" y="3490646"/>
            <a:ext cx="2312852" cy="15569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97dc2ef77f_0_423"/>
          <p:cNvSpPr txBox="1"/>
          <p:nvPr/>
        </p:nvSpPr>
        <p:spPr>
          <a:xfrm>
            <a:off x="944775" y="879119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Algunas </a:t>
            </a:r>
            <a:r>
              <a:rPr b="1" lang="en-US" sz="21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Conclusiones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 txBox="1"/>
          <p:nvPr/>
        </p:nvSpPr>
        <p:spPr>
          <a:xfrm>
            <a:off x="914400" y="342900"/>
            <a:ext cx="7772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Conclusiones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914400" y="1371600"/>
            <a:ext cx="77724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- Pequeños cambios generan grandes mejoras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- Experimentación = aprendizaje STEM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- Tracción y material: factores decisivos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