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Proxima Nova"/>
      <p:regular r:id="rId19"/>
      <p:bold r:id="rId20"/>
      <p:italic r:id="rId21"/>
      <p:boldItalic r:id="rId22"/>
    </p:embeddedFont>
    <p:embeddedFont>
      <p:font typeface="Poppins"/>
      <p:regular r:id="rId23"/>
      <p:bold r:id="rId24"/>
      <p:italic r:id="rId25"/>
      <p:boldItalic r:id="rId26"/>
    </p:embeddedFont>
    <p:embeddedFont>
      <p:font typeface="Helvetica Neue"/>
      <p:regular r:id="rId27"/>
      <p:bold r:id="rId28"/>
      <p:italic r:id="rId29"/>
      <p:boldItalic r:id="rId30"/>
    </p:embeddedFont>
    <p:embeddedFont>
      <p:font typeface="Poppins SemiBold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-bold.fntdata"/><Relationship Id="rId22" Type="http://schemas.openxmlformats.org/officeDocument/2006/relationships/font" Target="fonts/ProximaNova-boldItalic.fntdata"/><Relationship Id="rId21" Type="http://schemas.openxmlformats.org/officeDocument/2006/relationships/font" Target="fonts/ProximaNova-italic.fntdata"/><Relationship Id="rId24" Type="http://schemas.openxmlformats.org/officeDocument/2006/relationships/font" Target="fonts/Poppins-bold.fntdata"/><Relationship Id="rId23" Type="http://schemas.openxmlformats.org/officeDocument/2006/relationships/font" Target="fonts/Poppi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-boldItalic.fntdata"/><Relationship Id="rId25" Type="http://schemas.openxmlformats.org/officeDocument/2006/relationships/font" Target="fonts/Poppins-italic.fntdata"/><Relationship Id="rId28" Type="http://schemas.openxmlformats.org/officeDocument/2006/relationships/font" Target="fonts/HelveticaNeue-bold.fntdata"/><Relationship Id="rId27" Type="http://schemas.openxmlformats.org/officeDocument/2006/relationships/font" Target="fonts/HelveticaNeu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HelveticaNeue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SemiBold-regular.fntdata"/><Relationship Id="rId30" Type="http://schemas.openxmlformats.org/officeDocument/2006/relationships/font" Target="fonts/HelveticaNeue-boldItalic.fntdata"/><Relationship Id="rId11" Type="http://schemas.openxmlformats.org/officeDocument/2006/relationships/slide" Target="slides/slide6.xml"/><Relationship Id="rId33" Type="http://schemas.openxmlformats.org/officeDocument/2006/relationships/font" Target="fonts/PoppinsSemiBold-italic.fntdata"/><Relationship Id="rId10" Type="http://schemas.openxmlformats.org/officeDocument/2006/relationships/slide" Target="slides/slide5.xml"/><Relationship Id="rId32" Type="http://schemas.openxmlformats.org/officeDocument/2006/relationships/font" Target="fonts/PoppinsSemiBold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PoppinsSemiBold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roximaNova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cf793df645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g2cf793df645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AutoNum type="arabicPeriod"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51391a78d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51391a78d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51391a78d4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51391a78d4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4cc1d75865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4cc1d75865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4cc1d75865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4cc1d75865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4cc1d75865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4cc1d75865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4cc1d75865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4cc1d75865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51391a78d4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51391a78d4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e8b75584f2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e8b75584f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e8b75584f2_0_1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g3e8b75584f2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s"/>
              <a:t>(SIMBOLOGÍA)Mostrar los diferentes bloques de diagramas de flujo y que significa cada bloque(ejemplo: rombo -&gt; if)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e8b75584f2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g3e8b75584f2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e8b75584f2_0_29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g3e8b75584f2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cb5c8128b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2cb5c8128b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>
  <p:cSld name="CUSTOM_20">
    <p:bg>
      <p:bgPr>
        <a:noFill/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jp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jpg"/><Relationship Id="rId4" Type="http://schemas.openxmlformats.org/officeDocument/2006/relationships/image" Target="../media/image1.png"/><Relationship Id="rId5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Relationship Id="rId5" Type="http://schemas.openxmlformats.org/officeDocument/2006/relationships/image" Target="../media/image1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5" Type="http://schemas.openxmlformats.org/officeDocument/2006/relationships/image" Target="../media/image1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gif"/><Relationship Id="rId4" Type="http://schemas.openxmlformats.org/officeDocument/2006/relationships/image" Target="../media/image13.png"/><Relationship Id="rId5" Type="http://schemas.openxmlformats.org/officeDocument/2006/relationships/image" Target="../media/image1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9.jpg"/><Relationship Id="rId6" Type="http://schemas.openxmlformats.org/officeDocument/2006/relationships/image" Target="../media/image11.png"/><Relationship Id="rId7" Type="http://schemas.openxmlformats.org/officeDocument/2006/relationships/image" Target="../media/image3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jpg"/><Relationship Id="rId4" Type="http://schemas.openxmlformats.org/officeDocument/2006/relationships/image" Target="../media/image11.png"/><Relationship Id="rId5" Type="http://schemas.openxmlformats.org/officeDocument/2006/relationships/image" Target="../media/image4.png"/><Relationship Id="rId6" Type="http://schemas.openxmlformats.org/officeDocument/2006/relationships/image" Target="../media/image32.png"/><Relationship Id="rId7" Type="http://schemas.openxmlformats.org/officeDocument/2006/relationships/image" Target="../media/image3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hyperlink" Target="https://bit.ly/tropos-cyt" TargetMode="External"/><Relationship Id="rId5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15.jpg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2.jpg"/><Relationship Id="rId10" Type="http://schemas.openxmlformats.org/officeDocument/2006/relationships/image" Target="../media/image24.png"/><Relationship Id="rId13" Type="http://schemas.openxmlformats.org/officeDocument/2006/relationships/image" Target="../media/image23.png"/><Relationship Id="rId1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7.jpg"/><Relationship Id="rId4" Type="http://schemas.openxmlformats.org/officeDocument/2006/relationships/image" Target="../media/image34.png"/><Relationship Id="rId9" Type="http://schemas.openxmlformats.org/officeDocument/2006/relationships/image" Target="../media/image38.png"/><Relationship Id="rId14" Type="http://schemas.openxmlformats.org/officeDocument/2006/relationships/image" Target="../media/image26.png"/><Relationship Id="rId5" Type="http://schemas.openxmlformats.org/officeDocument/2006/relationships/image" Target="../media/image35.png"/><Relationship Id="rId6" Type="http://schemas.openxmlformats.org/officeDocument/2006/relationships/image" Target="../media/image30.jpg"/><Relationship Id="rId7" Type="http://schemas.openxmlformats.org/officeDocument/2006/relationships/image" Target="../media/image29.png"/><Relationship Id="rId8" Type="http://schemas.openxmlformats.org/officeDocument/2006/relationships/image" Target="../media/image2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9F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174544" y="3908703"/>
            <a:ext cx="8969400" cy="1234800"/>
          </a:xfrm>
          <a:prstGeom prst="rect">
            <a:avLst/>
          </a:prstGeom>
          <a:solidFill>
            <a:srgbClr val="01189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" name="Google Shape;56;p14"/>
          <p:cNvPicPr preferRelativeResize="0"/>
          <p:nvPr/>
        </p:nvPicPr>
        <p:blipFill rotWithShape="1">
          <a:blip r:embed="rId3">
            <a:alphaModFix/>
          </a:blip>
          <a:srcRect b="299" l="44748" r="0" t="-10"/>
          <a:stretch/>
        </p:blipFill>
        <p:spPr>
          <a:xfrm rot="-5400000">
            <a:off x="2617645" y="-2617647"/>
            <a:ext cx="3908705" cy="9143994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4"/>
          <p:cNvSpPr/>
          <p:nvPr/>
        </p:nvSpPr>
        <p:spPr>
          <a:xfrm>
            <a:off x="274726" y="274725"/>
            <a:ext cx="9144000" cy="3908700"/>
          </a:xfrm>
          <a:prstGeom prst="rect">
            <a:avLst/>
          </a:prstGeom>
          <a:solidFill>
            <a:srgbClr val="002060">
              <a:alpha val="4863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4344" y="192405"/>
            <a:ext cx="2587503" cy="812591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4"/>
          <p:cNvSpPr txBox="1"/>
          <p:nvPr/>
        </p:nvSpPr>
        <p:spPr>
          <a:xfrm>
            <a:off x="861159" y="2111134"/>
            <a:ext cx="46815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Clubes de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Ciencia y Tecnología</a:t>
            </a:r>
            <a:endParaRPr b="1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" name="Google Shape;60;p14"/>
          <p:cNvSpPr/>
          <p:nvPr/>
        </p:nvSpPr>
        <p:spPr>
          <a:xfrm>
            <a:off x="874188" y="3545211"/>
            <a:ext cx="1544400" cy="410100"/>
          </a:xfrm>
          <a:prstGeom prst="rect">
            <a:avLst/>
          </a:prstGeom>
          <a:solidFill>
            <a:srgbClr val="01189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974298" y="3595017"/>
            <a:ext cx="15444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16</a:t>
            </a:r>
            <a:r>
              <a:rPr b="0" i="0" lang="e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.0</a:t>
            </a:r>
            <a:r>
              <a:rPr lang="e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r>
              <a:rPr b="0" i="0" lang="es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.2025</a:t>
            </a:r>
            <a:endParaRPr b="0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" name="Google Shape;62;p14"/>
          <p:cNvSpPr txBox="1"/>
          <p:nvPr/>
        </p:nvSpPr>
        <p:spPr>
          <a:xfrm rot="-5400000">
            <a:off x="7433264" y="3154639"/>
            <a:ext cx="2945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7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861159" y="1529936"/>
            <a:ext cx="24435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Sesión Nº</a:t>
            </a:r>
            <a:r>
              <a:rPr lang="es" sz="1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7</a:t>
            </a:r>
            <a:endParaRPr b="0" i="0" sz="15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64" name="Google Shape;64;p14"/>
          <p:cNvCxnSpPr/>
          <p:nvPr/>
        </p:nvCxnSpPr>
        <p:spPr>
          <a:xfrm>
            <a:off x="928250" y="1864954"/>
            <a:ext cx="2015400" cy="0"/>
          </a:xfrm>
          <a:prstGeom prst="straightConnector1">
            <a:avLst/>
          </a:prstGeom>
          <a:noFill/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65" name="Google Shape;65;p14"/>
          <p:cNvPicPr preferRelativeResize="0"/>
          <p:nvPr/>
        </p:nvPicPr>
        <p:blipFill rotWithShape="1">
          <a:blip r:embed="rId5">
            <a:alphaModFix/>
          </a:blip>
          <a:srcRect b="43844" l="31851" r="33841" t="27525"/>
          <a:stretch/>
        </p:blipFill>
        <p:spPr>
          <a:xfrm>
            <a:off x="5054055" y="1742684"/>
            <a:ext cx="3402614" cy="2171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/>
          <p:cNvPicPr preferRelativeResize="0"/>
          <p:nvPr/>
        </p:nvPicPr>
        <p:blipFill rotWithShape="1">
          <a:blip r:embed="rId3">
            <a:alphaModFix/>
          </a:blip>
          <a:srcRect b="68756" l="25893" r="0" t="0"/>
          <a:stretch/>
        </p:blipFill>
        <p:spPr>
          <a:xfrm rot="5400000">
            <a:off x="-1140929" y="1116585"/>
            <a:ext cx="5172836" cy="289077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/>
          <p:nvPr/>
        </p:nvSpPr>
        <p:spPr>
          <a:xfrm>
            <a:off x="0" y="-20614"/>
            <a:ext cx="2901600" cy="5172900"/>
          </a:xfrm>
          <a:prstGeom prst="rect">
            <a:avLst/>
          </a:prstGeom>
          <a:solidFill>
            <a:srgbClr val="000000">
              <a:alpha val="3333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08113" y="623393"/>
            <a:ext cx="5104614" cy="421268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/>
          <p:nvPr/>
        </p:nvSpPr>
        <p:spPr>
          <a:xfrm>
            <a:off x="5929973" y="4016068"/>
            <a:ext cx="421200" cy="421200"/>
          </a:xfrm>
          <a:prstGeom prst="ellipse">
            <a:avLst/>
          </a:prstGeom>
          <a:solidFill>
            <a:srgbClr val="71C9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3186772" y="4016068"/>
            <a:ext cx="421200" cy="421200"/>
          </a:xfrm>
          <a:prstGeom prst="ellipse">
            <a:avLst/>
          </a:prstGeom>
          <a:solidFill>
            <a:srgbClr val="71C9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5929973" y="2671362"/>
            <a:ext cx="421200" cy="421200"/>
          </a:xfrm>
          <a:prstGeom prst="ellipse">
            <a:avLst/>
          </a:prstGeom>
          <a:solidFill>
            <a:srgbClr val="71C9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3186772" y="2671362"/>
            <a:ext cx="421200" cy="421200"/>
          </a:xfrm>
          <a:prstGeom prst="ellipse">
            <a:avLst/>
          </a:prstGeom>
          <a:solidFill>
            <a:srgbClr val="71C9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5929973" y="1003927"/>
            <a:ext cx="421200" cy="421200"/>
          </a:xfrm>
          <a:prstGeom prst="ellipse">
            <a:avLst/>
          </a:prstGeom>
          <a:solidFill>
            <a:srgbClr val="71C9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3186772" y="1003927"/>
            <a:ext cx="421200" cy="421200"/>
          </a:xfrm>
          <a:prstGeom prst="ellipse">
            <a:avLst/>
          </a:prstGeom>
          <a:solidFill>
            <a:srgbClr val="71C9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431273" y="1350001"/>
            <a:ext cx="2106600" cy="11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7775" lIns="75575" spcFirstLastPara="1" rIns="75575" wrap="square" tIns="377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73"/>
              <a:buFont typeface="Calibri"/>
              <a:buNone/>
            </a:pPr>
            <a:r>
              <a:rPr b="1" i="0" lang="es" sz="2400" u="none" cap="none" strike="noStrike">
                <a:solidFill>
                  <a:srgbClr val="71C9EB"/>
                </a:solidFill>
                <a:latin typeface="Poppins"/>
                <a:ea typeface="Poppins"/>
                <a:cs typeface="Poppins"/>
                <a:sym typeface="Poppins"/>
              </a:rPr>
              <a:t>¿QUÉ ROBOT </a:t>
            </a:r>
            <a:r>
              <a:rPr b="0" i="0" lang="e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SOMOS HOY?</a:t>
            </a:r>
            <a:endParaRPr b="0" i="0" sz="2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3259033" y="1036194"/>
            <a:ext cx="42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1.</a:t>
            </a:r>
            <a:endParaRPr b="1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3230470" y="2703629"/>
            <a:ext cx="42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3.</a:t>
            </a:r>
            <a:endParaRPr b="1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3219837" y="4057304"/>
            <a:ext cx="42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5.</a:t>
            </a:r>
            <a:endParaRPr b="1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5978574" y="1036194"/>
            <a:ext cx="42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2.</a:t>
            </a:r>
            <a:endParaRPr b="1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5957308" y="2703629"/>
            <a:ext cx="42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4.</a:t>
            </a:r>
            <a:endParaRPr b="1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5978574" y="4057304"/>
            <a:ext cx="42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6.</a:t>
            </a:r>
            <a:endParaRPr b="1" i="0" sz="1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6" name="Google Shape;8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9398" y="114505"/>
            <a:ext cx="548700" cy="3889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33AE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4010" y="1392406"/>
            <a:ext cx="3360338" cy="292586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2259727" y="893230"/>
            <a:ext cx="4624500" cy="7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1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PREPARA TU ENTORNO Y PONTE CÓMODO PARA TRABAJAR</a:t>
            </a:r>
            <a:br>
              <a:rPr b="1" lang="es" sz="1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1" sz="16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3" name="Google Shape;9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85002" y="63549"/>
            <a:ext cx="819695" cy="491233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6"/>
          <p:cNvSpPr txBox="1"/>
          <p:nvPr/>
        </p:nvSpPr>
        <p:spPr>
          <a:xfrm>
            <a:off x="189130" y="4801377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/>
        </p:nvSpPr>
        <p:spPr>
          <a:xfrm>
            <a:off x="480000" y="865692"/>
            <a:ext cx="8184000" cy="24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200">
                <a:solidFill>
                  <a:srgbClr val="FA8A00"/>
                </a:solidFill>
                <a:latin typeface="Poppins"/>
                <a:ea typeface="Poppins"/>
                <a:cs typeface="Poppins"/>
                <a:sym typeface="Poppins"/>
              </a:rPr>
              <a:t>Desafío</a:t>
            </a:r>
            <a:endParaRPr b="1" sz="7200">
              <a:solidFill>
                <a:srgbClr val="FA8A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0" name="Google Shape;100;p17"/>
          <p:cNvPicPr preferRelativeResize="0"/>
          <p:nvPr/>
        </p:nvPicPr>
        <p:blipFill rotWithShape="1">
          <a:blip r:embed="rId3">
            <a:alphaModFix/>
          </a:blip>
          <a:srcRect b="21938" l="9222" r="8365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" name="Google Shape;101;p17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102" name="Google Shape;102;p17"/>
            <p:cNvPicPr preferRelativeResize="0"/>
            <p:nvPr/>
          </p:nvPicPr>
          <p:blipFill rotWithShape="1">
            <a:blip r:embed="rId4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" name="Google Shape;103;p17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4" name="Google Shape;104;p17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/>
        </p:nvSpPr>
        <p:spPr>
          <a:xfrm>
            <a:off x="2700600" y="106550"/>
            <a:ext cx="3742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Caja </a:t>
            </a:r>
            <a:r>
              <a:rPr b="1" lang="es" sz="28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Misteriosa</a:t>
            </a:r>
            <a:endParaRPr b="1" sz="28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0" name="Google Shape;110;p18"/>
          <p:cNvSpPr txBox="1"/>
          <p:nvPr/>
        </p:nvSpPr>
        <p:spPr>
          <a:xfrm>
            <a:off x="178850" y="806200"/>
            <a:ext cx="8704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El día de hoy tendrán una caja misteriosa con la que podrán interactuar y ver qué cosas hace cuando apretamos los botones:</a:t>
            </a:r>
            <a:endParaRPr sz="18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1" name="Google Shape;11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2500" y="1672050"/>
            <a:ext cx="4137200" cy="294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8"/>
          <p:cNvPicPr preferRelativeResize="0"/>
          <p:nvPr/>
        </p:nvPicPr>
        <p:blipFill rotWithShape="1">
          <a:blip r:embed="rId4">
            <a:alphaModFix/>
          </a:blip>
          <a:srcRect b="21938" l="9222" r="8365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" name="Google Shape;113;p18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114" name="Google Shape;114;p18"/>
            <p:cNvPicPr preferRelativeResize="0"/>
            <p:nvPr/>
          </p:nvPicPr>
          <p:blipFill rotWithShape="1">
            <a:blip r:embed="rId5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" name="Google Shape;115;p18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" name="Google Shape;116;p18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/>
        </p:nvSpPr>
        <p:spPr>
          <a:xfrm>
            <a:off x="2700600" y="106550"/>
            <a:ext cx="3742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Paso 0</a:t>
            </a:r>
            <a:endParaRPr b="1" sz="28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2" name="Google Shape;122;p19"/>
          <p:cNvSpPr/>
          <p:nvPr/>
        </p:nvSpPr>
        <p:spPr>
          <a:xfrm>
            <a:off x="244350" y="709338"/>
            <a:ext cx="8655300" cy="12624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Antes de ver los objetivos que hay que cumplir en la sesión de hoy, es fundamental que primero se tomen su tiempo para interactuar con la caja, se </a:t>
            </a:r>
            <a:r>
              <a:rPr lang="es" sz="1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elegirá</a:t>
            </a:r>
            <a:r>
              <a:rPr lang="es" sz="1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 un representante por grupo para que interactúe con la caja:</a:t>
            </a:r>
            <a:endParaRPr sz="17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3" name="Google Shape;12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6176" y="2028200"/>
            <a:ext cx="4385413" cy="265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9"/>
          <p:cNvPicPr preferRelativeResize="0"/>
          <p:nvPr/>
        </p:nvPicPr>
        <p:blipFill rotWithShape="1">
          <a:blip r:embed="rId4">
            <a:alphaModFix/>
          </a:blip>
          <a:srcRect b="21938" l="9222" r="8365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5" name="Google Shape;125;p19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126" name="Google Shape;126;p19"/>
            <p:cNvPicPr preferRelativeResize="0"/>
            <p:nvPr/>
          </p:nvPicPr>
          <p:blipFill rotWithShape="1">
            <a:blip r:embed="rId5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" name="Google Shape;127;p19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8" name="Google Shape;128;p19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/>
        </p:nvSpPr>
        <p:spPr>
          <a:xfrm>
            <a:off x="2700600" y="106550"/>
            <a:ext cx="3742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rgbClr val="0233AE"/>
                </a:solidFill>
                <a:latin typeface="Poppins"/>
                <a:ea typeface="Poppins"/>
                <a:cs typeface="Poppins"/>
                <a:sym typeface="Poppins"/>
              </a:rPr>
              <a:t>Paso 0</a:t>
            </a:r>
            <a:endParaRPr b="1" sz="2800">
              <a:solidFill>
                <a:srgbClr val="0233A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4" name="Google Shape;134;p20"/>
          <p:cNvSpPr/>
          <p:nvPr/>
        </p:nvSpPr>
        <p:spPr>
          <a:xfrm>
            <a:off x="379200" y="679250"/>
            <a:ext cx="8385600" cy="974100"/>
          </a:xfrm>
          <a:prstGeom prst="roundRect">
            <a:avLst>
              <a:gd fmla="val 16667" name="adj"/>
            </a:avLst>
          </a:prstGeom>
          <a:solidFill>
            <a:srgbClr val="FFC00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 interactuar es importante que anoten toda información que les pueda ser útil, tales como:</a:t>
            </a:r>
            <a:endParaRPr sz="1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5" name="Google Shape;135;p20"/>
          <p:cNvSpPr/>
          <p:nvPr/>
        </p:nvSpPr>
        <p:spPr>
          <a:xfrm>
            <a:off x="379200" y="1816600"/>
            <a:ext cx="4092600" cy="12285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oppins"/>
              <a:buChar char="●"/>
            </a:pPr>
            <a:r>
              <a:rPr lang="e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Formas de input que tiene la caja</a:t>
            </a:r>
            <a:endParaRPr b="1" sz="1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6" name="Google Shape;136;p20"/>
          <p:cNvSpPr/>
          <p:nvPr/>
        </p:nvSpPr>
        <p:spPr>
          <a:xfrm>
            <a:off x="4728275" y="1816600"/>
            <a:ext cx="4092600" cy="12285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oppins"/>
              <a:buChar char="●"/>
            </a:pPr>
            <a:r>
              <a:rPr lang="e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Tipo de Output (acciones) que tiene la caja</a:t>
            </a:r>
            <a:endParaRPr b="1" sz="1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7" name="Google Shape;137;p20"/>
          <p:cNvSpPr/>
          <p:nvPr/>
        </p:nvSpPr>
        <p:spPr>
          <a:xfrm>
            <a:off x="2362988" y="3208350"/>
            <a:ext cx="4291800" cy="1228500"/>
          </a:xfrm>
          <a:prstGeom prst="roundRect">
            <a:avLst>
              <a:gd fmla="val 16667" name="adj"/>
            </a:avLst>
          </a:prstGeom>
          <a:solidFill>
            <a:srgbClr val="0233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oppins"/>
              <a:buChar char="●"/>
            </a:pPr>
            <a:r>
              <a:rPr lang="e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 relación que hay entre los inputs y output (Ej: si apreto esto, pasa esto otro)</a:t>
            </a:r>
            <a:endParaRPr b="1" sz="1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8" name="Google Shape;13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1025" y="3205963"/>
            <a:ext cx="1411225" cy="141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0"/>
          <p:cNvPicPr preferRelativeResize="0"/>
          <p:nvPr/>
        </p:nvPicPr>
        <p:blipFill rotWithShape="1">
          <a:blip r:embed="rId4">
            <a:alphaModFix/>
          </a:blip>
          <a:srcRect b="21938" l="9222" r="8365" t="22367"/>
          <a:stretch/>
        </p:blipFill>
        <p:spPr>
          <a:xfrm>
            <a:off x="7981832" y="193874"/>
            <a:ext cx="1020395" cy="4590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p20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141" name="Google Shape;141;p20"/>
            <p:cNvPicPr preferRelativeResize="0"/>
            <p:nvPr/>
          </p:nvPicPr>
          <p:blipFill rotWithShape="1">
            <a:blip r:embed="rId5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" name="Google Shape;142;p20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3" name="Google Shape;143;p20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/>
          <p:nvPr/>
        </p:nvSpPr>
        <p:spPr>
          <a:xfrm>
            <a:off x="2889190" y="-6900"/>
            <a:ext cx="6254700" cy="5143500"/>
          </a:xfrm>
          <a:prstGeom prst="rect">
            <a:avLst/>
          </a:prstGeom>
          <a:solidFill>
            <a:srgbClr val="B4D39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p21"/>
          <p:cNvPicPr preferRelativeResize="0"/>
          <p:nvPr/>
        </p:nvPicPr>
        <p:blipFill rotWithShape="1">
          <a:blip r:embed="rId3">
            <a:alphaModFix amt="33000"/>
          </a:blip>
          <a:srcRect b="0" l="50261" r="0" t="0"/>
          <a:stretch/>
        </p:blipFill>
        <p:spPr>
          <a:xfrm>
            <a:off x="5902035" y="-34234"/>
            <a:ext cx="33107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2995211" y="-1514655"/>
            <a:ext cx="6113262" cy="817281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21"/>
          <p:cNvGrpSpPr/>
          <p:nvPr/>
        </p:nvGrpSpPr>
        <p:grpSpPr>
          <a:xfrm>
            <a:off x="-10633" y="-29340"/>
            <a:ext cx="2901600" cy="5177731"/>
            <a:chOff x="0" y="-29340"/>
            <a:chExt cx="2901600" cy="5177731"/>
          </a:xfrm>
        </p:grpSpPr>
        <p:pic>
          <p:nvPicPr>
            <p:cNvPr id="152" name="Google Shape;152;p21"/>
            <p:cNvPicPr preferRelativeResize="0"/>
            <p:nvPr/>
          </p:nvPicPr>
          <p:blipFill rotWithShape="1">
            <a:blip r:embed="rId5">
              <a:alphaModFix/>
            </a:blip>
            <a:srcRect b="68756" l="25893" r="0" t="0"/>
            <a:stretch/>
          </p:blipFill>
          <p:spPr>
            <a:xfrm rot="5400000">
              <a:off x="-1130296" y="1116585"/>
              <a:ext cx="5172836" cy="2890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" name="Google Shape;153;p21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4" name="Google Shape;154;p21"/>
          <p:cNvSpPr txBox="1"/>
          <p:nvPr/>
        </p:nvSpPr>
        <p:spPr>
          <a:xfrm rot="-894">
            <a:off x="119550" y="1912353"/>
            <a:ext cx="3459900" cy="10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4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</a:t>
            </a:r>
            <a:r>
              <a:rPr b="1" lang="es" sz="24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bjetivos del desafío</a:t>
            </a:r>
            <a:endParaRPr b="1" sz="240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9398" y="114505"/>
            <a:ext cx="548700" cy="388993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1"/>
          <p:cNvSpPr txBox="1"/>
          <p:nvPr/>
        </p:nvSpPr>
        <p:spPr>
          <a:xfrm>
            <a:off x="3883175" y="817049"/>
            <a:ext cx="45588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AutoNum type="arabicPeriod"/>
            </a:pPr>
            <a:r>
              <a:rPr b="1" lang="e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Realizar </a:t>
            </a:r>
            <a:r>
              <a:rPr lang="e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una </a:t>
            </a:r>
            <a:r>
              <a:rPr b="1" lang="e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lista</a:t>
            </a:r>
            <a:r>
              <a:rPr lang="e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 componentes</a:t>
            </a:r>
            <a:r>
              <a:rPr lang="e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que creen que tiene la caja</a:t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AutoNum type="arabicPeriod"/>
            </a:pPr>
            <a:r>
              <a:rPr b="1" lang="e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Realizar</a:t>
            </a:r>
            <a:r>
              <a:rPr lang="e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un </a:t>
            </a:r>
            <a:r>
              <a:rPr b="1" lang="e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diagrama</a:t>
            </a:r>
            <a:r>
              <a:rPr lang="e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de cómo creen que están </a:t>
            </a:r>
            <a:r>
              <a:rPr b="1" lang="e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conectados los diferentes componentes</a:t>
            </a:r>
            <a:endParaRPr b="1"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AutoNum type="arabicPeriod"/>
            </a:pPr>
            <a:r>
              <a:rPr lang="e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En base al diagrama anterior, </a:t>
            </a:r>
            <a:r>
              <a:rPr b="1" lang="e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hacer la programación </a:t>
            </a:r>
            <a:r>
              <a:rPr lang="e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 cómo funciona la caja según ustedes.</a:t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AutoNum type="arabicPeriod"/>
            </a:pPr>
            <a:r>
              <a:rPr lang="e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Cada grupo va a tener los materiales para armar su versión de la caja, </a:t>
            </a:r>
            <a:r>
              <a:rPr b="1" lang="e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así que a probar!!!</a:t>
            </a:r>
            <a:endParaRPr b="1" i="0" sz="20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7" name="Google Shape;157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0128" y="3335674"/>
            <a:ext cx="1365667" cy="1534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0128" y="3335674"/>
            <a:ext cx="1365667" cy="15342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2"/>
          <p:cNvSpPr txBox="1"/>
          <p:nvPr/>
        </p:nvSpPr>
        <p:spPr>
          <a:xfrm>
            <a:off x="0" y="1285050"/>
            <a:ext cx="9144000" cy="26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s" sz="7200" u="none" cap="none" strike="noStrike">
                <a:solidFill>
                  <a:srgbClr val="FA8A00"/>
                </a:solidFill>
                <a:latin typeface="Poppins"/>
                <a:ea typeface="Poppins"/>
                <a:cs typeface="Poppins"/>
                <a:sym typeface="Poppins"/>
              </a:rPr>
              <a:t>¡A </a:t>
            </a:r>
            <a:r>
              <a:rPr b="1" lang="es" sz="7200">
                <a:solidFill>
                  <a:srgbClr val="FA8A00"/>
                </a:solidFill>
                <a:latin typeface="Poppins"/>
                <a:ea typeface="Poppins"/>
                <a:cs typeface="Poppins"/>
                <a:sym typeface="Poppins"/>
              </a:rPr>
              <a:t>trabajar</a:t>
            </a:r>
            <a:r>
              <a:rPr b="1" i="0" lang="es" sz="7200" u="none" cap="none" strike="noStrike">
                <a:solidFill>
                  <a:srgbClr val="FA8A00"/>
                </a:solidFill>
                <a:latin typeface="Poppins"/>
                <a:ea typeface="Poppins"/>
                <a:cs typeface="Poppins"/>
                <a:sym typeface="Poppins"/>
              </a:rPr>
              <a:t>!</a:t>
            </a:r>
            <a:endParaRPr b="1" i="0" sz="7200" u="none" cap="none" strike="noStrike">
              <a:solidFill>
                <a:srgbClr val="FA8A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s" sz="3000" u="none" cap="none" strike="noStrike">
                <a:solidFill>
                  <a:srgbClr val="11009C"/>
                </a:solidFill>
                <a:latin typeface="Poppins"/>
                <a:ea typeface="Poppins"/>
                <a:cs typeface="Poppins"/>
                <a:sym typeface="Poppins"/>
              </a:rPr>
              <a:t>Revisaremos el avance de los equipos cada </a:t>
            </a:r>
            <a:r>
              <a:rPr b="1" i="0" lang="es" sz="3000" u="none" cap="none" strike="noStrike">
                <a:solidFill>
                  <a:srgbClr val="11009C"/>
                </a:solidFill>
                <a:latin typeface="Poppins"/>
                <a:ea typeface="Poppins"/>
                <a:cs typeface="Poppins"/>
                <a:sym typeface="Poppins"/>
              </a:rPr>
              <a:t>30 minutos</a:t>
            </a:r>
            <a:endParaRPr b="1" i="0" sz="3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4" name="Google Shape;164;p22"/>
          <p:cNvSpPr txBox="1"/>
          <p:nvPr/>
        </p:nvSpPr>
        <p:spPr>
          <a:xfrm>
            <a:off x="189130" y="4801377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0F0E9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0F0E9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5" name="Google Shape;165;p22"/>
          <p:cNvPicPr preferRelativeResize="0"/>
          <p:nvPr/>
        </p:nvPicPr>
        <p:blipFill rotWithShape="1">
          <a:blip r:embed="rId3">
            <a:alphaModFix/>
          </a:blip>
          <a:srcRect b="21938" l="9222" r="8365" t="22367"/>
          <a:stretch/>
        </p:blipFill>
        <p:spPr>
          <a:xfrm>
            <a:off x="8256352" y="156884"/>
            <a:ext cx="677000" cy="3045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6" name="Google Shape;166;p22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167" name="Google Shape;167;p22"/>
            <p:cNvPicPr preferRelativeResize="0"/>
            <p:nvPr/>
          </p:nvPicPr>
          <p:blipFill rotWithShape="1">
            <a:blip r:embed="rId4">
              <a:alphaModFix/>
            </a:blip>
            <a:srcRect b="68756" l="25893" r="0" t="0"/>
            <a:stretch/>
          </p:blipFill>
          <p:spPr>
            <a:xfrm rot="5400000">
              <a:off x="-1130297" y="1116584"/>
              <a:ext cx="5172836" cy="289077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" name="Google Shape;168;p22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9" name="Google Shape;169;p22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23"/>
          <p:cNvGrpSpPr/>
          <p:nvPr/>
        </p:nvGrpSpPr>
        <p:grpSpPr>
          <a:xfrm>
            <a:off x="-10633" y="-29340"/>
            <a:ext cx="2901600" cy="5177731"/>
            <a:chOff x="0" y="-29340"/>
            <a:chExt cx="2901600" cy="5177731"/>
          </a:xfrm>
        </p:grpSpPr>
        <p:pic>
          <p:nvPicPr>
            <p:cNvPr id="175" name="Google Shape;175;p23"/>
            <p:cNvPicPr preferRelativeResize="0"/>
            <p:nvPr/>
          </p:nvPicPr>
          <p:blipFill rotWithShape="1">
            <a:blip r:embed="rId3">
              <a:alphaModFix/>
            </a:blip>
            <a:srcRect b="68756" l="25893" r="0" t="0"/>
            <a:stretch/>
          </p:blipFill>
          <p:spPr>
            <a:xfrm rot="5400000">
              <a:off x="-1130297" y="1116584"/>
              <a:ext cx="5172836" cy="289077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6" name="Google Shape;176;p23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7" name="Google Shape;177;p23"/>
          <p:cNvSpPr/>
          <p:nvPr/>
        </p:nvSpPr>
        <p:spPr>
          <a:xfrm>
            <a:off x="2890965" y="-12225"/>
            <a:ext cx="6254700" cy="5143500"/>
          </a:xfrm>
          <a:prstGeom prst="rect">
            <a:avLst/>
          </a:prstGeom>
          <a:solidFill>
            <a:srgbClr val="32B8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3"/>
          <p:cNvSpPr txBox="1"/>
          <p:nvPr/>
        </p:nvSpPr>
        <p:spPr>
          <a:xfrm rot="-894">
            <a:off x="119346" y="1912348"/>
            <a:ext cx="34599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" sz="24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TOMEMOS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4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" sz="24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UN DESCANSO</a:t>
            </a:r>
            <a:endParaRPr b="1" i="0" sz="2400" u="none" cap="none" strike="noStrike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Google Shape;17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398" y="114505"/>
            <a:ext cx="548700" cy="388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3"/>
          <p:cNvPicPr preferRelativeResize="0"/>
          <p:nvPr/>
        </p:nvPicPr>
        <p:blipFill rotWithShape="1">
          <a:blip r:embed="rId5">
            <a:alphaModFix amt="23000"/>
          </a:blip>
          <a:srcRect b="0" l="50261" r="0" t="0"/>
          <a:stretch/>
        </p:blipFill>
        <p:spPr>
          <a:xfrm>
            <a:off x="5902035" y="-34234"/>
            <a:ext cx="33107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3" title="WhatsApp Image 2025-04-23 at 16.23.02-Photoroom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36" y="3011175"/>
            <a:ext cx="1949476" cy="1949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3" title="b3eaa60e-d18d-46b9-b73c-e73008bf6454 (1)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85488" y="240963"/>
            <a:ext cx="4661576" cy="4661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4"/>
          <p:cNvSpPr/>
          <p:nvPr/>
        </p:nvSpPr>
        <p:spPr>
          <a:xfrm>
            <a:off x="0" y="-9000"/>
            <a:ext cx="9144000" cy="5161500"/>
          </a:xfrm>
          <a:prstGeom prst="rect">
            <a:avLst/>
          </a:prstGeom>
          <a:solidFill>
            <a:srgbClr val="1100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200">
              <a:solidFill>
                <a:srgbClr val="021B9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" name="Google Shape;188;p24"/>
          <p:cNvSpPr txBox="1"/>
          <p:nvPr/>
        </p:nvSpPr>
        <p:spPr>
          <a:xfrm>
            <a:off x="495150" y="4180700"/>
            <a:ext cx="8153700" cy="7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89" name="Google Shape;18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85002" y="63549"/>
            <a:ext cx="819695" cy="491233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4"/>
          <p:cNvSpPr txBox="1"/>
          <p:nvPr/>
        </p:nvSpPr>
        <p:spPr>
          <a:xfrm>
            <a:off x="189130" y="4801377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1" name="Google Shape;191;p24"/>
          <p:cNvSpPr txBox="1"/>
          <p:nvPr/>
        </p:nvSpPr>
        <p:spPr>
          <a:xfrm>
            <a:off x="4405100" y="1452613"/>
            <a:ext cx="4599600" cy="17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⚡ ¡Carga completa de ideas en 3...2...1!</a:t>
            </a:r>
            <a:endParaRPr b="1" sz="22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Deja tu opinión como todo un ingeniero de robots</a:t>
            </a:r>
            <a:endParaRPr b="1" sz="22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2" name="Google Shape;192;p24"/>
          <p:cNvSpPr txBox="1"/>
          <p:nvPr/>
        </p:nvSpPr>
        <p:spPr>
          <a:xfrm>
            <a:off x="4667900" y="3264675"/>
            <a:ext cx="4336800" cy="7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s" sz="2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🔗 </a:t>
            </a:r>
            <a:r>
              <a:rPr b="1" lang="es" sz="2200" u="sng">
                <a:solidFill>
                  <a:srgbClr val="0097A7"/>
                </a:solid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https://bit.ly/tropos-cyt</a:t>
            </a:r>
            <a:endParaRPr b="1" i="0" sz="22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3" name="Google Shape;193;p24" title="qr-cod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8800" y="704500"/>
            <a:ext cx="3605549" cy="3605549"/>
          </a:xfrm>
          <a:prstGeom prst="rect">
            <a:avLst/>
          </a:prstGeom>
          <a:solidFill>
            <a:srgbClr val="11009C"/>
          </a:solidFill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/>
          <p:nvPr/>
        </p:nvSpPr>
        <p:spPr>
          <a:xfrm>
            <a:off x="0" y="1285050"/>
            <a:ext cx="9144000" cy="26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s" sz="7200" u="none" cap="none" strike="noStrike">
                <a:solidFill>
                  <a:srgbClr val="FA8A00"/>
                </a:solidFill>
                <a:latin typeface="Poppins"/>
                <a:ea typeface="Poppins"/>
                <a:cs typeface="Poppins"/>
                <a:sym typeface="Poppins"/>
              </a:rPr>
              <a:t>¡A </a:t>
            </a:r>
            <a:r>
              <a:rPr b="1" lang="es" sz="7200">
                <a:solidFill>
                  <a:srgbClr val="FA8A00"/>
                </a:solidFill>
                <a:latin typeface="Poppins"/>
                <a:ea typeface="Poppins"/>
                <a:cs typeface="Poppins"/>
                <a:sym typeface="Poppins"/>
              </a:rPr>
              <a:t>trabajar</a:t>
            </a:r>
            <a:r>
              <a:rPr b="1" i="0" lang="es" sz="7200" u="none" cap="none" strike="noStrike">
                <a:solidFill>
                  <a:srgbClr val="FA8A00"/>
                </a:solidFill>
                <a:latin typeface="Poppins"/>
                <a:ea typeface="Poppins"/>
                <a:cs typeface="Poppins"/>
                <a:sym typeface="Poppins"/>
              </a:rPr>
              <a:t>!</a:t>
            </a:r>
            <a:endParaRPr b="1" i="0" sz="7200" u="none" cap="none" strike="noStrike">
              <a:solidFill>
                <a:srgbClr val="FA8A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s" sz="3000" u="none" cap="none" strike="noStrike">
                <a:solidFill>
                  <a:srgbClr val="11009C"/>
                </a:solidFill>
                <a:latin typeface="Poppins"/>
                <a:ea typeface="Poppins"/>
                <a:cs typeface="Poppins"/>
                <a:sym typeface="Poppins"/>
              </a:rPr>
              <a:t>Revisaremos el avance de los equipos cada </a:t>
            </a:r>
            <a:r>
              <a:rPr b="1" i="0" lang="es" sz="3000" u="none" cap="none" strike="noStrike">
                <a:solidFill>
                  <a:srgbClr val="11009C"/>
                </a:solidFill>
                <a:latin typeface="Poppins"/>
                <a:ea typeface="Poppins"/>
                <a:cs typeface="Poppins"/>
                <a:sym typeface="Poppins"/>
              </a:rPr>
              <a:t>30 minutos</a:t>
            </a:r>
            <a:endParaRPr b="1" i="0" sz="3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9" name="Google Shape;199;p25"/>
          <p:cNvSpPr txBox="1"/>
          <p:nvPr/>
        </p:nvSpPr>
        <p:spPr>
          <a:xfrm>
            <a:off x="189130" y="4801377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rgbClr val="0F0E9F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rgbClr val="0F0E9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0" name="Google Shape;200;p25"/>
          <p:cNvPicPr preferRelativeResize="0"/>
          <p:nvPr/>
        </p:nvPicPr>
        <p:blipFill rotWithShape="1">
          <a:blip r:embed="rId3">
            <a:alphaModFix/>
          </a:blip>
          <a:srcRect b="21938" l="9222" r="8365" t="22367"/>
          <a:stretch/>
        </p:blipFill>
        <p:spPr>
          <a:xfrm>
            <a:off x="8256352" y="156884"/>
            <a:ext cx="677000" cy="3045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1" name="Google Shape;201;p25"/>
          <p:cNvGrpSpPr/>
          <p:nvPr/>
        </p:nvGrpSpPr>
        <p:grpSpPr>
          <a:xfrm>
            <a:off x="-126275" y="4746700"/>
            <a:ext cx="9270322" cy="401792"/>
            <a:chOff x="0" y="-29340"/>
            <a:chExt cx="2901600" cy="5177731"/>
          </a:xfrm>
        </p:grpSpPr>
        <p:pic>
          <p:nvPicPr>
            <p:cNvPr id="202" name="Google Shape;202;p25"/>
            <p:cNvPicPr preferRelativeResize="0"/>
            <p:nvPr/>
          </p:nvPicPr>
          <p:blipFill rotWithShape="1">
            <a:blip r:embed="rId4">
              <a:alphaModFix/>
            </a:blip>
            <a:srcRect b="68756" l="25893" r="0" t="0"/>
            <a:stretch/>
          </p:blipFill>
          <p:spPr>
            <a:xfrm rot="5400000">
              <a:off x="-1130297" y="1116584"/>
              <a:ext cx="5172836" cy="289077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3" name="Google Shape;203;p25"/>
            <p:cNvSpPr/>
            <p:nvPr/>
          </p:nvSpPr>
          <p:spPr>
            <a:xfrm>
              <a:off x="0" y="-29340"/>
              <a:ext cx="2901600" cy="5172900"/>
            </a:xfrm>
            <a:prstGeom prst="rect">
              <a:avLst/>
            </a:prstGeom>
            <a:solidFill>
              <a:srgbClr val="000000">
                <a:alpha val="333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4" name="Google Shape;204;p25"/>
          <p:cNvSpPr txBox="1"/>
          <p:nvPr/>
        </p:nvSpPr>
        <p:spPr>
          <a:xfrm>
            <a:off x="229955" y="4839902"/>
            <a:ext cx="276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0"/>
              <a:buFont typeface="Arial"/>
              <a:buNone/>
            </a:pPr>
            <a:r>
              <a:rPr b="0" i="0" lang="es" sz="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www.fundacionmustakis.org</a:t>
            </a:r>
            <a:endParaRPr b="0" i="0" sz="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10" name="Google Shape;210;p2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11" name="Google Shape;211;p26"/>
          <p:cNvSpPr txBox="1"/>
          <p:nvPr/>
        </p:nvSpPr>
        <p:spPr>
          <a:xfrm>
            <a:off x="759925" y="1234250"/>
            <a:ext cx="7574400" cy="12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5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Clubes de Ciencia y Tecnología - Plan de nivelación</a:t>
            </a:r>
            <a:endParaRPr b="1" sz="15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Estos materiales han sido elaborados por Benjamín Espinoza y Gaspar Fábrega para el Programa de Ciencia y Tecnología de Fundación Gabriel &amp; Mary Mustakis. Se permite su uso bajo licencia Creative Commons (CC) por las Universidades Socias del Programa de Ciencia y Tecnología de Fundación Gabriel &amp; Mary Mustakis.</a:t>
            </a:r>
            <a:endParaRPr sz="12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" sz="12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Versión 2 - Abril 2024</a:t>
            </a:r>
            <a:endParaRPr b="1" sz="120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2" name="Google Shape;212;p26"/>
          <p:cNvSpPr txBox="1"/>
          <p:nvPr/>
        </p:nvSpPr>
        <p:spPr>
          <a:xfrm>
            <a:off x="2903400" y="4650625"/>
            <a:ext cx="33372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" sz="9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Publicado Bajo Licencia Creative Commons</a:t>
            </a:r>
            <a:endParaRPr b="1" i="0" sz="9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i="0" lang="es" sz="9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Atribución-NoComercial-CompartirIgual (CC BY-NC-SA)</a:t>
            </a:r>
            <a:endParaRPr i="0" sz="9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13" name="Google Shape;21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36213" y="3910275"/>
            <a:ext cx="471505" cy="471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35386" y="4411750"/>
            <a:ext cx="873238" cy="291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31486" y="3949"/>
            <a:ext cx="3680762" cy="11327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6" name="Google Shape;216;p26"/>
          <p:cNvGrpSpPr/>
          <p:nvPr/>
        </p:nvGrpSpPr>
        <p:grpSpPr>
          <a:xfrm>
            <a:off x="1401723" y="2909269"/>
            <a:ext cx="6290455" cy="732213"/>
            <a:chOff x="1013333" y="3795825"/>
            <a:chExt cx="8388391" cy="976283"/>
          </a:xfrm>
        </p:grpSpPr>
        <p:pic>
          <p:nvPicPr>
            <p:cNvPr descr="https://lh5.googleusercontent.com/wP2h_lc6--vyMzu5qXgRG-Bbe6w1LN7Ph5RgxIP2Ngd_pFZFcUDkC-cp09ZNvc-Xm3iTwoQ8go_elSTWCw68Lrn_HKTBlb9E-8CWQqnHg6t8L9JidsYDttMUJ7XHVUWj9hjtPLtPZtU" id="217" name="Google Shape;217;p26"/>
            <p:cNvPicPr preferRelativeResize="0"/>
            <p:nvPr/>
          </p:nvPicPr>
          <p:blipFill rotWithShape="1">
            <a:blip r:embed="rId6">
              <a:alphaModFix/>
            </a:blip>
            <a:srcRect b="0" l="5141" r="0" t="3428"/>
            <a:stretch/>
          </p:blipFill>
          <p:spPr>
            <a:xfrm>
              <a:off x="4796200" y="3836108"/>
              <a:ext cx="921960" cy="936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UTFSM-01" id="218" name="Google Shape;218;p26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13333" y="3836100"/>
              <a:ext cx="1806480" cy="936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9" name="Google Shape;219;p26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3228251" y="3795833"/>
              <a:ext cx="1159522" cy="936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0" name="Google Shape;220;p26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6126574" y="3836096"/>
              <a:ext cx="1111725" cy="9359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1" name="Google Shape;221;p26"/>
            <p:cNvPicPr preferRelativeResize="0"/>
            <p:nvPr/>
          </p:nvPicPr>
          <p:blipFill rotWithShape="1">
            <a:blip r:embed="rId10">
              <a:alphaModFix/>
            </a:blip>
            <a:srcRect b="18725" l="7227" r="0" t="17082"/>
            <a:stretch/>
          </p:blipFill>
          <p:spPr>
            <a:xfrm>
              <a:off x="7646725" y="3795825"/>
              <a:ext cx="1754999" cy="936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22" name="Google Shape;222;p26"/>
          <p:cNvPicPr preferRelativeResize="0"/>
          <p:nvPr/>
        </p:nvPicPr>
        <p:blipFill rotWithShape="1">
          <a:blip r:embed="rId11">
            <a:alphaModFix/>
          </a:blip>
          <a:srcRect b="309" l="25827" r="0" t="0"/>
          <a:stretch/>
        </p:blipFill>
        <p:spPr>
          <a:xfrm rot="-5400000">
            <a:off x="2027107" y="-2027109"/>
            <a:ext cx="5223134" cy="9277347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6"/>
          <p:cNvSpPr/>
          <p:nvPr/>
        </p:nvSpPr>
        <p:spPr>
          <a:xfrm>
            <a:off x="0" y="-4538"/>
            <a:ext cx="9277500" cy="5211600"/>
          </a:xfrm>
          <a:prstGeom prst="rect">
            <a:avLst/>
          </a:prstGeom>
          <a:solidFill>
            <a:srgbClr val="002060">
              <a:alpha val="4863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4" name="Google Shape;224;p26"/>
          <p:cNvSpPr txBox="1"/>
          <p:nvPr/>
        </p:nvSpPr>
        <p:spPr>
          <a:xfrm>
            <a:off x="1238541" y="1228118"/>
            <a:ext cx="6647700" cy="9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1" lang="es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Clubes de Ciencia y Tecnología - Nivelación</a:t>
            </a:r>
            <a:endParaRPr b="1" i="1" sz="10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Versión </a:t>
            </a:r>
            <a:r>
              <a:rPr b="1" lang="es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r>
              <a:rPr b="1" i="0" lang="es" sz="1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, 202</a:t>
            </a:r>
            <a:r>
              <a:rPr b="1" lang="es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 b="1" i="0" sz="10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Estos materiales han sido elaborados de manera colaborativa entre los equipos de las Universidades Socias del Programa de Robótica Educativa de la Fundación Gabriel &amp; Mary Mustakis.</a:t>
            </a:r>
            <a:endParaRPr b="0" i="0" sz="10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5" name="Google Shape;225;p2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231328" y="257197"/>
            <a:ext cx="2662178" cy="820166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6"/>
          <p:cNvSpPr txBox="1"/>
          <p:nvPr/>
        </p:nvSpPr>
        <p:spPr>
          <a:xfrm>
            <a:off x="2766215" y="4662465"/>
            <a:ext cx="35925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s" sz="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Publicado Bajo Licencia Creative Commons</a:t>
            </a:r>
            <a:endParaRPr b="1" i="0" sz="9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Atribución-NoComercial-CompartirIgual (CC BY-NC-SA)</a:t>
            </a:r>
            <a:endParaRPr b="0" i="0" sz="9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7" name="Google Shape;227;p2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443526" y="2207618"/>
            <a:ext cx="6237780" cy="1381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003616" y="3846309"/>
            <a:ext cx="1117600" cy="80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