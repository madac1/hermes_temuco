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Proxima Nova"/>
      <p:regular r:id="rId23"/>
      <p:bold r:id="rId24"/>
      <p:italic r:id="rId25"/>
      <p:boldItalic r:id="rId26"/>
    </p:embeddedFont>
    <p:embeddedFont>
      <p:font typeface="Poppi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Ben Espinoza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roximaNova-bold.fntdata"/><Relationship Id="rId23" Type="http://schemas.openxmlformats.org/officeDocument/2006/relationships/font" Target="fonts/ProximaNov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font" Target="fonts/ProximaNova-boldItalic.fntdata"/><Relationship Id="rId25" Type="http://schemas.openxmlformats.org/officeDocument/2006/relationships/font" Target="fonts/ProximaNova-italic.fntdata"/><Relationship Id="rId28" Type="http://schemas.openxmlformats.org/officeDocument/2006/relationships/font" Target="fonts/Poppins-bold.fntdata"/><Relationship Id="rId27" Type="http://schemas.openxmlformats.org/officeDocument/2006/relationships/font" Target="fonts/Poppi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Poppi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4-07-29T18:29:24.761">
    <p:pos x="6000" y="0"/>
    <p:text>Hay que cambiar todas las fotos del lamborghino por un Hermes xd @bj.nico10.000@gmail.com
_Assigned to bj.nico10.000@gmail.com_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rabicPeriod"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20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1.xml"/><Relationship Id="rId4" Type="http://schemas.openxmlformats.org/officeDocument/2006/relationships/image" Target="../media/image26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www.youtube.com/watch?v=Suel9Q8h0Bg" TargetMode="External"/><Relationship Id="rId4" Type="http://schemas.openxmlformats.org/officeDocument/2006/relationships/image" Target="../media/image2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jpg"/><Relationship Id="rId4" Type="http://schemas.openxmlformats.org/officeDocument/2006/relationships/image" Target="../media/image27.png"/><Relationship Id="rId11" Type="http://schemas.openxmlformats.org/officeDocument/2006/relationships/image" Target="../media/image16.png"/><Relationship Id="rId10" Type="http://schemas.openxmlformats.org/officeDocument/2006/relationships/image" Target="../media/image18.png"/><Relationship Id="rId9" Type="http://schemas.openxmlformats.org/officeDocument/2006/relationships/image" Target="../media/image22.jpg"/><Relationship Id="rId5" Type="http://schemas.openxmlformats.org/officeDocument/2006/relationships/image" Target="../media/image13.png"/><Relationship Id="rId6" Type="http://schemas.openxmlformats.org/officeDocument/2006/relationships/image" Target="../media/image19.png"/><Relationship Id="rId7" Type="http://schemas.openxmlformats.org/officeDocument/2006/relationships/image" Target="../media/image21.jpg"/><Relationship Id="rId8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9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8238" y="-4750"/>
            <a:ext cx="3967136" cy="12208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" name="Google Shape;55;p13"/>
          <p:cNvGrpSpPr/>
          <p:nvPr/>
        </p:nvGrpSpPr>
        <p:grpSpPr>
          <a:xfrm>
            <a:off x="2297353" y="1829250"/>
            <a:ext cx="4549543" cy="1853207"/>
            <a:chOff x="3690762" y="2215834"/>
            <a:chExt cx="4698000" cy="2328150"/>
          </a:xfrm>
        </p:grpSpPr>
        <p:sp>
          <p:nvSpPr>
            <p:cNvPr id="56" name="Google Shape;56;p13"/>
            <p:cNvSpPr txBox="1"/>
            <p:nvPr/>
          </p:nvSpPr>
          <p:spPr>
            <a:xfrm>
              <a:off x="3690762" y="2215834"/>
              <a:ext cx="4698000" cy="10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68575" lIns="68575" spcFirstLastPara="1" rIns="68575" wrap="square" tIns="68575">
              <a:norm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00"/>
                <a:buFont typeface="Arial"/>
                <a:buNone/>
              </a:pPr>
              <a:r>
                <a:rPr b="0" i="0" lang="es" sz="39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Sesión N° 7</a:t>
              </a:r>
              <a:endParaRPr b="0" i="0" sz="3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7" name="Google Shape;57;p13"/>
            <p:cNvSpPr txBox="1"/>
            <p:nvPr/>
          </p:nvSpPr>
          <p:spPr>
            <a:xfrm>
              <a:off x="3690762" y="3460984"/>
              <a:ext cx="4698000" cy="10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rm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" sz="16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Clubes de Ciencia y Tecnología</a:t>
              </a:r>
              <a:endParaRPr b="0" i="0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" sz="16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LÍNEA VELOCISTA</a:t>
              </a:r>
              <a:endParaRPr b="1" i="0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3690762" y="3244845"/>
              <a:ext cx="4698000" cy="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15D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1388325" y="1017725"/>
            <a:ext cx="5929800" cy="2423400"/>
          </a:xfrm>
          <a:prstGeom prst="cloudCallout">
            <a:avLst>
              <a:gd fmla="val 51093" name="adj1"/>
              <a:gd fmla="val 65398" name="adj2"/>
            </a:avLst>
          </a:prstGeom>
          <a:solidFill>
            <a:srgbClr val="FFC004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oppins"/>
              <a:buChar char="●"/>
            </a:pPr>
            <a:r>
              <a:rPr b="0" i="0" lang="e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¿Qué son las marcas de pista?</a:t>
            </a:r>
            <a:endParaRPr b="0" i="0" sz="2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oppins"/>
              <a:buChar char="●"/>
            </a:pPr>
            <a:r>
              <a:rPr b="0" i="0" lang="e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¿Para qué se usa el buzzer?</a:t>
            </a:r>
            <a:endParaRPr b="0" i="0" sz="2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2617650" y="106150"/>
            <a:ext cx="390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Recapitulación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0175" y="3149675"/>
            <a:ext cx="1993825" cy="199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 rotWithShape="1">
          <a:blip r:embed="rId4">
            <a:alphaModFix/>
          </a:blip>
          <a:srcRect b="21938" l="9222" r="8364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s">
                <a:solidFill>
                  <a:srgbClr val="FFC004"/>
                </a:solidFill>
                <a:latin typeface="Poppins"/>
                <a:ea typeface="Poppins"/>
                <a:cs typeface="Poppins"/>
                <a:sym typeface="Poppins"/>
              </a:rPr>
              <a:t>Huella digital</a:t>
            </a:r>
            <a:endParaRPr b="1">
              <a:solidFill>
                <a:srgbClr val="FFC00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9575" y="3386525"/>
            <a:ext cx="1418426" cy="1418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74063" y="3663375"/>
            <a:ext cx="995875" cy="99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6625" y="3386525"/>
            <a:ext cx="1418426" cy="141842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/>
          <p:nvPr/>
        </p:nvSpPr>
        <p:spPr>
          <a:xfrm>
            <a:off x="311700" y="1121975"/>
            <a:ext cx="8625900" cy="18477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Utilizando las figuras/marcas que se encuentran al costado del trayecto de nuestra pista.</a:t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La huella digital es el registro digital que dejan los sensores QTR-1A.</a:t>
            </a:r>
            <a:endParaRPr b="0" i="0" sz="1400" u="none" cap="none" strike="noStrike">
              <a:solidFill>
                <a:schemeClr val="lt1"/>
              </a:solidFill>
              <a:highlight>
                <a:srgbClr val="0233AE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 rotWithShape="1">
          <a:blip r:embed="rId6">
            <a:alphaModFix/>
          </a:blip>
          <a:srcRect b="21938" l="9222" r="8364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6"/>
          <p:cNvPicPr preferRelativeResize="0"/>
          <p:nvPr/>
        </p:nvPicPr>
        <p:blipFill rotWithShape="1">
          <a:blip r:embed="rId4">
            <a:alphaModFix/>
          </a:blip>
          <a:srcRect b="0" l="74103" r="0" t="0"/>
          <a:stretch/>
        </p:blipFill>
        <p:spPr>
          <a:xfrm>
            <a:off x="43602" y="1621125"/>
            <a:ext cx="2367974" cy="2906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 rotWithShape="1">
          <a:blip r:embed="rId4">
            <a:alphaModFix/>
          </a:blip>
          <a:srcRect b="0" l="0" r="25584" t="0"/>
          <a:stretch/>
        </p:blipFill>
        <p:spPr>
          <a:xfrm>
            <a:off x="2269613" y="1621125"/>
            <a:ext cx="6804577" cy="2906599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s">
                <a:solidFill>
                  <a:srgbClr val="FFC004"/>
                </a:solidFill>
                <a:latin typeface="Poppins"/>
                <a:ea typeface="Poppins"/>
                <a:cs typeface="Poppins"/>
                <a:sym typeface="Poppins"/>
              </a:rPr>
              <a:t>Marcas</a:t>
            </a:r>
            <a:endParaRPr b="1">
              <a:solidFill>
                <a:srgbClr val="FFC00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378825" y="1107375"/>
            <a:ext cx="762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Existen </a:t>
            </a:r>
            <a:r>
              <a:rPr b="1" i="0" lang="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r>
              <a:rPr b="0" i="0" lang="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tipos de marcas y </a:t>
            </a:r>
            <a:r>
              <a:rPr b="1" i="0" lang="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r>
              <a:rPr b="0" i="0" lang="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casos.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5" name="Google Shape;85;p16" title="imagen_2026-10-01_204238974.png"/>
          <p:cNvPicPr preferRelativeResize="0"/>
          <p:nvPr/>
        </p:nvPicPr>
        <p:blipFill rotWithShape="1">
          <a:blip r:embed="rId5">
            <a:alphaModFix/>
          </a:blip>
          <a:srcRect b="0" l="8375" r="8375" t="0"/>
          <a:stretch/>
        </p:blipFill>
        <p:spPr>
          <a:xfrm>
            <a:off x="678242" y="2634840"/>
            <a:ext cx="1041826" cy="96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 title="imagen_2026-10-01_204213984.png"/>
          <p:cNvPicPr preferRelativeResize="0"/>
          <p:nvPr/>
        </p:nvPicPr>
        <p:blipFill rotWithShape="1">
          <a:blip r:embed="rId5">
            <a:alphaModFix/>
          </a:blip>
          <a:srcRect b="0" l="8375" r="8375" t="0"/>
          <a:stretch/>
        </p:blipFill>
        <p:spPr>
          <a:xfrm>
            <a:off x="2959770" y="2649056"/>
            <a:ext cx="1041826" cy="96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 title="imagen_2026-10-01_204256745.png"/>
          <p:cNvPicPr preferRelativeResize="0"/>
          <p:nvPr/>
        </p:nvPicPr>
        <p:blipFill rotWithShape="1">
          <a:blip r:embed="rId5">
            <a:alphaModFix/>
          </a:blip>
          <a:srcRect b="0" l="8375" r="8375" t="0"/>
          <a:stretch/>
        </p:blipFill>
        <p:spPr>
          <a:xfrm>
            <a:off x="5201292" y="2641948"/>
            <a:ext cx="1041826" cy="96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 title="imagen_2026-10-01_204311447.png"/>
          <p:cNvPicPr preferRelativeResize="0"/>
          <p:nvPr/>
        </p:nvPicPr>
        <p:blipFill rotWithShape="1">
          <a:blip r:embed="rId5">
            <a:alphaModFix/>
          </a:blip>
          <a:srcRect b="0" l="8375" r="8375" t="0"/>
          <a:stretch/>
        </p:blipFill>
        <p:spPr>
          <a:xfrm>
            <a:off x="7437317" y="2641948"/>
            <a:ext cx="1041826" cy="9616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/>
        </p:nvSpPr>
        <p:spPr>
          <a:xfrm>
            <a:off x="2632175" y="4392525"/>
            <a:ext cx="17355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Hito a la izquierda</a:t>
            </a:r>
            <a:endParaRPr b="1" i="0" sz="1300" u="none" cap="none" strike="noStrike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GEO 1</a:t>
            </a:r>
            <a:endParaRPr b="1" i="0" sz="1300" u="none" cap="none" strike="noStrike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4882875" y="4392525"/>
            <a:ext cx="17355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Hito a la derecha</a:t>
            </a:r>
            <a:endParaRPr b="1" i="0" sz="1300" u="none" cap="none" strike="noStrike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GEO 2</a:t>
            </a:r>
            <a:endParaRPr b="1" i="0" sz="1300" u="none" cap="none" strike="noStrike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7010525" y="4421675"/>
            <a:ext cx="18582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Hito a ambos lados </a:t>
            </a:r>
            <a:endParaRPr b="1" i="0" sz="1300" u="none" cap="none" strike="noStrike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GEO 3</a:t>
            </a:r>
            <a:endParaRPr b="1" i="0" sz="1300" u="none" cap="none" strike="noStrike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311700" y="4392525"/>
            <a:ext cx="17355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Sin hitos</a:t>
            </a:r>
            <a:endParaRPr b="1" i="0" sz="1300" u="none" cap="none" strike="noStrike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GEO 0</a:t>
            </a:r>
            <a:endParaRPr b="1" i="0" sz="1300" u="none" cap="none" strike="noStrike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3" name="Google Shape;93;p16"/>
          <p:cNvPicPr preferRelativeResize="0"/>
          <p:nvPr/>
        </p:nvPicPr>
        <p:blipFill rotWithShape="1">
          <a:blip r:embed="rId6">
            <a:alphaModFix/>
          </a:blip>
          <a:srcRect b="21938" l="9222" r="8364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s">
                <a:solidFill>
                  <a:srgbClr val="FFC004"/>
                </a:solidFill>
                <a:latin typeface="Poppins"/>
                <a:ea typeface="Poppins"/>
                <a:cs typeface="Poppins"/>
                <a:sym typeface="Poppins"/>
              </a:rPr>
              <a:t>Detectando los hitos</a:t>
            </a:r>
            <a:endParaRPr b="1">
              <a:solidFill>
                <a:srgbClr val="FFC00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345300" y="1238500"/>
            <a:ext cx="845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Definimos los pines de ambos sensores y nuestras variables que almacenarán nuestra huella digital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345300" y="2151175"/>
            <a:ext cx="87003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#define</a:t>
            </a:r>
            <a:r>
              <a:rPr b="0" i="0" lang="e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HIZ A7    </a:t>
            </a:r>
            <a:r>
              <a:rPr b="0" i="0" lang="es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//sensor QTR-1A izquierdo</a:t>
            </a:r>
            <a:endParaRPr b="0" i="0" sz="17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#define</a:t>
            </a:r>
            <a:r>
              <a:rPr b="0" i="0" lang="e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HDE A6	    </a:t>
            </a:r>
            <a:r>
              <a:rPr b="0" i="0" lang="es" sz="1700" u="none" cap="none" strike="noStrike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//sensor QTR-1A derecho</a:t>
            </a:r>
            <a:endParaRPr b="0" i="0" sz="1700" u="none" cap="none" strike="noStrike"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//Definición de variables</a:t>
            </a:r>
            <a:endParaRPr b="0" i="0" sz="17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geo = 0;      </a:t>
            </a:r>
            <a:r>
              <a:rPr b="0" i="0" lang="es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//Variable de estado que indica nuestro modo de geo</a:t>
            </a:r>
            <a:endParaRPr b="0" i="0" sz="17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geo1 = 0, geo2 = 0, geo3 = 0; </a:t>
            </a:r>
            <a:r>
              <a:rPr b="0" i="0" lang="es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//Guardan nuestra huella digital</a:t>
            </a:r>
            <a:endParaRPr b="0" i="0" sz="17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umbral = 750; </a:t>
            </a:r>
            <a:r>
              <a:rPr b="0" i="0" lang="es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//umbral que consideraremos como negro</a:t>
            </a:r>
            <a:endParaRPr b="0" i="0" sz="17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01" name="Google Shape;101;p17"/>
          <p:cNvPicPr preferRelativeResize="0"/>
          <p:nvPr/>
        </p:nvPicPr>
        <p:blipFill rotWithShape="1">
          <a:blip r:embed="rId3">
            <a:alphaModFix/>
          </a:blip>
          <a:srcRect b="21938" l="9222" r="8364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s">
                <a:solidFill>
                  <a:srgbClr val="FFC004"/>
                </a:solidFill>
                <a:latin typeface="Poppins"/>
                <a:ea typeface="Poppins"/>
                <a:cs typeface="Poppins"/>
                <a:sym typeface="Poppins"/>
              </a:rPr>
              <a:t>Detectando los hitos</a:t>
            </a:r>
            <a:endParaRPr b="1">
              <a:solidFill>
                <a:srgbClr val="FFC00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378825" y="1107375"/>
            <a:ext cx="845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 nuestro </a:t>
            </a:r>
            <a:r>
              <a:rPr b="1" i="0" lang="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setup </a:t>
            </a:r>
            <a:r>
              <a:rPr b="0" i="0" lang="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agregamos la definición los sensores como entradas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2197050" y="1658725"/>
            <a:ext cx="47499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i="0" lang="es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" sz="24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setup</a:t>
            </a:r>
            <a:r>
              <a:rPr b="0" i="0" lang="es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0" i="0" sz="2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...</a:t>
            </a:r>
            <a:endParaRPr b="0" i="0" sz="24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0" i="0" lang="es" sz="24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pinMode</a:t>
            </a:r>
            <a:r>
              <a:rPr b="0" i="0" lang="es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(HIZ, </a:t>
            </a:r>
            <a:r>
              <a:rPr b="0" i="0" lang="es" sz="2400" u="none" cap="none" strike="noStrike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0" i="0" lang="es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2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0" i="0" lang="es" sz="24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pinMode</a:t>
            </a:r>
            <a:r>
              <a:rPr b="0" i="0" lang="es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(HDE, </a:t>
            </a:r>
            <a:r>
              <a:rPr b="0" i="0" lang="es" sz="2400" u="none" cap="none" strike="noStrike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0" i="0" lang="es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2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...</a:t>
            </a:r>
            <a:endParaRPr b="0" i="0" sz="2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2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09" name="Google Shape;109;p18"/>
          <p:cNvPicPr preferRelativeResize="0"/>
          <p:nvPr/>
        </p:nvPicPr>
        <p:blipFill rotWithShape="1">
          <a:blip r:embed="rId3">
            <a:alphaModFix/>
          </a:blip>
          <a:srcRect b="21938" l="9222" r="8364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311700" y="236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s">
                <a:solidFill>
                  <a:srgbClr val="FFC004"/>
                </a:solidFill>
                <a:latin typeface="Poppins"/>
                <a:ea typeface="Poppins"/>
                <a:cs typeface="Poppins"/>
                <a:sym typeface="Poppins"/>
              </a:rPr>
              <a:t>Detectando los hitos</a:t>
            </a:r>
            <a:endParaRPr b="1">
              <a:solidFill>
                <a:srgbClr val="FFC00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302625" y="726375"/>
            <a:ext cx="84534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 primero que haremos es leer los sensores y verificar si estamos sobre blanco.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 términos de orden todo este proceso lo empaquetaremos en una función.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443700" y="1778200"/>
            <a:ext cx="87003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" sz="13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hitos</a:t>
            </a: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0" i="0" sz="1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0" i="0" lang="es" sz="1300" u="none" cap="none" strike="noStrike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Hiz = </a:t>
            </a:r>
            <a:r>
              <a:rPr b="0" i="0" lang="es" sz="13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analogRead</a:t>
            </a: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(HIZ);  </a:t>
            </a:r>
            <a:r>
              <a:rPr b="0" i="0" lang="es" sz="13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//Leemos el estado de ambos sensores</a:t>
            </a:r>
            <a:endParaRPr b="0" i="0" sz="13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	</a:t>
            </a:r>
            <a:r>
              <a:rPr b="0" i="0" lang="es" sz="1300" u="none" cap="none" strike="noStrike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Hde = </a:t>
            </a:r>
            <a:r>
              <a:rPr b="0" i="0" lang="es" sz="13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analogRead</a:t>
            </a: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(HDE);</a:t>
            </a:r>
            <a:endParaRPr b="0" i="0" sz="1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	</a:t>
            </a:r>
            <a:r>
              <a:rPr b="0" i="0" lang="es" sz="13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(Hiz &lt; umbral) {         </a:t>
            </a:r>
            <a:r>
              <a:rPr b="0" i="0" lang="es" sz="13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//Si el estado está por debajo de nuestro umbral de negro</a:t>
            </a:r>
            <a:endParaRPr b="0" i="0" sz="1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		Hiz = 1;               </a:t>
            </a:r>
            <a:r>
              <a:rPr b="0" i="0" lang="es" sz="13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//El hito izquierdo está activado</a:t>
            </a:r>
            <a:endParaRPr b="0" i="0" sz="1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	} </a:t>
            </a:r>
            <a:r>
              <a:rPr b="0" i="0" lang="es" sz="13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				 </a:t>
            </a:r>
            <a:r>
              <a:rPr b="0" i="0" lang="es" sz="13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//Caso contrario</a:t>
            </a:r>
            <a:endParaRPr b="0" i="0" sz="1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		Hiz = 0;               </a:t>
            </a:r>
            <a:r>
              <a:rPr b="0" i="0" lang="es" sz="13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//El hito izquierdo no está activado</a:t>
            </a:r>
            <a:endParaRPr b="0" i="0" sz="1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	}</a:t>
            </a:r>
            <a:endParaRPr b="0" i="0" sz="1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	</a:t>
            </a:r>
            <a:r>
              <a:rPr b="0" i="0" lang="es" sz="13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(Hde &lt; umbral) {         </a:t>
            </a:r>
            <a:r>
              <a:rPr b="0" i="0" lang="es" sz="13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//Si el estado está por debajo de nuestro umbral de negro</a:t>
            </a:r>
            <a:endParaRPr b="0" i="0" sz="1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		Hde = 1;               </a:t>
            </a:r>
            <a:r>
              <a:rPr b="0" i="0" lang="es" sz="13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//El hito derecho está activado</a:t>
            </a:r>
            <a:endParaRPr b="0" i="0" sz="1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	} </a:t>
            </a:r>
            <a:r>
              <a:rPr b="0" i="0" lang="es" sz="13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                    </a:t>
            </a:r>
            <a:r>
              <a:rPr b="0" i="0" lang="es" sz="13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//Caso contrario</a:t>
            </a:r>
            <a:endParaRPr b="0" i="0" sz="1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		Hde = 0;			 </a:t>
            </a:r>
            <a:r>
              <a:rPr b="0" i="0" lang="es" sz="13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//El hito derecho no está activado</a:t>
            </a:r>
            <a:endParaRPr b="0" i="0" sz="1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	}</a:t>
            </a:r>
            <a:endParaRPr b="0" i="0" sz="1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...}</a:t>
            </a:r>
            <a:endParaRPr b="0" i="0" sz="1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17" name="Google Shape;117;p19"/>
          <p:cNvPicPr preferRelativeResize="0"/>
          <p:nvPr/>
        </p:nvPicPr>
        <p:blipFill rotWithShape="1">
          <a:blip r:embed="rId3">
            <a:alphaModFix/>
          </a:blip>
          <a:srcRect b="21938" l="9222" r="8364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s">
                <a:solidFill>
                  <a:srgbClr val="FFC004"/>
                </a:solidFill>
                <a:latin typeface="Poppins"/>
                <a:ea typeface="Poppins"/>
                <a:cs typeface="Poppins"/>
                <a:sym typeface="Poppins"/>
              </a:rPr>
              <a:t>Detectando los hitos - GEO 0</a:t>
            </a:r>
            <a:endParaRPr b="1">
              <a:solidFill>
                <a:srgbClr val="FFC00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" name="Google Shape;123;p20"/>
          <p:cNvSpPr txBox="1"/>
          <p:nvPr/>
        </p:nvSpPr>
        <p:spPr>
          <a:xfrm>
            <a:off x="378825" y="1107375"/>
            <a:ext cx="8453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Verifiquemos los cuatro estados: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rabicPeriod"/>
            </a:pPr>
            <a:r>
              <a:rPr b="0" i="0" lang="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 caso de que no encuentre </a:t>
            </a:r>
            <a:r>
              <a:rPr b="1" i="0" lang="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nada</a:t>
            </a:r>
            <a:r>
              <a:rPr b="0" i="0" lang="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estoy en </a:t>
            </a:r>
            <a:r>
              <a:rPr b="1" i="0" lang="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geo 0.</a:t>
            </a:r>
            <a:endParaRPr b="1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" name="Google Shape;124;p20"/>
          <p:cNvSpPr txBox="1"/>
          <p:nvPr/>
        </p:nvSpPr>
        <p:spPr>
          <a:xfrm>
            <a:off x="4572000" y="2320050"/>
            <a:ext cx="3748200" cy="24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" sz="15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hitos</a:t>
            </a: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...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0" i="0" lang="es" sz="15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(Hiz == 0 &amp;&amp; Hde == 0) {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		geo = 0;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	}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25" name="Google Shape;125;p20"/>
          <p:cNvPicPr preferRelativeResize="0"/>
          <p:nvPr/>
        </p:nvPicPr>
        <p:blipFill rotWithShape="1">
          <a:blip r:embed="rId3">
            <a:alphaModFix/>
          </a:blip>
          <a:srcRect b="0" l="74017" r="0" t="0"/>
          <a:stretch/>
        </p:blipFill>
        <p:spPr>
          <a:xfrm>
            <a:off x="823264" y="2021850"/>
            <a:ext cx="2375849" cy="2906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0" title="imagen_2026-10-01_204336037.png"/>
          <p:cNvPicPr preferRelativeResize="0"/>
          <p:nvPr/>
        </p:nvPicPr>
        <p:blipFill rotWithShape="1">
          <a:blip r:embed="rId4">
            <a:alphaModFix/>
          </a:blip>
          <a:srcRect b="0" l="8375" r="8375" t="0"/>
          <a:stretch/>
        </p:blipFill>
        <p:spPr>
          <a:xfrm>
            <a:off x="1468938" y="2936050"/>
            <a:ext cx="1041826" cy="96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0"/>
          <p:cNvPicPr preferRelativeResize="0"/>
          <p:nvPr/>
        </p:nvPicPr>
        <p:blipFill rotWithShape="1">
          <a:blip r:embed="rId5">
            <a:alphaModFix/>
          </a:blip>
          <a:srcRect b="21938" l="9222" r="8364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s">
                <a:solidFill>
                  <a:srgbClr val="FFC004"/>
                </a:solidFill>
                <a:latin typeface="Poppins"/>
                <a:ea typeface="Poppins"/>
                <a:cs typeface="Poppins"/>
                <a:sym typeface="Poppins"/>
              </a:rPr>
              <a:t>Detectando los hitos - GEO 1</a:t>
            </a:r>
            <a:endParaRPr b="1">
              <a:solidFill>
                <a:srgbClr val="FFC00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3" name="Google Shape;133;p21"/>
          <p:cNvSpPr txBox="1"/>
          <p:nvPr/>
        </p:nvSpPr>
        <p:spPr>
          <a:xfrm>
            <a:off x="378825" y="1107375"/>
            <a:ext cx="8453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Verifiquemos los cuatro estados: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En caso de activar </a:t>
            </a:r>
            <a:r>
              <a:rPr b="1" i="0" lang="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solo </a:t>
            </a:r>
            <a:r>
              <a:rPr b="0" i="0" lang="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 sensor </a:t>
            </a:r>
            <a:r>
              <a:rPr b="1" i="0" lang="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izquierdo</a:t>
            </a:r>
            <a:r>
              <a:rPr b="0" i="0" lang="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estoy en </a:t>
            </a:r>
            <a:r>
              <a:rPr b="1" i="0" lang="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geo 1.</a:t>
            </a:r>
            <a:endParaRPr b="1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4" name="Google Shape;134;p21"/>
          <p:cNvSpPr txBox="1"/>
          <p:nvPr/>
        </p:nvSpPr>
        <p:spPr>
          <a:xfrm>
            <a:off x="4572000" y="2320050"/>
            <a:ext cx="3665100" cy="24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" sz="15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hitos</a:t>
            </a: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...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else </a:t>
            </a:r>
            <a:r>
              <a:rPr b="0" i="0" lang="es" sz="15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(Hiz == 1 &amp;&amp; Hde == 0) {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		geo = 1;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	}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35" name="Google Shape;135;p21"/>
          <p:cNvPicPr preferRelativeResize="0"/>
          <p:nvPr/>
        </p:nvPicPr>
        <p:blipFill rotWithShape="1">
          <a:blip r:embed="rId3">
            <a:alphaModFix/>
          </a:blip>
          <a:srcRect b="1250" l="0" r="74017" t="-1250"/>
          <a:stretch/>
        </p:blipFill>
        <p:spPr>
          <a:xfrm>
            <a:off x="764977" y="1985425"/>
            <a:ext cx="2375849" cy="2906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1" title="imagen_2026-10-01_204344771.png"/>
          <p:cNvPicPr preferRelativeResize="0"/>
          <p:nvPr/>
        </p:nvPicPr>
        <p:blipFill rotWithShape="1">
          <a:blip r:embed="rId4">
            <a:alphaModFix/>
          </a:blip>
          <a:srcRect b="0" l="8375" r="8375" t="0"/>
          <a:stretch/>
        </p:blipFill>
        <p:spPr>
          <a:xfrm>
            <a:off x="1458418" y="3042481"/>
            <a:ext cx="1041826" cy="96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1"/>
          <p:cNvPicPr preferRelativeResize="0"/>
          <p:nvPr/>
        </p:nvPicPr>
        <p:blipFill rotWithShape="1">
          <a:blip r:embed="rId5">
            <a:alphaModFix/>
          </a:blip>
          <a:srcRect b="21938" l="9222" r="8364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s">
                <a:solidFill>
                  <a:srgbClr val="FFC004"/>
                </a:solidFill>
                <a:latin typeface="Poppins"/>
                <a:ea typeface="Poppins"/>
                <a:cs typeface="Poppins"/>
                <a:sym typeface="Poppins"/>
              </a:rPr>
              <a:t>Detectando los hitos - GEO 2</a:t>
            </a:r>
            <a:endParaRPr b="1">
              <a:solidFill>
                <a:srgbClr val="FFC00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" name="Google Shape;143;p22"/>
          <p:cNvSpPr txBox="1"/>
          <p:nvPr/>
        </p:nvSpPr>
        <p:spPr>
          <a:xfrm>
            <a:off x="378825" y="1107375"/>
            <a:ext cx="8453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Verifiquemos los cuatro estados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En caso de activar </a:t>
            </a:r>
            <a:r>
              <a:rPr b="1" i="0" lang="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solo </a:t>
            </a:r>
            <a:r>
              <a:rPr b="0" i="0" lang="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 sensor </a:t>
            </a:r>
            <a:r>
              <a:rPr b="1" i="0" lang="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derecho</a:t>
            </a:r>
            <a:r>
              <a:rPr b="0" i="0" lang="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estoy en </a:t>
            </a:r>
            <a:r>
              <a:rPr b="1" i="0" lang="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geo 2.</a:t>
            </a:r>
            <a:endParaRPr b="1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p22"/>
          <p:cNvSpPr txBox="1"/>
          <p:nvPr/>
        </p:nvSpPr>
        <p:spPr>
          <a:xfrm>
            <a:off x="4572000" y="2309650"/>
            <a:ext cx="3644100" cy="24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" sz="15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hitos</a:t>
            </a: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...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else </a:t>
            </a:r>
            <a:r>
              <a:rPr b="0" i="0" lang="es" sz="15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(Hiz == 0 &amp;&amp; Hde == 1) {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		geo = 2;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	}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45" name="Google Shape;145;p22"/>
          <p:cNvPicPr preferRelativeResize="0"/>
          <p:nvPr/>
        </p:nvPicPr>
        <p:blipFill rotWithShape="1">
          <a:blip r:embed="rId3">
            <a:alphaModFix/>
          </a:blip>
          <a:srcRect b="1250" l="24377" r="49640" t="-1250"/>
          <a:stretch/>
        </p:blipFill>
        <p:spPr>
          <a:xfrm>
            <a:off x="764977" y="1985425"/>
            <a:ext cx="2375849" cy="2906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2" title="imagen_2026-10-01_204356965.png"/>
          <p:cNvPicPr preferRelativeResize="0"/>
          <p:nvPr/>
        </p:nvPicPr>
        <p:blipFill rotWithShape="1">
          <a:blip r:embed="rId4">
            <a:alphaModFix/>
          </a:blip>
          <a:srcRect b="0" l="8375" r="8375" t="0"/>
          <a:stretch/>
        </p:blipFill>
        <p:spPr>
          <a:xfrm>
            <a:off x="1465526" y="3042481"/>
            <a:ext cx="1041826" cy="96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2"/>
          <p:cNvPicPr preferRelativeResize="0"/>
          <p:nvPr/>
        </p:nvPicPr>
        <p:blipFill rotWithShape="1">
          <a:blip r:embed="rId5">
            <a:alphaModFix/>
          </a:blip>
          <a:srcRect b="21938" l="9222" r="8364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s">
                <a:solidFill>
                  <a:srgbClr val="FFC004"/>
                </a:solidFill>
                <a:latin typeface="Poppins"/>
                <a:ea typeface="Poppins"/>
                <a:cs typeface="Poppins"/>
                <a:sym typeface="Poppins"/>
              </a:rPr>
              <a:t>Detectando los hitos - GEO 3</a:t>
            </a:r>
            <a:endParaRPr b="1">
              <a:solidFill>
                <a:srgbClr val="FFC00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3" name="Google Shape;153;p23"/>
          <p:cNvSpPr txBox="1"/>
          <p:nvPr/>
        </p:nvSpPr>
        <p:spPr>
          <a:xfrm>
            <a:off x="4467900" y="2315075"/>
            <a:ext cx="3508800" cy="26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" sz="15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hitos</a:t>
            </a: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...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else </a:t>
            </a:r>
            <a:r>
              <a:rPr b="0" i="0" lang="es" sz="15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(Hiz == 1 &amp;&amp; Hde == 1) {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		geo = 3;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	}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...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4" name="Google Shape;154;p23"/>
          <p:cNvSpPr txBox="1"/>
          <p:nvPr/>
        </p:nvSpPr>
        <p:spPr>
          <a:xfrm>
            <a:off x="378825" y="1107375"/>
            <a:ext cx="8453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Verifiquemos los cuatro estados: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4. En caso de activar </a:t>
            </a:r>
            <a:r>
              <a:rPr b="1" i="0" lang="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ambos </a:t>
            </a:r>
            <a:r>
              <a:rPr b="0" i="0" lang="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sensores, estoy en </a:t>
            </a:r>
            <a:r>
              <a:rPr b="1" i="0" lang="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geo 3.</a:t>
            </a:r>
            <a:endParaRPr b="1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5" name="Google Shape;155;p23"/>
          <p:cNvPicPr preferRelativeResize="0"/>
          <p:nvPr/>
        </p:nvPicPr>
        <p:blipFill rotWithShape="1">
          <a:blip r:embed="rId3">
            <a:alphaModFix/>
          </a:blip>
          <a:srcRect b="1250" l="48564" r="25452" t="-1250"/>
          <a:stretch/>
        </p:blipFill>
        <p:spPr>
          <a:xfrm>
            <a:off x="764977" y="1985425"/>
            <a:ext cx="2375849" cy="2906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3" title="imagen_2026-10-01_204408810.png"/>
          <p:cNvPicPr preferRelativeResize="0"/>
          <p:nvPr/>
        </p:nvPicPr>
        <p:blipFill rotWithShape="1">
          <a:blip r:embed="rId4">
            <a:alphaModFix/>
          </a:blip>
          <a:srcRect b="0" l="8375" r="8375" t="0"/>
          <a:stretch/>
        </p:blipFill>
        <p:spPr>
          <a:xfrm>
            <a:off x="1508175" y="3035373"/>
            <a:ext cx="1041826" cy="96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3"/>
          <p:cNvPicPr preferRelativeResize="0"/>
          <p:nvPr/>
        </p:nvPicPr>
        <p:blipFill rotWithShape="1">
          <a:blip r:embed="rId5">
            <a:alphaModFix/>
          </a:blip>
          <a:srcRect b="21938" l="9222" r="8364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s">
                <a:solidFill>
                  <a:srgbClr val="FFC004"/>
                </a:solidFill>
                <a:latin typeface="Poppins"/>
                <a:ea typeface="Poppins"/>
                <a:cs typeface="Poppins"/>
                <a:sym typeface="Poppins"/>
              </a:rPr>
              <a:t>Detectando los hitos</a:t>
            </a:r>
            <a:endParaRPr b="1">
              <a:solidFill>
                <a:srgbClr val="FFC00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3" name="Google Shape;163;p24"/>
          <p:cNvSpPr/>
          <p:nvPr/>
        </p:nvSpPr>
        <p:spPr>
          <a:xfrm>
            <a:off x="259050" y="1389875"/>
            <a:ext cx="8625900" cy="21972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marR="12543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Necesitamos utilizar la huella digital para detectar los cambios que tiene el robot al leer los hitos.</a:t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179999" marR="125435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Es decir, ante un</a:t>
            </a:r>
            <a:r>
              <a:rPr b="1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cambio de geo</a:t>
            </a:r>
            <a:r>
              <a:rPr b="0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, es cuando el robot </a:t>
            </a:r>
            <a:r>
              <a:rPr b="1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realizará alguna acción</a:t>
            </a:r>
            <a:r>
              <a:rPr b="0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b="0" i="0" sz="1400" u="none" cap="none" strike="noStrike">
              <a:solidFill>
                <a:schemeClr val="lt1"/>
              </a:solidFill>
              <a:highlight>
                <a:srgbClr val="0233AE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4"/>
          <p:cNvSpPr txBox="1"/>
          <p:nvPr>
            <p:ph type="title"/>
          </p:nvPr>
        </p:nvSpPr>
        <p:spPr>
          <a:xfrm>
            <a:off x="908500" y="3854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s">
                <a:solidFill>
                  <a:srgbClr val="FFC004"/>
                </a:solidFill>
                <a:latin typeface="Poppins"/>
                <a:ea typeface="Poppins"/>
                <a:cs typeface="Poppins"/>
                <a:sym typeface="Poppins"/>
              </a:rPr>
              <a:t>GEO 0 </a:t>
            </a:r>
            <a:r>
              <a:rPr b="1"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----------&gt;</a:t>
            </a:r>
            <a:r>
              <a:rPr b="1" lang="es">
                <a:solidFill>
                  <a:srgbClr val="FFC004"/>
                </a:solidFill>
                <a:latin typeface="Poppins"/>
                <a:ea typeface="Poppins"/>
                <a:cs typeface="Poppins"/>
                <a:sym typeface="Poppins"/>
              </a:rPr>
              <a:t> GEO 2 </a:t>
            </a:r>
            <a:r>
              <a:rPr b="1"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----------&gt; </a:t>
            </a:r>
            <a:r>
              <a:rPr b="1" lang="es">
                <a:solidFill>
                  <a:srgbClr val="FFC004"/>
                </a:solidFill>
                <a:latin typeface="Poppins"/>
                <a:ea typeface="Poppins"/>
                <a:cs typeface="Poppins"/>
                <a:sym typeface="Poppins"/>
              </a:rPr>
              <a:t>Acción</a:t>
            </a:r>
            <a:endParaRPr b="1">
              <a:solidFill>
                <a:srgbClr val="FFC00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5" name="Google Shape;165;p24"/>
          <p:cNvPicPr preferRelativeResize="0"/>
          <p:nvPr/>
        </p:nvPicPr>
        <p:blipFill rotWithShape="1">
          <a:blip r:embed="rId3">
            <a:alphaModFix/>
          </a:blip>
          <a:srcRect b="21938" l="9222" r="8364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s">
                <a:solidFill>
                  <a:srgbClr val="FFC004"/>
                </a:solidFill>
                <a:latin typeface="Poppins"/>
                <a:ea typeface="Poppins"/>
                <a:cs typeface="Poppins"/>
                <a:sym typeface="Poppins"/>
              </a:rPr>
              <a:t>Detectando los hitos</a:t>
            </a:r>
            <a:endParaRPr b="1">
              <a:solidFill>
                <a:srgbClr val="FFC00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407275" y="1194825"/>
            <a:ext cx="87003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" sz="13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hitos</a:t>
            </a: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0" i="0" sz="1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b="0" i="0" sz="1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(geo1 != geo) {   </a:t>
            </a:r>
            <a:r>
              <a:rPr b="0" i="0" lang="es" sz="13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//Comprobamos si existe cambio del último geo registrado y el geo actual</a:t>
            </a:r>
            <a:endParaRPr b="0" i="0" sz="13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		</a:t>
            </a:r>
            <a:r>
              <a:rPr b="0" i="0" lang="es" sz="13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(geo == 0 &amp;&amp; geo1 == 1 &amp;&amp; geo2 == 0) { </a:t>
            </a:r>
            <a:r>
              <a:rPr b="0" i="0" lang="es" sz="1300" u="none" cap="none" strike="noStrike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//¿Pasamos el hito izquierdo?</a:t>
            </a:r>
            <a:endParaRPr b="0" i="0" sz="1300" u="none" cap="none" strike="noStrike"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	funcionHitoIz();                    </a:t>
            </a:r>
            <a:r>
              <a:rPr b="0" i="0" lang="es" sz="13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//Realizo las acciones para hito izquierdo</a:t>
            </a:r>
            <a:endParaRPr b="0" i="0" sz="1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		</a:t>
            </a:r>
            <a:r>
              <a:rPr b="0" i="0" lang="es" sz="13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(geo == 0 &amp;&amp; geo1 == 2 &amp;&amp; geo2 == 0) { </a:t>
            </a:r>
            <a:r>
              <a:rPr b="0" i="0" lang="es" sz="13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//¿Pasamos el hito derecho?</a:t>
            </a:r>
            <a:endParaRPr b="0" i="0" sz="1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funcionHitoDe();                     </a:t>
            </a:r>
            <a:r>
              <a:rPr b="0" i="0" lang="es" sz="13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//Realizo las acciones para hito derecho</a:t>
            </a:r>
            <a:endParaRPr b="0" i="0" sz="1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		}</a:t>
            </a:r>
            <a:endParaRPr b="0" i="0" sz="1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		</a:t>
            </a:r>
            <a:r>
              <a:rPr b="0" i="0" lang="es" sz="13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(geo == 0 &amp;&amp; ((geo1 == 3) || (geo2 == 3) || (geo3 == 3))) { </a:t>
            </a:r>
            <a:r>
              <a:rPr b="0" i="0" lang="es" sz="13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//¿Pasamos un cruce?</a:t>
            </a:r>
            <a:endParaRPr b="0" i="0" sz="1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funcionCruce();                      </a:t>
            </a:r>
            <a:r>
              <a:rPr b="0" i="0" lang="es" sz="13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//Realizo las acciones para hito de cruce</a:t>
            </a:r>
            <a:endParaRPr b="0" i="0" sz="1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		}</a:t>
            </a:r>
            <a:endParaRPr b="0" i="0" sz="1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b="0" i="0" lang="es" sz="13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//Actualizo mi historial de los últimos 3 geos detectados </a:t>
            </a: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</a:t>
            </a:r>
            <a:endParaRPr b="0" i="0" sz="1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geo3 = geo2;</a:t>
            </a:r>
            <a:endParaRPr b="0" i="0" sz="1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geo2 = geo1;</a:t>
            </a:r>
            <a:endParaRPr b="0" i="0" sz="1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geo1 = geo;</a:t>
            </a:r>
            <a:endParaRPr b="0" i="0" sz="13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	}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72" name="Google Shape;172;p25"/>
          <p:cNvPicPr preferRelativeResize="0"/>
          <p:nvPr/>
        </p:nvPicPr>
        <p:blipFill rotWithShape="1">
          <a:blip r:embed="rId3">
            <a:alphaModFix/>
          </a:blip>
          <a:srcRect b="21938" l="9222" r="8364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/>
          <p:nvPr/>
        </p:nvSpPr>
        <p:spPr>
          <a:xfrm>
            <a:off x="1107075" y="81475"/>
            <a:ext cx="7189200" cy="6252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" sz="2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Desafío</a:t>
            </a:r>
            <a:endParaRPr b="0" i="0" sz="2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107075" y="1014550"/>
            <a:ext cx="7189200" cy="16449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89999" marR="18064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Implementa el código mostrado y haz que el robot realice diferentes acciones cuando pase por un hito</a:t>
            </a:r>
            <a:endParaRPr b="0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89999" marR="180647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Ejemplo: Disminuir la velocidad en una curva</a:t>
            </a:r>
            <a:endParaRPr b="0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9" name="Google Shape;17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150" y="2659600"/>
            <a:ext cx="2218476" cy="2218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/>
        </p:nvSpPr>
        <p:spPr>
          <a:xfrm>
            <a:off x="1856700" y="106150"/>
            <a:ext cx="596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" sz="2400" u="none" cap="none" strike="noStrike">
                <a:solidFill>
                  <a:srgbClr val="FFC004"/>
                </a:solidFill>
                <a:latin typeface="Poppins"/>
                <a:ea typeface="Poppins"/>
                <a:cs typeface="Poppins"/>
                <a:sym typeface="Poppins"/>
              </a:rPr>
              <a:t>Video, ¿cómo funcionan las marcas?</a:t>
            </a:r>
            <a:endParaRPr b="1" i="0" sz="2400" u="none" cap="none" strike="noStrike">
              <a:solidFill>
                <a:srgbClr val="FFC00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En este video podrás ver el Método Lamborghino para detección de Hitos geográficos en Robotracer.&#10;&#10;lamborghino.com" id="185" name="Google Shape;185;p27" title="Detectando el escenario, robotracer [Open Lamborghino]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625" y="660250"/>
            <a:ext cx="7489150" cy="421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91" name="Google Shape;191;p28"/>
          <p:cNvSpPr txBox="1"/>
          <p:nvPr/>
        </p:nvSpPr>
        <p:spPr>
          <a:xfrm>
            <a:off x="759925" y="1234250"/>
            <a:ext cx="7574400" cy="12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Clubes de Ciencia y Tecnología 2024 - Línea robots velocistas HERMES</a:t>
            </a:r>
            <a:endParaRPr b="1" i="0" sz="15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Estos materiales han sido elaborados por Benjamín Espinoza para el Programa de Ciencia y Tecnología de Fundación Gabriel &amp; Mary Mustakis. Se permite su uso bajo licencia Creative Commons (CC) por las Universidades Socias del Programa de Ciencia y Tecnología de Fundación Gabriel &amp; Mary Mustakis.</a:t>
            </a:r>
            <a:endParaRPr b="0" i="0" sz="12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Versión 3 - Julio 2024 </a:t>
            </a:r>
            <a:endParaRPr b="1" i="0" sz="12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2" name="Google Shape;192;p28"/>
          <p:cNvSpPr txBox="1"/>
          <p:nvPr/>
        </p:nvSpPr>
        <p:spPr>
          <a:xfrm>
            <a:off x="2903400" y="4650625"/>
            <a:ext cx="33372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Publicado Bajo Licencia Creative Commons</a:t>
            </a:r>
            <a:endParaRPr b="1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Atribución-NoComercial-CompartirIgual (CC BY-NC-SA)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6213" y="3910275"/>
            <a:ext cx="471550" cy="4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5386" y="4411750"/>
            <a:ext cx="873325" cy="29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ACH-01-01" id="195" name="Google Shape;195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7975" y="2847163"/>
            <a:ext cx="1476375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TC-01" id="196" name="Google Shape;196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60325" y="2847163"/>
            <a:ext cx="1362075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5.googleusercontent.com/wP2h_lc6--vyMzu5qXgRG-Bbe6w1LN7Ph5RgxIP2Ngd_pFZFcUDkC-cp09ZNvc-Xm3iTwoQ8go_elSTWCw68Lrn_HKTBlb9E-8CWQqnHg6t8L9JidsYDttMUJ7XHVUWj9hjtPLtPZtU" id="197" name="Google Shape;197;p28"/>
          <p:cNvPicPr preferRelativeResize="0"/>
          <p:nvPr/>
        </p:nvPicPr>
        <p:blipFill rotWithShape="1">
          <a:blip r:embed="rId7">
            <a:alphaModFix/>
          </a:blip>
          <a:srcRect b="0" l="5141" r="0" t="3428"/>
          <a:stretch/>
        </p:blipFill>
        <p:spPr>
          <a:xfrm>
            <a:off x="4884250" y="2828650"/>
            <a:ext cx="769150" cy="7799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TFSM-01" id="198" name="Google Shape;198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9925" y="2877075"/>
            <a:ext cx="1303350" cy="683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819488" y="2836300"/>
            <a:ext cx="8953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22801" y="2845825"/>
            <a:ext cx="838115" cy="70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731486" y="3949"/>
            <a:ext cx="3681126" cy="113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