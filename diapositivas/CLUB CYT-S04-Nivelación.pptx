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6"/>
    <p:sldMasterId id="214748367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</p:sldIdLst>
  <p:sldSz cy="5143500" cx="9144000"/>
  <p:notesSz cx="6858000" cy="9144000"/>
  <p:embeddedFontLst>
    <p:embeddedFont>
      <p:font typeface="Proxima Nova"/>
      <p:regular r:id="rId55"/>
      <p:bold r:id="rId56"/>
      <p:italic r:id="rId57"/>
      <p:boldItalic r:id="rId58"/>
    </p:embeddedFont>
    <p:embeddedFont>
      <p:font typeface="Poppins"/>
      <p:regular r:id="rId59"/>
      <p:bold r:id="rId60"/>
      <p:italic r:id="rId61"/>
      <p:boldItalic r:id="rId62"/>
    </p:embeddedFont>
    <p:embeddedFont>
      <p:font typeface="Poppins Medium"/>
      <p:regular r:id="rId63"/>
      <p:bold r:id="rId64"/>
      <p:italic r:id="rId65"/>
      <p:boldItalic r:id="rId66"/>
    </p:embeddedFont>
    <p:embeddedFont>
      <p:font typeface="Poppins SemiBold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361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Rodolfo Ignacio Galaz Lembach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6B40560-12BE-4A5D-B2B4-EEAD5AE1656F}">
  <a:tblStyle styleId="{76B40560-12BE-4A5D-B2B4-EEAD5AE165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1361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slideMaster" Target="slideMasters/slideMaster2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70" Type="http://schemas.openxmlformats.org/officeDocument/2006/relationships/font" Target="fonts/PoppinsSemiBold-boldItalic.fntdata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62" Type="http://schemas.openxmlformats.org/officeDocument/2006/relationships/font" Target="fonts/Poppins-boldItalic.fntdata"/><Relationship Id="rId61" Type="http://schemas.openxmlformats.org/officeDocument/2006/relationships/font" Target="fonts/Poppins-italic.fntdata"/><Relationship Id="rId20" Type="http://schemas.openxmlformats.org/officeDocument/2006/relationships/slide" Target="slides/slide12.xml"/><Relationship Id="rId64" Type="http://schemas.openxmlformats.org/officeDocument/2006/relationships/font" Target="fonts/PoppinsMedium-bold.fntdata"/><Relationship Id="rId63" Type="http://schemas.openxmlformats.org/officeDocument/2006/relationships/font" Target="fonts/PoppinsMedium-regular.fntdata"/><Relationship Id="rId22" Type="http://schemas.openxmlformats.org/officeDocument/2006/relationships/slide" Target="slides/slide14.xml"/><Relationship Id="rId66" Type="http://schemas.openxmlformats.org/officeDocument/2006/relationships/font" Target="fonts/PoppinsMedium-boldItalic.fntdata"/><Relationship Id="rId21" Type="http://schemas.openxmlformats.org/officeDocument/2006/relationships/slide" Target="slides/slide13.xml"/><Relationship Id="rId65" Type="http://schemas.openxmlformats.org/officeDocument/2006/relationships/font" Target="fonts/PoppinsMedium-italic.fntdata"/><Relationship Id="rId24" Type="http://schemas.openxmlformats.org/officeDocument/2006/relationships/slide" Target="slides/slide16.xml"/><Relationship Id="rId68" Type="http://schemas.openxmlformats.org/officeDocument/2006/relationships/font" Target="fonts/PoppinsSemiBold-bold.fntdata"/><Relationship Id="rId23" Type="http://schemas.openxmlformats.org/officeDocument/2006/relationships/slide" Target="slides/slide15.xml"/><Relationship Id="rId67" Type="http://schemas.openxmlformats.org/officeDocument/2006/relationships/font" Target="fonts/PoppinsSemiBold-regular.fntdata"/><Relationship Id="rId60" Type="http://schemas.openxmlformats.org/officeDocument/2006/relationships/font" Target="fonts/Poppins-bold.fntdata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69" Type="http://schemas.openxmlformats.org/officeDocument/2006/relationships/font" Target="fonts/PoppinsSemiBold-italic.fntdata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slide" Target="slides/slide45.xml"/><Relationship Id="rId52" Type="http://schemas.openxmlformats.org/officeDocument/2006/relationships/slide" Target="slides/slide44.xml"/><Relationship Id="rId11" Type="http://schemas.openxmlformats.org/officeDocument/2006/relationships/slide" Target="slides/slide3.xml"/><Relationship Id="rId55" Type="http://schemas.openxmlformats.org/officeDocument/2006/relationships/font" Target="fonts/ProximaNova-regular.fntdata"/><Relationship Id="rId10" Type="http://schemas.openxmlformats.org/officeDocument/2006/relationships/slide" Target="slides/slide2.xml"/><Relationship Id="rId54" Type="http://schemas.openxmlformats.org/officeDocument/2006/relationships/slide" Target="slides/slide46.xml"/><Relationship Id="rId13" Type="http://schemas.openxmlformats.org/officeDocument/2006/relationships/slide" Target="slides/slide5.xml"/><Relationship Id="rId57" Type="http://schemas.openxmlformats.org/officeDocument/2006/relationships/font" Target="fonts/ProximaNova-italic.fntdata"/><Relationship Id="rId12" Type="http://schemas.openxmlformats.org/officeDocument/2006/relationships/slide" Target="slides/slide4.xml"/><Relationship Id="rId56" Type="http://schemas.openxmlformats.org/officeDocument/2006/relationships/font" Target="fonts/ProximaNova-bold.fntdata"/><Relationship Id="rId15" Type="http://schemas.openxmlformats.org/officeDocument/2006/relationships/slide" Target="slides/slide7.xml"/><Relationship Id="rId59" Type="http://schemas.openxmlformats.org/officeDocument/2006/relationships/font" Target="fonts/Poppins-regular.fntdata"/><Relationship Id="rId14" Type="http://schemas.openxmlformats.org/officeDocument/2006/relationships/slide" Target="slides/slide6.xml"/><Relationship Id="rId58" Type="http://schemas.openxmlformats.org/officeDocument/2006/relationships/font" Target="fonts/ProximaNova-boldItalic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4-29T00:55:37.304">
    <p:pos x="6000" y="0"/>
    <p:text>No es obligatorio usar la version 1.x.x 
-Rene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4-29T01:10:21.943">
    <p:pos x="6000" y="0"/>
    <p:text>https://pwmsim.berrry.app/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cf0056d0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2cf0056d0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eriod"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13542e2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513542e2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13542e275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13542e275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cec51eb26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cec51eb26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13542e27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513542e27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2686cf9ca3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2686cf9ca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Dejar tiempo para generar conversa sobre qué son los algoritmos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2686cf9ca3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2686cf9ca3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Las descripciones de aquí son parciales, motivar a leer el libro por su cuenta a los alumnos para más detalles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2686cf9ca3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2686cf9ca3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2686cf9ca3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2686cf9ca3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2686cf9ca3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2686cf9ca3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2686cf9ca3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2686cf9ca3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Las descripciones de aquí son parciales, motivar a leer el libro por su cuenta a los alumnos para más detalles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2686cf9ca3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2686cf9ca3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2686cf9ca3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2686cf9ca3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2686cf9ca3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2686cf9ca3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Agregar que pueden existir INPUT y OUTPUT y dar ejemplos de componentes que son INPUT y OUTPUT 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2686cf9ca3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22686cf9ca3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2686cf9ca3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2686cf9ca3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f9e08f2aa5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1f9e08f2aa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513542e275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513542e275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513542e275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513542e275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1f9e08f2aa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1f9e08f2aa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 bien se pide usar la comunicación serial, explicar sólo lo mínimo para que funcione este ejercicio, en la siguiente clase se ve con más profundidad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f9e08f2aa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1f9e08f2aa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1f9e08f2aa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1f9e08f2aa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Esto tal como está no va a poder ser visible en, por ejemplo, una led, ya que no hay delay en el código, a ver si algún alumno se da cuenta por si mismo.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513542e275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513542e275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513542e275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513542e275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f9e08f2aa5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f9e08f2aa5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513542e275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513542e275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1f9e08f2aa5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1f9e08f2aa5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Dar tiempo para armar los circuitos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1f9ecabcae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1f9ecabcae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513542e275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513542e275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Error en la lectira del ejercicio 1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1f9ecabcae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1f9ecabcae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22686cf9ca3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22686cf9ca3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f9ecabcae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1f9ecabcae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1f9ecabcae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1f9ecabcae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bc1d0b105d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bc1d0b105d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f9ecabcae8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f9ecabcae8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513542e275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3513542e275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Error en la lectira del ejercicio 1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513542e275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513542e275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Error en la lectira del ejercicio 1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1f9ecabcae8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1f9ecabcae8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Esto tal como está no va a poder ser visible en, por ejemplo, una led, ya que no hay delay en el código, a ver si algún alumno se da cuenta por si mismo.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1f9ecabcae8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1f9ecabcae8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513542e275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3513542e275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Error en la lectira del ejercicio 1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1f9ecabcae8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1f9ecabcae8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1f9ecabcae8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1f9ecabcae8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1f9ecabcae8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1f9ecabcae8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513542e275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3513542e275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Error en la lectira del ejercicio 1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2cec51eb26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2cec51eb2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holi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2cb6c47c2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2" name="Google Shape;722;g2cb6c47c2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9" name="Google Shape;99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0" name="Google Shape;100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2.jpg"/><Relationship Id="rId6" Type="http://schemas.openxmlformats.org/officeDocument/2006/relationships/image" Target="../media/image11.png"/><Relationship Id="rId7" Type="http://schemas.openxmlformats.org/officeDocument/2006/relationships/image" Target="../media/image5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25.png"/><Relationship Id="rId5" Type="http://schemas.openxmlformats.org/officeDocument/2006/relationships/image" Target="../media/image9.png"/><Relationship Id="rId6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2.jp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9.png"/><Relationship Id="rId8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1.xml"/><Relationship Id="rId4" Type="http://schemas.openxmlformats.org/officeDocument/2006/relationships/image" Target="../media/image22.png"/><Relationship Id="rId5" Type="http://schemas.openxmlformats.org/officeDocument/2006/relationships/image" Target="../media/image18.png"/><Relationship Id="rId6" Type="http://schemas.openxmlformats.org/officeDocument/2006/relationships/image" Target="../media/image9.png"/><Relationship Id="rId7" Type="http://schemas.openxmlformats.org/officeDocument/2006/relationships/image" Target="../media/image1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Relationship Id="rId4" Type="http://schemas.openxmlformats.org/officeDocument/2006/relationships/image" Target="../media/image9.png"/><Relationship Id="rId5" Type="http://schemas.openxmlformats.org/officeDocument/2006/relationships/image" Target="../media/image1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Relationship Id="rId4" Type="http://schemas.openxmlformats.org/officeDocument/2006/relationships/image" Target="../media/image9.png"/><Relationship Id="rId5" Type="http://schemas.openxmlformats.org/officeDocument/2006/relationships/image" Target="../media/image1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jpg"/><Relationship Id="rId4" Type="http://schemas.openxmlformats.org/officeDocument/2006/relationships/image" Target="../media/image11.png"/><Relationship Id="rId5" Type="http://schemas.openxmlformats.org/officeDocument/2006/relationships/image" Target="../media/image51.png"/><Relationship Id="rId6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jpg"/><Relationship Id="rId4" Type="http://schemas.openxmlformats.org/officeDocument/2006/relationships/image" Target="../media/image11.png"/><Relationship Id="rId5" Type="http://schemas.openxmlformats.org/officeDocument/2006/relationships/image" Target="../media/image51.png"/><Relationship Id="rId6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1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1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1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Relationship Id="rId4" Type="http://schemas.openxmlformats.org/officeDocument/2006/relationships/image" Target="../media/image1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jpg"/><Relationship Id="rId4" Type="http://schemas.openxmlformats.org/officeDocument/2006/relationships/image" Target="../media/image11.png"/><Relationship Id="rId5" Type="http://schemas.openxmlformats.org/officeDocument/2006/relationships/image" Target="../media/image51.png"/><Relationship Id="rId6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9.png"/><Relationship Id="rId5" Type="http://schemas.openxmlformats.org/officeDocument/2006/relationships/image" Target="../media/image1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jpg"/><Relationship Id="rId4" Type="http://schemas.openxmlformats.org/officeDocument/2006/relationships/image" Target="../media/image11.png"/><Relationship Id="rId5" Type="http://schemas.openxmlformats.org/officeDocument/2006/relationships/image" Target="../media/image5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Relationship Id="rId4" Type="http://schemas.openxmlformats.org/officeDocument/2006/relationships/image" Target="../media/image1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Relationship Id="rId4" Type="http://schemas.openxmlformats.org/officeDocument/2006/relationships/image" Target="../media/image45.png"/><Relationship Id="rId5" Type="http://schemas.openxmlformats.org/officeDocument/2006/relationships/image" Target="../media/image12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jpg"/><Relationship Id="rId4" Type="http://schemas.openxmlformats.org/officeDocument/2006/relationships/image" Target="../media/image11.png"/><Relationship Id="rId5" Type="http://schemas.openxmlformats.org/officeDocument/2006/relationships/image" Target="../media/image5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jpg"/><Relationship Id="rId4" Type="http://schemas.openxmlformats.org/officeDocument/2006/relationships/image" Target="../media/image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5.png"/><Relationship Id="rId4" Type="http://schemas.openxmlformats.org/officeDocument/2006/relationships/image" Target="../media/image9.png"/><Relationship Id="rId5" Type="http://schemas.openxmlformats.org/officeDocument/2006/relationships/image" Target="../media/image12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Relationship Id="rId4" Type="http://schemas.openxmlformats.org/officeDocument/2006/relationships/image" Target="../media/image12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8.png"/><Relationship Id="rId4" Type="http://schemas.openxmlformats.org/officeDocument/2006/relationships/image" Target="../media/image9.png"/><Relationship Id="rId5" Type="http://schemas.openxmlformats.org/officeDocument/2006/relationships/image" Target="../media/image12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jpg"/><Relationship Id="rId4" Type="http://schemas.openxmlformats.org/officeDocument/2006/relationships/image" Target="../media/image11.png"/><Relationship Id="rId5" Type="http://schemas.openxmlformats.org/officeDocument/2006/relationships/image" Target="../media/image51.png"/><Relationship Id="rId6" Type="http://schemas.openxmlformats.org/officeDocument/2006/relationships/image" Target="../media/image6.png"/><Relationship Id="rId7" Type="http://schemas.openxmlformats.org/officeDocument/2006/relationships/image" Target="../media/image3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.jpg"/><Relationship Id="rId4" Type="http://schemas.openxmlformats.org/officeDocument/2006/relationships/image" Target="../media/image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.jpg"/><Relationship Id="rId4" Type="http://schemas.openxmlformats.org/officeDocument/2006/relationships/image" Target="../media/image11.png"/><Relationship Id="rId5" Type="http://schemas.openxmlformats.org/officeDocument/2006/relationships/image" Target="../media/image51.png"/><Relationship Id="rId6" Type="http://schemas.openxmlformats.org/officeDocument/2006/relationships/image" Target="../media/image4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.jpg"/><Relationship Id="rId4" Type="http://schemas.openxmlformats.org/officeDocument/2006/relationships/image" Target="../media/image11.png"/><Relationship Id="rId5" Type="http://schemas.openxmlformats.org/officeDocument/2006/relationships/image" Target="../media/image5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.png"/><Relationship Id="rId4" Type="http://schemas.openxmlformats.org/officeDocument/2006/relationships/image" Target="../media/image12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comments" Target="../comments/comment2.xml"/><Relationship Id="rId4" Type="http://schemas.openxmlformats.org/officeDocument/2006/relationships/image" Target="../media/image42.png"/><Relationship Id="rId5" Type="http://schemas.openxmlformats.org/officeDocument/2006/relationships/image" Target="../media/image12.jpg"/><Relationship Id="rId6" Type="http://schemas.openxmlformats.org/officeDocument/2006/relationships/image" Target="../media/image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2.jpg"/><Relationship Id="rId4" Type="http://schemas.openxmlformats.org/officeDocument/2006/relationships/image" Target="../media/image11.png"/><Relationship Id="rId5" Type="http://schemas.openxmlformats.org/officeDocument/2006/relationships/image" Target="../media/image5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.png"/><Relationship Id="rId4" Type="http://schemas.openxmlformats.org/officeDocument/2006/relationships/image" Target="../media/image12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3.png"/><Relationship Id="rId4" Type="http://schemas.openxmlformats.org/officeDocument/2006/relationships/image" Target="../media/image9.png"/><Relationship Id="rId5" Type="http://schemas.openxmlformats.org/officeDocument/2006/relationships/image" Target="../media/image12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4.png"/><Relationship Id="rId4" Type="http://schemas.openxmlformats.org/officeDocument/2006/relationships/image" Target="../media/image9.png"/><Relationship Id="rId5" Type="http://schemas.openxmlformats.org/officeDocument/2006/relationships/image" Target="../media/image12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2.jpg"/><Relationship Id="rId4" Type="http://schemas.openxmlformats.org/officeDocument/2006/relationships/image" Target="../media/image11.png"/><Relationship Id="rId5" Type="http://schemas.openxmlformats.org/officeDocument/2006/relationships/image" Target="../media/image5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2.jpg"/></Relationships>
</file>

<file path=ppt/slides/_rels/slide4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jpg"/><Relationship Id="rId10" Type="http://schemas.openxmlformats.org/officeDocument/2006/relationships/image" Target="../media/image44.png"/><Relationship Id="rId13" Type="http://schemas.openxmlformats.org/officeDocument/2006/relationships/image" Target="../media/image50.png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7.jpg"/><Relationship Id="rId4" Type="http://schemas.openxmlformats.org/officeDocument/2006/relationships/image" Target="../media/image47.png"/><Relationship Id="rId9" Type="http://schemas.openxmlformats.org/officeDocument/2006/relationships/image" Target="../media/image57.png"/><Relationship Id="rId14" Type="http://schemas.openxmlformats.org/officeDocument/2006/relationships/image" Target="../media/image48.png"/><Relationship Id="rId5" Type="http://schemas.openxmlformats.org/officeDocument/2006/relationships/image" Target="../media/image43.png"/><Relationship Id="rId6" Type="http://schemas.openxmlformats.org/officeDocument/2006/relationships/image" Target="../media/image46.jpg"/><Relationship Id="rId7" Type="http://schemas.openxmlformats.org/officeDocument/2006/relationships/image" Target="../media/image49.png"/><Relationship Id="rId8" Type="http://schemas.openxmlformats.org/officeDocument/2006/relationships/image" Target="../media/image4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9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/>
          <p:nvPr/>
        </p:nvSpPr>
        <p:spPr>
          <a:xfrm>
            <a:off x="174544" y="3908703"/>
            <a:ext cx="8969400" cy="1234800"/>
          </a:xfrm>
          <a:prstGeom prst="rect">
            <a:avLst/>
          </a:prstGeom>
          <a:solidFill>
            <a:srgbClr val="01189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6"/>
          <p:cNvPicPr preferRelativeResize="0"/>
          <p:nvPr/>
        </p:nvPicPr>
        <p:blipFill rotWithShape="1">
          <a:blip r:embed="rId3">
            <a:alphaModFix/>
          </a:blip>
          <a:srcRect b="299" l="44748" r="0" t="-10"/>
          <a:stretch/>
        </p:blipFill>
        <p:spPr>
          <a:xfrm rot="-5400000">
            <a:off x="2617645" y="-2617647"/>
            <a:ext cx="3908705" cy="914399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6"/>
          <p:cNvSpPr/>
          <p:nvPr/>
        </p:nvSpPr>
        <p:spPr>
          <a:xfrm>
            <a:off x="1" y="0"/>
            <a:ext cx="9144000" cy="3908700"/>
          </a:xfrm>
          <a:prstGeom prst="rect">
            <a:avLst/>
          </a:prstGeom>
          <a:solidFill>
            <a:srgbClr val="002060">
              <a:alpha val="4863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4344" y="192405"/>
            <a:ext cx="2587503" cy="81259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861159" y="2111134"/>
            <a:ext cx="46815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Clubes de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Ciencia y Tecnología</a:t>
            </a:r>
            <a:endParaRPr b="1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0" name="Google Shape;110;p26"/>
          <p:cNvSpPr/>
          <p:nvPr/>
        </p:nvSpPr>
        <p:spPr>
          <a:xfrm>
            <a:off x="874188" y="3545211"/>
            <a:ext cx="1544400" cy="410100"/>
          </a:xfrm>
          <a:prstGeom prst="rect">
            <a:avLst/>
          </a:prstGeom>
          <a:solidFill>
            <a:srgbClr val="01189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6"/>
          <p:cNvSpPr txBox="1"/>
          <p:nvPr/>
        </p:nvSpPr>
        <p:spPr>
          <a:xfrm>
            <a:off x="974298" y="3595017"/>
            <a:ext cx="1544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" sz="1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25</a:t>
            </a: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.0</a:t>
            </a:r>
            <a:r>
              <a:rPr lang="es" sz="1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4.</a:t>
            </a: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202</a:t>
            </a:r>
            <a:r>
              <a:rPr lang="es" sz="1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endParaRPr b="0" i="0" sz="15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" name="Google Shape;112;p26"/>
          <p:cNvSpPr txBox="1"/>
          <p:nvPr/>
        </p:nvSpPr>
        <p:spPr>
          <a:xfrm rot="-5400000">
            <a:off x="7433264" y="3154639"/>
            <a:ext cx="2945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861159" y="1529936"/>
            <a:ext cx="2443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Sesión Nº</a:t>
            </a:r>
            <a:r>
              <a:rPr lang="es" sz="1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b="0" i="0" sz="15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14" name="Google Shape;114;p26"/>
          <p:cNvCxnSpPr/>
          <p:nvPr/>
        </p:nvCxnSpPr>
        <p:spPr>
          <a:xfrm>
            <a:off x="928250" y="1864954"/>
            <a:ext cx="2015400" cy="0"/>
          </a:xfrm>
          <a:prstGeom prst="straightConnector1">
            <a:avLst/>
          </a:prstGeom>
          <a:noFill/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5" name="Google Shape;115;p26"/>
          <p:cNvPicPr preferRelativeResize="0"/>
          <p:nvPr/>
        </p:nvPicPr>
        <p:blipFill rotWithShape="1">
          <a:blip r:embed="rId5">
            <a:alphaModFix/>
          </a:blip>
          <a:srcRect b="43844" l="31851" r="33841" t="27525"/>
          <a:stretch/>
        </p:blipFill>
        <p:spPr>
          <a:xfrm>
            <a:off x="5054055" y="1742684"/>
            <a:ext cx="3402614" cy="2171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7"/>
          <p:cNvPicPr preferRelativeResize="0"/>
          <p:nvPr/>
        </p:nvPicPr>
        <p:blipFill rotWithShape="1">
          <a:blip r:embed="rId3">
            <a:alphaModFix/>
          </a:blip>
          <a:srcRect b="68756" l="25893" r="0" t="0"/>
          <a:stretch/>
        </p:blipFill>
        <p:spPr>
          <a:xfrm rot="5400000">
            <a:off x="-1140929" y="1116585"/>
            <a:ext cx="5172836" cy="289077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/>
          <p:nvPr/>
        </p:nvSpPr>
        <p:spPr>
          <a:xfrm>
            <a:off x="0" y="-20614"/>
            <a:ext cx="2901600" cy="5172900"/>
          </a:xfrm>
          <a:prstGeom prst="rect">
            <a:avLst/>
          </a:prstGeom>
          <a:solidFill>
            <a:srgbClr val="000000">
              <a:alpha val="3333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8113" y="623393"/>
            <a:ext cx="5104614" cy="421268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7"/>
          <p:cNvSpPr/>
          <p:nvPr/>
        </p:nvSpPr>
        <p:spPr>
          <a:xfrm>
            <a:off x="5929973" y="4016068"/>
            <a:ext cx="421200" cy="421200"/>
          </a:xfrm>
          <a:prstGeom prst="ellipse">
            <a:avLst/>
          </a:prstGeom>
          <a:solidFill>
            <a:srgbClr val="71C9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7"/>
          <p:cNvSpPr/>
          <p:nvPr/>
        </p:nvSpPr>
        <p:spPr>
          <a:xfrm>
            <a:off x="3186772" y="4016068"/>
            <a:ext cx="421200" cy="421200"/>
          </a:xfrm>
          <a:prstGeom prst="ellipse">
            <a:avLst/>
          </a:prstGeom>
          <a:solidFill>
            <a:srgbClr val="71C9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7"/>
          <p:cNvSpPr/>
          <p:nvPr/>
        </p:nvSpPr>
        <p:spPr>
          <a:xfrm>
            <a:off x="5929973" y="2671362"/>
            <a:ext cx="421200" cy="421200"/>
          </a:xfrm>
          <a:prstGeom prst="ellipse">
            <a:avLst/>
          </a:prstGeom>
          <a:solidFill>
            <a:srgbClr val="71C9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7"/>
          <p:cNvSpPr/>
          <p:nvPr/>
        </p:nvSpPr>
        <p:spPr>
          <a:xfrm>
            <a:off x="3186772" y="2671362"/>
            <a:ext cx="421200" cy="421200"/>
          </a:xfrm>
          <a:prstGeom prst="ellipse">
            <a:avLst/>
          </a:prstGeom>
          <a:solidFill>
            <a:srgbClr val="71C9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7"/>
          <p:cNvSpPr/>
          <p:nvPr/>
        </p:nvSpPr>
        <p:spPr>
          <a:xfrm>
            <a:off x="5929973" y="1003927"/>
            <a:ext cx="421200" cy="421200"/>
          </a:xfrm>
          <a:prstGeom prst="ellipse">
            <a:avLst/>
          </a:prstGeom>
          <a:solidFill>
            <a:srgbClr val="71C9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7"/>
          <p:cNvSpPr/>
          <p:nvPr/>
        </p:nvSpPr>
        <p:spPr>
          <a:xfrm>
            <a:off x="3186772" y="1003927"/>
            <a:ext cx="421200" cy="421200"/>
          </a:xfrm>
          <a:prstGeom prst="ellipse">
            <a:avLst/>
          </a:prstGeom>
          <a:solidFill>
            <a:srgbClr val="71C9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7"/>
          <p:cNvSpPr txBox="1"/>
          <p:nvPr/>
        </p:nvSpPr>
        <p:spPr>
          <a:xfrm>
            <a:off x="431273" y="1350001"/>
            <a:ext cx="2106600" cy="11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775" lIns="75575" spcFirstLastPara="1" rIns="75575" wrap="square" tIns="377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3"/>
              <a:buFont typeface="Calibri"/>
              <a:buNone/>
            </a:pPr>
            <a:r>
              <a:rPr b="1" i="0" lang="es" sz="2400" u="none" cap="none" strike="noStrike">
                <a:solidFill>
                  <a:srgbClr val="71C9EB"/>
                </a:solidFill>
                <a:latin typeface="Poppins"/>
                <a:ea typeface="Poppins"/>
                <a:cs typeface="Poppins"/>
                <a:sym typeface="Poppins"/>
              </a:rPr>
              <a:t>¿QUÉ ROBOT </a:t>
            </a:r>
            <a:r>
              <a:rPr b="0" i="0" lang="e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SOMOS HOY?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" name="Google Shape;130;p27"/>
          <p:cNvSpPr txBox="1"/>
          <p:nvPr/>
        </p:nvSpPr>
        <p:spPr>
          <a:xfrm>
            <a:off x="3259033" y="1036194"/>
            <a:ext cx="4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</a:t>
            </a:r>
            <a:endParaRPr b="1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" name="Google Shape;131;p27"/>
          <p:cNvSpPr txBox="1"/>
          <p:nvPr/>
        </p:nvSpPr>
        <p:spPr>
          <a:xfrm>
            <a:off x="3230470" y="2703629"/>
            <a:ext cx="4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</a:t>
            </a:r>
            <a:endParaRPr b="1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" name="Google Shape;132;p27"/>
          <p:cNvSpPr txBox="1"/>
          <p:nvPr/>
        </p:nvSpPr>
        <p:spPr>
          <a:xfrm>
            <a:off x="3219837" y="4057304"/>
            <a:ext cx="4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5.</a:t>
            </a:r>
            <a:endParaRPr b="1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3" name="Google Shape;133;p27"/>
          <p:cNvSpPr txBox="1"/>
          <p:nvPr/>
        </p:nvSpPr>
        <p:spPr>
          <a:xfrm>
            <a:off x="5978574" y="1036194"/>
            <a:ext cx="4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</a:t>
            </a:r>
            <a:endParaRPr b="1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4" name="Google Shape;134;p27"/>
          <p:cNvSpPr txBox="1"/>
          <p:nvPr/>
        </p:nvSpPr>
        <p:spPr>
          <a:xfrm>
            <a:off x="5957308" y="2703629"/>
            <a:ext cx="4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4.</a:t>
            </a:r>
            <a:endParaRPr b="1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" name="Google Shape;135;p27"/>
          <p:cNvSpPr txBox="1"/>
          <p:nvPr/>
        </p:nvSpPr>
        <p:spPr>
          <a:xfrm>
            <a:off x="5978574" y="4057304"/>
            <a:ext cx="4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6.</a:t>
            </a:r>
            <a:endParaRPr b="1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6" name="Google Shape;13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33AE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4010" y="1392406"/>
            <a:ext cx="3360338" cy="292586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8"/>
          <p:cNvSpPr txBox="1"/>
          <p:nvPr/>
        </p:nvSpPr>
        <p:spPr>
          <a:xfrm>
            <a:off x="2259727" y="893230"/>
            <a:ext cx="46245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PREPARA TU ENTORNO Y PONTE CÓMODO PARA TRABAJAR</a:t>
            </a:r>
            <a:br>
              <a:rPr b="1"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 sz="1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3" name="Google Shape;14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5002" y="63549"/>
            <a:ext cx="819695" cy="491233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8"/>
          <p:cNvSpPr txBox="1"/>
          <p:nvPr/>
        </p:nvSpPr>
        <p:spPr>
          <a:xfrm>
            <a:off x="189130" y="4801377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/>
          <p:nvPr/>
        </p:nvSpPr>
        <p:spPr>
          <a:xfrm>
            <a:off x="1731977" y="1246004"/>
            <a:ext cx="5484600" cy="23016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¿Qué aprenderemos hoy?</a:t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0" name="Google Shape;15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0350" y="1919325"/>
            <a:ext cx="2994200" cy="299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9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29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153" name="Google Shape;153;p29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29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Google Shape;155;p29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/>
          <p:nvPr/>
        </p:nvSpPr>
        <p:spPr>
          <a:xfrm>
            <a:off x="2889190" y="-6900"/>
            <a:ext cx="6254700" cy="5143500"/>
          </a:xfrm>
          <a:prstGeom prst="rect">
            <a:avLst/>
          </a:prstGeom>
          <a:solidFill>
            <a:srgbClr val="B4D3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30"/>
          <p:cNvPicPr preferRelativeResize="0"/>
          <p:nvPr/>
        </p:nvPicPr>
        <p:blipFill rotWithShape="1">
          <a:blip r:embed="rId3">
            <a:alphaModFix amt="33000"/>
          </a:blip>
          <a:srcRect b="0" l="50261" r="0" t="0"/>
          <a:stretch/>
        </p:blipFill>
        <p:spPr>
          <a:xfrm>
            <a:off x="5902035" y="-34234"/>
            <a:ext cx="33107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2995211" y="-1514655"/>
            <a:ext cx="6113262" cy="81728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" name="Google Shape;163;p30"/>
          <p:cNvGrpSpPr/>
          <p:nvPr/>
        </p:nvGrpSpPr>
        <p:grpSpPr>
          <a:xfrm>
            <a:off x="-10633" y="-29340"/>
            <a:ext cx="2901600" cy="5177731"/>
            <a:chOff x="0" y="-29340"/>
            <a:chExt cx="2901600" cy="5177731"/>
          </a:xfrm>
        </p:grpSpPr>
        <p:pic>
          <p:nvPicPr>
            <p:cNvPr id="164" name="Google Shape;164;p30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" name="Google Shape;165;p30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6" name="Google Shape;166;p30"/>
          <p:cNvSpPr txBox="1"/>
          <p:nvPr/>
        </p:nvSpPr>
        <p:spPr>
          <a:xfrm rot="-894">
            <a:off x="119550" y="1912353"/>
            <a:ext cx="34599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</a:t>
            </a:r>
            <a:r>
              <a:rPr b="1" lang="es" sz="24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bjetivos de la sesión</a:t>
            </a:r>
            <a:endParaRPr b="1" sz="240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0"/>
          <p:cNvSpPr txBox="1"/>
          <p:nvPr/>
        </p:nvSpPr>
        <p:spPr>
          <a:xfrm>
            <a:off x="4006026" y="958517"/>
            <a:ext cx="4558800" cy="3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AutoNum type="arabicPeriod"/>
            </a:pPr>
            <a:r>
              <a:rPr b="1" lang="e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Aprender </a:t>
            </a:r>
            <a:r>
              <a:rPr lang="e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sobre </a:t>
            </a:r>
            <a:r>
              <a:rPr b="1" lang="e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microcontroladores</a:t>
            </a:r>
            <a:endParaRPr b="1" sz="2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AutoNum type="arabicPeriod"/>
            </a:pPr>
            <a:r>
              <a:rPr b="1" lang="e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</a:t>
            </a:r>
            <a:r>
              <a:rPr b="1" lang="e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onocer </a:t>
            </a:r>
            <a:r>
              <a:rPr lang="e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b="1" lang="e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diferenciar  </a:t>
            </a:r>
            <a:r>
              <a:rPr lang="e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sobre </a:t>
            </a:r>
            <a:r>
              <a:rPr b="1" lang="e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señales digitales </a:t>
            </a:r>
            <a:r>
              <a:rPr lang="e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 </a:t>
            </a:r>
            <a:r>
              <a:rPr b="1" lang="e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señales análogas</a:t>
            </a:r>
            <a:endParaRPr b="1" sz="2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AutoNum type="arabicPeriod"/>
            </a:pPr>
            <a:r>
              <a:rPr b="1" lang="e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Aprender </a:t>
            </a:r>
            <a:r>
              <a:rPr lang="e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sobre </a:t>
            </a:r>
            <a:r>
              <a:rPr b="1" lang="e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circuitos programables</a:t>
            </a:r>
            <a:endParaRPr b="1" sz="2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69" name="Google Shape;169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0128" y="3335674"/>
            <a:ext cx="1365667" cy="1534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0128" y="3335674"/>
            <a:ext cx="1365667" cy="1534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/>
          <p:nvPr/>
        </p:nvSpPr>
        <p:spPr>
          <a:xfrm>
            <a:off x="2700600" y="106550"/>
            <a:ext cx="3742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latin typeface="Poppins"/>
                <a:ea typeface="Poppins"/>
                <a:cs typeface="Poppins"/>
                <a:sym typeface="Poppins"/>
              </a:rPr>
              <a:t>Microcontroladores</a:t>
            </a:r>
            <a:endParaRPr sz="2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6" name="Google Shape;176;p31"/>
          <p:cNvSpPr txBox="1"/>
          <p:nvPr/>
        </p:nvSpPr>
        <p:spPr>
          <a:xfrm>
            <a:off x="178850" y="958600"/>
            <a:ext cx="576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Poppins"/>
                <a:ea typeface="Poppins"/>
                <a:cs typeface="Poppins"/>
                <a:sym typeface="Poppins"/>
              </a:rPr>
              <a:t>¿Qué son los microcontroladores?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7" name="Google Shape;177;p31"/>
          <p:cNvSpPr/>
          <p:nvPr/>
        </p:nvSpPr>
        <p:spPr>
          <a:xfrm>
            <a:off x="1842125" y="1420300"/>
            <a:ext cx="5475900" cy="20184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s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“</a:t>
            </a:r>
            <a:r>
              <a:rPr b="1" i="1" lang="es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 microcontrolador es esencialmente un pequeño computador, capaz de recibir información (input), procesarla y generar una respuesta (output) en base a instrucciones previamente determinadas</a:t>
            </a:r>
            <a:r>
              <a:rPr b="1" i="1" lang="es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”</a:t>
            </a:r>
            <a:endParaRPr b="1" i="1"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8" name="Google Shape;17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72639">
            <a:off x="-2004634" y="3479440"/>
            <a:ext cx="6184944" cy="3865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881322">
            <a:off x="4254794" y="3720097"/>
            <a:ext cx="7392237" cy="4928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1"/>
          <p:cNvPicPr preferRelativeResize="0"/>
          <p:nvPr/>
        </p:nvPicPr>
        <p:blipFill rotWithShape="1">
          <a:blip r:embed="rId5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p31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182" name="Google Shape;182;p31"/>
            <p:cNvPicPr preferRelativeResize="0"/>
            <p:nvPr/>
          </p:nvPicPr>
          <p:blipFill rotWithShape="1">
            <a:blip r:embed="rId6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" name="Google Shape;183;p31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4" name="Google Shape;184;p31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/>
        </p:nvSpPr>
        <p:spPr>
          <a:xfrm>
            <a:off x="2700600" y="106550"/>
            <a:ext cx="3742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Microcontroladores</a:t>
            </a:r>
            <a:endParaRPr b="1" sz="26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0" name="Google Shape;190;p32"/>
          <p:cNvPicPr preferRelativeResize="0"/>
          <p:nvPr/>
        </p:nvPicPr>
        <p:blipFill rotWithShape="1">
          <a:blip r:embed="rId3">
            <a:alphaModFix/>
          </a:blip>
          <a:srcRect b="0" l="25244" r="31728" t="39734"/>
          <a:stretch/>
        </p:blipFill>
        <p:spPr>
          <a:xfrm>
            <a:off x="2896038" y="1155850"/>
            <a:ext cx="3351924" cy="3451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32"/>
          <p:cNvCxnSpPr>
            <a:endCxn id="192" idx="3"/>
          </p:cNvCxnSpPr>
          <p:nvPr/>
        </p:nvCxnSpPr>
        <p:spPr>
          <a:xfrm flipH="1">
            <a:off x="1842125" y="2144950"/>
            <a:ext cx="2492100" cy="3090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2" name="Google Shape;192;p32"/>
          <p:cNvSpPr/>
          <p:nvPr/>
        </p:nvSpPr>
        <p:spPr>
          <a:xfrm>
            <a:off x="323525" y="1958500"/>
            <a:ext cx="1518600" cy="9909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CPU: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</a:t>
            </a:r>
            <a:r>
              <a:rPr b="1" i="1"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Unidad de procesamiento central </a:t>
            </a: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el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cerebro del microcontrolador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3" name="Google Shape;193;p32"/>
          <p:cNvSpPr/>
          <p:nvPr/>
        </p:nvSpPr>
        <p:spPr>
          <a:xfrm>
            <a:off x="2578950" y="1220975"/>
            <a:ext cx="404700" cy="31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2"/>
          <p:cNvSpPr/>
          <p:nvPr/>
        </p:nvSpPr>
        <p:spPr>
          <a:xfrm>
            <a:off x="5953250" y="1286700"/>
            <a:ext cx="404700" cy="31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5" name="Google Shape;195;p32"/>
          <p:cNvCxnSpPr/>
          <p:nvPr/>
        </p:nvCxnSpPr>
        <p:spPr>
          <a:xfrm flipH="1" rot="10800000">
            <a:off x="5771875" y="1046175"/>
            <a:ext cx="1131300" cy="4290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6" name="Google Shape;196;p32"/>
          <p:cNvSpPr/>
          <p:nvPr/>
        </p:nvSpPr>
        <p:spPr>
          <a:xfrm>
            <a:off x="6903175" y="671825"/>
            <a:ext cx="1859700" cy="9909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</a:t>
            </a: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</a:t>
            </a:r>
            <a:r>
              <a:rPr b="1" i="1"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Memoria de acceso aleatorio</a:t>
            </a: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es el espacio donde se almacena la información recibida de manera temporal.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97" name="Google Shape;197;p32"/>
          <p:cNvCxnSpPr>
            <a:endCxn id="198" idx="1"/>
          </p:cNvCxnSpPr>
          <p:nvPr/>
        </p:nvCxnSpPr>
        <p:spPr>
          <a:xfrm>
            <a:off x="5631025" y="2064925"/>
            <a:ext cx="1400700" cy="3258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8" name="Google Shape;198;p32"/>
          <p:cNvSpPr/>
          <p:nvPr/>
        </p:nvSpPr>
        <p:spPr>
          <a:xfrm>
            <a:off x="7031725" y="1778275"/>
            <a:ext cx="2072700" cy="12249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ROM: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</a:t>
            </a:r>
            <a:r>
              <a:rPr b="1" i="1"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Memoria de sólo lectura</a:t>
            </a: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es un componente donde se almacenan las instrucciones básicas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necesarias para que el microcontrolador funcione.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99" name="Google Shape;199;p32"/>
          <p:cNvCxnSpPr>
            <a:endCxn id="200" idx="3"/>
          </p:cNvCxnSpPr>
          <p:nvPr/>
        </p:nvCxnSpPr>
        <p:spPr>
          <a:xfrm flipH="1">
            <a:off x="2112400" y="2775200"/>
            <a:ext cx="1545300" cy="10437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0" name="Google Shape;200;p32"/>
          <p:cNvSpPr/>
          <p:nvPr/>
        </p:nvSpPr>
        <p:spPr>
          <a:xfrm>
            <a:off x="189100" y="3297050"/>
            <a:ext cx="1923300" cy="10437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I/O</a:t>
            </a: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 </a:t>
            </a:r>
            <a:r>
              <a:rPr b="1" i="1"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Puertos de entrada y salida</a:t>
            </a: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son uno o más conectores donde el microcontrolador recibe información.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01" name="Google Shape;201;p32"/>
          <p:cNvCxnSpPr>
            <a:stCxn id="193" idx="3"/>
            <a:endCxn id="202" idx="3"/>
          </p:cNvCxnSpPr>
          <p:nvPr/>
        </p:nvCxnSpPr>
        <p:spPr>
          <a:xfrm rot="10800000">
            <a:off x="1639650" y="1167425"/>
            <a:ext cx="1344000" cy="2088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2" name="Google Shape;202;p32"/>
          <p:cNvSpPr/>
          <p:nvPr/>
        </p:nvSpPr>
        <p:spPr>
          <a:xfrm>
            <a:off x="94200" y="749375"/>
            <a:ext cx="1545300" cy="8358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Oscilador</a:t>
            </a: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Componente que define la velocidad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 la frecuencia de la CPU.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03" name="Google Shape;203;p32"/>
          <p:cNvCxnSpPr/>
          <p:nvPr/>
        </p:nvCxnSpPr>
        <p:spPr>
          <a:xfrm>
            <a:off x="5718350" y="2390225"/>
            <a:ext cx="1353900" cy="9909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4" name="Google Shape;204;p32"/>
          <p:cNvSpPr/>
          <p:nvPr/>
        </p:nvSpPr>
        <p:spPr>
          <a:xfrm>
            <a:off x="7031600" y="3139050"/>
            <a:ext cx="1923300" cy="12249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EEP</a:t>
            </a: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ROM: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ROM </a:t>
            </a:r>
            <a:r>
              <a:rPr b="1" i="1"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programable y borrable eléctricamente</a:t>
            </a: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es el componente donde se almacenan las instrucciones programadas en el microcontrolador.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05" name="Google Shape;205;p32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206" name="Google Shape;206;p32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32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" name="Google Shape;208;p32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9" name="Google Shape;209;p32"/>
          <p:cNvPicPr preferRelativeResize="0"/>
          <p:nvPr/>
        </p:nvPicPr>
        <p:blipFill rotWithShape="1">
          <a:blip r:embed="rId5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/>
        </p:nvSpPr>
        <p:spPr>
          <a:xfrm>
            <a:off x="3766500" y="106550"/>
            <a:ext cx="161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7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Arduino</a:t>
            </a:r>
            <a:endParaRPr b="1" sz="27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5" name="Google Shape;215;p33"/>
          <p:cNvSpPr/>
          <p:nvPr/>
        </p:nvSpPr>
        <p:spPr>
          <a:xfrm>
            <a:off x="1179325" y="679250"/>
            <a:ext cx="7189200" cy="9408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Arduino es una </a:t>
            </a:r>
            <a:r>
              <a:rPr lang="e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compañía</a:t>
            </a:r>
            <a:r>
              <a:rPr lang="e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que ofrece productos y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ervicios</a:t>
            </a:r>
            <a:r>
              <a:rPr lang="e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relacionados al software y hardware de código abierto.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6" name="Google Shape;216;p33"/>
          <p:cNvSpPr/>
          <p:nvPr/>
        </p:nvSpPr>
        <p:spPr>
          <a:xfrm>
            <a:off x="938775" y="2347850"/>
            <a:ext cx="3308700" cy="20661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Hardware</a:t>
            </a: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Placas de desarrollo “</a:t>
            </a:r>
            <a:r>
              <a:rPr b="1" i="1"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Plug and Play</a:t>
            </a: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”. Estas consisten de microcontroladores en</a:t>
            </a:r>
            <a:endParaRPr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una placa de circuitos, con todos los componentes necesarios para ser utilizadas de manera inmediata con un computador.</a:t>
            </a:r>
            <a:endParaRPr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17" name="Google Shape;217;p33"/>
          <p:cNvCxnSpPr>
            <a:stCxn id="215" idx="2"/>
            <a:endCxn id="216" idx="0"/>
          </p:cNvCxnSpPr>
          <p:nvPr/>
        </p:nvCxnSpPr>
        <p:spPr>
          <a:xfrm rot="5400000">
            <a:off x="3319675" y="893600"/>
            <a:ext cx="727800" cy="21807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" name="Google Shape;218;p33"/>
          <p:cNvSpPr/>
          <p:nvPr/>
        </p:nvSpPr>
        <p:spPr>
          <a:xfrm>
            <a:off x="5377500" y="2347800"/>
            <a:ext cx="3308700" cy="20661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Software</a:t>
            </a: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Entornos de desarrollo, donde se puede escribir programas, administrar librerías y subir instrucciones al hardware compatible. Arduino</a:t>
            </a:r>
            <a:endParaRPr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desarrolló su propio lenguaje de programación basado en </a:t>
            </a:r>
            <a:r>
              <a:rPr b="1"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C++</a:t>
            </a: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b="1"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Processing</a:t>
            </a:r>
            <a:endParaRPr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19" name="Google Shape;219;p33"/>
          <p:cNvCxnSpPr>
            <a:stCxn id="215" idx="2"/>
            <a:endCxn id="218" idx="0"/>
          </p:cNvCxnSpPr>
          <p:nvPr/>
        </p:nvCxnSpPr>
        <p:spPr>
          <a:xfrm flipH="1" rot="-5400000">
            <a:off x="5538925" y="855050"/>
            <a:ext cx="727800" cy="2257800"/>
          </a:xfrm>
          <a:prstGeom prst="bentConnector3">
            <a:avLst>
              <a:gd fmla="val 49997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20" name="Google Shape;220;p33"/>
          <p:cNvPicPr preferRelativeResize="0"/>
          <p:nvPr/>
        </p:nvPicPr>
        <p:blipFill rotWithShape="1">
          <a:blip r:embed="rId3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1" name="Google Shape;221;p33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222" name="Google Shape;222;p33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" name="Google Shape;223;p33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4" name="Google Shape;224;p33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4"/>
          <p:cNvSpPr txBox="1"/>
          <p:nvPr/>
        </p:nvSpPr>
        <p:spPr>
          <a:xfrm>
            <a:off x="3540300" y="106550"/>
            <a:ext cx="2063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Hardware</a:t>
            </a:r>
            <a:endParaRPr b="1" sz="28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0" name="Google Shape;230;p34"/>
          <p:cNvSpPr/>
          <p:nvPr/>
        </p:nvSpPr>
        <p:spPr>
          <a:xfrm>
            <a:off x="1179325" y="679250"/>
            <a:ext cx="7189200" cy="9408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Arduino ofrece distintos modelos dependiendo del microprocesador utilizado, y el uso al que iría orientado el circuito (hobby, profesional, inteligencia artificial, ropa, etc...).</a:t>
            </a:r>
            <a:endParaRPr sz="1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1" name="Google Shape;23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4200" y="1620100"/>
            <a:ext cx="1669437" cy="138845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4"/>
          <p:cNvSpPr txBox="1"/>
          <p:nvPr/>
        </p:nvSpPr>
        <p:spPr>
          <a:xfrm>
            <a:off x="1312133" y="2853912"/>
            <a:ext cx="13335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Arduino Uno</a:t>
            </a:r>
            <a:endParaRPr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3" name="Google Shape;23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3059" y="1738693"/>
            <a:ext cx="1482383" cy="1115217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4"/>
          <p:cNvSpPr txBox="1"/>
          <p:nvPr/>
        </p:nvSpPr>
        <p:spPr>
          <a:xfrm>
            <a:off x="3843049" y="2853900"/>
            <a:ext cx="14823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Arduino Nano</a:t>
            </a:r>
            <a:endParaRPr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22067" y="1738693"/>
            <a:ext cx="1711334" cy="1115219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4"/>
          <p:cNvSpPr txBox="1"/>
          <p:nvPr/>
        </p:nvSpPr>
        <p:spPr>
          <a:xfrm>
            <a:off x="6734978" y="2853912"/>
            <a:ext cx="13683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Arduino Micro y pro Micro</a:t>
            </a:r>
            <a:endParaRPr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7" name="Google Shape;237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33774" y="3228113"/>
            <a:ext cx="2021425" cy="138846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4"/>
          <p:cNvSpPr txBox="1"/>
          <p:nvPr/>
        </p:nvSpPr>
        <p:spPr>
          <a:xfrm>
            <a:off x="4444925" y="3662780"/>
            <a:ext cx="15420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Arduino Lillypad</a:t>
            </a:r>
            <a:endParaRPr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9" name="Google Shape;239;p34"/>
          <p:cNvPicPr preferRelativeResize="0"/>
          <p:nvPr/>
        </p:nvPicPr>
        <p:blipFill rotWithShape="1">
          <a:blip r:embed="rId7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" name="Google Shape;240;p34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241" name="Google Shape;241;p34"/>
            <p:cNvPicPr preferRelativeResize="0"/>
            <p:nvPr/>
          </p:nvPicPr>
          <p:blipFill rotWithShape="1">
            <a:blip r:embed="rId8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34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3" name="Google Shape;243;p34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5"/>
          <p:cNvSpPr txBox="1"/>
          <p:nvPr/>
        </p:nvSpPr>
        <p:spPr>
          <a:xfrm>
            <a:off x="3540300" y="106550"/>
            <a:ext cx="2063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Software</a:t>
            </a:r>
            <a:endParaRPr b="1" sz="28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9" name="Google Shape;249;p35"/>
          <p:cNvSpPr/>
          <p:nvPr/>
        </p:nvSpPr>
        <p:spPr>
          <a:xfrm>
            <a:off x="1179325" y="726563"/>
            <a:ext cx="7189200" cy="5127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Existen 2 versiones:</a:t>
            </a:r>
            <a:endParaRPr sz="1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0" name="Google Shape;25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025" y="1286575"/>
            <a:ext cx="3395027" cy="2910651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5"/>
          <p:cNvSpPr txBox="1"/>
          <p:nvPr/>
        </p:nvSpPr>
        <p:spPr>
          <a:xfrm>
            <a:off x="1294438" y="4244525"/>
            <a:ext cx="17322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Arduino 1.x.x</a:t>
            </a:r>
            <a:endParaRPr sz="18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2" name="Google Shape;252;p35"/>
          <p:cNvPicPr preferRelativeResize="0"/>
          <p:nvPr/>
        </p:nvPicPr>
        <p:blipFill rotWithShape="1">
          <a:blip r:embed="rId5">
            <a:alphaModFix/>
          </a:blip>
          <a:srcRect b="8651" l="14237" r="14508" t="11028"/>
          <a:stretch/>
        </p:blipFill>
        <p:spPr>
          <a:xfrm>
            <a:off x="4306800" y="1335499"/>
            <a:ext cx="4590701" cy="2910651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5"/>
          <p:cNvSpPr txBox="1"/>
          <p:nvPr/>
        </p:nvSpPr>
        <p:spPr>
          <a:xfrm>
            <a:off x="6079713" y="4266175"/>
            <a:ext cx="17322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Arduino 2.x.x</a:t>
            </a:r>
            <a:endParaRPr sz="18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54" name="Google Shape;254;p35"/>
          <p:cNvCxnSpPr>
            <a:endCxn id="255" idx="0"/>
          </p:cNvCxnSpPr>
          <p:nvPr/>
        </p:nvCxnSpPr>
        <p:spPr>
          <a:xfrm>
            <a:off x="3289650" y="3216975"/>
            <a:ext cx="1070400" cy="600600"/>
          </a:xfrm>
          <a:prstGeom prst="straightConnector1">
            <a:avLst/>
          </a:prstGeom>
          <a:noFill/>
          <a:ln cap="flat" cmpd="sng" w="38100">
            <a:solidFill>
              <a:srgbClr val="FFC00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5" name="Google Shape;255;p35"/>
          <p:cNvSpPr/>
          <p:nvPr/>
        </p:nvSpPr>
        <p:spPr>
          <a:xfrm>
            <a:off x="3540300" y="3817575"/>
            <a:ext cx="1639500" cy="8259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VAMOS A USAR ESTE!!</a:t>
            </a:r>
            <a:endParaRPr b="1" sz="1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6" name="Google Shape;256;p35"/>
          <p:cNvPicPr preferRelativeResize="0"/>
          <p:nvPr/>
        </p:nvPicPr>
        <p:blipFill rotWithShape="1">
          <a:blip r:embed="rId6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7" name="Google Shape;257;p35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258" name="Google Shape;258;p35"/>
            <p:cNvPicPr preferRelativeResize="0"/>
            <p:nvPr/>
          </p:nvPicPr>
          <p:blipFill rotWithShape="1">
            <a:blip r:embed="rId7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" name="Google Shape;259;p35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0" name="Google Shape;260;p35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6"/>
          <p:cNvSpPr txBox="1"/>
          <p:nvPr/>
        </p:nvSpPr>
        <p:spPr>
          <a:xfrm>
            <a:off x="2791500" y="0"/>
            <a:ext cx="356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Arduino Pro Micro</a:t>
            </a:r>
            <a:endParaRPr b="1" sz="28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6" name="Google Shape;266;p36"/>
          <p:cNvSpPr txBox="1"/>
          <p:nvPr/>
        </p:nvSpPr>
        <p:spPr>
          <a:xfrm>
            <a:off x="24450" y="461050"/>
            <a:ext cx="909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Ahora veremos a detalle la placa con la que vamos a trabajar este semestre:</a:t>
            </a:r>
            <a:endParaRPr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7" name="Google Shape;26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8595" y="953576"/>
            <a:ext cx="4153125" cy="3363661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6"/>
          <p:cNvSpPr/>
          <p:nvPr/>
        </p:nvSpPr>
        <p:spPr>
          <a:xfrm>
            <a:off x="299750" y="953576"/>
            <a:ext cx="2338500" cy="1315500"/>
          </a:xfrm>
          <a:prstGeom prst="roundRect">
            <a:avLst>
              <a:gd fmla="val 16667" name="adj"/>
            </a:avLst>
          </a:prstGeom>
          <a:solidFill>
            <a:srgbClr val="FF58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PWM:</a:t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Pines capaces de emitir señales de tipo PWM o ”modulación por ancho de pulsos”, que permite emular una emisión de señales análogas.</a:t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9" name="Google Shape;269;p36"/>
          <p:cNvSpPr/>
          <p:nvPr/>
        </p:nvSpPr>
        <p:spPr>
          <a:xfrm>
            <a:off x="6623349" y="1959615"/>
            <a:ext cx="2220900" cy="1012800"/>
          </a:xfrm>
          <a:prstGeom prst="roundRect">
            <a:avLst>
              <a:gd fmla="val 16667" name="adj"/>
            </a:avLst>
          </a:prstGeom>
          <a:solidFill>
            <a:srgbClr val="58FF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Analog</a:t>
            </a:r>
            <a:r>
              <a:rPr lang="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Pines con la capacidad de leer señales análogas y transformarlas a un valor digital</a:t>
            </a:r>
            <a:r>
              <a:rPr lang="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0" name="Google Shape;270;p36"/>
          <p:cNvSpPr/>
          <p:nvPr/>
        </p:nvSpPr>
        <p:spPr>
          <a:xfrm>
            <a:off x="1206025" y="4302125"/>
            <a:ext cx="7189200" cy="3039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Aquí tenemos el </a:t>
            </a:r>
            <a:r>
              <a:rPr b="1" i="1" lang="e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pinout</a:t>
            </a:r>
            <a:r>
              <a:rPr i="1" lang="e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la placa, es decir, las capacidades de cada pin de la placa</a:t>
            </a:r>
            <a:endParaRPr i="1" sz="1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1" name="Google Shape;271;p36"/>
          <p:cNvSpPr/>
          <p:nvPr/>
        </p:nvSpPr>
        <p:spPr>
          <a:xfrm>
            <a:off x="299750" y="3314549"/>
            <a:ext cx="2118900" cy="929700"/>
          </a:xfrm>
          <a:prstGeom prst="roundRect">
            <a:avLst>
              <a:gd fmla="val 16667" name="adj"/>
            </a:avLst>
          </a:prstGeom>
          <a:solidFill>
            <a:srgbClr val="C25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SPI</a:t>
            </a:r>
            <a:r>
              <a:rPr lang="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Pines con la capacidad de comunicarse con otros dispositivos mediante el protocolo SP</a:t>
            </a:r>
            <a:r>
              <a:rPr lang="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2" name="Google Shape;272;p36"/>
          <p:cNvSpPr/>
          <p:nvPr/>
        </p:nvSpPr>
        <p:spPr>
          <a:xfrm>
            <a:off x="6571709" y="873663"/>
            <a:ext cx="2118900" cy="929700"/>
          </a:xfrm>
          <a:prstGeom prst="roundRect">
            <a:avLst>
              <a:gd fmla="val 16667" name="adj"/>
            </a:avLst>
          </a:prstGeom>
          <a:solidFill>
            <a:srgbClr val="FFBE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Serial: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Pines que permiten comunicarse con otros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dispositivos mediante el protocolo serial.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3" name="Google Shape;273;p36"/>
          <p:cNvSpPr/>
          <p:nvPr/>
        </p:nvSpPr>
        <p:spPr>
          <a:xfrm>
            <a:off x="365860" y="2326985"/>
            <a:ext cx="2118900" cy="929700"/>
          </a:xfrm>
          <a:prstGeom prst="roundRect">
            <a:avLst>
              <a:gd fmla="val 16667" name="adj"/>
            </a:avLst>
          </a:prstGeom>
          <a:solidFill>
            <a:srgbClr val="35E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Arduino</a:t>
            </a:r>
            <a:r>
              <a:rPr lang="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Corresponden a los pines capaces de recibir y emitir señales digitales</a:t>
            </a:r>
            <a:r>
              <a:rPr lang="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4" name="Google Shape;274;p36"/>
          <p:cNvSpPr/>
          <p:nvPr/>
        </p:nvSpPr>
        <p:spPr>
          <a:xfrm>
            <a:off x="6674279" y="3128741"/>
            <a:ext cx="2118900" cy="9297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Power</a:t>
            </a:r>
            <a:r>
              <a:rPr lang="e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Corresponden a los pines relacionados con la energía eléctrica</a:t>
            </a:r>
            <a:r>
              <a:rPr lang="e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5" name="Google Shape;275;p36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6" name="Google Shape;276;p36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277" name="Google Shape;277;p36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8" name="Google Shape;278;p36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9" name="Google Shape;279;p36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7"/>
          <p:cNvSpPr txBox="1"/>
          <p:nvPr/>
        </p:nvSpPr>
        <p:spPr>
          <a:xfrm>
            <a:off x="3812250" y="0"/>
            <a:ext cx="151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Energía</a:t>
            </a:r>
            <a:endParaRPr b="1" sz="26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5" name="Google Shape;285;p37"/>
          <p:cNvSpPr txBox="1"/>
          <p:nvPr/>
        </p:nvSpPr>
        <p:spPr>
          <a:xfrm>
            <a:off x="893500" y="566325"/>
            <a:ext cx="748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Hay 4 tipos de pines etiquetados como </a:t>
            </a:r>
            <a:r>
              <a:rPr b="1" i="1"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power</a:t>
            </a:r>
            <a:r>
              <a:rPr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, a continuación veremos </a:t>
            </a:r>
            <a:r>
              <a:rPr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cómo</a:t>
            </a:r>
            <a:r>
              <a:rPr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 utilizarlos:</a:t>
            </a:r>
            <a:endParaRPr sz="18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6" name="Google Shape;286;p37"/>
          <p:cNvSpPr/>
          <p:nvPr/>
        </p:nvSpPr>
        <p:spPr>
          <a:xfrm>
            <a:off x="1054313" y="1376250"/>
            <a:ext cx="2869800" cy="14094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RAW</a:t>
            </a: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Pin mediante el cual se puede alimentar al arduino directamente con un voltaje de entre 5 y 12 [V]</a:t>
            </a: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7" name="Google Shape;287;p37"/>
          <p:cNvSpPr/>
          <p:nvPr/>
        </p:nvSpPr>
        <p:spPr>
          <a:xfrm>
            <a:off x="5219882" y="1376250"/>
            <a:ext cx="2869800" cy="14094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VCC</a:t>
            </a: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Corresponde al terminal positivo de la fuente de energía que la placa de desarrollo es capaz de proveer</a:t>
            </a: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8" name="Google Shape;288;p37"/>
          <p:cNvSpPr/>
          <p:nvPr/>
        </p:nvSpPr>
        <p:spPr>
          <a:xfrm>
            <a:off x="1054313" y="3020490"/>
            <a:ext cx="2869800" cy="14094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GND</a:t>
            </a: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Corresponde al terminal negativo de la fuente de energía o tierra del circuito</a:t>
            </a: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9" name="Google Shape;289;p37"/>
          <p:cNvSpPr/>
          <p:nvPr/>
        </p:nvSpPr>
        <p:spPr>
          <a:xfrm>
            <a:off x="5219882" y="3020490"/>
            <a:ext cx="2869800" cy="14094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RST:</a:t>
            </a:r>
            <a:endParaRPr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Pin de reinicio del microcontrolador, cuando este pin es conectado a tierra (</a:t>
            </a:r>
            <a:r>
              <a:rPr b="1"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GND</a:t>
            </a: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), el procesador se reiniciará</a:t>
            </a: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90" name="Google Shape;290;p37"/>
          <p:cNvPicPr preferRelativeResize="0"/>
          <p:nvPr/>
        </p:nvPicPr>
        <p:blipFill rotWithShape="1">
          <a:blip r:embed="rId3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1" name="Google Shape;291;p37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292" name="Google Shape;292;p37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" name="Google Shape;293;p37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4" name="Google Shape;294;p37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8"/>
          <p:cNvSpPr txBox="1"/>
          <p:nvPr/>
        </p:nvSpPr>
        <p:spPr>
          <a:xfrm>
            <a:off x="2977800" y="0"/>
            <a:ext cx="318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Señales digitales</a:t>
            </a:r>
            <a:endParaRPr b="1" sz="25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0" name="Google Shape;300;p38"/>
          <p:cNvSpPr/>
          <p:nvPr/>
        </p:nvSpPr>
        <p:spPr>
          <a:xfrm>
            <a:off x="1776300" y="572700"/>
            <a:ext cx="5591400" cy="6120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Las señales digitales son aquellas señales que solo</a:t>
            </a:r>
            <a:endParaRPr sz="1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tienen dos estados encendido o apagado:</a:t>
            </a:r>
            <a:endParaRPr sz="1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301" name="Google Shape;301;p38"/>
          <p:cNvGraphicFramePr/>
          <p:nvPr/>
        </p:nvGraphicFramePr>
        <p:xfrm>
          <a:off x="3082363" y="1328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{76B40560-12BE-4A5D-B2B4-EEAD5AE1656F}</a:tableStyleId>
              </a:tblPr>
              <a:tblGrid>
                <a:gridCol w="1454775"/>
                <a:gridCol w="1524500"/>
              </a:tblGrid>
              <a:tr h="128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Encendido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9B2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Apagado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9B2A9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HIGH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LOW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OFF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True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False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3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</a:tr>
            </a:tbl>
          </a:graphicData>
        </a:graphic>
      </p:graphicFrame>
      <p:sp>
        <p:nvSpPr>
          <p:cNvPr id="302" name="Google Shape;302;p38"/>
          <p:cNvSpPr txBox="1"/>
          <p:nvPr/>
        </p:nvSpPr>
        <p:spPr>
          <a:xfrm>
            <a:off x="258950" y="1871025"/>
            <a:ext cx="525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3" name="Google Shape;303;p38"/>
          <p:cNvSpPr/>
          <p:nvPr/>
        </p:nvSpPr>
        <p:spPr>
          <a:xfrm>
            <a:off x="1697650" y="3569550"/>
            <a:ext cx="5591400" cy="10146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arduino pro micro es capaz de emitir y leer señales</a:t>
            </a:r>
            <a:endParaRPr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digitales a través de sus 18 pines digitales, etiquetados</a:t>
            </a:r>
            <a:endParaRPr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cómo </a:t>
            </a:r>
            <a:r>
              <a:rPr lang="es">
                <a:solidFill>
                  <a:srgbClr val="35E4FF"/>
                </a:solidFill>
                <a:latin typeface="Poppins"/>
                <a:ea typeface="Poppins"/>
                <a:cs typeface="Poppins"/>
                <a:sym typeface="Poppins"/>
              </a:rPr>
              <a:t>Arduino</a:t>
            </a: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en el pinout. </a:t>
            </a:r>
            <a:endParaRPr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4" name="Google Shape;304;p38"/>
          <p:cNvPicPr preferRelativeResize="0"/>
          <p:nvPr/>
        </p:nvPicPr>
        <p:blipFill rotWithShape="1">
          <a:blip r:embed="rId3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" name="Google Shape;305;p38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306" name="Google Shape;306;p38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8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8" name="Google Shape;308;p38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9"/>
          <p:cNvSpPr txBox="1"/>
          <p:nvPr/>
        </p:nvSpPr>
        <p:spPr>
          <a:xfrm>
            <a:off x="2011100" y="228600"/>
            <a:ext cx="5165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7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Lectura de s</a:t>
            </a:r>
            <a:r>
              <a:rPr b="1" lang="es" sz="27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eñales digitales</a:t>
            </a:r>
            <a:endParaRPr b="1" sz="27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4" name="Google Shape;314;p39"/>
          <p:cNvSpPr txBox="1"/>
          <p:nvPr/>
        </p:nvSpPr>
        <p:spPr>
          <a:xfrm>
            <a:off x="202550" y="989300"/>
            <a:ext cx="698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Primero es necesario configurar el pin que queremos usar:</a:t>
            </a:r>
            <a:endParaRPr sz="18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5" name="Google Shape;315;p39"/>
          <p:cNvSpPr txBox="1"/>
          <p:nvPr/>
        </p:nvSpPr>
        <p:spPr>
          <a:xfrm>
            <a:off x="3004000" y="1937700"/>
            <a:ext cx="3611400" cy="14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AFBF40"/>
                </a:solidFill>
                <a:latin typeface="Consolas"/>
                <a:ea typeface="Consolas"/>
                <a:cs typeface="Consolas"/>
                <a:sym typeface="Consolas"/>
              </a:rPr>
              <a:t>#define</a:t>
            </a:r>
            <a:r>
              <a:rPr b="1" lang="es" sz="17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pin 10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8A6A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8A6A6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b="1" lang="es" sz="1800">
                <a:solidFill>
                  <a:srgbClr val="AFBF40"/>
                </a:solidFill>
                <a:latin typeface="Consolas"/>
                <a:ea typeface="Consolas"/>
                <a:cs typeface="Consolas"/>
                <a:sym typeface="Consolas"/>
              </a:rPr>
              <a:t>setup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pinMode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(pin,</a:t>
            </a:r>
            <a:r>
              <a:rPr b="1" lang="es" sz="1800">
                <a:solidFill>
                  <a:srgbClr val="49AAE4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cxnSp>
        <p:nvCxnSpPr>
          <p:cNvPr id="316" name="Google Shape;316;p39"/>
          <p:cNvCxnSpPr>
            <a:endCxn id="317" idx="3"/>
          </p:cNvCxnSpPr>
          <p:nvPr/>
        </p:nvCxnSpPr>
        <p:spPr>
          <a:xfrm flipH="1">
            <a:off x="2244100" y="2117600"/>
            <a:ext cx="846600" cy="4119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7" name="Google Shape;317;p39"/>
          <p:cNvSpPr/>
          <p:nvPr/>
        </p:nvSpPr>
        <p:spPr>
          <a:xfrm>
            <a:off x="604600" y="1985600"/>
            <a:ext cx="1639500" cy="10878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mejor asociar un pin con un nombre descriptivo con el #define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18" name="Google Shape;318;p39"/>
          <p:cNvCxnSpPr/>
          <p:nvPr/>
        </p:nvCxnSpPr>
        <p:spPr>
          <a:xfrm flipH="1">
            <a:off x="3358100" y="3056675"/>
            <a:ext cx="671700" cy="3249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9" name="Google Shape;319;p39"/>
          <p:cNvSpPr/>
          <p:nvPr/>
        </p:nvSpPr>
        <p:spPr>
          <a:xfrm>
            <a:off x="1738475" y="3345650"/>
            <a:ext cx="1639500" cy="8091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Comando para definir el modo de un pin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20" name="Google Shape;320;p39"/>
          <p:cNvCxnSpPr>
            <a:endCxn id="321" idx="0"/>
          </p:cNvCxnSpPr>
          <p:nvPr/>
        </p:nvCxnSpPr>
        <p:spPr>
          <a:xfrm flipH="1">
            <a:off x="4535025" y="3063775"/>
            <a:ext cx="148800" cy="4704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1" name="Google Shape;321;p39"/>
          <p:cNvSpPr/>
          <p:nvPr/>
        </p:nvSpPr>
        <p:spPr>
          <a:xfrm>
            <a:off x="3632475" y="3534175"/>
            <a:ext cx="1805100" cy="9963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Pin que se quiere configurar, puede ser una variable, definición o directamente el número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22" name="Google Shape;322;p39"/>
          <p:cNvCxnSpPr/>
          <p:nvPr/>
        </p:nvCxnSpPr>
        <p:spPr>
          <a:xfrm>
            <a:off x="5647975" y="3085575"/>
            <a:ext cx="780300" cy="4767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3" name="Google Shape;323;p39"/>
          <p:cNvSpPr/>
          <p:nvPr/>
        </p:nvSpPr>
        <p:spPr>
          <a:xfrm>
            <a:off x="6363875" y="3562350"/>
            <a:ext cx="1805100" cy="9963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Modo en el que se quiere configurar el pin.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INPUT = leer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4" name="Google Shape;324;p39"/>
          <p:cNvPicPr preferRelativeResize="0"/>
          <p:nvPr/>
        </p:nvPicPr>
        <p:blipFill rotWithShape="1">
          <a:blip r:embed="rId3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5" name="Google Shape;325;p39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326" name="Google Shape;326;p39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7" name="Google Shape;327;p39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8" name="Google Shape;328;p39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0"/>
          <p:cNvSpPr txBox="1"/>
          <p:nvPr/>
        </p:nvSpPr>
        <p:spPr>
          <a:xfrm>
            <a:off x="2011100" y="228600"/>
            <a:ext cx="5165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Lectura de señales digitales</a:t>
            </a:r>
            <a:endParaRPr b="1" sz="26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4" name="Google Shape;334;p40"/>
          <p:cNvSpPr txBox="1"/>
          <p:nvPr/>
        </p:nvSpPr>
        <p:spPr>
          <a:xfrm>
            <a:off x="202550" y="989300"/>
            <a:ext cx="8574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Ahora para obtener el valor que está leyendo nuestro pin, se utiliza el siguiente comando</a:t>
            </a:r>
            <a:r>
              <a:rPr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sz="18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5" name="Google Shape;335;p40"/>
          <p:cNvSpPr txBox="1"/>
          <p:nvPr/>
        </p:nvSpPr>
        <p:spPr>
          <a:xfrm>
            <a:off x="2440525" y="1916200"/>
            <a:ext cx="45018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49AAE4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s" sz="18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estadoPin = 0;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8A6A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8A6A6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b="1" lang="es" sz="1800">
                <a:solidFill>
                  <a:srgbClr val="AFBF40"/>
                </a:solidFill>
                <a:latin typeface="Consolas"/>
                <a:ea typeface="Consolas"/>
                <a:cs typeface="Consolas"/>
                <a:sym typeface="Consolas"/>
              </a:rPr>
              <a:t>loop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estadoPin = </a:t>
            </a:r>
            <a:r>
              <a:rPr b="1" lang="es" sz="180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digitalRead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(pin); 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cxnSp>
        <p:nvCxnSpPr>
          <p:cNvPr id="336" name="Google Shape;336;p40"/>
          <p:cNvCxnSpPr>
            <a:endCxn id="337" idx="3"/>
          </p:cNvCxnSpPr>
          <p:nvPr/>
        </p:nvCxnSpPr>
        <p:spPr>
          <a:xfrm flipH="1">
            <a:off x="1760100" y="2102800"/>
            <a:ext cx="753900" cy="2640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7" name="Google Shape;337;p40"/>
          <p:cNvSpPr/>
          <p:nvPr/>
        </p:nvSpPr>
        <p:spPr>
          <a:xfrm>
            <a:off x="120600" y="1916200"/>
            <a:ext cx="1639500" cy="9012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Variable para guardar la lectura, debe ser de tipo </a:t>
            </a:r>
            <a:r>
              <a:rPr b="1"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</a:t>
            </a:r>
            <a:endParaRPr b="1"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38" name="Google Shape;338;p40"/>
          <p:cNvCxnSpPr/>
          <p:nvPr/>
        </p:nvCxnSpPr>
        <p:spPr>
          <a:xfrm>
            <a:off x="5360225" y="3099100"/>
            <a:ext cx="1036500" cy="6570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9" name="Google Shape;339;p40"/>
          <p:cNvSpPr/>
          <p:nvPr/>
        </p:nvSpPr>
        <p:spPr>
          <a:xfrm>
            <a:off x="6396725" y="3534100"/>
            <a:ext cx="1639500" cy="10878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Comando para hacer la lectura digital, se le tiene que especificar el pin que se quiere leer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0" name="Google Shape;340;p40"/>
          <p:cNvPicPr preferRelativeResize="0"/>
          <p:nvPr/>
        </p:nvPicPr>
        <p:blipFill rotWithShape="1">
          <a:blip r:embed="rId3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1" name="Google Shape;341;p40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342" name="Google Shape;342;p40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3" name="Google Shape;343;p40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4" name="Google Shape;344;p40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1"/>
          <p:cNvSpPr txBox="1"/>
          <p:nvPr/>
        </p:nvSpPr>
        <p:spPr>
          <a:xfrm>
            <a:off x="2011100" y="228600"/>
            <a:ext cx="5165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7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Lectura de señales digitales</a:t>
            </a:r>
            <a:endParaRPr b="1" sz="27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50" name="Google Shape;35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1325" y="1876963"/>
            <a:ext cx="2905125" cy="280987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41"/>
          <p:cNvSpPr txBox="1"/>
          <p:nvPr/>
        </p:nvSpPr>
        <p:spPr>
          <a:xfrm>
            <a:off x="219900" y="801300"/>
            <a:ext cx="8755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El valor de voltaje que determina cuando la señal está encendida, depende del microprocesador utilizado y su voltaje de operación, en el caso del utilizado por el arduino pro micro es aproximadamente 1.5 [V]</a:t>
            </a:r>
            <a:endParaRPr sz="18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52" name="Google Shape;352;p41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3" name="Google Shape;353;p41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354" name="Google Shape;354;p41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5" name="Google Shape;355;p41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6" name="Google Shape;356;p41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2"/>
          <p:cNvSpPr txBox="1"/>
          <p:nvPr/>
        </p:nvSpPr>
        <p:spPr>
          <a:xfrm>
            <a:off x="480000" y="865692"/>
            <a:ext cx="8184000" cy="24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200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Ejercicio</a:t>
            </a:r>
            <a:endParaRPr b="1" sz="7200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2" name="Google Shape;362;p42"/>
          <p:cNvPicPr preferRelativeResize="0"/>
          <p:nvPr/>
        </p:nvPicPr>
        <p:blipFill rotWithShape="1">
          <a:blip r:embed="rId3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3" name="Google Shape;363;p42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364" name="Google Shape;364;p42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5" name="Google Shape;365;p42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6" name="Google Shape;366;p42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1" name="Google Shape;371;p43"/>
          <p:cNvGrpSpPr/>
          <p:nvPr/>
        </p:nvGrpSpPr>
        <p:grpSpPr>
          <a:xfrm>
            <a:off x="-10633" y="-29340"/>
            <a:ext cx="2901600" cy="5177731"/>
            <a:chOff x="0" y="-29340"/>
            <a:chExt cx="2901600" cy="5177731"/>
          </a:xfrm>
        </p:grpSpPr>
        <p:pic>
          <p:nvPicPr>
            <p:cNvPr id="372" name="Google Shape;372;p43"/>
            <p:cNvPicPr preferRelativeResize="0"/>
            <p:nvPr/>
          </p:nvPicPr>
          <p:blipFill rotWithShape="1">
            <a:blip r:embed="rId3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3" name="Google Shape;373;p43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4" name="Google Shape;374;p43"/>
          <p:cNvSpPr txBox="1"/>
          <p:nvPr/>
        </p:nvSpPr>
        <p:spPr>
          <a:xfrm rot="-653">
            <a:off x="650725" y="2160147"/>
            <a:ext cx="15789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EJERCICIO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5" name="Google Shape;375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128" y="3335674"/>
            <a:ext cx="1365667" cy="1534231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43"/>
          <p:cNvSpPr txBox="1"/>
          <p:nvPr/>
        </p:nvSpPr>
        <p:spPr>
          <a:xfrm>
            <a:off x="3072000" y="120375"/>
            <a:ext cx="5844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Vamos a conectar un interruptor directamente al pin, para controlar diversos dispositivos. Para leer la señal proveniente desde este interruptor, podemos conectarlo de dos maneras:</a:t>
            </a:r>
            <a:endParaRPr>
              <a:solidFill>
                <a:srgbClr val="0233AE"/>
              </a:solidFill>
            </a:endParaRPr>
          </a:p>
        </p:txBody>
      </p:sp>
      <p:sp>
        <p:nvSpPr>
          <p:cNvPr id="378" name="Google Shape;378;p43"/>
          <p:cNvSpPr txBox="1"/>
          <p:nvPr/>
        </p:nvSpPr>
        <p:spPr>
          <a:xfrm>
            <a:off x="5604934" y="951675"/>
            <a:ext cx="1150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PullUp</a:t>
            </a:r>
            <a:endParaRPr b="1" sz="28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9" name="Google Shape;379;p43"/>
          <p:cNvSpPr txBox="1"/>
          <p:nvPr/>
        </p:nvSpPr>
        <p:spPr>
          <a:xfrm>
            <a:off x="4752750" y="1315700"/>
            <a:ext cx="29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Conectamos VCC al pin que utilizaremos mediante una resistencia de 10K. Conectamos VCC a GND mediante el interruptor.</a:t>
            </a:r>
            <a:endParaRPr sz="12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80" name="Google Shape;380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24050" y="2398400"/>
            <a:ext cx="3375898" cy="19154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1" name="Google Shape;381;p43"/>
          <p:cNvGraphicFramePr/>
          <p:nvPr/>
        </p:nvGraphicFramePr>
        <p:xfrm>
          <a:off x="6514513" y="36890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{76B40560-12BE-4A5D-B2B4-EEAD5AE1656F}</a:tableStyleId>
              </a:tblPr>
              <a:tblGrid>
                <a:gridCol w="1204900"/>
                <a:gridCol w="1262650"/>
              </a:tblGrid>
              <a:tr h="128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Interruptor</a:t>
                      </a:r>
                      <a:endParaRPr b="1"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9B2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digitalRead()</a:t>
                      </a:r>
                      <a:endParaRPr b="1" i="1"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9B2A9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OFF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</a:tr>
            </a:tbl>
          </a:graphicData>
        </a:graphic>
      </p:graphicFrame>
      <p:sp>
        <p:nvSpPr>
          <p:cNvPr id="382" name="Google Shape;382;p43"/>
          <p:cNvSpPr txBox="1"/>
          <p:nvPr/>
        </p:nvSpPr>
        <p:spPr>
          <a:xfrm>
            <a:off x="6423799" y="2643450"/>
            <a:ext cx="2649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Cuando conectamos el interruptor de esta manera, obtendremos los siguientes resultados de digitalRead():</a:t>
            </a:r>
            <a:endParaRPr sz="12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" name="Google Shape;387;p44"/>
          <p:cNvGrpSpPr/>
          <p:nvPr/>
        </p:nvGrpSpPr>
        <p:grpSpPr>
          <a:xfrm>
            <a:off x="-10633" y="-29340"/>
            <a:ext cx="2901600" cy="5177731"/>
            <a:chOff x="0" y="-29340"/>
            <a:chExt cx="2901600" cy="5177731"/>
          </a:xfrm>
        </p:grpSpPr>
        <p:pic>
          <p:nvPicPr>
            <p:cNvPr id="388" name="Google Shape;388;p44"/>
            <p:cNvPicPr preferRelativeResize="0"/>
            <p:nvPr/>
          </p:nvPicPr>
          <p:blipFill rotWithShape="1">
            <a:blip r:embed="rId3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44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0" name="Google Shape;390;p44"/>
          <p:cNvSpPr txBox="1"/>
          <p:nvPr/>
        </p:nvSpPr>
        <p:spPr>
          <a:xfrm rot="-653">
            <a:off x="650725" y="2160147"/>
            <a:ext cx="15789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EJERCICIO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1" name="Google Shape;391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128" y="3335674"/>
            <a:ext cx="1365667" cy="1534231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4"/>
          <p:cNvSpPr txBox="1"/>
          <p:nvPr/>
        </p:nvSpPr>
        <p:spPr>
          <a:xfrm>
            <a:off x="3072000" y="120375"/>
            <a:ext cx="5844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Vamos a conectar un interruptor directamente al pin, para controlar diversos dispositivos. Para leer la señal proveniente desde este interruptor, podemos conectarlo de dos maneras:</a:t>
            </a:r>
            <a:endParaRPr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4" name="Google Shape;394;p44"/>
          <p:cNvSpPr txBox="1"/>
          <p:nvPr/>
        </p:nvSpPr>
        <p:spPr>
          <a:xfrm>
            <a:off x="4969200" y="1032725"/>
            <a:ext cx="204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PullDown</a:t>
            </a:r>
            <a:endParaRPr b="1" sz="25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5" name="Google Shape;395;p44"/>
          <p:cNvSpPr txBox="1"/>
          <p:nvPr/>
        </p:nvSpPr>
        <p:spPr>
          <a:xfrm>
            <a:off x="3794250" y="1486050"/>
            <a:ext cx="4399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Conectamos VCC a GND mediante una resistencia de 10K. Conectamos VCC al pin que utilizaremos mediante el interruptor.</a:t>
            </a:r>
            <a:endParaRPr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96" name="Google Shape;396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71563" y="2434200"/>
            <a:ext cx="3000883" cy="17026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97" name="Google Shape;397;p44"/>
          <p:cNvGraphicFramePr/>
          <p:nvPr/>
        </p:nvGraphicFramePr>
        <p:xfrm>
          <a:off x="6258463" y="38596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{76B40560-12BE-4A5D-B2B4-EEAD5AE1656F}</a:tableStyleId>
              </a:tblPr>
              <a:tblGrid>
                <a:gridCol w="1293425"/>
                <a:gridCol w="1355425"/>
              </a:tblGrid>
              <a:tr h="277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Interruptor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9B2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digitalRead()</a:t>
                      </a:r>
                      <a:endParaRPr b="1" i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9B2A9"/>
                    </a:solidFill>
                  </a:tcPr>
                </a:tc>
              </a:tr>
              <a:tr h="277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OFF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</a:tr>
              <a:tr h="277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</a:tr>
            </a:tbl>
          </a:graphicData>
        </a:graphic>
      </p:graphicFrame>
      <p:sp>
        <p:nvSpPr>
          <p:cNvPr id="398" name="Google Shape;398;p44"/>
          <p:cNvSpPr txBox="1"/>
          <p:nvPr/>
        </p:nvSpPr>
        <p:spPr>
          <a:xfrm>
            <a:off x="6258475" y="2762175"/>
            <a:ext cx="2648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Cuando conectamos el interruptor de esta manera, obtendremos los siguientes resultados de digitalRead():</a:t>
            </a:r>
            <a:endParaRPr sz="12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5"/>
          <p:cNvSpPr/>
          <p:nvPr/>
        </p:nvSpPr>
        <p:spPr>
          <a:xfrm>
            <a:off x="1606450" y="1014550"/>
            <a:ext cx="5743800" cy="31161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Ahora prueba estos dos circuitos, y comprueba el</a:t>
            </a:r>
            <a:endParaRPr sz="2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comportamiento que acabamos de mencionar, utilizando el monitor serial.</a:t>
            </a:r>
            <a:endParaRPr sz="2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04" name="Google Shape;404;p45"/>
          <p:cNvPicPr preferRelativeResize="0"/>
          <p:nvPr/>
        </p:nvPicPr>
        <p:blipFill rotWithShape="1">
          <a:blip r:embed="rId3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5" name="Google Shape;405;p45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406" name="Google Shape;406;p45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45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8" name="Google Shape;408;p45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6"/>
          <p:cNvSpPr txBox="1"/>
          <p:nvPr/>
        </p:nvSpPr>
        <p:spPr>
          <a:xfrm>
            <a:off x="2029804" y="256655"/>
            <a:ext cx="553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Emisión</a:t>
            </a:r>
            <a:r>
              <a:rPr b="1" lang="es" sz="2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 de señales digitales</a:t>
            </a:r>
            <a:endParaRPr b="1" sz="28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4" name="Google Shape;414;p46"/>
          <p:cNvSpPr txBox="1"/>
          <p:nvPr/>
        </p:nvSpPr>
        <p:spPr>
          <a:xfrm>
            <a:off x="202550" y="989300"/>
            <a:ext cx="698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Primero es necesario configurar el pin que queremos usar:</a:t>
            </a:r>
            <a:endParaRPr sz="18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5" name="Google Shape;415;p46"/>
          <p:cNvSpPr txBox="1"/>
          <p:nvPr/>
        </p:nvSpPr>
        <p:spPr>
          <a:xfrm>
            <a:off x="3004000" y="1937700"/>
            <a:ext cx="3611400" cy="14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AFBF40"/>
                </a:solidFill>
                <a:latin typeface="Consolas"/>
                <a:ea typeface="Consolas"/>
                <a:cs typeface="Consolas"/>
                <a:sym typeface="Consolas"/>
              </a:rPr>
              <a:t>#define</a:t>
            </a:r>
            <a:r>
              <a:rPr b="1" lang="es" sz="17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pin 10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8A6A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8A6A6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b="1" lang="es" sz="1800">
                <a:solidFill>
                  <a:srgbClr val="AFBF40"/>
                </a:solidFill>
                <a:latin typeface="Consolas"/>
                <a:ea typeface="Consolas"/>
                <a:cs typeface="Consolas"/>
                <a:sym typeface="Consolas"/>
              </a:rPr>
              <a:t>setup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pinMode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(pin,</a:t>
            </a:r>
            <a:r>
              <a:rPr b="1" lang="es" sz="1800">
                <a:solidFill>
                  <a:srgbClr val="49AAE4"/>
                </a:solidFill>
                <a:latin typeface="Consolas"/>
                <a:ea typeface="Consolas"/>
                <a:cs typeface="Consolas"/>
                <a:sym typeface="Consolas"/>
              </a:rPr>
              <a:t>OUTPUT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cxnSp>
        <p:nvCxnSpPr>
          <p:cNvPr id="416" name="Google Shape;416;p46"/>
          <p:cNvCxnSpPr/>
          <p:nvPr/>
        </p:nvCxnSpPr>
        <p:spPr>
          <a:xfrm>
            <a:off x="5647975" y="3085575"/>
            <a:ext cx="780300" cy="4767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7" name="Google Shape;417;p46"/>
          <p:cNvSpPr/>
          <p:nvPr/>
        </p:nvSpPr>
        <p:spPr>
          <a:xfrm>
            <a:off x="6363875" y="3562350"/>
            <a:ext cx="1805100" cy="9963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Modo en el que se quiere configurar el pin.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OUTPUT = escribir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18" name="Google Shape;418;p46"/>
          <p:cNvPicPr preferRelativeResize="0"/>
          <p:nvPr/>
        </p:nvPicPr>
        <p:blipFill rotWithShape="1">
          <a:blip r:embed="rId3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9" name="Google Shape;419;p46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420" name="Google Shape;420;p46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1" name="Google Shape;421;p46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2" name="Google Shape;422;p46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7"/>
          <p:cNvSpPr txBox="1"/>
          <p:nvPr/>
        </p:nvSpPr>
        <p:spPr>
          <a:xfrm>
            <a:off x="2011100" y="228600"/>
            <a:ext cx="535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Emisión</a:t>
            </a:r>
            <a:r>
              <a:rPr b="1" lang="es" sz="2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 de señales digitales</a:t>
            </a:r>
            <a:endParaRPr b="1" sz="28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8" name="Google Shape;428;p47"/>
          <p:cNvSpPr txBox="1"/>
          <p:nvPr/>
        </p:nvSpPr>
        <p:spPr>
          <a:xfrm>
            <a:off x="202550" y="989300"/>
            <a:ext cx="8574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Ahora para controlar la salida del pin entre apagado o encendido(0V o 5V) se utiliza el siguiente comando</a:t>
            </a:r>
            <a:r>
              <a:rPr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sz="18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9" name="Google Shape;429;p47"/>
          <p:cNvSpPr txBox="1"/>
          <p:nvPr/>
        </p:nvSpPr>
        <p:spPr>
          <a:xfrm>
            <a:off x="2440525" y="1916200"/>
            <a:ext cx="4501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8A6A6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b="1" lang="es" sz="1800">
                <a:solidFill>
                  <a:srgbClr val="AFBF40"/>
                </a:solidFill>
                <a:latin typeface="Consolas"/>
                <a:ea typeface="Consolas"/>
                <a:cs typeface="Consolas"/>
                <a:sym typeface="Consolas"/>
              </a:rPr>
              <a:t>loop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digital</a:t>
            </a:r>
            <a:r>
              <a:rPr b="1" lang="es" sz="180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Write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(pin,</a:t>
            </a:r>
            <a:r>
              <a:rPr b="1" lang="es" sz="1800">
                <a:solidFill>
                  <a:srgbClr val="49AAE4"/>
                </a:solidFill>
                <a:latin typeface="Consolas"/>
                <a:ea typeface="Consolas"/>
                <a:cs typeface="Consolas"/>
                <a:sym typeface="Consolas"/>
              </a:rPr>
              <a:t>HIGH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digitalWrite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(pin,</a:t>
            </a:r>
            <a:r>
              <a:rPr b="1" lang="es" sz="1800">
                <a:solidFill>
                  <a:srgbClr val="49AAE4"/>
                </a:solidFill>
                <a:latin typeface="Consolas"/>
                <a:ea typeface="Consolas"/>
                <a:cs typeface="Consolas"/>
                <a:sym typeface="Consolas"/>
              </a:rPr>
              <a:t>LOW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cxnSp>
        <p:nvCxnSpPr>
          <p:cNvPr id="430" name="Google Shape;430;p47"/>
          <p:cNvCxnSpPr/>
          <p:nvPr/>
        </p:nvCxnSpPr>
        <p:spPr>
          <a:xfrm flipH="1">
            <a:off x="1994575" y="2426475"/>
            <a:ext cx="1743300" cy="5967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1" name="Google Shape;431;p47"/>
          <p:cNvSpPr/>
          <p:nvPr/>
        </p:nvSpPr>
        <p:spPr>
          <a:xfrm>
            <a:off x="371600" y="2983300"/>
            <a:ext cx="1639500" cy="10878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Comando para hacer la emisión digital, se le tiene que especificar el pin y el valor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32" name="Google Shape;432;p47"/>
          <p:cNvCxnSpPr/>
          <p:nvPr/>
        </p:nvCxnSpPr>
        <p:spPr>
          <a:xfrm>
            <a:off x="5826675" y="2379350"/>
            <a:ext cx="1416900" cy="4509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3" name="Google Shape;433;p47"/>
          <p:cNvSpPr/>
          <p:nvPr/>
        </p:nvSpPr>
        <p:spPr>
          <a:xfrm>
            <a:off x="7198775" y="2798775"/>
            <a:ext cx="1639500" cy="10878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 </a:t>
            </a:r>
            <a:r>
              <a:rPr b="1"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HIGH </a:t>
            </a: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prende el pin digital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34" name="Google Shape;434;p47"/>
          <p:cNvCxnSpPr>
            <a:endCxn id="435" idx="0"/>
          </p:cNvCxnSpPr>
          <p:nvPr/>
        </p:nvCxnSpPr>
        <p:spPr>
          <a:xfrm>
            <a:off x="5155400" y="2766500"/>
            <a:ext cx="565500" cy="7149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5" name="Google Shape;435;p47"/>
          <p:cNvSpPr/>
          <p:nvPr/>
        </p:nvSpPr>
        <p:spPr>
          <a:xfrm>
            <a:off x="4901150" y="3481400"/>
            <a:ext cx="1639500" cy="10878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 </a:t>
            </a:r>
            <a:r>
              <a:rPr b="1"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LOW </a:t>
            </a: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apaga el pin digital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36" name="Google Shape;436;p47"/>
          <p:cNvPicPr preferRelativeResize="0"/>
          <p:nvPr/>
        </p:nvPicPr>
        <p:blipFill rotWithShape="1">
          <a:blip r:embed="rId3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7" name="Google Shape;437;p47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438" name="Google Shape;438;p47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9" name="Google Shape;439;p47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0" name="Google Shape;440;p47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8"/>
          <p:cNvSpPr txBox="1"/>
          <p:nvPr/>
        </p:nvSpPr>
        <p:spPr>
          <a:xfrm>
            <a:off x="480000" y="865692"/>
            <a:ext cx="8184000" cy="24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200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Ejercicio</a:t>
            </a:r>
            <a:endParaRPr b="1" sz="7200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46" name="Google Shape;446;p48"/>
          <p:cNvPicPr preferRelativeResize="0"/>
          <p:nvPr/>
        </p:nvPicPr>
        <p:blipFill rotWithShape="1">
          <a:blip r:embed="rId3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7" name="Google Shape;447;p48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448" name="Google Shape;448;p48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48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0" name="Google Shape;450;p48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5" name="Google Shape;455;p49"/>
          <p:cNvGrpSpPr/>
          <p:nvPr/>
        </p:nvGrpSpPr>
        <p:grpSpPr>
          <a:xfrm>
            <a:off x="-10633" y="-29340"/>
            <a:ext cx="2901600" cy="5177731"/>
            <a:chOff x="0" y="-29340"/>
            <a:chExt cx="2901600" cy="5177731"/>
          </a:xfrm>
        </p:grpSpPr>
        <p:pic>
          <p:nvPicPr>
            <p:cNvPr id="456" name="Google Shape;456;p49"/>
            <p:cNvPicPr preferRelativeResize="0"/>
            <p:nvPr/>
          </p:nvPicPr>
          <p:blipFill rotWithShape="1">
            <a:blip r:embed="rId3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7" name="Google Shape;457;p49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8" name="Google Shape;458;p49"/>
          <p:cNvSpPr txBox="1"/>
          <p:nvPr/>
        </p:nvSpPr>
        <p:spPr>
          <a:xfrm rot="-653">
            <a:off x="650725" y="2160147"/>
            <a:ext cx="15789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EJERCICIO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9" name="Google Shape;459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128" y="3335674"/>
            <a:ext cx="1365667" cy="1534231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9"/>
          <p:cNvSpPr txBox="1"/>
          <p:nvPr/>
        </p:nvSpPr>
        <p:spPr>
          <a:xfrm>
            <a:off x="3072000" y="120375"/>
            <a:ext cx="5844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Ejercitemos el uso de esta función implementando el ejercicio más simple </a:t>
            </a: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BLINK</a:t>
            </a: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 , conectemos un LED y una resistencia como se ve en el diagrama:</a:t>
            </a:r>
            <a:endParaRPr>
              <a:solidFill>
                <a:srgbClr val="0233AE"/>
              </a:solidFill>
            </a:endParaRPr>
          </a:p>
        </p:txBody>
      </p:sp>
      <p:pic>
        <p:nvPicPr>
          <p:cNvPr id="462" name="Google Shape;462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49863" y="1259425"/>
            <a:ext cx="5688276" cy="32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50"/>
          <p:cNvPicPr preferRelativeResize="0"/>
          <p:nvPr/>
        </p:nvPicPr>
        <p:blipFill rotWithShape="1">
          <a:blip r:embed="rId3">
            <a:alphaModFix/>
          </a:blip>
          <a:srcRect b="0" l="0" r="0" t="18726"/>
          <a:stretch/>
        </p:blipFill>
        <p:spPr>
          <a:xfrm>
            <a:off x="2190750" y="164900"/>
            <a:ext cx="4240600" cy="26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50"/>
          <p:cNvSpPr/>
          <p:nvPr/>
        </p:nvSpPr>
        <p:spPr>
          <a:xfrm>
            <a:off x="860100" y="3149025"/>
            <a:ext cx="7581600" cy="11514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Ahora repite los mismos desafíos utilizando un buzzer activo!!</a:t>
            </a:r>
            <a:endParaRPr sz="2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69" name="Google Shape;469;p50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0" name="Google Shape;470;p50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471" name="Google Shape;471;p50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50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3" name="Google Shape;473;p50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51"/>
          <p:cNvGrpSpPr/>
          <p:nvPr/>
        </p:nvGrpSpPr>
        <p:grpSpPr>
          <a:xfrm>
            <a:off x="-10633" y="-29340"/>
            <a:ext cx="2901600" cy="5177731"/>
            <a:chOff x="0" y="-29340"/>
            <a:chExt cx="2901600" cy="5177731"/>
          </a:xfrm>
        </p:grpSpPr>
        <p:pic>
          <p:nvPicPr>
            <p:cNvPr id="479" name="Google Shape;479;p51"/>
            <p:cNvPicPr preferRelativeResize="0"/>
            <p:nvPr/>
          </p:nvPicPr>
          <p:blipFill rotWithShape="1">
            <a:blip r:embed="rId3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0" name="Google Shape;480;p51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1" name="Google Shape;481;p51"/>
          <p:cNvSpPr txBox="1"/>
          <p:nvPr/>
        </p:nvSpPr>
        <p:spPr>
          <a:xfrm rot="-653">
            <a:off x="650725" y="2160147"/>
            <a:ext cx="15789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DESAFÍOS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2" name="Google Shape;482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128" y="3335674"/>
            <a:ext cx="1365667" cy="1534231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51"/>
          <p:cNvSpPr txBox="1"/>
          <p:nvPr/>
        </p:nvSpPr>
        <p:spPr>
          <a:xfrm>
            <a:off x="3276300" y="716950"/>
            <a:ext cx="54243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1700"/>
              <a:buFont typeface="Poppins"/>
              <a:buAutoNum type="arabicPeriod"/>
            </a:pPr>
            <a:r>
              <a:rPr b="1" lang="es" sz="17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Blink Básico</a:t>
            </a:r>
            <a:r>
              <a:rPr lang="es" sz="17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: Hacer parpadear la luz con un intervalo de 1 segundo.</a:t>
            </a:r>
            <a:endParaRPr sz="17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1700"/>
              <a:buFont typeface="Poppins"/>
              <a:buAutoNum type="arabicPeriod"/>
            </a:pPr>
            <a:r>
              <a:rPr b="1" lang="es" sz="17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SOS:</a:t>
            </a:r>
            <a:r>
              <a:rPr lang="es" sz="17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 Hacer parpadear el LED con un patrón de SOS: tres parpadeos cortos, una pausa corta, tres parpadeos largos, una pausa corta, tres parpadeos cortos y una pausa larga (.../---/...).</a:t>
            </a:r>
            <a:endParaRPr sz="17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1700"/>
              <a:buFont typeface="Poppins"/>
              <a:buAutoNum type="arabicPeriod"/>
            </a:pPr>
            <a:r>
              <a:rPr b="1" lang="es" sz="17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Acelerando: </a:t>
            </a:r>
            <a:r>
              <a:rPr lang="es" sz="17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Hacer parpadear la luz cada vez más rápido, utilizando un ciclo for o un ciclo while, partiendo con la luz encendida por 2 segundos acortando el tiempo cada vez que se apaga.</a:t>
            </a:r>
            <a:endParaRPr sz="17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2"/>
          <p:cNvSpPr txBox="1"/>
          <p:nvPr/>
        </p:nvSpPr>
        <p:spPr>
          <a:xfrm>
            <a:off x="188125" y="64625"/>
            <a:ext cx="8574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Antes de continuar con el siguiente ejercicio, revisemos una forma alternativa de hacer lecturas digitales:</a:t>
            </a:r>
            <a:endParaRPr sz="18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0" name="Google Shape;490;p52"/>
          <p:cNvSpPr txBox="1"/>
          <p:nvPr/>
        </p:nvSpPr>
        <p:spPr>
          <a:xfrm>
            <a:off x="2680125" y="917450"/>
            <a:ext cx="44427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8A6A6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b="1" lang="es" sz="1800">
                <a:solidFill>
                  <a:srgbClr val="AFBF40"/>
                </a:solidFill>
                <a:latin typeface="Consolas"/>
                <a:ea typeface="Consolas"/>
                <a:cs typeface="Consolas"/>
                <a:sym typeface="Consolas"/>
              </a:rPr>
              <a:t>setup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pinMode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(pin,</a:t>
            </a:r>
            <a:r>
              <a:rPr b="1" lang="es" sz="1800">
                <a:solidFill>
                  <a:srgbClr val="49AAE4"/>
                </a:solidFill>
                <a:latin typeface="Consolas"/>
                <a:ea typeface="Consolas"/>
                <a:cs typeface="Consolas"/>
                <a:sym typeface="Consolas"/>
              </a:rPr>
              <a:t>INPUT_PULLUP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491" name="Google Shape;491;p52"/>
          <p:cNvSpPr/>
          <p:nvPr/>
        </p:nvSpPr>
        <p:spPr>
          <a:xfrm>
            <a:off x="781200" y="2291175"/>
            <a:ext cx="7581600" cy="14817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placa arduino posee un circuito PULLUP interno que se puede utilizar, </a:t>
            </a:r>
            <a:r>
              <a:rPr lang="e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ahorrandonos</a:t>
            </a:r>
            <a:r>
              <a:rPr lang="e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la necesidad de hacerlo externamente</a:t>
            </a:r>
            <a:endParaRPr sz="2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92" name="Google Shape;492;p52"/>
          <p:cNvPicPr preferRelativeResize="0"/>
          <p:nvPr/>
        </p:nvPicPr>
        <p:blipFill rotWithShape="1">
          <a:blip r:embed="rId3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3" name="Google Shape;493;p52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494" name="Google Shape;494;p52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52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6" name="Google Shape;496;p52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3"/>
          <p:cNvSpPr txBox="1"/>
          <p:nvPr/>
        </p:nvSpPr>
        <p:spPr>
          <a:xfrm>
            <a:off x="188125" y="64625"/>
            <a:ext cx="857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Y así nos queda un circuito más simple como este</a:t>
            </a:r>
            <a:r>
              <a:rPr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sz="18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2" name="Google Shape;502;p53"/>
          <p:cNvSpPr/>
          <p:nvPr/>
        </p:nvSpPr>
        <p:spPr>
          <a:xfrm>
            <a:off x="1095750" y="3875313"/>
            <a:ext cx="7189200" cy="7491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 esto como base, resuelve los siguientes desafíos</a:t>
            </a:r>
            <a:endParaRPr sz="2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03" name="Google Shape;503;p53"/>
          <p:cNvPicPr preferRelativeResize="0"/>
          <p:nvPr/>
        </p:nvPicPr>
        <p:blipFill rotWithShape="1">
          <a:blip r:embed="rId3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0025" y="652875"/>
            <a:ext cx="5463951" cy="3100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5" name="Google Shape;505;p53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506" name="Google Shape;506;p53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7" name="Google Shape;507;p53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8" name="Google Shape;508;p53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" name="Google Shape;513;p54"/>
          <p:cNvGrpSpPr/>
          <p:nvPr/>
        </p:nvGrpSpPr>
        <p:grpSpPr>
          <a:xfrm>
            <a:off x="-10633" y="-29340"/>
            <a:ext cx="2901600" cy="5177731"/>
            <a:chOff x="0" y="-29340"/>
            <a:chExt cx="2901600" cy="5177731"/>
          </a:xfrm>
        </p:grpSpPr>
        <p:pic>
          <p:nvPicPr>
            <p:cNvPr id="514" name="Google Shape;514;p54"/>
            <p:cNvPicPr preferRelativeResize="0"/>
            <p:nvPr/>
          </p:nvPicPr>
          <p:blipFill rotWithShape="1">
            <a:blip r:embed="rId3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54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6" name="Google Shape;516;p54"/>
          <p:cNvSpPr txBox="1"/>
          <p:nvPr/>
        </p:nvSpPr>
        <p:spPr>
          <a:xfrm rot="-653">
            <a:off x="650725" y="2160147"/>
            <a:ext cx="15789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DESAFÍOS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7" name="Google Shape;517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128" y="3335674"/>
            <a:ext cx="1365667" cy="1534231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54"/>
          <p:cNvSpPr txBox="1"/>
          <p:nvPr/>
        </p:nvSpPr>
        <p:spPr>
          <a:xfrm>
            <a:off x="3276300" y="716950"/>
            <a:ext cx="54243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1700"/>
              <a:buFont typeface="Poppins"/>
              <a:buAutoNum type="arabicPeriod"/>
            </a:pPr>
            <a:r>
              <a:rPr b="1" lang="es" sz="17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ON/OFF: </a:t>
            </a:r>
            <a:r>
              <a:rPr lang="es" sz="17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Utiliza un botón para encender y apagar una luz LED, el </a:t>
            </a:r>
            <a:r>
              <a:rPr lang="es" sz="17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botón</a:t>
            </a:r>
            <a:r>
              <a:rPr lang="es" sz="17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 debe ser pullup.</a:t>
            </a:r>
            <a:endParaRPr sz="17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1700"/>
              <a:buFont typeface="Poppins"/>
              <a:buAutoNum type="arabicPeriod"/>
            </a:pPr>
            <a:r>
              <a:rPr b="1" lang="es" sz="17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Semáforo: </a:t>
            </a:r>
            <a:r>
              <a:rPr lang="es" sz="17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Conecta tres LEDS a tres pines distintos, e intenta simular un semáforo, haciendo que el LED que esté encendido, cambie cada vez que se aprieta el botón.</a:t>
            </a:r>
            <a:endParaRPr sz="17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1700"/>
              <a:buFont typeface="Poppins"/>
              <a:buAutoNum type="arabicPeriod"/>
            </a:pPr>
            <a:r>
              <a:rPr b="1" lang="es" sz="17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Contador: </a:t>
            </a:r>
            <a:r>
              <a:rPr lang="es" sz="17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Con los mismos tres LEDs, intenta implementar un contador, que vaya aumentando la cantidad de luces encendidas cada vez que aprietas el botón, una vez que llegues a 4, apágalas todas.</a:t>
            </a:r>
            <a:endParaRPr sz="17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5"/>
          <p:cNvSpPr/>
          <p:nvPr/>
        </p:nvSpPr>
        <p:spPr>
          <a:xfrm>
            <a:off x="497800" y="138225"/>
            <a:ext cx="7387500" cy="9477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4) </a:t>
            </a:r>
            <a:r>
              <a:rPr b="1"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Contador Binario: </a:t>
            </a: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 los mismos tres LEDs, implementa un contador binario, que encienda y apague las luces representando la cantidad de veces que se haya apretado el botón con un número binario, como se ve en los siguientes ejemplos:</a:t>
            </a:r>
            <a:endParaRPr b="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525" name="Google Shape;525;p55"/>
          <p:cNvGraphicFramePr/>
          <p:nvPr/>
        </p:nvGraphicFramePr>
        <p:xfrm>
          <a:off x="679588" y="12881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{76B40560-12BE-4A5D-B2B4-EEAD5AE1656F}</a:tableStyleId>
              </a:tblPr>
              <a:tblGrid>
                <a:gridCol w="1841775"/>
                <a:gridCol w="1930075"/>
                <a:gridCol w="1930075"/>
                <a:gridCol w="1930075"/>
              </a:tblGrid>
              <a:tr h="364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Veces Apretado</a:t>
                      </a:r>
                      <a:endParaRPr b="1"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9B2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Led 1</a:t>
                      </a:r>
                      <a:endParaRPr b="1"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9B2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Led 2</a:t>
                      </a:r>
                      <a:endParaRPr b="1"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9B2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Led 3</a:t>
                      </a:r>
                      <a:endParaRPr b="1"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9B2A9"/>
                    </a:solidFill>
                  </a:tcPr>
                </a:tc>
              </a:tr>
              <a:tr h="364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 = 000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OFF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OFF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OFF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3"/>
                    </a:solidFill>
                  </a:tcPr>
                </a:tc>
              </a:tr>
              <a:tr h="364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 = 001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OFF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OFF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</a:tr>
              <a:tr h="364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 = 010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OFF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OFF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3"/>
                    </a:solidFill>
                  </a:tcPr>
                </a:tc>
              </a:tr>
              <a:tr h="364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 = 011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OFF 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</a:tr>
              <a:tr h="364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 = 100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OFF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OFF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3"/>
                    </a:solidFill>
                  </a:tcPr>
                </a:tc>
              </a:tr>
              <a:tr h="364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 = 101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 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OFF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</a:tr>
              <a:tr h="364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 = 110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OFF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3"/>
                    </a:solidFill>
                  </a:tcPr>
                </a:tc>
              </a:tr>
              <a:tr h="364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</a:t>
                      </a: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= 111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 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</a:tr>
            </a:tbl>
          </a:graphicData>
        </a:graphic>
      </p:graphicFrame>
      <p:grpSp>
        <p:nvGrpSpPr>
          <p:cNvPr id="526" name="Google Shape;526;p55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527" name="Google Shape;527;p55"/>
            <p:cNvPicPr preferRelativeResize="0"/>
            <p:nvPr/>
          </p:nvPicPr>
          <p:blipFill rotWithShape="1">
            <a:blip r:embed="rId3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8" name="Google Shape;528;p55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9" name="Google Shape;529;p55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30" name="Google Shape;530;p55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6"/>
          <p:cNvSpPr txBox="1"/>
          <p:nvPr/>
        </p:nvSpPr>
        <p:spPr>
          <a:xfrm>
            <a:off x="2913350" y="137025"/>
            <a:ext cx="3416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Señales análogas</a:t>
            </a:r>
            <a:endParaRPr b="1" sz="26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6" name="Google Shape;536;p56"/>
          <p:cNvSpPr/>
          <p:nvPr/>
        </p:nvSpPr>
        <p:spPr>
          <a:xfrm>
            <a:off x="1114300" y="725100"/>
            <a:ext cx="7189200" cy="26040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Las señales análogas, son aquellas señales que pueden tomar cualquier valor posible, y no están limitadas a encendido y apagado, en el caso de la electricidad, correspondería al valor del voltaje de la señal. Las placas de desarrollo arduino poseen un componente llamado “</a:t>
            </a:r>
            <a:r>
              <a:rPr b="1" i="1"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Conversor Análogo a Digital (ADC)</a:t>
            </a:r>
            <a:r>
              <a:rPr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”, que permite leer valores análogos desde componentes electrónicos, y almacenar los como un valor numérico. La precisión de estos ADC dependen de la cantidad de bits en la que</a:t>
            </a:r>
            <a:endParaRPr sz="1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pueden dividir la señal.</a:t>
            </a:r>
            <a:endParaRPr sz="1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37" name="Google Shape;53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4400" y="3071550"/>
            <a:ext cx="3579693" cy="16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56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9" name="Google Shape;539;p56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540" name="Google Shape;540;p56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56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2" name="Google Shape;542;p56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7"/>
          <p:cNvSpPr txBox="1"/>
          <p:nvPr/>
        </p:nvSpPr>
        <p:spPr>
          <a:xfrm>
            <a:off x="2011100" y="228600"/>
            <a:ext cx="526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7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Lectura de señales </a:t>
            </a:r>
            <a:r>
              <a:rPr b="1" lang="es" sz="27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análogas</a:t>
            </a:r>
            <a:endParaRPr b="1" sz="27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8" name="Google Shape;548;p57"/>
          <p:cNvSpPr txBox="1"/>
          <p:nvPr/>
        </p:nvSpPr>
        <p:spPr>
          <a:xfrm>
            <a:off x="202550" y="989300"/>
            <a:ext cx="8835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A diferencia de los pines digitales, no es necesario hacer una configuración en el setup(), ya que existen pines específicos para realizar esto, los pines</a:t>
            </a:r>
            <a:r>
              <a:rPr lang="es" sz="18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" sz="1800">
                <a:solidFill>
                  <a:srgbClr val="58FF58"/>
                </a:solidFill>
                <a:latin typeface="Poppins"/>
                <a:ea typeface="Poppins"/>
                <a:cs typeface="Poppins"/>
                <a:sym typeface="Poppins"/>
              </a:rPr>
              <a:t>análogos</a:t>
            </a:r>
            <a:r>
              <a:rPr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, que están etiquetados como </a:t>
            </a:r>
            <a:r>
              <a:rPr b="1"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b="1" i="1"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X</a:t>
            </a:r>
            <a:r>
              <a:rPr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sz="18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9" name="Google Shape;549;p57"/>
          <p:cNvSpPr txBox="1"/>
          <p:nvPr/>
        </p:nvSpPr>
        <p:spPr>
          <a:xfrm>
            <a:off x="2440525" y="2144800"/>
            <a:ext cx="45018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49AAE4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s" sz="18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estadoPin;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8A6A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8A6A6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b="1" lang="es" sz="1800">
                <a:solidFill>
                  <a:srgbClr val="AFBF40"/>
                </a:solidFill>
                <a:latin typeface="Consolas"/>
                <a:ea typeface="Consolas"/>
                <a:cs typeface="Consolas"/>
                <a:sym typeface="Consolas"/>
              </a:rPr>
              <a:t>loop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estadoPin = </a:t>
            </a:r>
            <a:r>
              <a:rPr b="1" lang="es" sz="180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analog</a:t>
            </a:r>
            <a:r>
              <a:rPr b="1" lang="es" sz="180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Read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(A1); 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cxnSp>
        <p:nvCxnSpPr>
          <p:cNvPr id="550" name="Google Shape;550;p57"/>
          <p:cNvCxnSpPr>
            <a:endCxn id="551" idx="3"/>
          </p:cNvCxnSpPr>
          <p:nvPr/>
        </p:nvCxnSpPr>
        <p:spPr>
          <a:xfrm flipH="1">
            <a:off x="1760100" y="2331400"/>
            <a:ext cx="753900" cy="2640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1" name="Google Shape;551;p57"/>
          <p:cNvSpPr/>
          <p:nvPr/>
        </p:nvSpPr>
        <p:spPr>
          <a:xfrm>
            <a:off x="120600" y="2144800"/>
            <a:ext cx="1639500" cy="9012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Variable para guardar la lectura, debe ser de tipo </a:t>
            </a:r>
            <a:r>
              <a:rPr b="1"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</a:t>
            </a:r>
            <a:endParaRPr b="1"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52" name="Google Shape;552;p57"/>
          <p:cNvCxnSpPr/>
          <p:nvPr/>
        </p:nvCxnSpPr>
        <p:spPr>
          <a:xfrm>
            <a:off x="5360225" y="3327700"/>
            <a:ext cx="1036500" cy="6570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3" name="Google Shape;553;p57"/>
          <p:cNvSpPr/>
          <p:nvPr/>
        </p:nvSpPr>
        <p:spPr>
          <a:xfrm>
            <a:off x="6455000" y="3327700"/>
            <a:ext cx="1768800" cy="12561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Comando para hacer la lectura análoga, se le tiene que especificar el pin que se quiere leer, en este caso, el pin A1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54" name="Google Shape;554;p57"/>
          <p:cNvPicPr preferRelativeResize="0"/>
          <p:nvPr/>
        </p:nvPicPr>
        <p:blipFill rotWithShape="1">
          <a:blip r:embed="rId3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5" name="Google Shape;555;p57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556" name="Google Shape;556;p57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57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8" name="Google Shape;558;p57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8"/>
          <p:cNvSpPr/>
          <p:nvPr/>
        </p:nvSpPr>
        <p:spPr>
          <a:xfrm>
            <a:off x="340675" y="299475"/>
            <a:ext cx="7189200" cy="20460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lectura de estas señales puede ir entre los valores 0 y 1023, ya que nuestro arduino posee un </a:t>
            </a:r>
            <a:r>
              <a:rPr b="1"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ADC</a:t>
            </a:r>
            <a:r>
              <a:rPr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10 bits. Este conversor funciona midiendo el voltaje recibido y transformándolo a un </a:t>
            </a:r>
            <a:r>
              <a:rPr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número</a:t>
            </a:r>
            <a:r>
              <a:rPr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que podemos interpretar en nuestro código. Mientras más bits tiene, se tendrá una mayor resolución a la hora de medir</a:t>
            </a:r>
            <a:endParaRPr sz="1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voltaje que recibe el pin, tal y como se muestra en la</a:t>
            </a:r>
            <a:endParaRPr sz="1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siguiente figura:</a:t>
            </a:r>
            <a:endParaRPr sz="1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64" name="Google Shape;56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2675" y="2382250"/>
            <a:ext cx="7208775" cy="232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58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6" name="Google Shape;566;p58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567" name="Google Shape;567;p58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8" name="Google Shape;568;p58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9" name="Google Shape;569;p58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4" name="Google Shape;574;p59"/>
          <p:cNvGrpSpPr/>
          <p:nvPr/>
        </p:nvGrpSpPr>
        <p:grpSpPr>
          <a:xfrm>
            <a:off x="-10633" y="-29340"/>
            <a:ext cx="2901600" cy="5177731"/>
            <a:chOff x="0" y="-29340"/>
            <a:chExt cx="2901600" cy="5177731"/>
          </a:xfrm>
        </p:grpSpPr>
        <p:pic>
          <p:nvPicPr>
            <p:cNvPr id="575" name="Google Shape;575;p59"/>
            <p:cNvPicPr preferRelativeResize="0"/>
            <p:nvPr/>
          </p:nvPicPr>
          <p:blipFill rotWithShape="1">
            <a:blip r:embed="rId3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59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7" name="Google Shape;577;p59"/>
          <p:cNvSpPr/>
          <p:nvPr/>
        </p:nvSpPr>
        <p:spPr>
          <a:xfrm>
            <a:off x="2889190" y="-6900"/>
            <a:ext cx="6254700" cy="5143500"/>
          </a:xfrm>
          <a:prstGeom prst="rect">
            <a:avLst/>
          </a:prstGeom>
          <a:solidFill>
            <a:srgbClr val="32B8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59"/>
          <p:cNvSpPr txBox="1"/>
          <p:nvPr/>
        </p:nvSpPr>
        <p:spPr>
          <a:xfrm rot="-894">
            <a:off x="119398" y="1912348"/>
            <a:ext cx="34599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TOMEMOS</a:t>
            </a:r>
            <a:endParaRPr/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UN DESCANSO</a:t>
            </a:r>
            <a:endParaRPr b="1" i="0" sz="24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9" name="Google Shape;579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128" y="3335674"/>
            <a:ext cx="1365667" cy="1534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59"/>
          <p:cNvPicPr preferRelativeResize="0"/>
          <p:nvPr/>
        </p:nvPicPr>
        <p:blipFill rotWithShape="1">
          <a:blip r:embed="rId6">
            <a:alphaModFix amt="23000"/>
          </a:blip>
          <a:srcRect b="0" l="50261" r="0" t="0"/>
          <a:stretch/>
        </p:blipFill>
        <p:spPr>
          <a:xfrm>
            <a:off x="5902035" y="-34234"/>
            <a:ext cx="33107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59" title="b3eaa60e-d18d-46b9-b73c-e73008bf6454 (1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85488" y="240963"/>
            <a:ext cx="4661576" cy="4661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0"/>
          <p:cNvSpPr txBox="1"/>
          <p:nvPr/>
        </p:nvSpPr>
        <p:spPr>
          <a:xfrm>
            <a:off x="480000" y="865692"/>
            <a:ext cx="8184000" cy="24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200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Ejercicio</a:t>
            </a:r>
            <a:endParaRPr b="1" sz="7200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88" name="Google Shape;588;p60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589" name="Google Shape;589;p60"/>
            <p:cNvPicPr preferRelativeResize="0"/>
            <p:nvPr/>
          </p:nvPicPr>
          <p:blipFill rotWithShape="1">
            <a:blip r:embed="rId3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0" name="Google Shape;590;p60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1" name="Google Shape;591;p60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92" name="Google Shape;592;p60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7" name="Google Shape;597;p61"/>
          <p:cNvGrpSpPr/>
          <p:nvPr/>
        </p:nvGrpSpPr>
        <p:grpSpPr>
          <a:xfrm>
            <a:off x="-10633" y="-29340"/>
            <a:ext cx="2901600" cy="5177731"/>
            <a:chOff x="0" y="-29340"/>
            <a:chExt cx="2901600" cy="5177731"/>
          </a:xfrm>
        </p:grpSpPr>
        <p:pic>
          <p:nvPicPr>
            <p:cNvPr id="598" name="Google Shape;598;p61"/>
            <p:cNvPicPr preferRelativeResize="0"/>
            <p:nvPr/>
          </p:nvPicPr>
          <p:blipFill rotWithShape="1">
            <a:blip r:embed="rId3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9" name="Google Shape;599;p61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0" name="Google Shape;600;p61"/>
          <p:cNvSpPr txBox="1"/>
          <p:nvPr/>
        </p:nvSpPr>
        <p:spPr>
          <a:xfrm rot="-653">
            <a:off x="650725" y="2160147"/>
            <a:ext cx="15789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EJERCICIO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1" name="Google Shape;601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128" y="3335674"/>
            <a:ext cx="1365667" cy="1534231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61"/>
          <p:cNvSpPr txBox="1"/>
          <p:nvPr/>
        </p:nvSpPr>
        <p:spPr>
          <a:xfrm>
            <a:off x="3276300" y="259750"/>
            <a:ext cx="5424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Para poder ver cómo funciona la lectura analógica, vamos a necesitar una resistencia variable (potenciómetro) para armar el siguiente circuito:</a:t>
            </a:r>
            <a:endParaRPr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4" name="Google Shape;604;p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68825" y="1091050"/>
            <a:ext cx="5716976" cy="3240476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61"/>
          <p:cNvSpPr/>
          <p:nvPr/>
        </p:nvSpPr>
        <p:spPr>
          <a:xfrm>
            <a:off x="3148850" y="4476150"/>
            <a:ext cx="5835600" cy="5424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Ahora muestren por el monitor serial el valor que se está leyendo.</a:t>
            </a:r>
            <a:endParaRPr sz="13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0" name="Google Shape;610;p62"/>
          <p:cNvGrpSpPr/>
          <p:nvPr/>
        </p:nvGrpSpPr>
        <p:grpSpPr>
          <a:xfrm>
            <a:off x="-10633" y="-29340"/>
            <a:ext cx="2901600" cy="5177731"/>
            <a:chOff x="0" y="-29340"/>
            <a:chExt cx="2901600" cy="5177731"/>
          </a:xfrm>
        </p:grpSpPr>
        <p:pic>
          <p:nvPicPr>
            <p:cNvPr id="611" name="Google Shape;611;p62"/>
            <p:cNvPicPr preferRelativeResize="0"/>
            <p:nvPr/>
          </p:nvPicPr>
          <p:blipFill rotWithShape="1">
            <a:blip r:embed="rId3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2" name="Google Shape;612;p62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3" name="Google Shape;613;p62"/>
          <p:cNvSpPr txBox="1"/>
          <p:nvPr/>
        </p:nvSpPr>
        <p:spPr>
          <a:xfrm rot="-653">
            <a:off x="650725" y="2160147"/>
            <a:ext cx="15789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DESAFÍOS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4" name="Google Shape;614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128" y="3335674"/>
            <a:ext cx="1365667" cy="1534231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62"/>
          <p:cNvSpPr txBox="1"/>
          <p:nvPr/>
        </p:nvSpPr>
        <p:spPr>
          <a:xfrm>
            <a:off x="3428725" y="1040250"/>
            <a:ext cx="5424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AutoNum type="arabicPeriod"/>
            </a:pPr>
            <a:r>
              <a:rPr b="1" lang="e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Blink 2:</a:t>
            </a:r>
            <a:r>
              <a:rPr lang="e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Utiliza los valores del potenciómetro para controlar la velocidad con la parpadea un LED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1400"/>
              <a:buFont typeface="Poppins"/>
              <a:buAutoNum type="arabicPeriod"/>
            </a:pP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Indicador: </a:t>
            </a: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Utiliza el potenciómetro para controlar la cantidad de LEDs que se encienden a medida que lo giras, parte con 2 y ve si puedes llegar a 4.</a:t>
            </a:r>
            <a:endParaRPr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7" name="Google Shape;617;p62"/>
          <p:cNvSpPr txBox="1"/>
          <p:nvPr/>
        </p:nvSpPr>
        <p:spPr>
          <a:xfrm>
            <a:off x="-59825" y="257175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En base al circuito anterior, y agregando LEDs, realizar:</a:t>
            </a:r>
            <a:endParaRPr/>
          </a:p>
        </p:txBody>
      </p:sp>
      <p:sp>
        <p:nvSpPr>
          <p:cNvPr id="618" name="Google Shape;618;p62"/>
          <p:cNvSpPr txBox="1"/>
          <p:nvPr/>
        </p:nvSpPr>
        <p:spPr>
          <a:xfrm>
            <a:off x="3428725" y="827350"/>
            <a:ext cx="5424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1400"/>
              <a:buFont typeface="Poppins"/>
              <a:buAutoNum type="arabicPeriod"/>
            </a:pP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Blink 2:</a:t>
            </a: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 Utiliza los valores del potenciómetro para controlar la velocidad con la parpadea un LED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9" name="Google Shape;619;p62"/>
          <p:cNvSpPr txBox="1"/>
          <p:nvPr/>
        </p:nvSpPr>
        <p:spPr>
          <a:xfrm>
            <a:off x="4297825" y="2704325"/>
            <a:ext cx="36861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5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Este desafío necesita que investigues el uso de la función </a:t>
            </a:r>
            <a:r>
              <a:rPr b="1" i="1" lang="es" sz="15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map()</a:t>
            </a:r>
            <a:r>
              <a:rPr i="1" lang="es" sz="15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, queda como parte del ejercicio buscar cómo funciona en internet y descubrir por qué sirve para solucionar esto! discútelo con tus</a:t>
            </a:r>
            <a:endParaRPr i="1" sz="15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5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compañeros y pide ayuda al mentor.</a:t>
            </a:r>
            <a:endParaRPr>
              <a:solidFill>
                <a:srgbClr val="0233AE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3"/>
          <p:cNvSpPr txBox="1"/>
          <p:nvPr/>
        </p:nvSpPr>
        <p:spPr>
          <a:xfrm>
            <a:off x="2011100" y="228600"/>
            <a:ext cx="558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7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Escritura de señales análogas</a:t>
            </a:r>
            <a:endParaRPr b="1" sz="27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5" name="Google Shape;625;p63"/>
          <p:cNvSpPr txBox="1"/>
          <p:nvPr/>
        </p:nvSpPr>
        <p:spPr>
          <a:xfrm>
            <a:off x="202550" y="766600"/>
            <a:ext cx="8574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La escritura de señales análogas se realiza utilizando una técnica llamada </a:t>
            </a:r>
            <a:r>
              <a:rPr b="1"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PWM</a:t>
            </a:r>
            <a:r>
              <a:rPr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i="1"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Pulse Width Modulation</a:t>
            </a:r>
            <a:r>
              <a:rPr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, o</a:t>
            </a:r>
            <a:r>
              <a:rPr i="1"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 modulación por ancho de pulsos</a:t>
            </a:r>
            <a:r>
              <a:rPr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). Al igual que la lectura, no es necesario configurarlo, sólo estar seguro de usar un pin tipo </a:t>
            </a:r>
            <a:r>
              <a:rPr lang="es" sz="1800">
                <a:solidFill>
                  <a:srgbClr val="FF5858"/>
                </a:solidFill>
                <a:latin typeface="Poppins"/>
                <a:ea typeface="Poppins"/>
                <a:cs typeface="Poppins"/>
                <a:sym typeface="Poppins"/>
              </a:rPr>
              <a:t>PWM</a:t>
            </a:r>
            <a:r>
              <a:rPr lang="e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6" name="Google Shape;626;p63"/>
          <p:cNvSpPr txBox="1"/>
          <p:nvPr/>
        </p:nvSpPr>
        <p:spPr>
          <a:xfrm>
            <a:off x="2440525" y="2144800"/>
            <a:ext cx="45018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8A6A6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b="1" lang="es" sz="1800">
                <a:solidFill>
                  <a:srgbClr val="AFBF40"/>
                </a:solidFill>
                <a:latin typeface="Consolas"/>
                <a:ea typeface="Consolas"/>
                <a:cs typeface="Consolas"/>
                <a:sym typeface="Consolas"/>
              </a:rPr>
              <a:t>loop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analog</a:t>
            </a:r>
            <a:r>
              <a:rPr b="1" lang="es" sz="180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Write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(pinPWM,valor);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cxnSp>
        <p:nvCxnSpPr>
          <p:cNvPr id="627" name="Google Shape;627;p63"/>
          <p:cNvCxnSpPr/>
          <p:nvPr/>
        </p:nvCxnSpPr>
        <p:spPr>
          <a:xfrm flipH="1">
            <a:off x="2095025" y="2721000"/>
            <a:ext cx="1743300" cy="5967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8" name="Google Shape;628;p63"/>
          <p:cNvSpPr/>
          <p:nvPr/>
        </p:nvSpPr>
        <p:spPr>
          <a:xfrm>
            <a:off x="371600" y="3317700"/>
            <a:ext cx="1639500" cy="10878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Comando para hacer la escritura análoga, se le tiene que especificar el pin y el valor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29" name="Google Shape;629;p63"/>
          <p:cNvCxnSpPr/>
          <p:nvPr/>
        </p:nvCxnSpPr>
        <p:spPr>
          <a:xfrm>
            <a:off x="5747650" y="2721000"/>
            <a:ext cx="1416900" cy="4509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0" name="Google Shape;630;p63"/>
          <p:cNvSpPr/>
          <p:nvPr/>
        </p:nvSpPr>
        <p:spPr>
          <a:xfrm>
            <a:off x="7164550" y="3052900"/>
            <a:ext cx="1639500" cy="10878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Valor que se quiere utilizar.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Puede ir entre 0 y 255.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31" name="Google Shape;631;p63"/>
          <p:cNvCxnSpPr>
            <a:endCxn id="632" idx="0"/>
          </p:cNvCxnSpPr>
          <p:nvPr/>
        </p:nvCxnSpPr>
        <p:spPr>
          <a:xfrm>
            <a:off x="4839850" y="2509625"/>
            <a:ext cx="340500" cy="11712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2" name="Google Shape;632;p63"/>
          <p:cNvSpPr/>
          <p:nvPr/>
        </p:nvSpPr>
        <p:spPr>
          <a:xfrm>
            <a:off x="4419850" y="3680825"/>
            <a:ext cx="1521000" cy="8763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Pin que se quiere controlar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33" name="Google Shape;633;p63"/>
          <p:cNvPicPr preferRelativeResize="0"/>
          <p:nvPr/>
        </p:nvPicPr>
        <p:blipFill rotWithShape="1">
          <a:blip r:embed="rId3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4" name="Google Shape;634;p63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635" name="Google Shape;635;p63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6" name="Google Shape;636;p63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7" name="Google Shape;637;p63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64"/>
          <p:cNvSpPr/>
          <p:nvPr/>
        </p:nvSpPr>
        <p:spPr>
          <a:xfrm>
            <a:off x="1106500" y="402325"/>
            <a:ext cx="7189200" cy="15432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 valores que arduino puede emitir van de 0 a 5</a:t>
            </a:r>
            <a:endParaRPr sz="2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V, en 256 intervalos, es decir, puedes ir aumentando el voltaje en incrementos de 0.02 [V] aproximadamente.</a:t>
            </a:r>
            <a:endParaRPr sz="2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43" name="Google Shape;643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8338" y="2236200"/>
            <a:ext cx="7007324" cy="2436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4" name="Google Shape;644;p64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645" name="Google Shape;645;p64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6" name="Google Shape;646;p64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7" name="Google Shape;647;p64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48" name="Google Shape;648;p64"/>
          <p:cNvPicPr preferRelativeResize="0"/>
          <p:nvPr/>
        </p:nvPicPr>
        <p:blipFill rotWithShape="1">
          <a:blip r:embed="rId6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3" name="Google Shape;653;p65"/>
          <p:cNvGrpSpPr/>
          <p:nvPr/>
        </p:nvGrpSpPr>
        <p:grpSpPr>
          <a:xfrm>
            <a:off x="-10633" y="-29340"/>
            <a:ext cx="2901600" cy="5177731"/>
            <a:chOff x="0" y="-29340"/>
            <a:chExt cx="2901600" cy="5177731"/>
          </a:xfrm>
        </p:grpSpPr>
        <p:pic>
          <p:nvPicPr>
            <p:cNvPr id="654" name="Google Shape;654;p65"/>
            <p:cNvPicPr preferRelativeResize="0"/>
            <p:nvPr/>
          </p:nvPicPr>
          <p:blipFill rotWithShape="1">
            <a:blip r:embed="rId3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5" name="Google Shape;655;p65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6" name="Google Shape;656;p65"/>
          <p:cNvSpPr txBox="1"/>
          <p:nvPr/>
        </p:nvSpPr>
        <p:spPr>
          <a:xfrm rot="-653">
            <a:off x="650725" y="2160147"/>
            <a:ext cx="15789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EJERCICIO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7" name="Google Shape;657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128" y="3335674"/>
            <a:ext cx="1365667" cy="1534231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65"/>
          <p:cNvSpPr txBox="1"/>
          <p:nvPr/>
        </p:nvSpPr>
        <p:spPr>
          <a:xfrm>
            <a:off x="3276300" y="1621800"/>
            <a:ext cx="5424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Utilicemos la función analogWrite() para controlar el brillo de un LED, a partir de la posición de la perilla de un potenciómetro. Utiliza los diagramas de los ejercicios anteriores para hacerte una idea de</a:t>
            </a:r>
            <a:endParaRPr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cómo conectar los componentes.</a:t>
            </a:r>
            <a:endParaRPr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66"/>
          <p:cNvSpPr txBox="1"/>
          <p:nvPr/>
        </p:nvSpPr>
        <p:spPr>
          <a:xfrm>
            <a:off x="2744400" y="228600"/>
            <a:ext cx="365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7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Otros usos de PWM</a:t>
            </a:r>
            <a:endParaRPr b="1" sz="27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5" name="Google Shape;665;p66"/>
          <p:cNvSpPr txBox="1"/>
          <p:nvPr/>
        </p:nvSpPr>
        <p:spPr>
          <a:xfrm>
            <a:off x="343425" y="801300"/>
            <a:ext cx="8491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Existen distintas funciones y librerías que utilizan la capacidad de Arduino de modular pulsos, para controlar distintos tipos de dispositivos que pueden ser controlados o activados al variar el voltaje que se les entrega, podemos ver dos ejemplos simples: </a:t>
            </a:r>
            <a:r>
              <a:rPr b="1" lang="es" sz="15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buzzer piezoeléctrico pasivo</a:t>
            </a:r>
            <a:r>
              <a:rPr lang="es" sz="15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b="1" lang="es" sz="15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servomotores</a:t>
            </a:r>
            <a:r>
              <a:rPr lang="es" sz="15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5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6" name="Google Shape;666;p66"/>
          <p:cNvSpPr/>
          <p:nvPr/>
        </p:nvSpPr>
        <p:spPr>
          <a:xfrm>
            <a:off x="418800" y="1909500"/>
            <a:ext cx="8306400" cy="25521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Buzzer piezoeléctrico pasivo</a:t>
            </a:r>
            <a:endParaRPr b="1" sz="2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Podemos utilizar la función tone(), para generar un</a:t>
            </a:r>
            <a:endParaRPr sz="2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tono con alguna frecuencia, idealmente entre 200 y 5000</a:t>
            </a:r>
            <a:endParaRPr sz="2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[Hz], para generar sonidos utilizando un buzzer piezoeléctrico pasivo. La manera en la que se utiliza esta función es la siguiente:</a:t>
            </a:r>
            <a:endParaRPr sz="2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67" name="Google Shape;667;p66"/>
          <p:cNvPicPr preferRelativeResize="0"/>
          <p:nvPr/>
        </p:nvPicPr>
        <p:blipFill rotWithShape="1">
          <a:blip r:embed="rId3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8" name="Google Shape;668;p66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669" name="Google Shape;669;p66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0" name="Google Shape;670;p66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1" name="Google Shape;671;p66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67"/>
          <p:cNvSpPr txBox="1"/>
          <p:nvPr/>
        </p:nvSpPr>
        <p:spPr>
          <a:xfrm>
            <a:off x="188125" y="192525"/>
            <a:ext cx="857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Primero el código:</a:t>
            </a:r>
            <a:endParaRPr b="1" sz="18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77" name="Google Shape;67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8538" y="558675"/>
            <a:ext cx="5933774" cy="402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67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9" name="Google Shape;679;p67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680" name="Google Shape;680;p67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1" name="Google Shape;681;p67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2" name="Google Shape;682;p67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68"/>
          <p:cNvSpPr txBox="1"/>
          <p:nvPr/>
        </p:nvSpPr>
        <p:spPr>
          <a:xfrm>
            <a:off x="188125" y="192525"/>
            <a:ext cx="857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Y luego el circuito quedaría así</a:t>
            </a:r>
            <a:r>
              <a:rPr b="1"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b="1" sz="18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88" name="Google Shape;68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3986" y="721450"/>
            <a:ext cx="6822876" cy="387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68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0" name="Google Shape;690;p68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691" name="Google Shape;691;p68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2" name="Google Shape;692;p68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3" name="Google Shape;693;p68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" name="Google Shape;698;p69"/>
          <p:cNvGrpSpPr/>
          <p:nvPr/>
        </p:nvGrpSpPr>
        <p:grpSpPr>
          <a:xfrm>
            <a:off x="-10633" y="-29340"/>
            <a:ext cx="2901600" cy="5177731"/>
            <a:chOff x="0" y="-29340"/>
            <a:chExt cx="2901600" cy="5177731"/>
          </a:xfrm>
        </p:grpSpPr>
        <p:pic>
          <p:nvPicPr>
            <p:cNvPr id="699" name="Google Shape;699;p69"/>
            <p:cNvPicPr preferRelativeResize="0"/>
            <p:nvPr/>
          </p:nvPicPr>
          <p:blipFill rotWithShape="1">
            <a:blip r:embed="rId3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0" name="Google Shape;700;p69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1" name="Google Shape;701;p69"/>
          <p:cNvSpPr txBox="1"/>
          <p:nvPr/>
        </p:nvSpPr>
        <p:spPr>
          <a:xfrm rot="-653">
            <a:off x="650725" y="2160147"/>
            <a:ext cx="15789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DESAFÍOS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2" name="Google Shape;702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128" y="3335674"/>
            <a:ext cx="1365667" cy="1534231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69"/>
          <p:cNvSpPr txBox="1"/>
          <p:nvPr/>
        </p:nvSpPr>
        <p:spPr>
          <a:xfrm>
            <a:off x="3287725" y="867425"/>
            <a:ext cx="5424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1400"/>
              <a:buFont typeface="Poppins"/>
              <a:buAutoNum type="arabicPeriod"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Canción: Escribe una breve canción utilizando tonos de distintas frecuencias y delays, puedes hacerlo al oído o buscando las notas en internet.</a:t>
            </a:r>
            <a:endParaRPr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5" name="Google Shape;705;p69"/>
          <p:cNvSpPr txBox="1"/>
          <p:nvPr/>
        </p:nvSpPr>
        <p:spPr>
          <a:xfrm>
            <a:off x="-59825" y="257175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En base al circuito anterior, realizar: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6" name="Google Shape;706;p69"/>
          <p:cNvSpPr txBox="1"/>
          <p:nvPr/>
        </p:nvSpPr>
        <p:spPr>
          <a:xfrm>
            <a:off x="3287725" y="1874992"/>
            <a:ext cx="5424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1400"/>
              <a:buFont typeface="Poppins"/>
              <a:buAutoNum type="arabicPeriod" startAt="2"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Instrumento: Controla la nota emitida por el buzzer piezoeléctrico utilizando un potenciómetro.</a:t>
            </a:r>
            <a:endParaRPr/>
          </a:p>
        </p:txBody>
      </p:sp>
      <p:sp>
        <p:nvSpPr>
          <p:cNvPr id="707" name="Google Shape;707;p69"/>
          <p:cNvSpPr txBox="1"/>
          <p:nvPr/>
        </p:nvSpPr>
        <p:spPr>
          <a:xfrm>
            <a:off x="3287725" y="2666858"/>
            <a:ext cx="5424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1400"/>
              <a:buFont typeface="Poppins"/>
              <a:buAutoNum type="arabicPeriod" startAt="3"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Instrumento 2: Agrega un botón para que el piezo solo suene cuando se aprieta el interruptor.</a:t>
            </a:r>
            <a:endParaRPr/>
          </a:p>
        </p:txBody>
      </p:sp>
      <p:sp>
        <p:nvSpPr>
          <p:cNvPr id="708" name="Google Shape;708;p69"/>
          <p:cNvSpPr txBox="1"/>
          <p:nvPr/>
        </p:nvSpPr>
        <p:spPr>
          <a:xfrm>
            <a:off x="3287725" y="3458725"/>
            <a:ext cx="5424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1400"/>
              <a:buFont typeface="Poppins"/>
              <a:buAutoNum type="arabicPeriod" startAt="4"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Instrumento 3: Transforma el sonido para que emita un arpegio (investigar que es un arpegio) en vez de una nota. Ahora estaríamos acercándonos a tener un sintetizador.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70"/>
          <p:cNvSpPr/>
          <p:nvPr/>
        </p:nvSpPr>
        <p:spPr>
          <a:xfrm>
            <a:off x="1719027" y="1258929"/>
            <a:ext cx="5484600" cy="23016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¿Qué vimos </a:t>
            </a:r>
            <a:r>
              <a:rPr b="1" lang="es" sz="2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nosotros </a:t>
            </a:r>
            <a:r>
              <a:rPr b="1" lang="es" sz="2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hoy?</a:t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14" name="Google Shape;71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9150" y="1752500"/>
            <a:ext cx="2994200" cy="299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70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6" name="Google Shape;716;p70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717" name="Google Shape;717;p70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8" name="Google Shape;718;p70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9" name="Google Shape;719;p70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725" name="Google Shape;725;p7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26" name="Google Shape;726;p71"/>
          <p:cNvSpPr txBox="1"/>
          <p:nvPr/>
        </p:nvSpPr>
        <p:spPr>
          <a:xfrm>
            <a:off x="759925" y="1234250"/>
            <a:ext cx="7574400" cy="12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5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Clubes de Ciencia y Tecnología - Plan de nivelación</a:t>
            </a:r>
            <a:endParaRPr b="1" sz="15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Estos materiales han sido elaborados por Benjamín Espinoza y Gaspar Fábrega para el Programa de Ciencia y Tecnología de Fundación Gabriel &amp; Mary Mustakis. Se permite su uso bajo licencia Creative Commons (CC) por las Universidades Socias del Programa de Ciencia y Tecnología de Fundación Gabriel &amp; Mary Mustakis.</a:t>
            </a:r>
            <a:endParaRPr sz="12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2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Versión 2 - Abril 2024</a:t>
            </a:r>
            <a:endParaRPr b="1" sz="12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27" name="Google Shape;727;p71"/>
          <p:cNvSpPr txBox="1"/>
          <p:nvPr/>
        </p:nvSpPr>
        <p:spPr>
          <a:xfrm>
            <a:off x="2903400" y="4650625"/>
            <a:ext cx="33372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Publicado Bajo Licencia Creative Commons</a:t>
            </a:r>
            <a:endParaRPr b="1" i="0" sz="9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0" lang="es" sz="9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Atribución-NoComercial-CompartirIgual (CC BY-NC-SA)</a:t>
            </a:r>
            <a:endParaRPr i="0" sz="9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28" name="Google Shape;728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6213" y="3910275"/>
            <a:ext cx="471505" cy="4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5386" y="4411750"/>
            <a:ext cx="873238" cy="291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1486" y="3949"/>
            <a:ext cx="3680762" cy="11327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1" name="Google Shape;731;p71"/>
          <p:cNvGrpSpPr/>
          <p:nvPr/>
        </p:nvGrpSpPr>
        <p:grpSpPr>
          <a:xfrm>
            <a:off x="1401723" y="2909269"/>
            <a:ext cx="6290455" cy="732213"/>
            <a:chOff x="1013333" y="3795825"/>
            <a:chExt cx="8388391" cy="976283"/>
          </a:xfrm>
        </p:grpSpPr>
        <p:pic>
          <p:nvPicPr>
            <p:cNvPr descr="https://lh5.googleusercontent.com/wP2h_lc6--vyMzu5qXgRG-Bbe6w1LN7Ph5RgxIP2Ngd_pFZFcUDkC-cp09ZNvc-Xm3iTwoQ8go_elSTWCw68Lrn_HKTBlb9E-8CWQqnHg6t8L9JidsYDttMUJ7XHVUWj9hjtPLtPZtU" id="732" name="Google Shape;732;p71"/>
            <p:cNvPicPr preferRelativeResize="0"/>
            <p:nvPr/>
          </p:nvPicPr>
          <p:blipFill rotWithShape="1">
            <a:blip r:embed="rId6">
              <a:alphaModFix/>
            </a:blip>
            <a:srcRect b="0" l="5141" r="0" t="3428"/>
            <a:stretch/>
          </p:blipFill>
          <p:spPr>
            <a:xfrm>
              <a:off x="4796200" y="3836108"/>
              <a:ext cx="921960" cy="93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TFSM-01" id="733" name="Google Shape;733;p7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13333" y="3836100"/>
              <a:ext cx="1806480" cy="93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4" name="Google Shape;734;p7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228251" y="3795833"/>
              <a:ext cx="1159522" cy="93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5" name="Google Shape;735;p71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6126574" y="3836096"/>
              <a:ext cx="1111725" cy="935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6" name="Google Shape;736;p71"/>
            <p:cNvPicPr preferRelativeResize="0"/>
            <p:nvPr/>
          </p:nvPicPr>
          <p:blipFill rotWithShape="1">
            <a:blip r:embed="rId10">
              <a:alphaModFix/>
            </a:blip>
            <a:srcRect b="18725" l="7227" r="0" t="17082"/>
            <a:stretch/>
          </p:blipFill>
          <p:spPr>
            <a:xfrm>
              <a:off x="7646725" y="3795825"/>
              <a:ext cx="1754999" cy="936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37" name="Google Shape;737;p71"/>
          <p:cNvPicPr preferRelativeResize="0"/>
          <p:nvPr/>
        </p:nvPicPr>
        <p:blipFill rotWithShape="1">
          <a:blip r:embed="rId11">
            <a:alphaModFix/>
          </a:blip>
          <a:srcRect b="309" l="25827" r="0" t="0"/>
          <a:stretch/>
        </p:blipFill>
        <p:spPr>
          <a:xfrm rot="-5400000">
            <a:off x="2027107" y="-2027109"/>
            <a:ext cx="5223134" cy="9277347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71"/>
          <p:cNvSpPr/>
          <p:nvPr/>
        </p:nvSpPr>
        <p:spPr>
          <a:xfrm>
            <a:off x="0" y="-4538"/>
            <a:ext cx="9277500" cy="5211600"/>
          </a:xfrm>
          <a:prstGeom prst="rect">
            <a:avLst/>
          </a:prstGeom>
          <a:solidFill>
            <a:srgbClr val="002060">
              <a:alpha val="4863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9" name="Google Shape;739;p71"/>
          <p:cNvSpPr txBox="1"/>
          <p:nvPr/>
        </p:nvSpPr>
        <p:spPr>
          <a:xfrm>
            <a:off x="1238541" y="1228118"/>
            <a:ext cx="66477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1"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Clubes de Ciencia y Tecnología - Nivelación</a:t>
            </a:r>
            <a:endParaRPr b="1" i="1" sz="1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Versión </a:t>
            </a:r>
            <a:r>
              <a:rPr b="1"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b="1" i="0" lang="e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202</a:t>
            </a:r>
            <a:r>
              <a:rPr b="1"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b="1" i="0" sz="1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Estos materiales han sido elaborados de manera colaborativa entre los equipos de las Universidades Socias del Programa de Robótica Educativa de la Fundación Gabriel &amp; Mary Mustakis.</a:t>
            </a:r>
            <a:endParaRPr b="0" i="0" sz="1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40" name="Google Shape;740;p7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231328" y="257197"/>
            <a:ext cx="2662178" cy="820166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71"/>
          <p:cNvSpPr txBox="1"/>
          <p:nvPr/>
        </p:nvSpPr>
        <p:spPr>
          <a:xfrm>
            <a:off x="2766215" y="4662465"/>
            <a:ext cx="35925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Publicado Bajo Licencia Creative Commons</a:t>
            </a:r>
            <a:endParaRPr b="1" i="0" sz="9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Atribución-NoComercial-CompartirIgual (CC BY-NC-SA)</a:t>
            </a:r>
            <a:endParaRPr b="0" i="0" sz="9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42" name="Google Shape;742;p7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443526" y="2207618"/>
            <a:ext cx="6237780" cy="1381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" name="Google Shape;743;p7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003616" y="3846309"/>
            <a:ext cx="1117600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