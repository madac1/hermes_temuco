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5143500" cx="9144000"/>
  <p:notesSz cx="6858000" cy="9144000"/>
  <p:embeddedFontLst>
    <p:embeddedFont>
      <p:font typeface="Proxima Nova"/>
      <p:regular r:id="rId65"/>
      <p:bold r:id="rId66"/>
      <p:italic r:id="rId67"/>
      <p:boldItalic r:id="rId68"/>
    </p:embeddedFont>
    <p:embeddedFont>
      <p:font typeface="Poppins"/>
      <p:regular r:id="rId69"/>
      <p:bold r:id="rId70"/>
      <p:italic r:id="rId71"/>
      <p:boldItalic r:id="rId72"/>
    </p:embeddedFont>
    <p:embeddedFont>
      <p:font typeface="Poppins Light"/>
      <p:regular r:id="rId73"/>
      <p:bold r:id="rId74"/>
      <p:italic r:id="rId75"/>
      <p:boldItalic r:id="rId76"/>
    </p:embeddedFont>
    <p:embeddedFont>
      <p:font typeface="Poppins Medium"/>
      <p:regular r:id="rId77"/>
      <p:bold r:id="rId78"/>
      <p:italic r:id="rId79"/>
      <p:boldItalic r:id="rId80"/>
    </p:embeddedFont>
    <p:embeddedFont>
      <p:font typeface="Poppins Black"/>
      <p:bold r:id="rId81"/>
      <p:boldItalic r:id="rId82"/>
    </p:embeddedFont>
    <p:embeddedFont>
      <p:font typeface="Poppins SemiBold"/>
      <p:regular r:id="rId83"/>
      <p:bold r:id="rId84"/>
      <p:italic r:id="rId85"/>
      <p:boldItalic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PoppinsSemiBold-bold.fntdata"/><Relationship Id="rId83" Type="http://schemas.openxmlformats.org/officeDocument/2006/relationships/font" Target="fonts/PoppinsSemiBold-regular.fntdata"/><Relationship Id="rId42" Type="http://schemas.openxmlformats.org/officeDocument/2006/relationships/slide" Target="slides/slide36.xml"/><Relationship Id="rId86" Type="http://schemas.openxmlformats.org/officeDocument/2006/relationships/font" Target="fonts/PoppinsSemiBold-boldItalic.fntdata"/><Relationship Id="rId41" Type="http://schemas.openxmlformats.org/officeDocument/2006/relationships/slide" Target="slides/slide35.xml"/><Relationship Id="rId85" Type="http://schemas.openxmlformats.org/officeDocument/2006/relationships/font" Target="fonts/PoppinsSemiBold-italic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PoppinsMedium-boldItalic.fntdata"/><Relationship Id="rId82" Type="http://schemas.openxmlformats.org/officeDocument/2006/relationships/font" Target="fonts/PoppinsBlack-boldItalic.fntdata"/><Relationship Id="rId81" Type="http://schemas.openxmlformats.org/officeDocument/2006/relationships/font" Target="fonts/Poppins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PoppinsLight-regular.fntdata"/><Relationship Id="rId72" Type="http://schemas.openxmlformats.org/officeDocument/2006/relationships/font" Target="fonts/Poppins-boldItalic.fntdata"/><Relationship Id="rId31" Type="http://schemas.openxmlformats.org/officeDocument/2006/relationships/slide" Target="slides/slide25.xml"/><Relationship Id="rId75" Type="http://schemas.openxmlformats.org/officeDocument/2006/relationships/font" Target="fonts/PoppinsLight-italic.fntdata"/><Relationship Id="rId30" Type="http://schemas.openxmlformats.org/officeDocument/2006/relationships/slide" Target="slides/slide24.xml"/><Relationship Id="rId74" Type="http://schemas.openxmlformats.org/officeDocument/2006/relationships/font" Target="fonts/PoppinsLight-bold.fntdata"/><Relationship Id="rId33" Type="http://schemas.openxmlformats.org/officeDocument/2006/relationships/slide" Target="slides/slide27.xml"/><Relationship Id="rId77" Type="http://schemas.openxmlformats.org/officeDocument/2006/relationships/font" Target="fonts/PoppinsMedium-regular.fntdata"/><Relationship Id="rId32" Type="http://schemas.openxmlformats.org/officeDocument/2006/relationships/slide" Target="slides/slide26.xml"/><Relationship Id="rId76" Type="http://schemas.openxmlformats.org/officeDocument/2006/relationships/font" Target="fonts/PoppinsLight-boldItalic.fntdata"/><Relationship Id="rId35" Type="http://schemas.openxmlformats.org/officeDocument/2006/relationships/slide" Target="slides/slide29.xml"/><Relationship Id="rId79" Type="http://schemas.openxmlformats.org/officeDocument/2006/relationships/font" Target="fonts/PoppinsMedium-italic.fntdata"/><Relationship Id="rId34" Type="http://schemas.openxmlformats.org/officeDocument/2006/relationships/slide" Target="slides/slide28.xml"/><Relationship Id="rId78" Type="http://schemas.openxmlformats.org/officeDocument/2006/relationships/font" Target="fonts/PoppinsMedium-bold.fntdata"/><Relationship Id="rId71" Type="http://schemas.openxmlformats.org/officeDocument/2006/relationships/font" Target="fonts/Poppins-italic.fntdata"/><Relationship Id="rId70" Type="http://schemas.openxmlformats.org/officeDocument/2006/relationships/font" Target="fonts/Poppins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ProximaNova-bold.fntdata"/><Relationship Id="rId21" Type="http://schemas.openxmlformats.org/officeDocument/2006/relationships/slide" Target="slides/slide15.xml"/><Relationship Id="rId65" Type="http://schemas.openxmlformats.org/officeDocument/2006/relationships/font" Target="fonts/ProximaNova-regular.fntdata"/><Relationship Id="rId24" Type="http://schemas.openxmlformats.org/officeDocument/2006/relationships/slide" Target="slides/slide18.xml"/><Relationship Id="rId68" Type="http://schemas.openxmlformats.org/officeDocument/2006/relationships/font" Target="fonts/ProximaNova-boldItalic.fntdata"/><Relationship Id="rId23" Type="http://schemas.openxmlformats.org/officeDocument/2006/relationships/slide" Target="slides/slide17.xml"/><Relationship Id="rId67" Type="http://schemas.openxmlformats.org/officeDocument/2006/relationships/font" Target="fonts/ProximaNova-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Poppins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bd6eb64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26bd6eb64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6e7784a815_2_1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26e7784a815_2_1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lang="es"/>
              <a:t>Dar una bienvenida a los estudiantes, felicitarlos por dar el paso y atreverse a venir a los clubes de CYT. Pueden terminar esta lámina con un aplauso grupal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e143a406f_1_0:notes"/>
          <p:cNvSpPr/>
          <p:nvPr>
            <p:ph idx="2" type="sldImg"/>
          </p:nvPr>
        </p:nvSpPr>
        <p:spPr>
          <a:xfrm>
            <a:off x="-1726924" y="1548984"/>
            <a:ext cx="7396800" cy="418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de143a406f_1_0:notes"/>
          <p:cNvSpPr txBox="1"/>
          <p:nvPr>
            <p:ph idx="1" type="body"/>
          </p:nvPr>
        </p:nvSpPr>
        <p:spPr>
          <a:xfrm>
            <a:off x="394212" y="5964451"/>
            <a:ext cx="3154800" cy="48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3225" lIns="46500" spcFirstLastPara="1" rIns="46500" wrap="square" tIns="23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Ovillo de lana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Objetivo: Que cada joven se presente al grupo de forma dinámica, recordar los nombres de todos y crear una red visual de conexión entre participantes.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Materiales: Un ovillo de lana grueso (mejor si es colorido) y Suficiente espacio para sentarse o formar un círculo.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Paso a paso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"/>
              <a:t>Círculo inicial — Formamos un círculo. El facilitador explica la dinámica.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"/>
              <a:t>Primera presentación — Quien comienza sostiene el ovillo, se presenta respondiendo las preguntas acordadas, sujeta el extremo del hilo y lanza el ovillo a otra persona.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Preguntas sugeridas, elijan dos o tres: </a:t>
            </a:r>
            <a:endParaRPr/>
          </a:p>
          <a:p>
            <a:pPr indent="-2984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/>
              <a:t>Mi nombre y cómo me gusta que me llamen.</a:t>
            </a:r>
            <a:endParaRPr/>
          </a:p>
          <a:p>
            <a:pPr indent="-2984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/>
              <a:t>Una cosa que me apasiona o me gusta hacer.</a:t>
            </a:r>
            <a:endParaRPr/>
          </a:p>
          <a:p>
            <a:pPr indent="-2984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/>
              <a:t>Un superpoder que me gustaría tener</a:t>
            </a:r>
            <a:endParaRPr/>
          </a:p>
          <a:p>
            <a:pPr indent="-2984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/>
              <a:t>Mi canción o artista favorito ahora mismo</a:t>
            </a:r>
            <a:endParaRPr/>
          </a:p>
          <a:p>
            <a:pPr indent="-2984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/>
              <a:t>Algo que pocos saben de mí</a:t>
            </a:r>
            <a:endParaRPr/>
          </a:p>
          <a:p>
            <a:pPr indent="-2984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/>
              <a:t>Una palabra que me define</a:t>
            </a:r>
            <a:endParaRPr/>
          </a:p>
          <a:p>
            <a:pPr indent="-2984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/>
              <a:t>Lo que espero de este espacio o grupo</a:t>
            </a:r>
            <a:endParaRPr/>
          </a:p>
          <a:p>
            <a:pPr indent="-2984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/>
              <a:t>Una comida que no puedo rechazar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"/>
              <a:t>Se va formando la red — Cada persona recibe el ovillo, se presenta, sujeta su parte del hilo y lo lanza a alguien más. Así se teje una red entre todos.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"/>
              <a:t>Cierre visual — Cuando todos se presentaron, levantan el hilo y observan la red formada. El facilitador reflexiona sobre la conexión del grupo.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"/>
              <a:t>Variante: el regreso — Quien lanzó el ovillo dice el nombre de la persona que lo recibe. Al deshacer la red, cada uno devuelve el ovillo nombrando a quien se lo dio — así practican los nombres.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Consejos: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mediador/facilitador empieza para modelar el tono (relajado y honesto).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Nadie está obligado a lanzar el ovillo a quien se sienta forzado — que sea espontáneo.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Permite silencios breves; no hay respuesta incorrecta.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Recuerda pedir que sujeten bien el hilo — ¡si alguien suelta, la red cae!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 final, puedes hacer una foto de la red formada como recuerdo del grupo.</a:t>
            </a:r>
            <a:endParaRPr/>
          </a:p>
        </p:txBody>
      </p:sp>
      <p:sp>
        <p:nvSpPr>
          <p:cNvPr id="177" name="Google Shape;177;g3de143a406f_1_0:notes"/>
          <p:cNvSpPr txBox="1"/>
          <p:nvPr>
            <p:ph idx="12" type="sldNum"/>
          </p:nvPr>
        </p:nvSpPr>
        <p:spPr>
          <a:xfrm>
            <a:off x="2233548" y="11774049"/>
            <a:ext cx="17088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23225" lIns="46500" spcFirstLastPara="1" rIns="46500" wrap="square" tIns="232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e143a406f_1_118:notes"/>
          <p:cNvSpPr txBox="1"/>
          <p:nvPr>
            <p:ph idx="1" type="body"/>
          </p:nvPr>
        </p:nvSpPr>
        <p:spPr>
          <a:xfrm>
            <a:off x="685800" y="4400551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800" lIns="89600" spcFirstLastPara="1" rIns="89600" wrap="square" tIns="4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Cómo grupo ampliado, respondemos en la cartulina/diapositiva: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Cómo me gustaria sentirme en el club?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Que acciones necesito?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Primero puede ser personal y luego con los compañeros.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Cada uno propone su compromiso, y luego se trabajan de manera grupal.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Se llega a una serie de acuerdos grupales que se refleja en la cartulina/diapositiva mediante palabras: Ej: “orden” “respeto” etc.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de143a406f_1_118:notes"/>
          <p:cNvSpPr/>
          <p:nvPr>
            <p:ph idx="2" type="sldImg"/>
          </p:nvPr>
        </p:nvSpPr>
        <p:spPr>
          <a:xfrm>
            <a:off x="701951" y="1143000"/>
            <a:ext cx="545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1354b1d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1354b1d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Mentor debe hacer preguntar a los estudiantes sobre que </a:t>
            </a:r>
            <a:r>
              <a:rPr lang="es"/>
              <a:t>emoción</a:t>
            </a:r>
            <a:r>
              <a:rPr lang="es"/>
              <a:t> interpretan del robot que </a:t>
            </a:r>
            <a:r>
              <a:rPr lang="es"/>
              <a:t>eligieron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1387429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51387429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e143a406f_1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de143a406f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c72b10d3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c72b10d3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Clubes de CYT tienen 20 clases, explicar esta línea y contarles que nos separaremos por línea en la 8 sesión.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* No olvidar que las líneas de club son por sede.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6e7784a815_2_8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26e7784a815_2_832:notes"/>
          <p:cNvSpPr txBox="1"/>
          <p:nvPr>
            <p:ph idx="1" type="body"/>
          </p:nvPr>
        </p:nvSpPr>
        <p:spPr>
          <a:xfrm>
            <a:off x="685800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175" spcFirstLastPara="1" rIns="91175" wrap="square" tIns="45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Este año todos los de nivelación van a velocistas, contar con el resto de la oferta de la sede. </a:t>
            </a:r>
            <a:endParaRPr sz="12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g26e7784a815_2_83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175" spcFirstLastPara="1" rIns="91175" wrap="square" tIns="45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0f0fc4aa9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0f0fc4aa9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0f0fc4aa9f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0f0fc4aa9f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0f0fc4aa9f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0f0fc4aa9f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0f0fc4aa9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0f0fc4aa9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0f0fc4aa9f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0f0fc4aa9f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0f0fc4aa9f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0f0fc4aa9f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0f0fc4aa9f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0f0fc4aa9f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0f0fc4aa9f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0f0fc4aa9f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0f0fc4aa9f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0f0fc4aa9f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Aquí se puede ahondar en el tema de qué es C++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0f0fc4aa9f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0f0fc4aa9f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0f0fc4aa9f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0f0fc4aa9f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0f0fc4aa9f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0f0fc4aa9f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Aquí se puede ahondar en el tema de qué es C++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0f0fc4aa9f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0f0fc4aa9f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0f0fc4aa9f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0f0fc4aa9f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Aquí se puede ahondar en el tema de qué es C++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0f0fc4aa9f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0f0fc4aa9f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0f0fc4aa9f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0f0fc4aa9f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0f0fc4aa9f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0f0fc4aa9f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2dd903c49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2dd903c49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0f0fc4aa9f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0f0fc4aa9f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51354b1d2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51354b1d2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d4c79130d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d4c79130d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MAX 5 MIN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9dc73189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bf9dc7318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0f0fc4aa9f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0f0fc4aa9f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Aquí se puede ahondar en el tema de qué es C++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c9bd4f1b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c9bd4f1b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c602b493a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2c602b493a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c9bd4f1b3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c9bd4f1b3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20f0fc4aa9f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20f0fc4aa9f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0f0fc4aa9f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20f0fc4aa9f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0f0fc4aa9f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0f0fc4aa9f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0f0fc4aa9f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20f0fc4aa9f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0f0fc4aa9f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20f0fc4aa9f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0f0fc4aa9f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0f0fc4aa9f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0f0fc4aa9f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0f0fc4aa9f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0f0fc4aa9f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0f0fc4aa9f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20f0fc4aa9f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20f0fc4aa9f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0f0fc4aa9f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20f0fc4aa9f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0f0fc4aa9f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0f0fc4aa9f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0f0fc4aa9f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0f0fc4aa9f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0f0fc4aa9f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0f0fc4aa9f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0f0fc4aa9f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20f0fc4aa9f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51224cf21c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351224cf21c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d4c92ec72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d4c92ec72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d4c92ec72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d4c92ec72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d4c92ec72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d4c92ec72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d4c92ec72d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d4c92ec72d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d4c92ec72d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3d4c92ec72d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8b4d5f6a3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7" name="Google Shape;887;g38b4d5f6a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1400"/>
              <a:t>Recalcar la idea que somos equipo a nivel de sede, más allá de los grupos individuales.</a:t>
            </a:r>
            <a:endParaRPr sz="14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8b4d5f6a3d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g38b4d5f6a3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Electrones - Metales - Electricidad - Carga - Corriente - Voltaje - Resistencia - Potencia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Protoboard - Fuentes de poder- Interruptores - Resistencias y Diodos</a:t>
            </a:r>
            <a:endParaRPr sz="14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26e5bf2cf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g26e5bf2cf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OBJEC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11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4pPr>
            <a:lvl5pPr indent="-3111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5pPr>
            <a:lvl6pPr indent="-3111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6pPr>
            <a:lvl7pPr indent="-3111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7pPr>
            <a:lvl8pPr indent="-3111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8pPr>
            <a:lvl9pPr indent="-3111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115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115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115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8" name="Google Shape;108;p23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115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0" name="Google Shape;110;p23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115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1" type="body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2" name="Google Shape;122;p25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23" name="Google Shape;123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8" name="Google Shape;128;p26"/>
          <p:cNvSpPr/>
          <p:nvPr>
            <p:ph idx="2" type="pic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6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30" name="Google Shape;130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115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115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3060476" y="2080525"/>
            <a:ext cx="3023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b="1" i="0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899950" y="1496222"/>
            <a:ext cx="73440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 b="0" i="0"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0" name="Google Shape;150;p29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11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11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11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11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jpg"/><Relationship Id="rId4" Type="http://schemas.openxmlformats.org/officeDocument/2006/relationships/image" Target="../media/image23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4.jpg"/><Relationship Id="rId5" Type="http://schemas.openxmlformats.org/officeDocument/2006/relationships/image" Target="../media/image17.jpg"/><Relationship Id="rId6" Type="http://schemas.openxmlformats.org/officeDocument/2006/relationships/image" Target="../media/image21.jpg"/><Relationship Id="rId7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0.jpg"/><Relationship Id="rId6" Type="http://schemas.openxmlformats.org/officeDocument/2006/relationships/image" Target="../media/image3.png"/><Relationship Id="rId7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jpg"/><Relationship Id="rId4" Type="http://schemas.openxmlformats.org/officeDocument/2006/relationships/image" Target="../media/image25.png"/><Relationship Id="rId5" Type="http://schemas.openxmlformats.org/officeDocument/2006/relationships/image" Target="../media/image42.png"/><Relationship Id="rId6" Type="http://schemas.openxmlformats.org/officeDocument/2006/relationships/image" Target="../media/image38.png"/><Relationship Id="rId7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Relationship Id="rId4" Type="http://schemas.openxmlformats.org/officeDocument/2006/relationships/image" Target="../media/image43.png"/><Relationship Id="rId5" Type="http://schemas.openxmlformats.org/officeDocument/2006/relationships/image" Target="../media/image6.png"/><Relationship Id="rId6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16.jp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4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jp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gif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jpg"/><Relationship Id="rId4" Type="http://schemas.openxmlformats.org/officeDocument/2006/relationships/image" Target="../media/image16.jpg"/><Relationship Id="rId5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gif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2.png"/><Relationship Id="rId4" Type="http://schemas.openxmlformats.org/officeDocument/2006/relationships/image" Target="../media/image1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1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1.png"/><Relationship Id="rId4" Type="http://schemas.openxmlformats.org/officeDocument/2006/relationships/image" Target="../media/image16.jpg"/><Relationship Id="rId5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jpg"/><Relationship Id="rId4" Type="http://schemas.openxmlformats.org/officeDocument/2006/relationships/image" Target="../media/image3.png"/><Relationship Id="rId5" Type="http://schemas.openxmlformats.org/officeDocument/2006/relationships/image" Target="../media/image72.png"/><Relationship Id="rId6" Type="http://schemas.openxmlformats.org/officeDocument/2006/relationships/image" Target="../media/image1.png"/><Relationship Id="rId7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jpg"/><Relationship Id="rId4" Type="http://schemas.openxmlformats.org/officeDocument/2006/relationships/image" Target="../media/image3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jpg"/><Relationship Id="rId4" Type="http://schemas.openxmlformats.org/officeDocument/2006/relationships/image" Target="../media/image43.png"/><Relationship Id="rId5" Type="http://schemas.openxmlformats.org/officeDocument/2006/relationships/image" Target="../media/image6.png"/><Relationship Id="rId6" Type="http://schemas.openxmlformats.org/officeDocument/2006/relationships/image" Target="../media/image1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0.png"/><Relationship Id="rId4" Type="http://schemas.openxmlformats.org/officeDocument/2006/relationships/image" Target="../media/image55.gif"/><Relationship Id="rId5" Type="http://schemas.openxmlformats.org/officeDocument/2006/relationships/image" Target="../media/image53.gif"/><Relationship Id="rId6" Type="http://schemas.openxmlformats.org/officeDocument/2006/relationships/image" Target="../media/image6.png"/><Relationship Id="rId7" Type="http://schemas.openxmlformats.org/officeDocument/2006/relationships/image" Target="../media/image16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8.gif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6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7.pn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54.jpg"/><Relationship Id="rId7" Type="http://schemas.openxmlformats.org/officeDocument/2006/relationships/image" Target="../media/image6.png"/><Relationship Id="rId8" Type="http://schemas.openxmlformats.org/officeDocument/2006/relationships/image" Target="../media/image16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8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5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6.png"/><Relationship Id="rId4" Type="http://schemas.openxmlformats.org/officeDocument/2006/relationships/image" Target="../media/image106.jpg"/><Relationship Id="rId5" Type="http://schemas.openxmlformats.org/officeDocument/2006/relationships/image" Target="../media/image62.jpg"/><Relationship Id="rId6" Type="http://schemas.openxmlformats.org/officeDocument/2006/relationships/image" Target="../media/image6.png"/><Relationship Id="rId7" Type="http://schemas.openxmlformats.org/officeDocument/2006/relationships/image" Target="../media/image16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0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Relationship Id="rId4" Type="http://schemas.openxmlformats.org/officeDocument/2006/relationships/image" Target="../media/image63.png"/><Relationship Id="rId5" Type="http://schemas.openxmlformats.org/officeDocument/2006/relationships/image" Target="../media/image16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7.jpg"/><Relationship Id="rId4" Type="http://schemas.openxmlformats.org/officeDocument/2006/relationships/image" Target="../media/image80.png"/><Relationship Id="rId5" Type="http://schemas.openxmlformats.org/officeDocument/2006/relationships/image" Target="../media/image71.jpg"/><Relationship Id="rId6" Type="http://schemas.openxmlformats.org/officeDocument/2006/relationships/image" Target="../media/image16.jpg"/><Relationship Id="rId7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8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5.jpg"/><Relationship Id="rId4" Type="http://schemas.openxmlformats.org/officeDocument/2006/relationships/image" Target="../media/image16.jpg"/><Relationship Id="rId5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5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3.jpg"/><Relationship Id="rId4" Type="http://schemas.openxmlformats.org/officeDocument/2006/relationships/image" Target="../media/image79.jpg"/><Relationship Id="rId5" Type="http://schemas.openxmlformats.org/officeDocument/2006/relationships/image" Target="../media/image74.jpg"/><Relationship Id="rId6" Type="http://schemas.openxmlformats.org/officeDocument/2006/relationships/image" Target="../media/image16.jpg"/><Relationship Id="rId7" Type="http://schemas.openxmlformats.org/officeDocument/2006/relationships/image" Target="../media/image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4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.png"/><Relationship Id="rId4" Type="http://schemas.openxmlformats.org/officeDocument/2006/relationships/image" Target="../media/image88.png"/><Relationship Id="rId5" Type="http://schemas.openxmlformats.org/officeDocument/2006/relationships/image" Target="../media/image16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image" Target="../media/image3.png"/><Relationship Id="rId6" Type="http://schemas.openxmlformats.org/officeDocument/2006/relationships/image" Target="../media/image72.png"/><Relationship Id="rId7" Type="http://schemas.openxmlformats.org/officeDocument/2006/relationships/image" Target="../media/image8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7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.png"/><Relationship Id="rId4" Type="http://schemas.openxmlformats.org/officeDocument/2006/relationships/image" Target="../media/image16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1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7.png"/><Relationship Id="rId4" Type="http://schemas.openxmlformats.org/officeDocument/2006/relationships/image" Target="../media/image6.png"/><Relationship Id="rId5" Type="http://schemas.openxmlformats.org/officeDocument/2006/relationships/image" Target="../media/image16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6.jpg"/><Relationship Id="rId4" Type="http://schemas.openxmlformats.org/officeDocument/2006/relationships/image" Target="../media/image3.png"/><Relationship Id="rId5" Type="http://schemas.openxmlformats.org/officeDocument/2006/relationships/image" Target="../media/image7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Relationship Id="rId4" Type="http://schemas.openxmlformats.org/officeDocument/2006/relationships/image" Target="../media/image93.jpg"/><Relationship Id="rId5" Type="http://schemas.openxmlformats.org/officeDocument/2006/relationships/image" Target="../media/image3.png"/><Relationship Id="rId6" Type="http://schemas.openxmlformats.org/officeDocument/2006/relationships/image" Target="../media/image92.png"/><Relationship Id="rId7" Type="http://schemas.openxmlformats.org/officeDocument/2006/relationships/image" Target="../media/image7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Relationship Id="rId4" Type="http://schemas.openxmlformats.org/officeDocument/2006/relationships/image" Target="../media/image93.jpg"/><Relationship Id="rId5" Type="http://schemas.openxmlformats.org/officeDocument/2006/relationships/image" Target="../media/image3.png"/><Relationship Id="rId6" Type="http://schemas.openxmlformats.org/officeDocument/2006/relationships/image" Target="../media/image92.png"/><Relationship Id="rId7" Type="http://schemas.openxmlformats.org/officeDocument/2006/relationships/image" Target="../media/image72.png"/></Relationships>
</file>

<file path=ppt/slides/_rels/slide5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jpg"/><Relationship Id="rId10" Type="http://schemas.openxmlformats.org/officeDocument/2006/relationships/image" Target="../media/image100.png"/><Relationship Id="rId13" Type="http://schemas.openxmlformats.org/officeDocument/2006/relationships/image" Target="../media/image104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9.jpg"/><Relationship Id="rId4" Type="http://schemas.openxmlformats.org/officeDocument/2006/relationships/image" Target="../media/image103.png"/><Relationship Id="rId9" Type="http://schemas.openxmlformats.org/officeDocument/2006/relationships/image" Target="../media/image110.png"/><Relationship Id="rId1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95.jpg"/><Relationship Id="rId7" Type="http://schemas.openxmlformats.org/officeDocument/2006/relationships/image" Target="../media/image94.png"/><Relationship Id="rId8" Type="http://schemas.openxmlformats.org/officeDocument/2006/relationships/image" Target="../media/image9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9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/>
          <p:nvPr/>
        </p:nvSpPr>
        <p:spPr>
          <a:xfrm>
            <a:off x="174544" y="3908703"/>
            <a:ext cx="8969400" cy="1234800"/>
          </a:xfrm>
          <a:prstGeom prst="rect">
            <a:avLst/>
          </a:prstGeom>
          <a:solidFill>
            <a:srgbClr val="0118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30"/>
          <p:cNvPicPr preferRelativeResize="0"/>
          <p:nvPr/>
        </p:nvPicPr>
        <p:blipFill rotWithShape="1">
          <a:blip r:embed="rId3">
            <a:alphaModFix/>
          </a:blip>
          <a:srcRect b="299" l="44748" r="0" t="-10"/>
          <a:stretch/>
        </p:blipFill>
        <p:spPr>
          <a:xfrm rot="-5400000">
            <a:off x="2617645" y="-2617647"/>
            <a:ext cx="3908705" cy="914399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0"/>
          <p:cNvSpPr/>
          <p:nvPr/>
        </p:nvSpPr>
        <p:spPr>
          <a:xfrm>
            <a:off x="1" y="0"/>
            <a:ext cx="9144000" cy="3908700"/>
          </a:xfrm>
          <a:prstGeom prst="rect">
            <a:avLst/>
          </a:prstGeom>
          <a:solidFill>
            <a:srgbClr val="002060">
              <a:alpha val="4863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4344" y="192405"/>
            <a:ext cx="2587503" cy="81259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0"/>
          <p:cNvSpPr txBox="1"/>
          <p:nvPr/>
        </p:nvSpPr>
        <p:spPr>
          <a:xfrm>
            <a:off x="861159" y="2111134"/>
            <a:ext cx="4681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Clubes de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Ciencia y Tecnología</a:t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30"/>
          <p:cNvSpPr/>
          <p:nvPr/>
        </p:nvSpPr>
        <p:spPr>
          <a:xfrm>
            <a:off x="874188" y="3545211"/>
            <a:ext cx="1544400" cy="410100"/>
          </a:xfrm>
          <a:prstGeom prst="rect">
            <a:avLst/>
          </a:prstGeom>
          <a:solidFill>
            <a:srgbClr val="0118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0"/>
          <p:cNvSpPr txBox="1"/>
          <p:nvPr/>
        </p:nvSpPr>
        <p:spPr>
          <a:xfrm>
            <a:off x="974298" y="3595017"/>
            <a:ext cx="1544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r>
              <a:rPr b="0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.04.202</a:t>
            </a: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 rot="-5400000">
            <a:off x="7433264" y="3154639"/>
            <a:ext cx="2945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30"/>
          <p:cNvSpPr txBox="1"/>
          <p:nvPr/>
        </p:nvSpPr>
        <p:spPr>
          <a:xfrm>
            <a:off x="861159" y="1529936"/>
            <a:ext cx="2443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Sesión Nº</a:t>
            </a:r>
            <a:r>
              <a:rPr lang="e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5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64" name="Google Shape;164;p30"/>
          <p:cNvCxnSpPr/>
          <p:nvPr/>
        </p:nvCxnSpPr>
        <p:spPr>
          <a:xfrm>
            <a:off x="928250" y="1864954"/>
            <a:ext cx="2015400" cy="0"/>
          </a:xfrm>
          <a:prstGeom prst="straightConnector1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5" name="Google Shape;165;p30"/>
          <p:cNvPicPr preferRelativeResize="0"/>
          <p:nvPr/>
        </p:nvPicPr>
        <p:blipFill rotWithShape="1">
          <a:blip r:embed="rId5">
            <a:alphaModFix/>
          </a:blip>
          <a:srcRect b="43844" l="31851" r="33841" t="27525"/>
          <a:stretch/>
        </p:blipFill>
        <p:spPr>
          <a:xfrm>
            <a:off x="5054055" y="1742684"/>
            <a:ext cx="3402614" cy="217103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0"/>
          <p:cNvSpPr txBox="1"/>
          <p:nvPr/>
        </p:nvSpPr>
        <p:spPr>
          <a:xfrm>
            <a:off x="874210" y="4312089"/>
            <a:ext cx="2443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Nivelación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9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392906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1"/>
          <p:cNvSpPr/>
          <p:nvPr/>
        </p:nvSpPr>
        <p:spPr>
          <a:xfrm>
            <a:off x="8165965" y="203720"/>
            <a:ext cx="806386" cy="344757"/>
          </a:xfrm>
          <a:custGeom>
            <a:rect b="b" l="l" r="r" t="t"/>
            <a:pathLst>
              <a:path extrusionOk="0" h="542925" w="1264919">
                <a:moveTo>
                  <a:pt x="179489" y="362712"/>
                </a:moveTo>
                <a:lnTo>
                  <a:pt x="0" y="362712"/>
                </a:lnTo>
                <a:lnTo>
                  <a:pt x="0" y="542201"/>
                </a:lnTo>
                <a:lnTo>
                  <a:pt x="179489" y="542201"/>
                </a:lnTo>
                <a:lnTo>
                  <a:pt x="179489" y="362712"/>
                </a:lnTo>
                <a:close/>
              </a:path>
              <a:path extrusionOk="0" h="542925" w="1264919">
                <a:moveTo>
                  <a:pt x="179489" y="685"/>
                </a:moveTo>
                <a:lnTo>
                  <a:pt x="0" y="685"/>
                </a:lnTo>
                <a:lnTo>
                  <a:pt x="0" y="180149"/>
                </a:lnTo>
                <a:lnTo>
                  <a:pt x="179489" y="180149"/>
                </a:lnTo>
                <a:lnTo>
                  <a:pt x="179489" y="685"/>
                </a:lnTo>
                <a:close/>
              </a:path>
              <a:path extrusionOk="0" h="542925" w="1264919">
                <a:moveTo>
                  <a:pt x="541299" y="362712"/>
                </a:moveTo>
                <a:lnTo>
                  <a:pt x="361810" y="362712"/>
                </a:lnTo>
                <a:lnTo>
                  <a:pt x="361810" y="542201"/>
                </a:lnTo>
                <a:lnTo>
                  <a:pt x="541299" y="542201"/>
                </a:lnTo>
                <a:lnTo>
                  <a:pt x="541299" y="362712"/>
                </a:lnTo>
                <a:close/>
              </a:path>
              <a:path extrusionOk="0" h="542925" w="1264919">
                <a:moveTo>
                  <a:pt x="541299" y="685"/>
                </a:moveTo>
                <a:lnTo>
                  <a:pt x="361810" y="685"/>
                </a:lnTo>
                <a:lnTo>
                  <a:pt x="361810" y="180149"/>
                </a:lnTo>
                <a:lnTo>
                  <a:pt x="541299" y="180149"/>
                </a:lnTo>
                <a:lnTo>
                  <a:pt x="541299" y="685"/>
                </a:lnTo>
                <a:close/>
              </a:path>
              <a:path extrusionOk="0" h="542925" w="1264919">
                <a:moveTo>
                  <a:pt x="903719" y="0"/>
                </a:moveTo>
                <a:lnTo>
                  <a:pt x="724230" y="0"/>
                </a:lnTo>
                <a:lnTo>
                  <a:pt x="724230" y="542874"/>
                </a:lnTo>
                <a:lnTo>
                  <a:pt x="903719" y="542874"/>
                </a:lnTo>
                <a:lnTo>
                  <a:pt x="903719" y="0"/>
                </a:lnTo>
                <a:close/>
              </a:path>
              <a:path extrusionOk="0" h="542925" w="1264919">
                <a:moveTo>
                  <a:pt x="1264907" y="0"/>
                </a:moveTo>
                <a:lnTo>
                  <a:pt x="1085418" y="0"/>
                </a:lnTo>
                <a:lnTo>
                  <a:pt x="1085418" y="542874"/>
                </a:lnTo>
                <a:lnTo>
                  <a:pt x="1264907" y="542874"/>
                </a:lnTo>
                <a:lnTo>
                  <a:pt x="126490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1"/>
          <p:cNvSpPr txBox="1"/>
          <p:nvPr/>
        </p:nvSpPr>
        <p:spPr>
          <a:xfrm>
            <a:off x="-42071" y="2248538"/>
            <a:ext cx="922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¡¡Bienvenidos a los </a:t>
            </a:r>
            <a:r>
              <a:rPr lang="es" sz="3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Clubes de CYT</a:t>
            </a:r>
            <a:r>
              <a:rPr lang="es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!!</a:t>
            </a:r>
            <a:endParaRPr sz="3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2"/>
          <p:cNvPicPr preferRelativeResize="0"/>
          <p:nvPr/>
        </p:nvPicPr>
        <p:blipFill rotWithShape="1">
          <a:blip r:embed="rId3">
            <a:alphaModFix/>
          </a:blip>
          <a:srcRect b="15789" l="0" r="0" t="0"/>
          <a:stretch/>
        </p:blipFill>
        <p:spPr>
          <a:xfrm>
            <a:off x="-1" y="0"/>
            <a:ext cx="91576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2"/>
          <p:cNvSpPr/>
          <p:nvPr/>
        </p:nvSpPr>
        <p:spPr>
          <a:xfrm>
            <a:off x="0" y="0"/>
            <a:ext cx="9157800" cy="5143500"/>
          </a:xfrm>
          <a:prstGeom prst="rect">
            <a:avLst/>
          </a:prstGeom>
          <a:solidFill>
            <a:srgbClr val="000000">
              <a:alpha val="4824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4964030" y="2212538"/>
            <a:ext cx="40965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oppins"/>
              <a:buAutoNum type="arabicPeriod"/>
            </a:pPr>
            <a:r>
              <a:rPr b="0" i="0" lang="es" sz="21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JUEGO</a:t>
            </a:r>
            <a:endParaRPr b="0" i="0" sz="11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  ROMPEHIELO</a:t>
            </a:r>
            <a:endParaRPr b="1" i="0" sz="21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4764710" y="2111146"/>
            <a:ext cx="0" cy="9213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32"/>
          <p:cNvSpPr txBox="1"/>
          <p:nvPr/>
        </p:nvSpPr>
        <p:spPr>
          <a:xfrm>
            <a:off x="189129" y="4801377"/>
            <a:ext cx="2007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4" name="Google Shape;184;p32"/>
          <p:cNvPicPr preferRelativeResize="0"/>
          <p:nvPr/>
        </p:nvPicPr>
        <p:blipFill rotWithShape="1">
          <a:blip r:embed="rId4">
            <a:alphaModFix/>
          </a:blip>
          <a:srcRect b="28176" l="26172" r="21105" t="25635"/>
          <a:stretch/>
        </p:blipFill>
        <p:spPr>
          <a:xfrm>
            <a:off x="3049824" y="1973873"/>
            <a:ext cx="1617710" cy="1062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5001" y="63549"/>
            <a:ext cx="819695" cy="491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49" y="4594519"/>
            <a:ext cx="711685" cy="47321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3"/>
          <p:cNvSpPr/>
          <p:nvPr/>
        </p:nvSpPr>
        <p:spPr>
          <a:xfrm>
            <a:off x="7443800" y="-22900"/>
            <a:ext cx="1700100" cy="1727100"/>
          </a:xfrm>
          <a:prstGeom prst="rect">
            <a:avLst/>
          </a:prstGeom>
          <a:solidFill>
            <a:srgbClr val="57B48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3"/>
          <p:cNvSpPr/>
          <p:nvPr/>
        </p:nvSpPr>
        <p:spPr>
          <a:xfrm>
            <a:off x="3357900" y="1698844"/>
            <a:ext cx="2428200" cy="1788600"/>
          </a:xfrm>
          <a:prstGeom prst="rect">
            <a:avLst/>
          </a:prstGeom>
          <a:solidFill>
            <a:srgbClr val="E5007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3"/>
          <p:cNvSpPr/>
          <p:nvPr/>
        </p:nvSpPr>
        <p:spPr>
          <a:xfrm>
            <a:off x="1639163" y="3482644"/>
            <a:ext cx="3228000" cy="1683600"/>
          </a:xfrm>
          <a:prstGeom prst="rect">
            <a:avLst/>
          </a:prstGeom>
          <a:solidFill>
            <a:srgbClr val="E86D1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3"/>
          <p:cNvSpPr/>
          <p:nvPr/>
        </p:nvSpPr>
        <p:spPr>
          <a:xfrm rot="-7900291">
            <a:off x="3244269" y="2459860"/>
            <a:ext cx="263063" cy="231622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3"/>
          <p:cNvSpPr/>
          <p:nvPr/>
        </p:nvSpPr>
        <p:spPr>
          <a:xfrm rot="-2497687">
            <a:off x="5346111" y="3313174"/>
            <a:ext cx="263287" cy="231622"/>
          </a:xfrm>
          <a:prstGeom prst="rtTriangle">
            <a:avLst/>
          </a:prstGeom>
          <a:solidFill>
            <a:srgbClr val="E5007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33" title="0124_Programando con MIT_6.jpg"/>
          <p:cNvPicPr preferRelativeResize="0"/>
          <p:nvPr/>
        </p:nvPicPr>
        <p:blipFill rotWithShape="1">
          <a:blip r:embed="rId4">
            <a:alphaModFix/>
          </a:blip>
          <a:srcRect b="10376" l="8551" r="0" t="34985"/>
          <a:stretch/>
        </p:blipFill>
        <p:spPr>
          <a:xfrm>
            <a:off x="3400200" y="0"/>
            <a:ext cx="4277025" cy="1704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3" title="1706_Visitas Pedagógicas_CJ_28.jpg"/>
          <p:cNvPicPr preferRelativeResize="0"/>
          <p:nvPr/>
        </p:nvPicPr>
        <p:blipFill rotWithShape="1">
          <a:blip r:embed="rId5">
            <a:alphaModFix/>
          </a:blip>
          <a:srcRect b="925" l="6849" r="19982" t="630"/>
          <a:stretch/>
        </p:blipFill>
        <p:spPr>
          <a:xfrm>
            <a:off x="0" y="1704375"/>
            <a:ext cx="1700100" cy="343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3" title="0911_FIRVI_CyT_162 (1).jpg"/>
          <p:cNvPicPr preferRelativeResize="0"/>
          <p:nvPr/>
        </p:nvPicPr>
        <p:blipFill rotWithShape="1">
          <a:blip r:embed="rId6">
            <a:alphaModFix/>
          </a:blip>
          <a:srcRect b="0" l="4834" r="25514" t="0"/>
          <a:stretch/>
        </p:blipFill>
        <p:spPr>
          <a:xfrm>
            <a:off x="5786100" y="1698844"/>
            <a:ext cx="1891125" cy="180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3" title="1023_CF_Permanente_G1_MQ_ (82 de 94).JPG"/>
          <p:cNvPicPr preferRelativeResize="0"/>
          <p:nvPr/>
        </p:nvPicPr>
        <p:blipFill rotWithShape="1">
          <a:blip r:embed="rId7">
            <a:alphaModFix/>
          </a:blip>
          <a:srcRect b="1467" l="16066" r="28989" t="3899"/>
          <a:stretch/>
        </p:blipFill>
        <p:spPr>
          <a:xfrm>
            <a:off x="3400200" y="3482550"/>
            <a:ext cx="1466775" cy="1683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3"/>
          <p:cNvSpPr/>
          <p:nvPr/>
        </p:nvSpPr>
        <p:spPr>
          <a:xfrm>
            <a:off x="1700100" y="1703569"/>
            <a:ext cx="1700100" cy="177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3"/>
          <p:cNvSpPr txBox="1"/>
          <p:nvPr/>
        </p:nvSpPr>
        <p:spPr>
          <a:xfrm>
            <a:off x="-3136104" y="978075"/>
            <a:ext cx="189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Compromiso 1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33"/>
          <p:cNvSpPr/>
          <p:nvPr/>
        </p:nvSpPr>
        <p:spPr>
          <a:xfrm>
            <a:off x="4866975" y="3465113"/>
            <a:ext cx="2810400" cy="168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highlight>
                <a:schemeClr val="accent5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3"/>
          <p:cNvSpPr/>
          <p:nvPr/>
        </p:nvSpPr>
        <p:spPr>
          <a:xfrm rot="-2500291">
            <a:off x="5180939" y="3339088"/>
            <a:ext cx="263063" cy="231598"/>
          </a:xfrm>
          <a:prstGeom prst="rtTriangle">
            <a:avLst/>
          </a:prstGeom>
          <a:solidFill>
            <a:srgbClr val="E5007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3"/>
          <p:cNvSpPr/>
          <p:nvPr/>
        </p:nvSpPr>
        <p:spPr>
          <a:xfrm rot="-2500291">
            <a:off x="2397576" y="3356459"/>
            <a:ext cx="263063" cy="231598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3"/>
          <p:cNvSpPr/>
          <p:nvPr/>
        </p:nvSpPr>
        <p:spPr>
          <a:xfrm>
            <a:off x="7677188" y="3461850"/>
            <a:ext cx="1466700" cy="16836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sng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3"/>
          <p:cNvSpPr/>
          <p:nvPr/>
        </p:nvSpPr>
        <p:spPr>
          <a:xfrm rot="-7900291">
            <a:off x="7530500" y="4187932"/>
            <a:ext cx="263063" cy="231622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3"/>
          <p:cNvSpPr/>
          <p:nvPr/>
        </p:nvSpPr>
        <p:spPr>
          <a:xfrm>
            <a:off x="7677225" y="1697850"/>
            <a:ext cx="1466700" cy="1779000"/>
          </a:xfrm>
          <a:prstGeom prst="rect">
            <a:avLst/>
          </a:prstGeom>
          <a:solidFill>
            <a:srgbClr val="FF92B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sng" cap="none" strike="noStrike">
              <a:solidFill>
                <a:schemeClr val="accent4"/>
              </a:solidFill>
              <a:highlight>
                <a:srgbClr val="000F9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3"/>
          <p:cNvSpPr/>
          <p:nvPr/>
        </p:nvSpPr>
        <p:spPr>
          <a:xfrm rot="8233008">
            <a:off x="8294768" y="3364086"/>
            <a:ext cx="263241" cy="231616"/>
          </a:xfrm>
          <a:prstGeom prst="rtTriangle">
            <a:avLst/>
          </a:prstGeom>
          <a:solidFill>
            <a:srgbClr val="FFB1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3"/>
          <p:cNvSpPr/>
          <p:nvPr/>
        </p:nvSpPr>
        <p:spPr>
          <a:xfrm rot="-2500291">
            <a:off x="8313855" y="1581332"/>
            <a:ext cx="263063" cy="231598"/>
          </a:xfrm>
          <a:prstGeom prst="rtTriangle">
            <a:avLst/>
          </a:prstGeom>
          <a:solidFill>
            <a:srgbClr val="57B48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" name="Google Shape;210;p33"/>
          <p:cNvGrpSpPr/>
          <p:nvPr/>
        </p:nvGrpSpPr>
        <p:grpSpPr>
          <a:xfrm>
            <a:off x="0" y="0"/>
            <a:ext cx="3569126" cy="1727100"/>
            <a:chOff x="0" y="-9"/>
            <a:chExt cx="1784474" cy="1727100"/>
          </a:xfrm>
        </p:grpSpPr>
        <p:sp>
          <p:nvSpPr>
            <p:cNvPr id="211" name="Google Shape;211;p33"/>
            <p:cNvSpPr/>
            <p:nvPr/>
          </p:nvSpPr>
          <p:spPr>
            <a:xfrm>
              <a:off x="0" y="-9"/>
              <a:ext cx="1700100" cy="1727100"/>
            </a:xfrm>
            <a:prstGeom prst="rect">
              <a:avLst/>
            </a:prstGeom>
            <a:solidFill>
              <a:srgbClr val="CDD5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3"/>
            <p:cNvSpPr/>
            <p:nvPr/>
          </p:nvSpPr>
          <p:spPr>
            <a:xfrm rot="-7897635">
              <a:off x="1526443" y="741586"/>
              <a:ext cx="227163" cy="184660"/>
            </a:xfrm>
            <a:prstGeom prst="rtTriangle">
              <a:avLst/>
            </a:prstGeom>
            <a:solidFill>
              <a:srgbClr val="CDD5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33"/>
          <p:cNvSpPr txBox="1"/>
          <p:nvPr/>
        </p:nvSpPr>
        <p:spPr>
          <a:xfrm>
            <a:off x="192625" y="351750"/>
            <a:ext cx="30372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31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Nuestros</a:t>
            </a:r>
            <a:endParaRPr b="1" i="0" sz="31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s" sz="3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Compromisos</a:t>
            </a:r>
            <a:endParaRPr b="1" i="0" sz="31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-3136104" y="1512475"/>
            <a:ext cx="189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Compromiso 1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-3136104" y="2046875"/>
            <a:ext cx="189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Compromiso 1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33"/>
          <p:cNvSpPr txBox="1"/>
          <p:nvPr/>
        </p:nvSpPr>
        <p:spPr>
          <a:xfrm>
            <a:off x="-3136104" y="2581275"/>
            <a:ext cx="189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Compromiso 1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4"/>
          <p:cNvPicPr preferRelativeResize="0"/>
          <p:nvPr/>
        </p:nvPicPr>
        <p:blipFill rotWithShape="1">
          <a:blip r:embed="rId3">
            <a:alphaModFix/>
          </a:blip>
          <a:srcRect b="68756" l="25893" r="0" t="0"/>
          <a:stretch/>
        </p:blipFill>
        <p:spPr>
          <a:xfrm rot="5400000">
            <a:off x="-1140929" y="1116585"/>
            <a:ext cx="5172836" cy="2890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4"/>
          <p:cNvSpPr/>
          <p:nvPr/>
        </p:nvSpPr>
        <p:spPr>
          <a:xfrm>
            <a:off x="0" y="-20614"/>
            <a:ext cx="2901600" cy="5172900"/>
          </a:xfrm>
          <a:prstGeom prst="rect">
            <a:avLst/>
          </a:prstGeom>
          <a:solidFill>
            <a:srgbClr val="000000">
              <a:alpha val="333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113" y="623393"/>
            <a:ext cx="5104614" cy="42126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4"/>
          <p:cNvSpPr/>
          <p:nvPr/>
        </p:nvSpPr>
        <p:spPr>
          <a:xfrm>
            <a:off x="5929973" y="4016068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3186772" y="4016068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5929973" y="2671362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4"/>
          <p:cNvSpPr/>
          <p:nvPr/>
        </p:nvSpPr>
        <p:spPr>
          <a:xfrm>
            <a:off x="3186772" y="2671362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4"/>
          <p:cNvSpPr/>
          <p:nvPr/>
        </p:nvSpPr>
        <p:spPr>
          <a:xfrm>
            <a:off x="5929973" y="1003927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3186772" y="1003927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4"/>
          <p:cNvSpPr txBox="1"/>
          <p:nvPr/>
        </p:nvSpPr>
        <p:spPr>
          <a:xfrm>
            <a:off x="431273" y="1350001"/>
            <a:ext cx="21066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775" lIns="75575" spcFirstLastPara="1" rIns="75575" wrap="square" tIns="377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3"/>
              <a:buFont typeface="Calibri"/>
              <a:buNone/>
            </a:pPr>
            <a:r>
              <a:rPr b="1" i="0" lang="es" sz="2400" u="none" cap="none" strike="noStrike">
                <a:solidFill>
                  <a:srgbClr val="71C9EB"/>
                </a:solidFill>
                <a:latin typeface="Poppins"/>
                <a:ea typeface="Poppins"/>
                <a:cs typeface="Poppins"/>
                <a:sym typeface="Poppins"/>
              </a:rPr>
              <a:t>¿QUÉ ROBOT </a:t>
            </a:r>
            <a:r>
              <a:rPr b="0" i="0" lang="e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SOMOS HOY?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" name="Google Shape;231;p34"/>
          <p:cNvSpPr txBox="1"/>
          <p:nvPr/>
        </p:nvSpPr>
        <p:spPr>
          <a:xfrm>
            <a:off x="3259033" y="103619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34"/>
          <p:cNvSpPr txBox="1"/>
          <p:nvPr/>
        </p:nvSpPr>
        <p:spPr>
          <a:xfrm>
            <a:off x="3230470" y="2703629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3219837" y="405730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" name="Google Shape;234;p34"/>
          <p:cNvSpPr txBox="1"/>
          <p:nvPr/>
        </p:nvSpPr>
        <p:spPr>
          <a:xfrm>
            <a:off x="5978574" y="103619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34"/>
          <p:cNvSpPr txBox="1"/>
          <p:nvPr/>
        </p:nvSpPr>
        <p:spPr>
          <a:xfrm>
            <a:off x="5957308" y="2703629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p34"/>
          <p:cNvSpPr txBox="1"/>
          <p:nvPr/>
        </p:nvSpPr>
        <p:spPr>
          <a:xfrm>
            <a:off x="5978574" y="405730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7" name="Google Shape;23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3AE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4010" y="1392406"/>
            <a:ext cx="3360338" cy="292586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5"/>
          <p:cNvSpPr txBox="1"/>
          <p:nvPr/>
        </p:nvSpPr>
        <p:spPr>
          <a:xfrm>
            <a:off x="2259727" y="893230"/>
            <a:ext cx="4624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 TU ENTORNO Y PONTE CÓMODO PARA TRABAJAR</a:t>
            </a:r>
            <a:b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4" name="Google Shape;24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5002" y="63549"/>
            <a:ext cx="819695" cy="49123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5"/>
          <p:cNvSpPr txBox="1"/>
          <p:nvPr/>
        </p:nvSpPr>
        <p:spPr>
          <a:xfrm>
            <a:off x="189130" y="4801377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/>
          <p:nvPr/>
        </p:nvSpPr>
        <p:spPr>
          <a:xfrm>
            <a:off x="2889190" y="-6900"/>
            <a:ext cx="6254700" cy="5143500"/>
          </a:xfrm>
          <a:prstGeom prst="rect">
            <a:avLst/>
          </a:prstGeom>
          <a:solidFill>
            <a:srgbClr val="B4D3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36"/>
          <p:cNvPicPr preferRelativeResize="0"/>
          <p:nvPr/>
        </p:nvPicPr>
        <p:blipFill rotWithShape="1">
          <a:blip r:embed="rId3">
            <a:alphaModFix amt="33000"/>
          </a:blip>
          <a:srcRect b="0" l="50261" r="0" t="0"/>
          <a:stretch/>
        </p:blipFill>
        <p:spPr>
          <a:xfrm>
            <a:off x="5902035" y="-34234"/>
            <a:ext cx="33107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2995211" y="-1514655"/>
            <a:ext cx="6113262" cy="8172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36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254" name="Google Shape;254;p36"/>
            <p:cNvPicPr preferRelativeResize="0"/>
            <p:nvPr/>
          </p:nvPicPr>
          <p:blipFill rotWithShape="1">
            <a:blip r:embed="rId5">
              <a:alphaModFix/>
            </a:blip>
            <a:srcRect b="68755" l="25893" r="0" t="0"/>
            <a:stretch/>
          </p:blipFill>
          <p:spPr>
            <a:xfrm rot="5400000">
              <a:off x="-1130295" y="1116585"/>
              <a:ext cx="5172836" cy="2890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3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36"/>
          <p:cNvSpPr txBox="1"/>
          <p:nvPr/>
        </p:nvSpPr>
        <p:spPr>
          <a:xfrm rot="-894">
            <a:off x="119568" y="1912353"/>
            <a:ext cx="34599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 de la sesión</a:t>
            </a:r>
            <a:endParaRPr b="1" i="0" sz="24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6"/>
          <p:cNvSpPr txBox="1"/>
          <p:nvPr/>
        </p:nvSpPr>
        <p:spPr>
          <a:xfrm>
            <a:off x="3912125" y="609770"/>
            <a:ext cx="4558800" cy="39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AutoNum type="arabicPeriod"/>
            </a:pPr>
            <a: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Conocernos</a:t>
            </a:r>
            <a:r>
              <a:rPr lang="es" sz="1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cómo grupo y empezar a construir vínculos auténticos que fortalezcan nuestra c</a:t>
            </a:r>
            <a: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omunicación, colaboración</a:t>
            </a:r>
            <a:r>
              <a:rPr lang="es" sz="1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y </a:t>
            </a:r>
            <a: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sentido de pertenencia</a:t>
            </a:r>
            <a:r>
              <a:rPr lang="es" sz="1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como comunidad.</a:t>
            </a:r>
            <a:endParaRPr b="1"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 Medium"/>
              <a:buAutoNum type="arabicPeriod"/>
            </a:pPr>
            <a: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Co-construir acuerdos </a:t>
            </a:r>
            <a:r>
              <a:rPr lang="es" sz="1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que nos permitan crecer juntos como un grupo, donde cada voz y experiencia enriquezca el aprendizaje colectivo.</a:t>
            </a:r>
            <a:endParaRPr sz="16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AutoNum type="arabicPeriod"/>
            </a:pPr>
            <a:r>
              <a:rPr lang="es" sz="1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Aprenderemos  sobre electrónica, sus componentes básicos y realizaremos varios desafíos.</a:t>
            </a:r>
            <a:endParaRPr b="0" i="0" sz="160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59" name="Google Shape;259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128" y="3335674"/>
            <a:ext cx="1365666" cy="1534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>
            <p:ph type="ctrTitle"/>
          </p:nvPr>
        </p:nvSpPr>
        <p:spPr>
          <a:xfrm>
            <a:off x="112" y="113588"/>
            <a:ext cx="9144000" cy="78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b="1" lang="es" sz="3500">
                <a:solidFill>
                  <a:srgbClr val="011893"/>
                </a:solidFill>
                <a:latin typeface="Poppins"/>
                <a:ea typeface="Poppins"/>
                <a:cs typeface="Poppins"/>
                <a:sym typeface="Poppins"/>
              </a:rPr>
              <a:t>¿Qué aprenderemos este año?</a:t>
            </a:r>
            <a:endParaRPr b="1" sz="3500">
              <a:solidFill>
                <a:srgbClr val="01189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p37"/>
          <p:cNvSpPr/>
          <p:nvPr/>
        </p:nvSpPr>
        <p:spPr>
          <a:xfrm>
            <a:off x="209000" y="1687025"/>
            <a:ext cx="5516100" cy="18855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rgbClr val="0B109F"/>
                </a:solidFill>
                <a:latin typeface="Poppins"/>
                <a:ea typeface="Poppins"/>
                <a:cs typeface="Poppins"/>
                <a:sym typeface="Poppins"/>
              </a:rPr>
              <a:t>Nivelación en Arduino, electrónica y robótica general</a:t>
            </a:r>
            <a:endParaRPr sz="2000">
              <a:solidFill>
                <a:srgbClr val="0B109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37"/>
          <p:cNvSpPr txBox="1"/>
          <p:nvPr>
            <p:ph idx="4294967295" type="title"/>
          </p:nvPr>
        </p:nvSpPr>
        <p:spPr>
          <a:xfrm>
            <a:off x="208995" y="1114325"/>
            <a:ext cx="551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s" sz="2200">
                <a:solidFill>
                  <a:srgbClr val="0B109F"/>
                </a:solidFill>
                <a:latin typeface="Poppins"/>
                <a:ea typeface="Poppins"/>
                <a:cs typeface="Poppins"/>
                <a:sym typeface="Poppins"/>
              </a:rPr>
              <a:t>Sesiones 1 → 10</a:t>
            </a:r>
            <a:endParaRPr sz="2200">
              <a:solidFill>
                <a:srgbClr val="0B109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" name="Google Shape;267;p37"/>
          <p:cNvSpPr/>
          <p:nvPr/>
        </p:nvSpPr>
        <p:spPr>
          <a:xfrm rot="5400000">
            <a:off x="2882810" y="1084406"/>
            <a:ext cx="200400" cy="5516100"/>
          </a:xfrm>
          <a:prstGeom prst="rightBrace">
            <a:avLst>
              <a:gd fmla="val 50000" name="adj1"/>
              <a:gd fmla="val 4993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68" name="Google Shape;268;p37"/>
          <p:cNvSpPr txBox="1"/>
          <p:nvPr>
            <p:ph idx="4294967295" type="title"/>
          </p:nvPr>
        </p:nvSpPr>
        <p:spPr>
          <a:xfrm>
            <a:off x="224828" y="4054584"/>
            <a:ext cx="551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baseline="30000" lang="es" u="sng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Semestre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37"/>
          <p:cNvSpPr/>
          <p:nvPr/>
        </p:nvSpPr>
        <p:spPr>
          <a:xfrm>
            <a:off x="6333575" y="1687025"/>
            <a:ext cx="2506200" cy="18855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rgbClr val="0B109F"/>
                </a:solidFill>
                <a:latin typeface="Poppins"/>
                <a:ea typeface="Poppins"/>
                <a:cs typeface="Poppins"/>
                <a:sym typeface="Poppins"/>
              </a:rPr>
              <a:t>Especial</a:t>
            </a:r>
            <a:r>
              <a:rPr lang="es" sz="2000">
                <a:solidFill>
                  <a:srgbClr val="0B109F"/>
                </a:solidFill>
                <a:latin typeface="Poppins"/>
                <a:ea typeface="Poppins"/>
                <a:cs typeface="Poppins"/>
                <a:sym typeface="Poppins"/>
              </a:rPr>
              <a:t>ización</a:t>
            </a:r>
            <a:r>
              <a:rPr lang="es" sz="2000">
                <a:solidFill>
                  <a:srgbClr val="0B109F"/>
                </a:solidFill>
                <a:latin typeface="Poppins"/>
                <a:ea typeface="Poppins"/>
                <a:cs typeface="Poppins"/>
                <a:sym typeface="Poppins"/>
              </a:rPr>
              <a:t> en velocistas </a:t>
            </a:r>
            <a:endParaRPr sz="2000">
              <a:solidFill>
                <a:srgbClr val="0B109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37"/>
          <p:cNvSpPr txBox="1"/>
          <p:nvPr>
            <p:ph idx="4294967295" type="title"/>
          </p:nvPr>
        </p:nvSpPr>
        <p:spPr>
          <a:xfrm>
            <a:off x="6333576" y="1114331"/>
            <a:ext cx="25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0B109F"/>
                </a:solidFill>
                <a:latin typeface="Poppins"/>
                <a:ea typeface="Poppins"/>
                <a:cs typeface="Poppins"/>
                <a:sym typeface="Poppins"/>
              </a:rPr>
              <a:t>Sesiones</a:t>
            </a:r>
            <a:r>
              <a:rPr lang="es" sz="2200">
                <a:solidFill>
                  <a:srgbClr val="0B109F"/>
                </a:solidFill>
                <a:latin typeface="Poppins"/>
                <a:ea typeface="Poppins"/>
                <a:cs typeface="Poppins"/>
                <a:sym typeface="Poppins"/>
              </a:rPr>
              <a:t> 11</a:t>
            </a:r>
            <a:r>
              <a:rPr lang="es" sz="2200">
                <a:solidFill>
                  <a:srgbClr val="0B109F"/>
                </a:solidFill>
                <a:latin typeface="Poppins"/>
                <a:ea typeface="Poppins"/>
                <a:cs typeface="Poppins"/>
                <a:sym typeface="Poppins"/>
              </a:rPr>
              <a:t> → 20</a:t>
            </a:r>
            <a:endParaRPr sz="2200">
              <a:solidFill>
                <a:srgbClr val="0B109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37"/>
          <p:cNvSpPr txBox="1"/>
          <p:nvPr>
            <p:ph idx="4294967295" type="title"/>
          </p:nvPr>
        </p:nvSpPr>
        <p:spPr>
          <a:xfrm>
            <a:off x="6333577" y="4054594"/>
            <a:ext cx="25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aseline="30000" lang="es" u="sng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do</a:t>
            </a: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Semestre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p37"/>
          <p:cNvSpPr/>
          <p:nvPr/>
        </p:nvSpPr>
        <p:spPr>
          <a:xfrm rot="5400000">
            <a:off x="7486454" y="2575556"/>
            <a:ext cx="200400" cy="2533800"/>
          </a:xfrm>
          <a:prstGeom prst="rightBrace">
            <a:avLst>
              <a:gd fmla="val 50000" name="adj1"/>
              <a:gd fmla="val 4993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73" name="Google Shape;273;p37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209006" y="133807"/>
            <a:ext cx="507701" cy="2284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37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75" name="Google Shape;275;p37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3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37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/>
          <p:nvPr/>
        </p:nvSpPr>
        <p:spPr>
          <a:xfrm>
            <a:off x="0" y="-4481"/>
            <a:ext cx="9156000" cy="534600"/>
          </a:xfrm>
          <a:prstGeom prst="rect">
            <a:avLst/>
          </a:prstGeom>
          <a:solidFill>
            <a:srgbClr val="0B109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" sz="23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s" sz="23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Líneas de trabajo: </a:t>
            </a:r>
            <a:r>
              <a:rPr b="1" i="0" lang="es" sz="23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Clubes de Ciencia y Tecnología</a:t>
            </a:r>
            <a:endParaRPr b="1" i="0" sz="23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4" name="Google Shape;284;p38"/>
          <p:cNvPicPr preferRelativeResize="0"/>
          <p:nvPr/>
        </p:nvPicPr>
        <p:blipFill rotWithShape="1">
          <a:blip r:embed="rId3">
            <a:alphaModFix/>
          </a:blip>
          <a:srcRect b="20919" l="22514" r="13942" t="18866"/>
          <a:stretch/>
        </p:blipFill>
        <p:spPr>
          <a:xfrm>
            <a:off x="5986800" y="681163"/>
            <a:ext cx="2763759" cy="3593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8" title="Captura de pantalla 2026-01-27 155836.png"/>
          <p:cNvPicPr preferRelativeResize="0"/>
          <p:nvPr/>
        </p:nvPicPr>
        <p:blipFill rotWithShape="1">
          <a:blip r:embed="rId4">
            <a:alphaModFix/>
          </a:blip>
          <a:srcRect b="0" l="26795" r="26790" t="0"/>
          <a:stretch/>
        </p:blipFill>
        <p:spPr>
          <a:xfrm>
            <a:off x="3057375" y="681162"/>
            <a:ext cx="2553050" cy="359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8" title="Captura de pantalla 2026-01-27 160113.png"/>
          <p:cNvPicPr preferRelativeResize="0"/>
          <p:nvPr/>
        </p:nvPicPr>
        <p:blipFill rotWithShape="1">
          <a:blip r:embed="rId5">
            <a:alphaModFix/>
          </a:blip>
          <a:srcRect b="0" l="26443" r="26447" t="0"/>
          <a:stretch/>
        </p:blipFill>
        <p:spPr>
          <a:xfrm>
            <a:off x="393296" y="681154"/>
            <a:ext cx="2410524" cy="359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8"/>
          <p:cNvSpPr txBox="1"/>
          <p:nvPr/>
        </p:nvSpPr>
        <p:spPr>
          <a:xfrm>
            <a:off x="1361345" y="4078810"/>
            <a:ext cx="1443000" cy="390900"/>
          </a:xfrm>
          <a:prstGeom prst="rect">
            <a:avLst/>
          </a:prstGeom>
          <a:solidFill>
            <a:srgbClr val="FFC004"/>
          </a:solidFill>
          <a:ln>
            <a:noFill/>
          </a:ln>
        </p:spPr>
        <p:txBody>
          <a:bodyPr anchorCtr="0" anchor="ctr" bIns="34300" lIns="68575" spcFirstLastPara="1" rIns="68575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EA0"/>
              </a:buClr>
              <a:buSzPts val="700"/>
              <a:buFont typeface="Arial"/>
              <a:buNone/>
            </a:pPr>
            <a:r>
              <a:rPr b="1" i="0" lang="es" sz="17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Velocistas</a:t>
            </a:r>
            <a:endParaRPr b="1" i="0" sz="17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3612400" y="4078800"/>
            <a:ext cx="1998000" cy="390900"/>
          </a:xfrm>
          <a:prstGeom prst="rect">
            <a:avLst/>
          </a:prstGeom>
          <a:solidFill>
            <a:srgbClr val="FFC004"/>
          </a:solidFill>
          <a:ln>
            <a:noFill/>
          </a:ln>
        </p:spPr>
        <p:txBody>
          <a:bodyPr anchorCtr="0" anchor="ctr" bIns="34300" lIns="68575" spcFirstLastPara="1" rIns="68575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EA0"/>
              </a:buClr>
              <a:buSzPts val="700"/>
              <a:buFont typeface="Arial"/>
              <a:buNone/>
            </a:pPr>
            <a:r>
              <a:rPr b="1" lang="es" sz="17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  Videojuegos</a:t>
            </a:r>
            <a:endParaRPr b="1" i="0" sz="17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9" name="Google Shape;289;p38"/>
          <p:cNvPicPr preferRelativeResize="0"/>
          <p:nvPr/>
        </p:nvPicPr>
        <p:blipFill rotWithShape="1">
          <a:blip r:embed="rId6">
            <a:alphaModFix/>
          </a:blip>
          <a:srcRect b="0" l="24628" r="17722" t="0"/>
          <a:stretch/>
        </p:blipFill>
        <p:spPr>
          <a:xfrm>
            <a:off x="5863575" y="681163"/>
            <a:ext cx="2887125" cy="36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8"/>
          <p:cNvSpPr/>
          <p:nvPr/>
        </p:nvSpPr>
        <p:spPr>
          <a:xfrm>
            <a:off x="8359634" y="117639"/>
            <a:ext cx="667245" cy="286393"/>
          </a:xfrm>
          <a:custGeom>
            <a:rect b="b" l="l" r="r" t="t"/>
            <a:pathLst>
              <a:path extrusionOk="0" h="542925" w="1264919">
                <a:moveTo>
                  <a:pt x="179489" y="362712"/>
                </a:moveTo>
                <a:lnTo>
                  <a:pt x="0" y="362712"/>
                </a:lnTo>
                <a:lnTo>
                  <a:pt x="0" y="542201"/>
                </a:lnTo>
                <a:lnTo>
                  <a:pt x="179489" y="542201"/>
                </a:lnTo>
                <a:lnTo>
                  <a:pt x="179489" y="362712"/>
                </a:lnTo>
                <a:close/>
              </a:path>
              <a:path extrusionOk="0" h="542925" w="1264919">
                <a:moveTo>
                  <a:pt x="179489" y="685"/>
                </a:moveTo>
                <a:lnTo>
                  <a:pt x="0" y="685"/>
                </a:lnTo>
                <a:lnTo>
                  <a:pt x="0" y="180149"/>
                </a:lnTo>
                <a:lnTo>
                  <a:pt x="179489" y="180149"/>
                </a:lnTo>
                <a:lnTo>
                  <a:pt x="179489" y="685"/>
                </a:lnTo>
                <a:close/>
              </a:path>
              <a:path extrusionOk="0" h="542925" w="1264919">
                <a:moveTo>
                  <a:pt x="541299" y="362712"/>
                </a:moveTo>
                <a:lnTo>
                  <a:pt x="361810" y="362712"/>
                </a:lnTo>
                <a:lnTo>
                  <a:pt x="361810" y="542201"/>
                </a:lnTo>
                <a:lnTo>
                  <a:pt x="541299" y="542201"/>
                </a:lnTo>
                <a:lnTo>
                  <a:pt x="541299" y="362712"/>
                </a:lnTo>
                <a:close/>
              </a:path>
              <a:path extrusionOk="0" h="542925" w="1264919">
                <a:moveTo>
                  <a:pt x="541299" y="685"/>
                </a:moveTo>
                <a:lnTo>
                  <a:pt x="361810" y="685"/>
                </a:lnTo>
                <a:lnTo>
                  <a:pt x="361810" y="180149"/>
                </a:lnTo>
                <a:lnTo>
                  <a:pt x="541299" y="180149"/>
                </a:lnTo>
                <a:lnTo>
                  <a:pt x="541299" y="685"/>
                </a:lnTo>
                <a:close/>
              </a:path>
              <a:path extrusionOk="0" h="542925" w="1264919">
                <a:moveTo>
                  <a:pt x="903719" y="0"/>
                </a:moveTo>
                <a:lnTo>
                  <a:pt x="724230" y="0"/>
                </a:lnTo>
                <a:lnTo>
                  <a:pt x="724230" y="542874"/>
                </a:lnTo>
                <a:lnTo>
                  <a:pt x="903719" y="542874"/>
                </a:lnTo>
                <a:lnTo>
                  <a:pt x="903719" y="0"/>
                </a:lnTo>
                <a:close/>
              </a:path>
              <a:path extrusionOk="0" h="542925" w="1264919">
                <a:moveTo>
                  <a:pt x="1264907" y="0"/>
                </a:moveTo>
                <a:lnTo>
                  <a:pt x="1085418" y="0"/>
                </a:lnTo>
                <a:lnTo>
                  <a:pt x="1085418" y="542874"/>
                </a:lnTo>
                <a:lnTo>
                  <a:pt x="1264907" y="542874"/>
                </a:lnTo>
                <a:lnTo>
                  <a:pt x="126490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1" name="Google Shape;291;p38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92" name="Google Shape;292;p38"/>
            <p:cNvPicPr preferRelativeResize="0"/>
            <p:nvPr/>
          </p:nvPicPr>
          <p:blipFill rotWithShape="1">
            <a:blip r:embed="rId7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3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38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5" name="Google Shape;295;p38"/>
          <p:cNvSpPr txBox="1"/>
          <p:nvPr/>
        </p:nvSpPr>
        <p:spPr>
          <a:xfrm>
            <a:off x="7188898" y="4078810"/>
            <a:ext cx="1561800" cy="390900"/>
          </a:xfrm>
          <a:prstGeom prst="rect">
            <a:avLst/>
          </a:prstGeom>
          <a:solidFill>
            <a:srgbClr val="FFC004"/>
          </a:solidFill>
          <a:ln>
            <a:noFill/>
          </a:ln>
        </p:spPr>
        <p:txBody>
          <a:bodyPr anchorCtr="0" anchor="ctr" bIns="34300" lIns="68575" spcFirstLastPara="1" rIns="68575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EA0"/>
              </a:buClr>
              <a:buSzPts val="700"/>
              <a:buFont typeface="Arial"/>
              <a:buNone/>
            </a:pPr>
            <a:r>
              <a:rPr b="1" i="0" lang="es" sz="17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Rescue Line</a:t>
            </a:r>
            <a:endParaRPr b="1" i="0" sz="17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title"/>
          </p:nvPr>
        </p:nvSpPr>
        <p:spPr>
          <a:xfrm>
            <a:off x="2302800" y="522850"/>
            <a:ext cx="453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Bases de la electrónica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1635600" y="2125300"/>
            <a:ext cx="5872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9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2" name="Google Shape;302;p39"/>
          <p:cNvSpPr txBox="1"/>
          <p:nvPr/>
        </p:nvSpPr>
        <p:spPr>
          <a:xfrm>
            <a:off x="1876350" y="1211725"/>
            <a:ext cx="526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¿Qué es la electrónica?</a:t>
            </a:r>
            <a:endParaRPr sz="3000"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303" name="Google Shape;30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62207" y="2956895"/>
            <a:ext cx="5310445" cy="3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>
            <a:off x="5498969" y="2764999"/>
            <a:ext cx="5575006" cy="316326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9"/>
          <p:cNvSpPr/>
          <p:nvPr/>
        </p:nvSpPr>
        <p:spPr>
          <a:xfrm>
            <a:off x="2047113" y="1953691"/>
            <a:ext cx="4827600" cy="1566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“Campo de la ciencia que estudia el flujo y control de electrones (electricidad) y sus aplicaciones.”  </a:t>
            </a:r>
            <a:endParaRPr b="1" i="1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6" name="Google Shape;306;p39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39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08" name="Google Shape;308;p39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3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39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type="title"/>
          </p:nvPr>
        </p:nvSpPr>
        <p:spPr>
          <a:xfrm>
            <a:off x="2302800" y="269400"/>
            <a:ext cx="453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Bases de la electrónica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6" name="Google Shape;316;p40"/>
          <p:cNvSpPr txBox="1"/>
          <p:nvPr/>
        </p:nvSpPr>
        <p:spPr>
          <a:xfrm>
            <a:off x="272925" y="2329050"/>
            <a:ext cx="5872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9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p40"/>
          <p:cNvSpPr txBox="1"/>
          <p:nvPr/>
        </p:nvSpPr>
        <p:spPr>
          <a:xfrm>
            <a:off x="1941900" y="958275"/>
            <a:ext cx="526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¿Qué es un electrón?</a:t>
            </a:r>
            <a:endParaRPr sz="3000"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318" name="Google Shape;31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425" y="1754125"/>
            <a:ext cx="2555323" cy="2518827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0"/>
          <p:cNvSpPr/>
          <p:nvPr/>
        </p:nvSpPr>
        <p:spPr>
          <a:xfrm>
            <a:off x="609550" y="2138300"/>
            <a:ext cx="5003400" cy="2066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“Partícula subatómica con carga negativa y pequeña masa. Junto al protón y al neutrón, es uno  los tres componentes  de átomo”   </a:t>
            </a:r>
            <a:r>
              <a:rPr b="1" i="1" lang="es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i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0" name="Google Shape;320;p40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9131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4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22" name="Google Shape;322;p40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4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" name="Google Shape;324;p4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/>
        </p:nvSpPr>
        <p:spPr>
          <a:xfrm>
            <a:off x="1941900" y="192475"/>
            <a:ext cx="526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¿Qué es un electrón?</a:t>
            </a:r>
            <a:endParaRPr sz="3000"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30" name="Google Shape;330;p41"/>
          <p:cNvSpPr txBox="1"/>
          <p:nvPr/>
        </p:nvSpPr>
        <p:spPr>
          <a:xfrm>
            <a:off x="125350" y="1617438"/>
            <a:ext cx="477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2000"/>
              <a:buFont typeface="Poppins"/>
              <a:buChar char="●"/>
            </a:pPr>
            <a:r>
              <a:rPr b="1"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Primera </a:t>
            </a: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partícula conocida, descubierta en 1881</a:t>
            </a:r>
            <a:endParaRPr i="1" sz="20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2000"/>
              <a:buFont typeface="Poppins"/>
              <a:buChar char="●"/>
            </a:pP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Dio paso al </a:t>
            </a:r>
            <a:r>
              <a:rPr b="1"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descubrimiento </a:t>
            </a: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de todas las partículas actuales</a:t>
            </a:r>
            <a:endParaRPr i="1" sz="20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2000"/>
              <a:buFont typeface="Poppins"/>
              <a:buChar char="●"/>
            </a:pPr>
            <a:r>
              <a:rPr b="1"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Modelo estandar </a:t>
            </a: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de particulas</a:t>
            </a:r>
            <a:endParaRPr i="1" sz="20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1" name="Google Shape;33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775" y="1616000"/>
            <a:ext cx="4009041" cy="1911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1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" name="Google Shape;333;p41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34" name="Google Shape;334;p41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4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6" name="Google Shape;336;p41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4250" y="152400"/>
            <a:ext cx="4726356" cy="452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2"/>
          <p:cNvSpPr txBox="1"/>
          <p:nvPr/>
        </p:nvSpPr>
        <p:spPr>
          <a:xfrm>
            <a:off x="150500" y="152400"/>
            <a:ext cx="3952500" cy="22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Todas las partículas actualmente conocidas</a:t>
            </a:r>
            <a:endParaRPr sz="3000"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43" name="Google Shape;343;p42"/>
          <p:cNvSpPr/>
          <p:nvPr/>
        </p:nvSpPr>
        <p:spPr>
          <a:xfrm>
            <a:off x="335025" y="2483650"/>
            <a:ext cx="3370800" cy="18855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Componen todo el universo visible y transmiten las fuerzas</a:t>
            </a:r>
            <a:endParaRPr b="1" i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44" name="Google Shape;344;p42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45" name="Google Shape;345;p42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4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p42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8" name="Google Shape;348;p42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8256352" y="156884"/>
            <a:ext cx="677000" cy="30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850" y="2147146"/>
            <a:ext cx="5351772" cy="25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3"/>
          <p:cNvSpPr txBox="1"/>
          <p:nvPr/>
        </p:nvSpPr>
        <p:spPr>
          <a:xfrm>
            <a:off x="923850" y="182250"/>
            <a:ext cx="729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Átomos están compuestos de protones, neutrones y </a:t>
            </a: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electrones</a:t>
            </a:r>
            <a:endParaRPr i="1" sz="2000"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55" name="Google Shape;355;p43"/>
          <p:cNvSpPr txBox="1"/>
          <p:nvPr/>
        </p:nvSpPr>
        <p:spPr>
          <a:xfrm>
            <a:off x="923850" y="1088500"/>
            <a:ext cx="729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Los </a:t>
            </a: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electrones</a:t>
            </a: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se encuentran en una “nube” alrededor del núcleo positivo</a:t>
            </a:r>
            <a:endParaRPr i="1" sz="2000"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356" name="Google Shape;356;p43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43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58" name="Google Shape;358;p43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4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0" name="Google Shape;360;p43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699" y="1389900"/>
            <a:ext cx="5702574" cy="3211275"/>
          </a:xfrm>
          <a:prstGeom prst="rect">
            <a:avLst/>
          </a:prstGeom>
          <a:noFill/>
          <a:ln>
            <a:noFill/>
          </a:ln>
          <a:effectLst>
            <a:outerShdw blurRad="485775" rotWithShape="0" algn="bl" dir="2460000" dist="219075">
              <a:srgbClr val="000000">
                <a:alpha val="44000"/>
              </a:srgbClr>
            </a:outerShdw>
          </a:effectLst>
        </p:spPr>
      </p:pic>
      <p:sp>
        <p:nvSpPr>
          <p:cNvPr id="366" name="Google Shape;366;p44"/>
          <p:cNvSpPr txBox="1"/>
          <p:nvPr/>
        </p:nvSpPr>
        <p:spPr>
          <a:xfrm>
            <a:off x="923850" y="94500"/>
            <a:ext cx="729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3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“nubes” = </a:t>
            </a:r>
            <a:r>
              <a:rPr i="1" lang="es" sz="23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orbitales electrónicos</a:t>
            </a:r>
            <a:endParaRPr i="1" sz="2600"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67" name="Google Shape;367;p44"/>
          <p:cNvSpPr txBox="1"/>
          <p:nvPr/>
        </p:nvSpPr>
        <p:spPr>
          <a:xfrm>
            <a:off x="1025725" y="690925"/>
            <a:ext cx="7296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son regiones donde el electrón tiene una probabilidad elevada de estar</a:t>
            </a:r>
            <a:endParaRPr i="1" sz="1900"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368" name="Google Shape;368;p44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9" name="Google Shape;369;p44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70" name="Google Shape;370;p44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4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2" name="Google Shape;372;p44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5"/>
          <p:cNvSpPr txBox="1"/>
          <p:nvPr/>
        </p:nvSpPr>
        <p:spPr>
          <a:xfrm>
            <a:off x="923863" y="132725"/>
            <a:ext cx="729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3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Estos </a:t>
            </a:r>
            <a:r>
              <a:rPr i="1" lang="es" sz="23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orbitales</a:t>
            </a:r>
            <a:r>
              <a:rPr i="1" lang="es" sz="23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deben estar en equilibrio</a:t>
            </a:r>
            <a:endParaRPr i="1" sz="23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45"/>
          <p:cNvSpPr txBox="1"/>
          <p:nvPr/>
        </p:nvSpPr>
        <p:spPr>
          <a:xfrm>
            <a:off x="923850" y="757375"/>
            <a:ext cx="72963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3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En particular su último orbital o </a:t>
            </a:r>
            <a:r>
              <a:rPr i="1" lang="es" sz="23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capa de valencia </a:t>
            </a:r>
            <a:r>
              <a:rPr i="1" lang="es" sz="23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que define las propiedades químicas del átomo</a:t>
            </a:r>
            <a:endParaRPr i="1" sz="23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9" name="Google Shape;37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440" y="2034175"/>
            <a:ext cx="3532777" cy="2649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5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1" name="Google Shape;381;p45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82" name="Google Shape;382;p45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p4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4" name="Google Shape;384;p45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46"/>
          <p:cNvPicPr preferRelativeResize="0"/>
          <p:nvPr/>
        </p:nvPicPr>
        <p:blipFill rotWithShape="1">
          <a:blip r:embed="rId3">
            <a:alphaModFix/>
          </a:blip>
          <a:srcRect b="13006" l="0" r="0" t="0"/>
          <a:stretch/>
        </p:blipFill>
        <p:spPr>
          <a:xfrm>
            <a:off x="2713725" y="0"/>
            <a:ext cx="3825768" cy="2571749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6"/>
          <p:cNvSpPr txBox="1"/>
          <p:nvPr/>
        </p:nvSpPr>
        <p:spPr>
          <a:xfrm>
            <a:off x="3130739" y="2695775"/>
            <a:ext cx="58734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9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El  </a:t>
            </a:r>
            <a:r>
              <a:rPr i="1" lang="es" sz="19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átomo</a:t>
            </a:r>
            <a:r>
              <a:rPr i="1" lang="es" sz="19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busca </a:t>
            </a:r>
            <a:r>
              <a:rPr i="1" lang="es" sz="19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captar</a:t>
            </a:r>
            <a:r>
              <a:rPr i="1" lang="es" sz="19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electrones para llenar su  </a:t>
            </a:r>
            <a:r>
              <a:rPr i="1" lang="es" sz="19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último</a:t>
            </a:r>
            <a:r>
              <a:rPr i="1" lang="es" sz="19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orbital.</a:t>
            </a:r>
            <a:endParaRPr i="1" sz="19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1" name="Google Shape;391;p46"/>
          <p:cNvSpPr txBox="1"/>
          <p:nvPr/>
        </p:nvSpPr>
        <p:spPr>
          <a:xfrm>
            <a:off x="3130739" y="3626063"/>
            <a:ext cx="58734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9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El  atomo busca deshacerse de los electrones</a:t>
            </a:r>
            <a:endParaRPr i="1" sz="19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9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de su </a:t>
            </a:r>
            <a:r>
              <a:rPr i="1" lang="es" sz="19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último</a:t>
            </a:r>
            <a:r>
              <a:rPr i="1" lang="es" sz="19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orbital, para quedarse con el ul</a:t>
            </a:r>
            <a:endParaRPr i="1" sz="19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9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timo orbital completamente lleno.</a:t>
            </a:r>
            <a:endParaRPr i="1" sz="19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46"/>
          <p:cNvSpPr/>
          <p:nvPr/>
        </p:nvSpPr>
        <p:spPr>
          <a:xfrm>
            <a:off x="424550" y="2599925"/>
            <a:ext cx="2364000" cy="9969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Elementos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electronegativos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3" name="Google Shape;393;p46"/>
          <p:cNvSpPr/>
          <p:nvPr/>
        </p:nvSpPr>
        <p:spPr>
          <a:xfrm>
            <a:off x="424550" y="3696150"/>
            <a:ext cx="2364000" cy="9969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Elementos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electropositivos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4" name="Google Shape;394;p46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5" name="Google Shape;395;p46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96" name="Google Shape;396;p46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7" name="Google Shape;397;p4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46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274" y="0"/>
            <a:ext cx="3307399" cy="330739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7"/>
          <p:cNvSpPr txBox="1"/>
          <p:nvPr>
            <p:ph type="title"/>
          </p:nvPr>
        </p:nvSpPr>
        <p:spPr>
          <a:xfrm>
            <a:off x="940125" y="117000"/>
            <a:ext cx="453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Bases de la electrónica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5" name="Google Shape;405;p47"/>
          <p:cNvSpPr txBox="1"/>
          <p:nvPr/>
        </p:nvSpPr>
        <p:spPr>
          <a:xfrm>
            <a:off x="513675" y="805875"/>
            <a:ext cx="526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¿Qué son los metales?</a:t>
            </a:r>
            <a:endParaRPr sz="3000"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406" name="Google Shape;406;p47"/>
          <p:cNvSpPr txBox="1"/>
          <p:nvPr/>
        </p:nvSpPr>
        <p:spPr>
          <a:xfrm>
            <a:off x="216475" y="1847925"/>
            <a:ext cx="7071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2000"/>
              <a:buChar char="●"/>
            </a:pP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General: </a:t>
            </a:r>
            <a:r>
              <a:rPr i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“Una sustancia con una alta conductividad eléctrica, lustre y maleabilidad.”</a:t>
            </a:r>
            <a:endParaRPr i="1"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2000"/>
              <a:buChar char="●"/>
            </a:pP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Química: </a:t>
            </a:r>
            <a:r>
              <a:rPr i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“Elementos capaces de perder electrones para formar enlaces metálicos.”</a:t>
            </a:r>
            <a:endParaRPr i="1"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2000"/>
              <a:buChar char="●"/>
            </a:pP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Astronomía: </a:t>
            </a:r>
            <a:r>
              <a:rPr i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“Todos los elementos más pesados que el Litio (con mas protones)”</a:t>
            </a:r>
            <a:endParaRPr i="1"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07" name="Google Shape;407;p47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08" name="Google Shape;408;p47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" name="Google Shape;409;p4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p47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1" name="Google Shape;411;p47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8"/>
          <p:cNvSpPr txBox="1"/>
          <p:nvPr>
            <p:ph type="title"/>
          </p:nvPr>
        </p:nvSpPr>
        <p:spPr>
          <a:xfrm>
            <a:off x="1881900" y="154800"/>
            <a:ext cx="5380200" cy="14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La gran mayoría de los elementos de la tabla periódica son metales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7" name="Google Shape;4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125" y="893250"/>
            <a:ext cx="7331482" cy="4123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8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48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20" name="Google Shape;420;p48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p4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2" name="Google Shape;422;p48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9"/>
          <p:cNvSpPr txBox="1"/>
          <p:nvPr/>
        </p:nvSpPr>
        <p:spPr>
          <a:xfrm>
            <a:off x="923850" y="182250"/>
            <a:ext cx="729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Los metales son buenos conductores porque </a:t>
            </a: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“comparten sus electrones”</a:t>
            </a:r>
            <a:endParaRPr i="1" sz="2000"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428" name="Google Shape;428;p49"/>
          <p:cNvSpPr txBox="1"/>
          <p:nvPr/>
        </p:nvSpPr>
        <p:spPr>
          <a:xfrm>
            <a:off x="1088975" y="1061425"/>
            <a:ext cx="7296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Al ser electronegativos, buscan deshacerse de los electrones de valencia, y estos quedan en un </a:t>
            </a: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“mar de electrones” </a:t>
            </a:r>
            <a:r>
              <a:rPr i="1"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donde pueden moverse fácilmente</a:t>
            </a:r>
            <a:endParaRPr i="1"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9" name="Google Shape;42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787" y="2287500"/>
            <a:ext cx="3024387" cy="227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9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49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32" name="Google Shape;432;p49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4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4" name="Google Shape;434;p49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0"/>
          <p:cNvSpPr txBox="1"/>
          <p:nvPr>
            <p:ph type="title"/>
          </p:nvPr>
        </p:nvSpPr>
        <p:spPr>
          <a:xfrm>
            <a:off x="609000" y="652950"/>
            <a:ext cx="453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Bases de la electrónica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" name="Google Shape;440;p50"/>
          <p:cNvSpPr txBox="1"/>
          <p:nvPr/>
        </p:nvSpPr>
        <p:spPr>
          <a:xfrm>
            <a:off x="-58200" y="2712600"/>
            <a:ext cx="5872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9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1" name="Google Shape;441;p50"/>
          <p:cNvSpPr txBox="1"/>
          <p:nvPr/>
        </p:nvSpPr>
        <p:spPr>
          <a:xfrm>
            <a:off x="182550" y="1341825"/>
            <a:ext cx="526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¿Qué es la electricidad?</a:t>
            </a:r>
            <a:endParaRPr sz="3000"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442" name="Google Shape;44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8825" y="1498123"/>
            <a:ext cx="3574824" cy="2147038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0"/>
          <p:cNvSpPr/>
          <p:nvPr/>
        </p:nvSpPr>
        <p:spPr>
          <a:xfrm>
            <a:off x="439350" y="2269525"/>
            <a:ext cx="5003400" cy="16833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“Flujo de carga eléctrica a través de un material.”   </a:t>
            </a:r>
            <a:r>
              <a:rPr b="1" i="1" lang="es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i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4" name="Google Shape;444;p50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" name="Google Shape;445;p5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46" name="Google Shape;446;p50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" name="Google Shape;447;p5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" name="Google Shape;448;p5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2825075"/>
            <a:ext cx="6666844" cy="167623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1"/>
          <p:cNvSpPr txBox="1"/>
          <p:nvPr/>
        </p:nvSpPr>
        <p:spPr>
          <a:xfrm>
            <a:off x="1101700" y="767675"/>
            <a:ext cx="72963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Este flujo de cargas corresponde a </a:t>
            </a:r>
            <a:r>
              <a:rPr i="1" lang="es" sz="25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electrones</a:t>
            </a:r>
            <a:r>
              <a:rPr i="1" lang="es" sz="25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moviéndose por materiales conductores (generalmente </a:t>
            </a:r>
            <a:r>
              <a:rPr i="1" lang="es" sz="25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metales</a:t>
            </a:r>
            <a:r>
              <a:rPr i="1" lang="es" sz="25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i="1" sz="25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5" name="Google Shape;455;p51"/>
          <p:cNvSpPr txBox="1"/>
          <p:nvPr/>
        </p:nvSpPr>
        <p:spPr>
          <a:xfrm>
            <a:off x="1101700" y="2378675"/>
            <a:ext cx="7296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rgbClr val="0233AE"/>
                </a:solidFill>
                <a:highlight>
                  <a:srgbClr val="FFFFFF"/>
                </a:highlight>
                <a:latin typeface="Poppins Light"/>
                <a:ea typeface="Poppins Light"/>
                <a:cs typeface="Poppins Light"/>
                <a:sym typeface="Poppins Light"/>
              </a:rPr>
              <a:t>hay excepciones, como en nuestras neuronas y en el agua</a:t>
            </a:r>
            <a:endParaRPr i="1" sz="1700">
              <a:solidFill>
                <a:srgbClr val="0233A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456" name="Google Shape;456;p51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7" name="Google Shape;457;p51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58" name="Google Shape;458;p51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9" name="Google Shape;459;p5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0" name="Google Shape;460;p51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52"/>
          <p:cNvPicPr preferRelativeResize="0"/>
          <p:nvPr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0" y="-49850"/>
            <a:ext cx="9144003" cy="5193351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2"/>
          <p:cNvSpPr txBox="1"/>
          <p:nvPr>
            <p:ph type="title"/>
          </p:nvPr>
        </p:nvSpPr>
        <p:spPr>
          <a:xfrm>
            <a:off x="2302800" y="320350"/>
            <a:ext cx="4538400" cy="572700"/>
          </a:xfrm>
          <a:prstGeom prst="rect">
            <a:avLst/>
          </a:prstGeom>
          <a:effectLst>
            <a:outerShdw blurRad="200025" rotWithShape="0" algn="bl" dir="2820000" dist="2000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Para explicar la electricidad usaremos</a:t>
            </a:r>
            <a:endParaRPr>
              <a:solidFill>
                <a:srgbClr val="0233AE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7" name="Google Shape;467;p52"/>
          <p:cNvSpPr txBox="1"/>
          <p:nvPr/>
        </p:nvSpPr>
        <p:spPr>
          <a:xfrm>
            <a:off x="1635600" y="3538925"/>
            <a:ext cx="5872800" cy="1200600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r="2820000" dist="2000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000">
                <a:solidFill>
                  <a:srgbClr val="0233AE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una aproximación suficientemente correcta para circuitos de corriente continua </a:t>
            </a:r>
            <a:r>
              <a:rPr b="1" i="1" lang="es" sz="1900">
                <a:solidFill>
                  <a:srgbClr val="0233AE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endParaRPr b="1" i="1" sz="1900">
              <a:solidFill>
                <a:srgbClr val="0233AE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p52"/>
          <p:cNvSpPr txBox="1"/>
          <p:nvPr/>
        </p:nvSpPr>
        <p:spPr>
          <a:xfrm>
            <a:off x="1788750" y="1709650"/>
            <a:ext cx="5566500" cy="1508400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r="2820000" dist="2000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0233AE"/>
                </a:solidFill>
                <a:highlight>
                  <a:schemeClr val="lt1"/>
                </a:highlight>
                <a:latin typeface="Poppins Black"/>
                <a:ea typeface="Poppins Black"/>
                <a:cs typeface="Poppins Black"/>
                <a:sym typeface="Poppins Black"/>
              </a:rPr>
              <a:t>La analogía del agua</a:t>
            </a:r>
            <a:endParaRPr sz="4600">
              <a:solidFill>
                <a:srgbClr val="0233AE"/>
              </a:solidFill>
              <a:highlight>
                <a:schemeClr val="lt1"/>
              </a:highlight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469" name="Google Shape;469;p52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70" name="Google Shape;470;p52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5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2" name="Google Shape;472;p52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5600" y="1973775"/>
            <a:ext cx="4217035" cy="263564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53"/>
          <p:cNvSpPr txBox="1"/>
          <p:nvPr/>
        </p:nvSpPr>
        <p:spPr>
          <a:xfrm>
            <a:off x="908850" y="3247700"/>
            <a:ext cx="157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400">
                <a:solidFill>
                  <a:srgbClr val="0233AE"/>
                </a:solidFill>
              </a:rPr>
              <a:t>Este vaso está “descargado” ya que no tiene agua</a:t>
            </a:r>
            <a:endParaRPr b="1" i="1" sz="1400">
              <a:solidFill>
                <a:srgbClr val="0233AE"/>
              </a:solidFill>
            </a:endParaRPr>
          </a:p>
        </p:txBody>
      </p:sp>
      <p:cxnSp>
        <p:nvCxnSpPr>
          <p:cNvPr id="479" name="Google Shape;479;p53"/>
          <p:cNvCxnSpPr/>
          <p:nvPr/>
        </p:nvCxnSpPr>
        <p:spPr>
          <a:xfrm flipH="1" rot="10800000">
            <a:off x="1688575" y="2619000"/>
            <a:ext cx="1333200" cy="565800"/>
          </a:xfrm>
          <a:prstGeom prst="curvedConnector3">
            <a:avLst>
              <a:gd fmla="val 49051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0" name="Google Shape;480;p53"/>
          <p:cNvSpPr txBox="1"/>
          <p:nvPr/>
        </p:nvSpPr>
        <p:spPr>
          <a:xfrm>
            <a:off x="6380800" y="3374950"/>
            <a:ext cx="157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400">
                <a:solidFill>
                  <a:srgbClr val="0233AE"/>
                </a:solidFill>
              </a:rPr>
              <a:t>Este vaso está “cargado” ya que está lleno de agua</a:t>
            </a:r>
            <a:endParaRPr b="1" i="1" sz="1400">
              <a:solidFill>
                <a:srgbClr val="0233AE"/>
              </a:solidFill>
            </a:endParaRPr>
          </a:p>
        </p:txBody>
      </p:sp>
      <p:cxnSp>
        <p:nvCxnSpPr>
          <p:cNvPr id="481" name="Google Shape;481;p53"/>
          <p:cNvCxnSpPr/>
          <p:nvPr/>
        </p:nvCxnSpPr>
        <p:spPr>
          <a:xfrm rot="10800000">
            <a:off x="5863625" y="2643950"/>
            <a:ext cx="1296900" cy="6681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2" name="Google Shape;482;p53"/>
          <p:cNvSpPr txBox="1"/>
          <p:nvPr/>
        </p:nvSpPr>
        <p:spPr>
          <a:xfrm>
            <a:off x="217225" y="145200"/>
            <a:ext cx="724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000">
                <a:solidFill>
                  <a:srgbClr val="0233AE"/>
                </a:solidFill>
              </a:rPr>
              <a:t>CARGA:</a:t>
            </a:r>
            <a:endParaRPr b="1" i="1" sz="2000">
              <a:solidFill>
                <a:srgbClr val="0233AE"/>
              </a:solidFill>
            </a:endParaRPr>
          </a:p>
        </p:txBody>
      </p:sp>
      <p:sp>
        <p:nvSpPr>
          <p:cNvPr id="483" name="Google Shape;483;p53"/>
          <p:cNvSpPr txBox="1"/>
          <p:nvPr/>
        </p:nvSpPr>
        <p:spPr>
          <a:xfrm>
            <a:off x="950100" y="637788"/>
            <a:ext cx="72438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carga corresponde a un desequilibrio entre la cantidad de electrones y protones que componen un objeto.</a:t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Generalmente la carga en un circuito será un exceso de electrones</a:t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84" name="Google Shape;484;p53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5" name="Google Shape;485;p53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86" name="Google Shape;486;p53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5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8" name="Google Shape;488;p53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698" y="1548375"/>
            <a:ext cx="5083305" cy="3273877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4"/>
          <p:cNvSpPr txBox="1"/>
          <p:nvPr/>
        </p:nvSpPr>
        <p:spPr>
          <a:xfrm>
            <a:off x="217225" y="145200"/>
            <a:ext cx="724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000">
                <a:solidFill>
                  <a:srgbClr val="0233AE"/>
                </a:solidFill>
              </a:rPr>
              <a:t>CORRIENTE:</a:t>
            </a:r>
            <a:endParaRPr b="1" i="1" sz="2000">
              <a:solidFill>
                <a:srgbClr val="0233AE"/>
              </a:solidFill>
            </a:endParaRPr>
          </a:p>
        </p:txBody>
      </p:sp>
      <p:sp>
        <p:nvSpPr>
          <p:cNvPr id="495" name="Google Shape;495;p54"/>
          <p:cNvSpPr txBox="1"/>
          <p:nvPr/>
        </p:nvSpPr>
        <p:spPr>
          <a:xfrm>
            <a:off x="950100" y="801263"/>
            <a:ext cx="7243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corriente es el flujo o movimiento de carga (electrones) a través de un material.</a:t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96" name="Google Shape;496;p54"/>
          <p:cNvSpPr txBox="1"/>
          <p:nvPr/>
        </p:nvSpPr>
        <p:spPr>
          <a:xfrm>
            <a:off x="217225" y="1962150"/>
            <a:ext cx="34491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Esto es análogo a la cantidad de agua que pasa por una cañería</a:t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mucha agua implica alta corriente</a:t>
            </a:r>
            <a:endParaRPr b="1"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poca agua implica baja corriente</a:t>
            </a:r>
            <a:endParaRPr b="1"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7" name="Google Shape;497;p54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8" name="Google Shape;498;p54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99" name="Google Shape;499;p54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5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" name="Google Shape;501;p54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9550" y="1551700"/>
            <a:ext cx="5293926" cy="3210483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55"/>
          <p:cNvSpPr txBox="1"/>
          <p:nvPr/>
        </p:nvSpPr>
        <p:spPr>
          <a:xfrm>
            <a:off x="217225" y="145200"/>
            <a:ext cx="724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000">
                <a:solidFill>
                  <a:srgbClr val="0233AE"/>
                </a:solidFill>
              </a:rPr>
              <a:t>RESISTENCIA:</a:t>
            </a:r>
            <a:endParaRPr b="1" i="1" sz="2000">
              <a:solidFill>
                <a:srgbClr val="0233AE"/>
              </a:solidFill>
            </a:endParaRPr>
          </a:p>
        </p:txBody>
      </p:sp>
      <p:sp>
        <p:nvSpPr>
          <p:cNvPr id="508" name="Google Shape;508;p55"/>
          <p:cNvSpPr txBox="1"/>
          <p:nvPr/>
        </p:nvSpPr>
        <p:spPr>
          <a:xfrm>
            <a:off x="950100" y="637788"/>
            <a:ext cx="7243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resistencia es la </a:t>
            </a: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oposición </a:t>
            </a:r>
            <a:r>
              <a:rPr lang="es" sz="1700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que algunos materiales presentan ante el paso de la corriente.</a:t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09" name="Google Shape;509;p55"/>
          <p:cNvSpPr txBox="1"/>
          <p:nvPr/>
        </p:nvSpPr>
        <p:spPr>
          <a:xfrm>
            <a:off x="91475" y="2354975"/>
            <a:ext cx="48417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Esto es análogo a cambios en el diámetro de una cañería</a:t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una cañería con baja resistencia deja pasar mas corriente</a:t>
            </a:r>
            <a:endParaRPr b="1"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una cañería con alta resistencia deja pasar menos corriente</a:t>
            </a:r>
            <a:endParaRPr b="1"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0" name="Google Shape;510;p55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1" name="Google Shape;511;p55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12" name="Google Shape;512;p55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5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4" name="Google Shape;514;p55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6"/>
          <p:cNvSpPr txBox="1"/>
          <p:nvPr>
            <p:ph idx="1" type="body"/>
          </p:nvPr>
        </p:nvSpPr>
        <p:spPr>
          <a:xfrm>
            <a:off x="311700" y="133838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Un buen conductor posee baja resistencia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p56"/>
          <p:cNvSpPr txBox="1"/>
          <p:nvPr>
            <p:ph idx="1" type="body"/>
          </p:nvPr>
        </p:nvSpPr>
        <p:spPr>
          <a:xfrm>
            <a:off x="311700" y="2725944"/>
            <a:ext cx="8520600" cy="572700"/>
          </a:xfrm>
          <a:prstGeom prst="rect">
            <a:avLst/>
          </a:prstGeom>
          <a:solidFill>
            <a:srgbClr val="DD7E6B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Un mal conductor posee alta resistencia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1" name="Google Shape;521;p56"/>
          <p:cNvPicPr preferRelativeResize="0"/>
          <p:nvPr/>
        </p:nvPicPr>
        <p:blipFill rotWithShape="1">
          <a:blip r:embed="rId3">
            <a:alphaModFix/>
          </a:blip>
          <a:srcRect b="62317" l="0" r="0" t="10099"/>
          <a:stretch/>
        </p:blipFill>
        <p:spPr>
          <a:xfrm>
            <a:off x="1891600" y="1160250"/>
            <a:ext cx="5360801" cy="9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56"/>
          <p:cNvPicPr preferRelativeResize="0"/>
          <p:nvPr/>
        </p:nvPicPr>
        <p:blipFill rotWithShape="1">
          <a:blip r:embed="rId3">
            <a:alphaModFix/>
          </a:blip>
          <a:srcRect b="19072" l="0" r="0" t="55342"/>
          <a:stretch/>
        </p:blipFill>
        <p:spPr>
          <a:xfrm>
            <a:off x="1891600" y="3674850"/>
            <a:ext cx="53608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3" name="Google Shape;523;p56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24" name="Google Shape;524;p56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5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6" name="Google Shape;526;p56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7" name="Google Shape;527;p56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3225" y="1697175"/>
            <a:ext cx="5230259" cy="3141217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7"/>
          <p:cNvSpPr txBox="1"/>
          <p:nvPr/>
        </p:nvSpPr>
        <p:spPr>
          <a:xfrm>
            <a:off x="217225" y="145200"/>
            <a:ext cx="724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000">
                <a:solidFill>
                  <a:srgbClr val="0233AE"/>
                </a:solidFill>
              </a:rPr>
              <a:t>VOLTAJE:</a:t>
            </a:r>
            <a:endParaRPr b="1" i="1" sz="2000">
              <a:solidFill>
                <a:srgbClr val="0233AE"/>
              </a:solidFill>
            </a:endParaRPr>
          </a:p>
        </p:txBody>
      </p:sp>
      <p:sp>
        <p:nvSpPr>
          <p:cNvPr id="534" name="Google Shape;534;p57"/>
          <p:cNvSpPr txBox="1"/>
          <p:nvPr/>
        </p:nvSpPr>
        <p:spPr>
          <a:xfrm>
            <a:off x="950100" y="637788"/>
            <a:ext cx="7243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voltaje es la diferencia de energía que impulsa el movimiento de los electrones.</a:t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35" name="Google Shape;535;p57"/>
          <p:cNvSpPr txBox="1"/>
          <p:nvPr/>
        </p:nvSpPr>
        <p:spPr>
          <a:xfrm>
            <a:off x="66325" y="2035225"/>
            <a:ext cx="36471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Esto es análogo a la presión que impulsa el agua</a:t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Un sistema con baja presión genera una baja corriente</a:t>
            </a:r>
            <a:endParaRPr b="1"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Un sistema con alta presión genera mayor corriente</a:t>
            </a:r>
            <a:endParaRPr b="1"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6" name="Google Shape;536;p57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p57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38" name="Google Shape;538;p57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5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0" name="Google Shape;540;p57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Google Shape;545;p58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546" name="Google Shape;546;p58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5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8" name="Google Shape;548;p58"/>
          <p:cNvSpPr/>
          <p:nvPr/>
        </p:nvSpPr>
        <p:spPr>
          <a:xfrm>
            <a:off x="2889190" y="-6900"/>
            <a:ext cx="6254700" cy="5143500"/>
          </a:xfrm>
          <a:prstGeom prst="rect">
            <a:avLst/>
          </a:prstGeom>
          <a:solidFill>
            <a:srgbClr val="32B8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8"/>
          <p:cNvSpPr txBox="1"/>
          <p:nvPr/>
        </p:nvSpPr>
        <p:spPr>
          <a:xfrm rot="-894">
            <a:off x="119398" y="1912348"/>
            <a:ext cx="3459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TOMEMOS</a:t>
            </a:r>
            <a:endParaRPr/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 DESCANSO</a:t>
            </a:r>
            <a:endParaRPr b="1" i="0" sz="24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0" name="Google Shape;550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58"/>
          <p:cNvPicPr preferRelativeResize="0"/>
          <p:nvPr/>
        </p:nvPicPr>
        <p:blipFill rotWithShape="1">
          <a:blip r:embed="rId6">
            <a:alphaModFix amt="23000"/>
          </a:blip>
          <a:srcRect b="0" l="50261" r="0" t="0"/>
          <a:stretch/>
        </p:blipFill>
        <p:spPr>
          <a:xfrm>
            <a:off x="5902035" y="-34234"/>
            <a:ext cx="33107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58" title="b3eaa60e-d18d-46b9-b73c-e73008bf6454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85488" y="240963"/>
            <a:ext cx="4661576" cy="466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oogle Shape;558;p59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559" name="Google Shape;559;p59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5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1" name="Google Shape;561;p59"/>
          <p:cNvSpPr/>
          <p:nvPr/>
        </p:nvSpPr>
        <p:spPr>
          <a:xfrm>
            <a:off x="2889190" y="-6900"/>
            <a:ext cx="6254700" cy="5143500"/>
          </a:xfrm>
          <a:prstGeom prst="rect">
            <a:avLst/>
          </a:prstGeom>
          <a:solidFill>
            <a:srgbClr val="32B8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9"/>
          <p:cNvSpPr txBox="1"/>
          <p:nvPr/>
        </p:nvSpPr>
        <p:spPr>
          <a:xfrm rot="-894">
            <a:off x="119398" y="1912348"/>
            <a:ext cx="3459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LUEGO DEL</a:t>
            </a:r>
            <a:endParaRPr/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DESCANSO</a:t>
            </a:r>
            <a:endParaRPr b="1" i="0" sz="24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3" name="Google Shape;56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59"/>
          <p:cNvPicPr preferRelativeResize="0"/>
          <p:nvPr/>
        </p:nvPicPr>
        <p:blipFill rotWithShape="1">
          <a:blip r:embed="rId6">
            <a:alphaModFix amt="23000"/>
          </a:blip>
          <a:srcRect b="0" l="50261" r="0" t="0"/>
          <a:stretch/>
        </p:blipFill>
        <p:spPr>
          <a:xfrm>
            <a:off x="5902035" y="-34234"/>
            <a:ext cx="33107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9"/>
          <p:cNvSpPr txBox="1"/>
          <p:nvPr/>
        </p:nvSpPr>
        <p:spPr>
          <a:xfrm rot="-894">
            <a:off x="3534073" y="1912348"/>
            <a:ext cx="3459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MOMENTO DE </a:t>
            </a:r>
            <a:r>
              <a:rPr b="1" lang="es"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ATENCIÓN</a:t>
            </a:r>
            <a:r>
              <a:rPr b="1" lang="es"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PLENA : </a:t>
            </a:r>
            <a:r>
              <a:rPr b="1" lang="es"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RESPIRACIÓN DE LA MANO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3AE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4010" y="1392406"/>
            <a:ext cx="3360338" cy="2925862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60"/>
          <p:cNvSpPr txBox="1"/>
          <p:nvPr/>
        </p:nvSpPr>
        <p:spPr>
          <a:xfrm>
            <a:off x="2074877" y="904105"/>
            <a:ext cx="4624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PREPAREMOS NUESTROS ACUERDOS QUE </a:t>
            </a:r>
            <a: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MANTENDREMOS</a:t>
            </a:r>
            <a: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 EL CLUB EL RESTO DE LAS SESIONES</a:t>
            </a:r>
            <a:b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3" name="Google Shape;573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5002" y="63549"/>
            <a:ext cx="819695" cy="491233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60"/>
          <p:cNvSpPr txBox="1"/>
          <p:nvPr/>
        </p:nvSpPr>
        <p:spPr>
          <a:xfrm>
            <a:off x="189130" y="4801377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1"/>
          <p:cNvSpPr txBox="1"/>
          <p:nvPr>
            <p:ph type="title"/>
          </p:nvPr>
        </p:nvSpPr>
        <p:spPr>
          <a:xfrm>
            <a:off x="2302800" y="65650"/>
            <a:ext cx="453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Bases de la electrónica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0" name="Google Shape;580;p61"/>
          <p:cNvSpPr txBox="1"/>
          <p:nvPr/>
        </p:nvSpPr>
        <p:spPr>
          <a:xfrm>
            <a:off x="1635600" y="2469150"/>
            <a:ext cx="5872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9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1" name="Google Shape;581;p61"/>
          <p:cNvSpPr txBox="1"/>
          <p:nvPr/>
        </p:nvSpPr>
        <p:spPr>
          <a:xfrm>
            <a:off x="1863625" y="792250"/>
            <a:ext cx="52602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0233AE"/>
                </a:solidFill>
                <a:highlight>
                  <a:srgbClr val="FFFFFF"/>
                </a:highlight>
                <a:latin typeface="Poppins Black"/>
                <a:ea typeface="Poppins Black"/>
                <a:cs typeface="Poppins Black"/>
                <a:sym typeface="Poppins Black"/>
              </a:rPr>
              <a:t>Componentes Electrónicos</a:t>
            </a:r>
            <a:endParaRPr sz="3000"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582" name="Google Shape;58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62207" y="2956895"/>
            <a:ext cx="5310445" cy="3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>
            <a:off x="5498969" y="2764999"/>
            <a:ext cx="5575006" cy="316326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61"/>
          <p:cNvSpPr/>
          <p:nvPr/>
        </p:nvSpPr>
        <p:spPr>
          <a:xfrm>
            <a:off x="1974863" y="2123641"/>
            <a:ext cx="4827600" cy="1566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“Elementos que permiten modificar el flujo de electrones para generar efectos interesantes”</a:t>
            </a:r>
            <a:endParaRPr i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85" name="Google Shape;585;p61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6" name="Google Shape;586;p61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87" name="Google Shape;587;p61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6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9" name="Google Shape;589;p61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2"/>
          <p:cNvSpPr/>
          <p:nvPr/>
        </p:nvSpPr>
        <p:spPr>
          <a:xfrm>
            <a:off x="1731977" y="865004"/>
            <a:ext cx="5484600" cy="2301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¿Cuáles componentes electrónicos conoces?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5" name="Google Shape;59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725" y="2237150"/>
            <a:ext cx="5019099" cy="25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62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7" name="Google Shape;597;p62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98" name="Google Shape;598;p62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p6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0" name="Google Shape;600;p62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3"/>
          <p:cNvSpPr txBox="1"/>
          <p:nvPr>
            <p:ph type="title"/>
          </p:nvPr>
        </p:nvSpPr>
        <p:spPr>
          <a:xfrm>
            <a:off x="3628500" y="137400"/>
            <a:ext cx="188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Tinkercad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6" name="Google Shape;606;p63"/>
          <p:cNvSpPr txBox="1"/>
          <p:nvPr/>
        </p:nvSpPr>
        <p:spPr>
          <a:xfrm>
            <a:off x="214600" y="710100"/>
            <a:ext cx="823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Ahora usaremos una herramienta muy útil para simular Arduino para poder ir ejercitando los diferentes ejercicios de las clases.</a:t>
            </a:r>
            <a:endParaRPr sz="14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7" name="Google Shape;607;p63"/>
          <p:cNvPicPr preferRelativeResize="0"/>
          <p:nvPr/>
        </p:nvPicPr>
        <p:blipFill rotWithShape="1">
          <a:blip r:embed="rId3">
            <a:alphaModFix/>
          </a:blip>
          <a:srcRect b="27787" l="0" r="0" t="30321"/>
          <a:stretch/>
        </p:blipFill>
        <p:spPr>
          <a:xfrm>
            <a:off x="251975" y="1325700"/>
            <a:ext cx="4103874" cy="129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62" y="2701247"/>
            <a:ext cx="3475758" cy="1958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3375" y="1188600"/>
            <a:ext cx="4656068" cy="310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63"/>
          <p:cNvPicPr preferRelativeResize="0"/>
          <p:nvPr/>
        </p:nvPicPr>
        <p:blipFill rotWithShape="1">
          <a:blip r:embed="rId6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1" name="Google Shape;611;p63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12" name="Google Shape;612;p63"/>
            <p:cNvPicPr preferRelativeResize="0"/>
            <p:nvPr/>
          </p:nvPicPr>
          <p:blipFill rotWithShape="1">
            <a:blip r:embed="rId7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6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4" name="Google Shape;614;p63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64"/>
          <p:cNvPicPr preferRelativeResize="0"/>
          <p:nvPr/>
        </p:nvPicPr>
        <p:blipFill rotWithShape="1">
          <a:blip r:embed="rId3">
            <a:alphaModFix/>
          </a:blip>
          <a:srcRect b="7784" l="0" r="0" t="3555"/>
          <a:stretch/>
        </p:blipFill>
        <p:spPr>
          <a:xfrm>
            <a:off x="2712975" y="482825"/>
            <a:ext cx="3574651" cy="2534801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64"/>
          <p:cNvSpPr/>
          <p:nvPr/>
        </p:nvSpPr>
        <p:spPr>
          <a:xfrm>
            <a:off x="1758175" y="3017625"/>
            <a:ext cx="5484600" cy="15288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conectar nada hasta que tengan la autorización de su mediador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64"/>
          <p:cNvSpPr txBox="1"/>
          <p:nvPr>
            <p:ph type="title"/>
          </p:nvPr>
        </p:nvSpPr>
        <p:spPr>
          <a:xfrm>
            <a:off x="2792100" y="0"/>
            <a:ext cx="341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¡¡¡CUIDADO!!!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2" name="Google Shape;622;p64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3" name="Google Shape;623;p64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24" name="Google Shape;624;p64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6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6" name="Google Shape;626;p64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5"/>
          <p:cNvSpPr txBox="1"/>
          <p:nvPr>
            <p:ph type="title"/>
          </p:nvPr>
        </p:nvSpPr>
        <p:spPr>
          <a:xfrm>
            <a:off x="1578150" y="445025"/>
            <a:ext cx="598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Protoboard </a:t>
            </a:r>
            <a:r>
              <a:rPr b="1" i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(placa de prototipado)</a:t>
            </a:r>
            <a:endParaRPr b="1" i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2" name="Google Shape;63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5100" y="1233525"/>
            <a:ext cx="5090633" cy="3820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65"/>
          <p:cNvSpPr txBox="1"/>
          <p:nvPr>
            <p:ph type="title"/>
          </p:nvPr>
        </p:nvSpPr>
        <p:spPr>
          <a:xfrm>
            <a:off x="311700" y="1718125"/>
            <a:ext cx="3563400" cy="31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Permite conectar componentes para generar circuitos sin soldar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Columnas conectadas entre sí eléctricamente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4" name="Google Shape;634;p65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5" name="Google Shape;635;p65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36" name="Google Shape;636;p65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7" name="Google Shape;637;p6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8" name="Google Shape;638;p65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Fuentes de poder</a:t>
            </a:r>
            <a:endParaRPr b="1" i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4" name="Google Shape;644;p66"/>
          <p:cNvSpPr txBox="1"/>
          <p:nvPr>
            <p:ph type="title"/>
          </p:nvPr>
        </p:nvSpPr>
        <p:spPr>
          <a:xfrm>
            <a:off x="311700" y="1718125"/>
            <a:ext cx="3563400" cy="31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Dispositivos que proveen de energía eléctrica para alimentar el circuito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5" name="Google Shape;64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5525" y="764780"/>
            <a:ext cx="2830096" cy="1794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2200" y="2514400"/>
            <a:ext cx="2123118" cy="2123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3120" y="817175"/>
            <a:ext cx="2830096" cy="1588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2724" y="3222987"/>
            <a:ext cx="2478558" cy="965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66"/>
          <p:cNvPicPr preferRelativeResize="0"/>
          <p:nvPr/>
        </p:nvPicPr>
        <p:blipFill rotWithShape="1">
          <a:blip r:embed="rId7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0" name="Google Shape;650;p66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51" name="Google Shape;651;p66"/>
            <p:cNvPicPr preferRelativeResize="0"/>
            <p:nvPr/>
          </p:nvPicPr>
          <p:blipFill rotWithShape="1">
            <a:blip r:embed="rId8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2" name="Google Shape;652;p6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3" name="Google Shape;653;p66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Baterías</a:t>
            </a:r>
            <a:endParaRPr b="1" i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9" name="Google Shape;659;p67"/>
          <p:cNvSpPr txBox="1"/>
          <p:nvPr>
            <p:ph type="title"/>
          </p:nvPr>
        </p:nvSpPr>
        <p:spPr>
          <a:xfrm>
            <a:off x="311700" y="1718125"/>
            <a:ext cx="3563400" cy="31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Proveen de electricidad a través de un proceso </a:t>
            </a: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electroquímico</a:t>
            </a:r>
            <a:endParaRPr b="1"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Los electrones fluyen desde el ánodo al cátodo, impulsados por una reacción química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0" name="Google Shape;66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500" y="1081000"/>
            <a:ext cx="4963615" cy="281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67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2" name="Google Shape;662;p67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63" name="Google Shape;663;p67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6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5" name="Google Shape;665;p67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25" y="707401"/>
            <a:ext cx="8186967" cy="3921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68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2" name="Google Shape;672;p68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73" name="Google Shape;673;p68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6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5" name="Google Shape;675;p68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Interruptores</a:t>
            </a:r>
            <a:endParaRPr b="1" i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p69"/>
          <p:cNvSpPr txBox="1"/>
          <p:nvPr>
            <p:ph type="title"/>
          </p:nvPr>
        </p:nvSpPr>
        <p:spPr>
          <a:xfrm>
            <a:off x="311700" y="1718125"/>
            <a:ext cx="3563400" cy="31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Dispositivos que cortan o conectan el circuito, permitiendo o bloqueando el flujo de la corriente.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2" name="Google Shape;68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9300" y="-12178"/>
            <a:ext cx="4976731" cy="1420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5650" y="1513573"/>
            <a:ext cx="4087999" cy="1979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4700" y="3492975"/>
            <a:ext cx="1909118" cy="1193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69"/>
          <p:cNvPicPr preferRelativeResize="0"/>
          <p:nvPr/>
        </p:nvPicPr>
        <p:blipFill rotWithShape="1">
          <a:blip r:embed="rId6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6" name="Google Shape;686;p69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87" name="Google Shape;687;p69"/>
            <p:cNvPicPr preferRelativeResize="0"/>
            <p:nvPr/>
          </p:nvPicPr>
          <p:blipFill rotWithShape="1">
            <a:blip r:embed="rId7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8" name="Google Shape;688;p6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9" name="Google Shape;689;p69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Interruptor  pulsador</a:t>
            </a:r>
            <a:endParaRPr b="1" i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5" name="Google Shape;695;p70"/>
          <p:cNvSpPr txBox="1"/>
          <p:nvPr>
            <p:ph type="title"/>
          </p:nvPr>
        </p:nvSpPr>
        <p:spPr>
          <a:xfrm>
            <a:off x="4858225" y="304500"/>
            <a:ext cx="3563400" cy="14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Al apretarlo, se hace contacto entre sus terminales, permitiendo el paso de la corriente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6" name="Google Shape;69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325" y="1885949"/>
            <a:ext cx="7626598" cy="2368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70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8" name="Google Shape;698;p7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99" name="Google Shape;699;p70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0" name="Google Shape;700;p7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7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71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89" y="464120"/>
            <a:ext cx="8915420" cy="42618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8" name="Google Shape;708;p71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09" name="Google Shape;709;p71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0" name="Google Shape;710;p7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1" name="Google Shape;711;p71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Resistencias</a:t>
            </a:r>
            <a:endParaRPr b="1" i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7" name="Google Shape;717;p72"/>
          <p:cNvSpPr txBox="1"/>
          <p:nvPr>
            <p:ph type="title"/>
          </p:nvPr>
        </p:nvSpPr>
        <p:spPr>
          <a:xfrm>
            <a:off x="311700" y="1718125"/>
            <a:ext cx="3563400" cy="31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Componentes que alteran la resistencia en el circuito, dificultando el paso de la corriente, utilizados para dividir voltajes y controlar la potencia consumida.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8" name="Google Shape;71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5575" y="2956176"/>
            <a:ext cx="2431761" cy="128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5100" y="1572647"/>
            <a:ext cx="3348994" cy="1895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0396" y="216671"/>
            <a:ext cx="2940860" cy="15013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1" name="Google Shape;721;p72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22" name="Google Shape;722;p72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3" name="Google Shape;723;p7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4" name="Google Shape;724;p72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5" name="Google Shape;725;p72"/>
          <p:cNvPicPr preferRelativeResize="0"/>
          <p:nvPr/>
        </p:nvPicPr>
        <p:blipFill rotWithShape="1">
          <a:blip r:embed="rId7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3"/>
          <p:cNvSpPr txBox="1"/>
          <p:nvPr>
            <p:ph type="title"/>
          </p:nvPr>
        </p:nvSpPr>
        <p:spPr>
          <a:xfrm>
            <a:off x="311700" y="445025"/>
            <a:ext cx="287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Resistencias de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carbono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1" name="Google Shape;731;p73"/>
          <p:cNvSpPr txBox="1"/>
          <p:nvPr>
            <p:ph type="title"/>
          </p:nvPr>
        </p:nvSpPr>
        <p:spPr>
          <a:xfrm>
            <a:off x="3494675" y="138925"/>
            <a:ext cx="4661100" cy="31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Una delgada capa de carbono alrededor de material cerámico, permite controlar cuánta resistencia ofrece.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2" name="Google Shape;73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625" y="1498475"/>
            <a:ext cx="7280307" cy="2843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73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4" name="Google Shape;734;p73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35" name="Google Shape;735;p73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7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7" name="Google Shape;737;p73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4"/>
          <p:cNvSpPr txBox="1"/>
          <p:nvPr>
            <p:ph type="title"/>
          </p:nvPr>
        </p:nvSpPr>
        <p:spPr>
          <a:xfrm>
            <a:off x="311700" y="445025"/>
            <a:ext cx="287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valores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3" name="Google Shape;743;p74"/>
          <p:cNvSpPr txBox="1"/>
          <p:nvPr>
            <p:ph type="title"/>
          </p:nvPr>
        </p:nvSpPr>
        <p:spPr>
          <a:xfrm>
            <a:off x="2486875" y="138925"/>
            <a:ext cx="5663100" cy="31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Los valores de una resistencia de carbono y de film metálico están catalogados por líneas de colores en su superficie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4" name="Google Shape;744;p74"/>
          <p:cNvPicPr preferRelativeResize="0"/>
          <p:nvPr/>
        </p:nvPicPr>
        <p:blipFill rotWithShape="1">
          <a:blip r:embed="rId3">
            <a:alphaModFix/>
          </a:blip>
          <a:srcRect b="6367" l="0" r="0" t="0"/>
          <a:stretch/>
        </p:blipFill>
        <p:spPr>
          <a:xfrm>
            <a:off x="2484150" y="1475275"/>
            <a:ext cx="4175700" cy="315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5" name="Google Shape;745;p74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46" name="Google Shape;746;p74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7" name="Google Shape;747;p7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8" name="Google Shape;748;p74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9" name="Google Shape;749;p74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33400"/>
            <a:ext cx="8838331" cy="4231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75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6" name="Google Shape;756;p75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57" name="Google Shape;757;p75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8" name="Google Shape;758;p7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9" name="Google Shape;759;p75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Diodos</a:t>
            </a:r>
            <a:endParaRPr b="1" i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5" name="Google Shape;765;p76"/>
          <p:cNvSpPr txBox="1"/>
          <p:nvPr>
            <p:ph type="title"/>
          </p:nvPr>
        </p:nvSpPr>
        <p:spPr>
          <a:xfrm>
            <a:off x="311700" y="1260925"/>
            <a:ext cx="4034400" cy="31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Componentes que sólo permiten el paso de la corriente en una dirección.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Son fabricados con materiales semiconductores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Muchos son utilizados para generar luz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6" name="Google Shape;766;p76"/>
          <p:cNvPicPr preferRelativeResize="0"/>
          <p:nvPr/>
        </p:nvPicPr>
        <p:blipFill rotWithShape="1">
          <a:blip r:embed="rId3">
            <a:alphaModFix/>
          </a:blip>
          <a:srcRect b="42974" l="0" r="0" t="0"/>
          <a:stretch/>
        </p:blipFill>
        <p:spPr>
          <a:xfrm>
            <a:off x="4158175" y="258175"/>
            <a:ext cx="3728425" cy="122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75" y="1496575"/>
            <a:ext cx="4228512" cy="1553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2025" y="2898500"/>
            <a:ext cx="3758080" cy="17878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9" name="Google Shape;769;p76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70" name="Google Shape;770;p76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1" name="Google Shape;771;p7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2" name="Google Shape;772;p76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73" name="Google Shape;773;p76"/>
          <p:cNvPicPr preferRelativeResize="0"/>
          <p:nvPr/>
        </p:nvPicPr>
        <p:blipFill rotWithShape="1">
          <a:blip r:embed="rId7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Diodos: componentes polarizados</a:t>
            </a:r>
            <a:endParaRPr b="1" i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9" name="Google Shape;779;p77"/>
          <p:cNvSpPr txBox="1"/>
          <p:nvPr>
            <p:ph type="title"/>
          </p:nvPr>
        </p:nvSpPr>
        <p:spPr>
          <a:xfrm>
            <a:off x="311700" y="1718125"/>
            <a:ext cx="4034400" cy="31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Los componentes polarizados tienen una dirección fija en la que la electricidad fluye.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El lado negativo va conectado a (-) en la fuente de poder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El lado positivo va conectado a (+) en la fuente de poder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80" name="Google Shape;78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2025" y="584300"/>
            <a:ext cx="2872908" cy="3820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77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2" name="Google Shape;782;p77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83" name="Google Shape;783;p77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4" name="Google Shape;784;p7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5" name="Google Shape;785;p77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78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4" y="406970"/>
            <a:ext cx="8915420" cy="42618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2" name="Google Shape;792;p78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93" name="Google Shape;793;p78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p7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5" name="Google Shape;795;p78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79"/>
          <p:cNvSpPr/>
          <p:nvPr/>
        </p:nvSpPr>
        <p:spPr>
          <a:xfrm>
            <a:off x="2889190" y="-6900"/>
            <a:ext cx="6254700" cy="5143500"/>
          </a:xfrm>
          <a:prstGeom prst="rect">
            <a:avLst/>
          </a:prstGeom>
          <a:solidFill>
            <a:srgbClr val="B5A6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3" name="Google Shape;803;p79"/>
          <p:cNvPicPr preferRelativeResize="0"/>
          <p:nvPr/>
        </p:nvPicPr>
        <p:blipFill rotWithShape="1">
          <a:blip r:embed="rId3">
            <a:alphaModFix amt="33000"/>
          </a:blip>
          <a:srcRect b="0" l="50261" r="0" t="0"/>
          <a:stretch/>
        </p:blipFill>
        <p:spPr>
          <a:xfrm>
            <a:off x="5902035" y="-34234"/>
            <a:ext cx="331079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79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805" name="Google Shape;805;p79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7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7" name="Google Shape;807;p79"/>
          <p:cNvSpPr/>
          <p:nvPr/>
        </p:nvSpPr>
        <p:spPr>
          <a:xfrm>
            <a:off x="1192305" y="664226"/>
            <a:ext cx="2508900" cy="1318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D4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2000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Pregunta…</a:t>
            </a:r>
            <a:endParaRPr/>
          </a:p>
        </p:txBody>
      </p:sp>
      <p:pic>
        <p:nvPicPr>
          <p:cNvPr id="808" name="Google Shape;808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3748" y="2355760"/>
            <a:ext cx="2143266" cy="2407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5862" y="-1090301"/>
            <a:ext cx="5493279" cy="7343953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9"/>
          <p:cNvSpPr txBox="1"/>
          <p:nvPr/>
        </p:nvSpPr>
        <p:spPr>
          <a:xfrm>
            <a:off x="4506000" y="773325"/>
            <a:ext cx="3218100" cy="3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700"/>
              <a:buFont typeface="Poppins"/>
              <a:buChar char="●"/>
            </a:pPr>
            <a:r>
              <a:rPr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¿Qué crees que sucederá cuando aprietes el interruptor?</a:t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700"/>
              <a:buFont typeface="Poppins"/>
              <a:buChar char="●"/>
            </a:pPr>
            <a:r>
              <a:rPr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¿Qué observas al apretar el interruptor?</a:t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700"/>
              <a:buFont typeface="Poppins"/>
              <a:buChar char="●"/>
            </a:pPr>
            <a:r>
              <a:rPr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Prueba intercambiando las resistencias de posición</a:t>
            </a:r>
            <a:endParaRPr sz="11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09C"/>
              </a:buClr>
              <a:buSzPts val="1800"/>
              <a:buFont typeface="Poppins"/>
              <a:buNone/>
            </a:pPr>
            <a:r>
              <a:t/>
            </a:r>
            <a:endParaRPr i="0" sz="11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09C"/>
              </a:buClr>
              <a:buSzPts val="1800"/>
              <a:buFont typeface="Poppins"/>
              <a:buNone/>
            </a:pPr>
            <a:r>
              <a:t/>
            </a:r>
            <a:endParaRPr i="0" sz="11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09C"/>
              </a:buClr>
              <a:buSzPts val="1800"/>
              <a:buFont typeface="Poppins"/>
              <a:buNone/>
            </a:pPr>
            <a:r>
              <a:t/>
            </a:r>
            <a:endParaRPr i="0" sz="11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09C"/>
              </a:buClr>
              <a:buSzPts val="1800"/>
              <a:buFont typeface="Poppins"/>
              <a:buNone/>
            </a:pPr>
            <a:r>
              <a:t/>
            </a:r>
            <a:endParaRPr i="0" sz="11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Google Shape;81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513" y="1021320"/>
            <a:ext cx="2889955" cy="3673304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80"/>
          <p:cNvSpPr txBox="1"/>
          <p:nvPr>
            <p:ph type="title"/>
          </p:nvPr>
        </p:nvSpPr>
        <p:spPr>
          <a:xfrm>
            <a:off x="311700" y="435733"/>
            <a:ext cx="8316000" cy="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Simplificando los circuitos</a:t>
            </a:r>
            <a:endParaRPr b="1" i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8" name="Google Shape;818;p80"/>
          <p:cNvSpPr txBox="1"/>
          <p:nvPr>
            <p:ph type="title"/>
          </p:nvPr>
        </p:nvSpPr>
        <p:spPr>
          <a:xfrm>
            <a:off x="311700" y="1076525"/>
            <a:ext cx="40344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 continuación se muestra el circuito anterior de forma simple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19" name="Google Shape;819;p80"/>
          <p:cNvCxnSpPr/>
          <p:nvPr/>
        </p:nvCxnSpPr>
        <p:spPr>
          <a:xfrm flipH="1">
            <a:off x="4595288" y="1971482"/>
            <a:ext cx="773100" cy="6993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0" name="Google Shape;820;p80"/>
          <p:cNvSpPr/>
          <p:nvPr/>
        </p:nvSpPr>
        <p:spPr>
          <a:xfrm>
            <a:off x="2678200" y="2166850"/>
            <a:ext cx="1794000" cy="1014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 representa la fuente de poder</a:t>
            </a:r>
            <a:endParaRPr sz="1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21" name="Google Shape;821;p80"/>
          <p:cNvCxnSpPr/>
          <p:nvPr/>
        </p:nvCxnSpPr>
        <p:spPr>
          <a:xfrm rot="10800000">
            <a:off x="1964602" y="3210627"/>
            <a:ext cx="4083000" cy="4104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2" name="Google Shape;822;p80"/>
          <p:cNvSpPr/>
          <p:nvPr/>
        </p:nvSpPr>
        <p:spPr>
          <a:xfrm>
            <a:off x="236300" y="2829875"/>
            <a:ext cx="1794000" cy="1014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 representa una resistencia</a:t>
            </a:r>
            <a:endParaRPr sz="1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23" name="Google Shape;823;p80"/>
          <p:cNvCxnSpPr/>
          <p:nvPr/>
        </p:nvCxnSpPr>
        <p:spPr>
          <a:xfrm rot="10800000">
            <a:off x="4192803" y="4238881"/>
            <a:ext cx="2940000" cy="2259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4" name="Google Shape;824;p80"/>
          <p:cNvSpPr/>
          <p:nvPr/>
        </p:nvSpPr>
        <p:spPr>
          <a:xfrm>
            <a:off x="2443275" y="3683625"/>
            <a:ext cx="1794000" cy="1014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 representa un diodo LED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25" name="Google Shape;825;p80"/>
          <p:cNvCxnSpPr>
            <a:endCxn id="826" idx="3"/>
          </p:cNvCxnSpPr>
          <p:nvPr/>
        </p:nvCxnSpPr>
        <p:spPr>
          <a:xfrm rot="10800000">
            <a:off x="7486209" y="740375"/>
            <a:ext cx="444600" cy="7980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6" name="Google Shape;826;p80"/>
          <p:cNvSpPr/>
          <p:nvPr/>
        </p:nvSpPr>
        <p:spPr>
          <a:xfrm>
            <a:off x="5735409" y="258125"/>
            <a:ext cx="1750800" cy="964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 representa un interruptor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7" name="Google Shape;827;p80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8" name="Google Shape;828;p8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829" name="Google Shape;829;p80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0" name="Google Shape;830;p8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1" name="Google Shape;831;p8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8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Combinando resistencias:</a:t>
            </a:r>
            <a:endParaRPr b="1" i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7" name="Google Shape;837;p81"/>
          <p:cNvSpPr txBox="1"/>
          <p:nvPr/>
        </p:nvSpPr>
        <p:spPr>
          <a:xfrm>
            <a:off x="1386450" y="1201488"/>
            <a:ext cx="637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8" name="Google Shape;838;p81"/>
          <p:cNvSpPr/>
          <p:nvPr/>
        </p:nvSpPr>
        <p:spPr>
          <a:xfrm>
            <a:off x="311700" y="3284850"/>
            <a:ext cx="8520600" cy="1253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Podemos combinar resistencias de distintas maneras para obtener el valor deseado</a:t>
            </a:r>
            <a:endParaRPr b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9" name="Google Shape;839;p81"/>
          <p:cNvSpPr/>
          <p:nvPr/>
        </p:nvSpPr>
        <p:spPr>
          <a:xfrm>
            <a:off x="311700" y="872700"/>
            <a:ext cx="8520600" cy="22362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Como vimos, las resistencias vienen en valores fijos, etiquetados por líneas de colores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¿Qué pasa si queremos un valor arbitrario?</a:t>
            </a:r>
            <a:endParaRPr b="1" sz="2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0" name="Google Shape;840;p81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1" name="Google Shape;841;p81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842" name="Google Shape;842;p81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3" name="Google Shape;843;p8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4" name="Google Shape;844;p81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2"/>
          <p:cNvSpPr txBox="1"/>
          <p:nvPr>
            <p:ph type="title"/>
          </p:nvPr>
        </p:nvSpPr>
        <p:spPr>
          <a:xfrm>
            <a:off x="311700" y="177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Resistencias en serie</a:t>
            </a:r>
            <a:endParaRPr b="1" i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0" name="Google Shape;850;p82"/>
          <p:cNvSpPr txBox="1"/>
          <p:nvPr/>
        </p:nvSpPr>
        <p:spPr>
          <a:xfrm>
            <a:off x="1386450" y="793763"/>
            <a:ext cx="6371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Si queremos un valor mayor a lo que tenemos disponibles, podemos conectarlas en serie:</a:t>
            </a:r>
            <a:endParaRPr sz="20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1" name="Google Shape;85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750" y="2343145"/>
            <a:ext cx="3742430" cy="1617116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82"/>
          <p:cNvSpPr txBox="1"/>
          <p:nvPr/>
        </p:nvSpPr>
        <p:spPr>
          <a:xfrm>
            <a:off x="0" y="2156030"/>
            <a:ext cx="4472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El valor de la nueva resistencia será la suma de las resistencias conectadas en serie</a:t>
            </a:r>
            <a:endParaRPr sz="20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3" name="Google Shape;853;p82"/>
          <p:cNvSpPr txBox="1"/>
          <p:nvPr/>
        </p:nvSpPr>
        <p:spPr>
          <a:xfrm>
            <a:off x="152400" y="3872280"/>
            <a:ext cx="447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4" name="Google Shape;854;p82"/>
          <p:cNvSpPr/>
          <p:nvPr/>
        </p:nvSpPr>
        <p:spPr>
          <a:xfrm>
            <a:off x="99325" y="3578475"/>
            <a:ext cx="4419600" cy="957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RT = R1 + R2 + … + RN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5" name="Google Shape;855;p82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6" name="Google Shape;856;p82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857" name="Google Shape;857;p82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8" name="Google Shape;858;p8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9" name="Google Shape;859;p82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3"/>
          <p:cNvSpPr txBox="1"/>
          <p:nvPr>
            <p:ph type="title"/>
          </p:nvPr>
        </p:nvSpPr>
        <p:spPr>
          <a:xfrm>
            <a:off x="311700" y="101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Resistencias en paralelo</a:t>
            </a:r>
            <a:endParaRPr b="1" i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5" name="Google Shape;865;p83"/>
          <p:cNvSpPr txBox="1"/>
          <p:nvPr/>
        </p:nvSpPr>
        <p:spPr>
          <a:xfrm>
            <a:off x="1386450" y="946163"/>
            <a:ext cx="6371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Si queremos un valor entre dos resistencias que tengamos disponibles, podemos conectarlas en paralelo:</a:t>
            </a:r>
            <a:endParaRPr sz="20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6" name="Google Shape;866;p83"/>
          <p:cNvSpPr txBox="1"/>
          <p:nvPr/>
        </p:nvSpPr>
        <p:spPr>
          <a:xfrm>
            <a:off x="0" y="2308430"/>
            <a:ext cx="4472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El valor de la nueva resistencia será un valor intermedio entre estas dos</a:t>
            </a:r>
            <a:endParaRPr sz="20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7" name="Google Shape;867;p83"/>
          <p:cNvSpPr/>
          <p:nvPr/>
        </p:nvSpPr>
        <p:spPr>
          <a:xfrm>
            <a:off x="99325" y="3578475"/>
            <a:ext cx="4419600" cy="957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1/RT = 1/R1 + 1/R2 + … + 1/RN</a:t>
            </a:r>
            <a:endParaRPr b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68" name="Google Shape;86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3475" y="2079813"/>
            <a:ext cx="4319849" cy="2557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83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8156483" y="234168"/>
            <a:ext cx="765220" cy="34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0" name="Google Shape;870;p83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871" name="Google Shape;871;p83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2" name="Google Shape;872;p8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3" name="Google Shape;873;p83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8" name="Google Shape;878;p84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879" name="Google Shape;879;p84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0" name="Google Shape;880;p8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1" name="Google Shape;881;p84"/>
          <p:cNvSpPr txBox="1"/>
          <p:nvPr/>
        </p:nvSpPr>
        <p:spPr>
          <a:xfrm rot="-755">
            <a:off x="757374" y="1998713"/>
            <a:ext cx="1365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2" name="Google Shape;882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84"/>
          <p:cNvSpPr txBox="1"/>
          <p:nvPr/>
        </p:nvSpPr>
        <p:spPr>
          <a:xfrm rot="-993">
            <a:off x="3270325" y="799195"/>
            <a:ext cx="5192100" cy="3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2000"/>
              <a:buFont typeface="Poppins"/>
              <a:buAutoNum type="arabicPeriod"/>
            </a:pPr>
            <a:r>
              <a:rPr i="0" lang="es" sz="1800" u="none" cap="none" strike="noStrike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Qué sucederá si </a:t>
            </a: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conectamos </a:t>
            </a: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las resistencias de </a:t>
            </a: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330 Ω</a:t>
            </a: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y la de </a:t>
            </a: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100 Ω</a:t>
            </a: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en serie o en paralelo a un LED?</a:t>
            </a:r>
            <a:endParaRPr b="1"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857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Arial"/>
              <a:buChar char="•"/>
            </a:pP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¿Cuál </a:t>
            </a: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configuración </a:t>
            </a: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será más brillante?</a:t>
            </a:r>
            <a:endParaRPr b="1"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2000"/>
              <a:buFont typeface="Poppins"/>
              <a:buAutoNum type="arabicPeriod"/>
            </a:pP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¿Qué sucederá si </a:t>
            </a: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conectamos</a:t>
            </a: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dos resistencias de 5000 Ω</a:t>
            </a: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en </a:t>
            </a: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serie o en paralelo</a:t>
            </a: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a un </a:t>
            </a: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LED</a:t>
            </a: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? 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857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Arial"/>
              <a:buChar char="•"/>
            </a:pP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¿Cuál</a:t>
            </a:r>
            <a:r>
              <a:rPr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configuración </a:t>
            </a:r>
            <a:r>
              <a:rPr b="1" lang="es" sz="20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será más brillante?</a:t>
            </a:r>
            <a:endParaRPr b="1"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233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4" name="Google Shape;884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85"/>
          <p:cNvSpPr/>
          <p:nvPr/>
        </p:nvSpPr>
        <p:spPr>
          <a:xfrm>
            <a:off x="2889190" y="-6900"/>
            <a:ext cx="6254700" cy="5143500"/>
          </a:xfrm>
          <a:prstGeom prst="rect">
            <a:avLst/>
          </a:prstGeom>
          <a:solidFill>
            <a:srgbClr val="DC92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0" name="Google Shape;890;p85"/>
          <p:cNvPicPr preferRelativeResize="0"/>
          <p:nvPr/>
        </p:nvPicPr>
        <p:blipFill rotWithShape="1">
          <a:blip r:embed="rId3">
            <a:alphaModFix amt="21000"/>
          </a:blip>
          <a:srcRect b="0" l="50261" r="0" t="0"/>
          <a:stretch/>
        </p:blipFill>
        <p:spPr>
          <a:xfrm>
            <a:off x="5902035" y="-34234"/>
            <a:ext cx="331079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1" name="Google Shape;891;p85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892" name="Google Shape;892;p85"/>
            <p:cNvPicPr preferRelativeResize="0"/>
            <p:nvPr/>
          </p:nvPicPr>
          <p:blipFill rotWithShape="1">
            <a:blip r:embed="rId4">
              <a:alphaModFix/>
            </a:blip>
            <a:srcRect b="68755" l="25893" r="0" t="0"/>
            <a:stretch/>
          </p:blipFill>
          <p:spPr>
            <a:xfrm rot="5400000">
              <a:off x="-1130295" y="1116585"/>
              <a:ext cx="5172836" cy="2890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3" name="Google Shape;893;p8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4" name="Google Shape;894;p85"/>
          <p:cNvSpPr/>
          <p:nvPr/>
        </p:nvSpPr>
        <p:spPr>
          <a:xfrm>
            <a:off x="1192305" y="664226"/>
            <a:ext cx="2669700" cy="1318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B6C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E02184"/>
                </a:solidFill>
                <a:latin typeface="Poppins"/>
                <a:ea typeface="Poppins"/>
                <a:cs typeface="Poppins"/>
                <a:sym typeface="Poppins"/>
              </a:rPr>
              <a:t>¿QUÉ APRENDIMOS HOY?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5" name="Google Shape;895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8944" y="-1088020"/>
            <a:ext cx="5480204" cy="7326474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85"/>
          <p:cNvSpPr txBox="1"/>
          <p:nvPr/>
        </p:nvSpPr>
        <p:spPr>
          <a:xfrm>
            <a:off x="4427225" y="762725"/>
            <a:ext cx="33108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 conocernos como personas — con nuestras </a:t>
            </a:r>
            <a:r>
              <a:rPr b="1" lang="es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historias, fortalezas</a:t>
            </a:r>
            <a:r>
              <a:rPr lang="es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y formas únicas de estar en el mundo — es el primer paso para construir un grupo donde la comunicación fluya, la colaboración sea real y el conocimiento se construya entre todos.</a:t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98" name="Google Shape;898;p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8103" y="2397849"/>
            <a:ext cx="1365667" cy="1534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86"/>
          <p:cNvSpPr/>
          <p:nvPr/>
        </p:nvSpPr>
        <p:spPr>
          <a:xfrm>
            <a:off x="2889190" y="-6900"/>
            <a:ext cx="6254700" cy="5143500"/>
          </a:xfrm>
          <a:prstGeom prst="rect">
            <a:avLst/>
          </a:prstGeom>
          <a:solidFill>
            <a:srgbClr val="DC92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4" name="Google Shape;904;p86"/>
          <p:cNvPicPr preferRelativeResize="0"/>
          <p:nvPr/>
        </p:nvPicPr>
        <p:blipFill rotWithShape="1">
          <a:blip r:embed="rId3">
            <a:alphaModFix amt="21000"/>
          </a:blip>
          <a:srcRect b="0" l="50261" r="0" t="0"/>
          <a:stretch/>
        </p:blipFill>
        <p:spPr>
          <a:xfrm>
            <a:off x="5902035" y="-34234"/>
            <a:ext cx="331079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5" name="Google Shape;905;p86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906" name="Google Shape;906;p86"/>
            <p:cNvPicPr preferRelativeResize="0"/>
            <p:nvPr/>
          </p:nvPicPr>
          <p:blipFill rotWithShape="1">
            <a:blip r:embed="rId4">
              <a:alphaModFix/>
            </a:blip>
            <a:srcRect b="68755" l="25893" r="0" t="0"/>
            <a:stretch/>
          </p:blipFill>
          <p:spPr>
            <a:xfrm rot="5400000">
              <a:off x="-1130295" y="1116585"/>
              <a:ext cx="5172836" cy="2890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8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8" name="Google Shape;908;p86"/>
          <p:cNvSpPr/>
          <p:nvPr/>
        </p:nvSpPr>
        <p:spPr>
          <a:xfrm>
            <a:off x="1192305" y="664226"/>
            <a:ext cx="2669700" cy="1318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B6C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E02184"/>
                </a:solidFill>
                <a:latin typeface="Poppins"/>
                <a:ea typeface="Poppins"/>
                <a:cs typeface="Poppins"/>
                <a:sym typeface="Poppins"/>
              </a:rPr>
              <a:t>¿QUÉ APRENDIMOS HOY?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9" name="Google Shape;909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8944" y="-1088020"/>
            <a:ext cx="5480204" cy="7326474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6"/>
          <p:cNvSpPr txBox="1"/>
          <p:nvPr/>
        </p:nvSpPr>
        <p:spPr>
          <a:xfrm>
            <a:off x="4427225" y="762725"/>
            <a:ext cx="3310800" cy="3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Además, aprendimos sobre: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</a:pPr>
            <a:r>
              <a:rPr lang="es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Electrónica básica y sus conceptos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¿Cuáles recuerdas?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</a:pPr>
            <a:r>
              <a:rPr lang="es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Componentes electrónicos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</a:pPr>
            <a:r>
              <a:rPr lang="es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Realizamos nuestro primer desafío 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12" name="Google Shape;912;p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8103" y="2397849"/>
            <a:ext cx="1365667" cy="1534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18" name="Google Shape;918;p87"/>
          <p:cNvSpPr txBox="1"/>
          <p:nvPr/>
        </p:nvSpPr>
        <p:spPr>
          <a:xfrm>
            <a:off x="759925" y="1234250"/>
            <a:ext cx="75744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Clubes de Ciencia y Tecnología - Plan de nivelación</a:t>
            </a:r>
            <a:endParaRPr b="1"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Estos materiales han sido elaborados por Benjamín Espinoza y Gaspar Fábrega para el Programa de Ciencia y Tecnología de Fundación Gabriel &amp; Mary Mustakis. Se permite su uso bajo licencia Creative Commons (CC) por las Universidades Socias del Programa de Ciencia y Tecnología de Fundación Gabriel &amp; Mary Mustakis.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Versión 2 - Abril 2024</a:t>
            </a:r>
            <a:endParaRPr b="1"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19" name="Google Shape;919;p87"/>
          <p:cNvSpPr txBox="1"/>
          <p:nvPr/>
        </p:nvSpPr>
        <p:spPr>
          <a:xfrm>
            <a:off x="2903400" y="4650625"/>
            <a:ext cx="3337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Publicado Bajo Licencia Creative Commons</a:t>
            </a:r>
            <a:endParaRPr b="1"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s" sz="9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Atribución-NoComercial-CompartirIgual (CC BY-NC-SA)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20" name="Google Shape;920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213" y="3910275"/>
            <a:ext cx="471505" cy="4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386" y="4411750"/>
            <a:ext cx="873238" cy="291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486" y="3949"/>
            <a:ext cx="3680762" cy="11327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3" name="Google Shape;923;p87"/>
          <p:cNvGrpSpPr/>
          <p:nvPr/>
        </p:nvGrpSpPr>
        <p:grpSpPr>
          <a:xfrm>
            <a:off x="1401723" y="2909269"/>
            <a:ext cx="6290455" cy="732213"/>
            <a:chOff x="1013333" y="3795825"/>
            <a:chExt cx="8388391" cy="976283"/>
          </a:xfrm>
        </p:grpSpPr>
        <p:pic>
          <p:nvPicPr>
            <p:cNvPr descr="https://lh5.googleusercontent.com/wP2h_lc6--vyMzu5qXgRG-Bbe6w1LN7Ph5RgxIP2Ngd_pFZFcUDkC-cp09ZNvc-Xm3iTwoQ8go_elSTWCw68Lrn_HKTBlb9E-8CWQqnHg6t8L9JidsYDttMUJ7XHVUWj9hjtPLtPZtU" id="924" name="Google Shape;924;p87"/>
            <p:cNvPicPr preferRelativeResize="0"/>
            <p:nvPr/>
          </p:nvPicPr>
          <p:blipFill rotWithShape="1">
            <a:blip r:embed="rId6">
              <a:alphaModFix/>
            </a:blip>
            <a:srcRect b="0" l="5141" r="0" t="3428"/>
            <a:stretch/>
          </p:blipFill>
          <p:spPr>
            <a:xfrm>
              <a:off x="4796200" y="3836108"/>
              <a:ext cx="921960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TFSM-01" id="925" name="Google Shape;925;p8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13333" y="3836100"/>
              <a:ext cx="1806480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6" name="Google Shape;926;p8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228251" y="3795833"/>
              <a:ext cx="1159522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7" name="Google Shape;927;p8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126574" y="3836096"/>
              <a:ext cx="1111725" cy="935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8" name="Google Shape;928;p87"/>
            <p:cNvPicPr preferRelativeResize="0"/>
            <p:nvPr/>
          </p:nvPicPr>
          <p:blipFill rotWithShape="1">
            <a:blip r:embed="rId10">
              <a:alphaModFix/>
            </a:blip>
            <a:srcRect b="18725" l="7227" r="0" t="17082"/>
            <a:stretch/>
          </p:blipFill>
          <p:spPr>
            <a:xfrm>
              <a:off x="7646725" y="3795825"/>
              <a:ext cx="1754999" cy="936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29" name="Google Shape;929;p87"/>
          <p:cNvPicPr preferRelativeResize="0"/>
          <p:nvPr/>
        </p:nvPicPr>
        <p:blipFill rotWithShape="1">
          <a:blip r:embed="rId11">
            <a:alphaModFix/>
          </a:blip>
          <a:srcRect b="309" l="25827" r="0" t="0"/>
          <a:stretch/>
        </p:blipFill>
        <p:spPr>
          <a:xfrm rot="-5400000">
            <a:off x="2027107" y="-2027109"/>
            <a:ext cx="5223134" cy="9277347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7"/>
          <p:cNvSpPr/>
          <p:nvPr/>
        </p:nvSpPr>
        <p:spPr>
          <a:xfrm>
            <a:off x="0" y="-4538"/>
            <a:ext cx="9277500" cy="5211600"/>
          </a:xfrm>
          <a:prstGeom prst="rect">
            <a:avLst/>
          </a:prstGeom>
          <a:solidFill>
            <a:srgbClr val="002060">
              <a:alpha val="486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1" name="Google Shape;931;p87"/>
          <p:cNvSpPr txBox="1"/>
          <p:nvPr/>
        </p:nvSpPr>
        <p:spPr>
          <a:xfrm>
            <a:off x="1238541" y="1228118"/>
            <a:ext cx="66477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Clubes de Ciencia y Tecnología - Nivelación</a:t>
            </a:r>
            <a:endParaRPr b="1" i="1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Versión </a:t>
            </a:r>
            <a:r>
              <a:rPr b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b="1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202</a:t>
            </a:r>
            <a:r>
              <a:rPr b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b="1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Estos materiales han sido elaborados de manera colaborativa entre los equipos de las Universidades Socias del Programa de </a:t>
            </a: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Ciencia y Tecnología </a:t>
            </a: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la Fundación Gabriel &amp; Mary Mustakis.</a:t>
            </a:r>
            <a:endParaRPr b="0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2" name="Google Shape;932;p8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231328" y="257197"/>
            <a:ext cx="2662178" cy="820166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7"/>
          <p:cNvSpPr txBox="1"/>
          <p:nvPr/>
        </p:nvSpPr>
        <p:spPr>
          <a:xfrm>
            <a:off x="2766215" y="4662465"/>
            <a:ext cx="3592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Publicado Bajo Licencia Creative Commons</a:t>
            </a:r>
            <a:endParaRPr b="1" i="0" sz="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Atribución-NoComercial-CompartirIgual (CC BY-NC-SA)</a:t>
            </a:r>
            <a:endParaRPr b="0" i="0" sz="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4" name="Google Shape;934;p8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43526" y="2207618"/>
            <a:ext cx="6237780" cy="1381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003616" y="3846309"/>
            <a:ext cx="11176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undacion-Mustakis">
  <a:themeElements>
    <a:clrScheme name="Fundacion Mustakis">
      <a:dk1>
        <a:srgbClr val="0C0C0C"/>
      </a:dk1>
      <a:lt1>
        <a:srgbClr val="F2F2F2"/>
      </a:lt1>
      <a:dk2>
        <a:srgbClr val="000024"/>
      </a:dk2>
      <a:lt2>
        <a:srgbClr val="FFFFFF"/>
      </a:lt2>
      <a:accent1>
        <a:srgbClr val="000F9F"/>
      </a:accent1>
      <a:accent2>
        <a:srgbClr val="FFB600"/>
      </a:accent2>
      <a:accent3>
        <a:srgbClr val="E6007E"/>
      </a:accent3>
      <a:accent4>
        <a:srgbClr val="0C00FF"/>
      </a:accent4>
      <a:accent5>
        <a:srgbClr val="009345"/>
      </a:accent5>
      <a:accent6>
        <a:srgbClr val="0071BD"/>
      </a:accent6>
      <a:hlink>
        <a:srgbClr val="2790F9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