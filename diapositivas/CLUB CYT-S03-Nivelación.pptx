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y="5143500" cx="9144000"/>
  <p:notesSz cx="6858000" cy="9144000"/>
  <p:embeddedFontLst>
    <p:embeddedFont>
      <p:font typeface="Proxima Nova"/>
      <p:regular r:id="rId54"/>
      <p:bold r:id="rId55"/>
      <p:italic r:id="rId56"/>
      <p:boldItalic r:id="rId57"/>
    </p:embeddedFont>
    <p:embeddedFont>
      <p:font typeface="Poppins"/>
      <p:regular r:id="rId58"/>
      <p:bold r:id="rId59"/>
      <p:italic r:id="rId60"/>
      <p:boldItalic r:id="rId61"/>
    </p:embeddedFont>
    <p:embeddedFont>
      <p:font typeface="Poppins Medium"/>
      <p:regular r:id="rId62"/>
      <p:bold r:id="rId63"/>
      <p:italic r:id="rId64"/>
      <p:boldItalic r:id="rId65"/>
    </p:embeddedFont>
    <p:embeddedFont>
      <p:font typeface="Poppins Black"/>
      <p:bold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Poppins SemiBold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F3B599-C9A8-4FAC-972A-53BD8398147A}">
  <a:tblStyle styleId="{71F3B599-C9A8-4FAC-972A-53BD839814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PoppinsSemiBold-bold.fntdata"/><Relationship Id="rId72" Type="http://schemas.openxmlformats.org/officeDocument/2006/relationships/font" Target="fonts/PoppinsSemiBold-regular.fntdata"/><Relationship Id="rId31" Type="http://schemas.openxmlformats.org/officeDocument/2006/relationships/slide" Target="slides/slide24.xml"/><Relationship Id="rId75" Type="http://schemas.openxmlformats.org/officeDocument/2006/relationships/font" Target="fonts/PoppinsSemiBold-boldItalic.fntdata"/><Relationship Id="rId30" Type="http://schemas.openxmlformats.org/officeDocument/2006/relationships/slide" Target="slides/slide23.xml"/><Relationship Id="rId74" Type="http://schemas.openxmlformats.org/officeDocument/2006/relationships/font" Target="fonts/PoppinsSemiBold-italic.fntdata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1" Type="http://schemas.openxmlformats.org/officeDocument/2006/relationships/font" Target="fonts/HelveticaNeue-boldItalic.fntdata"/><Relationship Id="rId70" Type="http://schemas.openxmlformats.org/officeDocument/2006/relationships/font" Target="fonts/HelveticaNeue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PoppinsMedium-regular.fntdata"/><Relationship Id="rId61" Type="http://schemas.openxmlformats.org/officeDocument/2006/relationships/font" Target="fonts/Poppins-boldItalic.fntdata"/><Relationship Id="rId20" Type="http://schemas.openxmlformats.org/officeDocument/2006/relationships/slide" Target="slides/slide13.xml"/><Relationship Id="rId64" Type="http://schemas.openxmlformats.org/officeDocument/2006/relationships/font" Target="fonts/PoppinsMedium-italic.fntdata"/><Relationship Id="rId63" Type="http://schemas.openxmlformats.org/officeDocument/2006/relationships/font" Target="fonts/PoppinsMedium-bold.fntdata"/><Relationship Id="rId22" Type="http://schemas.openxmlformats.org/officeDocument/2006/relationships/slide" Target="slides/slide15.xml"/><Relationship Id="rId66" Type="http://schemas.openxmlformats.org/officeDocument/2006/relationships/font" Target="fonts/PoppinsBlack-bold.fntdata"/><Relationship Id="rId21" Type="http://schemas.openxmlformats.org/officeDocument/2006/relationships/slide" Target="slides/slide14.xml"/><Relationship Id="rId65" Type="http://schemas.openxmlformats.org/officeDocument/2006/relationships/font" Target="fonts/PoppinsMedium-boldItalic.fntdata"/><Relationship Id="rId24" Type="http://schemas.openxmlformats.org/officeDocument/2006/relationships/slide" Target="slides/slide17.xml"/><Relationship Id="rId68" Type="http://schemas.openxmlformats.org/officeDocument/2006/relationships/font" Target="fonts/HelveticaNeue-regular.fntdata"/><Relationship Id="rId23" Type="http://schemas.openxmlformats.org/officeDocument/2006/relationships/slide" Target="slides/slide16.xml"/><Relationship Id="rId67" Type="http://schemas.openxmlformats.org/officeDocument/2006/relationships/font" Target="fonts/PoppinsBlack-boldItalic.fntdata"/><Relationship Id="rId60" Type="http://schemas.openxmlformats.org/officeDocument/2006/relationships/font" Target="fonts/Poppins-italic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HelveticaNeue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ProximaNova-bold.fntdata"/><Relationship Id="rId10" Type="http://schemas.openxmlformats.org/officeDocument/2006/relationships/slide" Target="slides/slide3.xml"/><Relationship Id="rId54" Type="http://schemas.openxmlformats.org/officeDocument/2006/relationships/font" Target="fonts/ProximaNova-regular.fntdata"/><Relationship Id="rId13" Type="http://schemas.openxmlformats.org/officeDocument/2006/relationships/slide" Target="slides/slide6.xml"/><Relationship Id="rId57" Type="http://schemas.openxmlformats.org/officeDocument/2006/relationships/font" Target="fonts/ProximaNova-boldItalic.fntdata"/><Relationship Id="rId12" Type="http://schemas.openxmlformats.org/officeDocument/2006/relationships/slide" Target="slides/slide5.xml"/><Relationship Id="rId56" Type="http://schemas.openxmlformats.org/officeDocument/2006/relationships/font" Target="fonts/ProximaNova-italic.fntdata"/><Relationship Id="rId15" Type="http://schemas.openxmlformats.org/officeDocument/2006/relationships/slide" Target="slides/slide8.xml"/><Relationship Id="rId59" Type="http://schemas.openxmlformats.org/officeDocument/2006/relationships/font" Target="fonts/Poppins-bold.fntdata"/><Relationship Id="rId14" Type="http://schemas.openxmlformats.org/officeDocument/2006/relationships/slide" Target="slides/slide7.xml"/><Relationship Id="rId58" Type="http://schemas.openxmlformats.org/officeDocument/2006/relationships/font" Target="fonts/Poppins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c9c58899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cc9c58899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13da8c3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13da8c3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f8776a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f8776a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ENCUESTA AL INICIO DE LA SESIÓN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bb8962b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8bb8962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/>
              <a:t>ENCUESTA AL INICIO DE LA SESIÓN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1350f3b7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1350f3b7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1350f3b7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1350f3b7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ca162b2af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ca162b2a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121fecc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121fecc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7ebf4a7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7ebf4a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9bbca71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9bbca71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cc9c58899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cc9c58899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cca162b2af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cca162b2af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7c206ca2d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17c206ca2d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Aquí se puede ahondar en el tema de qué es C++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17c206ca2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17c206ca2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17c206ca2d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17c206ca2d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Primero se tiene una pequeña animación de </a:t>
            </a:r>
            <a:r>
              <a:rPr lang="es"/>
              <a:t>cómo</a:t>
            </a:r>
            <a:r>
              <a:rPr lang="es"/>
              <a:t> funcionan las variables globales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17c206ca2d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17c206ca2d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17c206ca2d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17c206ca2d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2be98ebb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2be98eb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1a5b28a8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21a5b28a8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121fecce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121fecce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121fecce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121fecce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5121fecce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5121fecce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1a5b28a8a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1a5b28a8a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1a5b28a8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1a5b28a8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c727df211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c727df211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121fecce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121fecce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5121fecce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5121fecce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1a5b28a8a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1a5b28a8a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5121fecce2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5121fecce2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5121fecce2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5121fecce2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5121fecce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5121fecce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c1d2fb10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bc1d2fb10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123cf26ca_6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5123cf26ca_6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1a5b28a8a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1a5b28a8a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2be98ebb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2be98ebb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121fecce2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5121fecce2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5121fecce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5121fecce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21a5b28a8a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21a5b28a8a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1a5b28a8a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1a5b28a8a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1a5b28a8a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1a5b28a8a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1a5b28a8a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1a5b28a8a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1a5b28a8a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1a5b28a8a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Todos los ejercicios deberían tardar 20 minutos en total para resolver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5121fecce2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5121fecce2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5121fecce2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5121fecce2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cca162b2af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cca162b2af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2cb65ca3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2cb65ca3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9" name="Google Shape;9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0" name="Google Shape;10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lqDg4tUUfg4" TargetMode="External"/><Relationship Id="rId4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jpg"/><Relationship Id="rId6" Type="http://schemas.openxmlformats.org/officeDocument/2006/relationships/image" Target="../media/image7.png"/><Relationship Id="rId7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16.jpg"/><Relationship Id="rId7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16.jp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3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3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4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4.png"/><Relationship Id="rId7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2.png"/><Relationship Id="rId4" Type="http://schemas.openxmlformats.org/officeDocument/2006/relationships/image" Target="../media/image10.png"/><Relationship Id="rId5" Type="http://schemas.openxmlformats.org/officeDocument/2006/relationships/image" Target="../media/image1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Relationship Id="rId4" Type="http://schemas.openxmlformats.org/officeDocument/2006/relationships/image" Target="../media/image10.png"/><Relationship Id="rId5" Type="http://schemas.openxmlformats.org/officeDocument/2006/relationships/image" Target="../media/image1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1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10.png"/><Relationship Id="rId6" Type="http://schemas.openxmlformats.org/officeDocument/2006/relationships/image" Target="../media/image1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6.jp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jpg"/><Relationship Id="rId10" Type="http://schemas.openxmlformats.org/officeDocument/2006/relationships/image" Target="../media/image56.png"/><Relationship Id="rId13" Type="http://schemas.openxmlformats.org/officeDocument/2006/relationships/image" Target="../media/image62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3.jp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60.png"/><Relationship Id="rId5" Type="http://schemas.openxmlformats.org/officeDocument/2006/relationships/image" Target="../media/image64.png"/><Relationship Id="rId6" Type="http://schemas.openxmlformats.org/officeDocument/2006/relationships/image" Target="../media/image65.jpg"/><Relationship Id="rId7" Type="http://schemas.openxmlformats.org/officeDocument/2006/relationships/image" Target="../media/image59.png"/><Relationship Id="rId8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174545" y="3908711"/>
            <a:ext cx="8969400" cy="12348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6"/>
          <p:cNvPicPr preferRelativeResize="0"/>
          <p:nvPr/>
        </p:nvPicPr>
        <p:blipFill rotWithShape="1">
          <a:blip r:embed="rId3">
            <a:alphaModFix/>
          </a:blip>
          <a:srcRect b="299" l="44748" r="0" t="-10"/>
          <a:stretch/>
        </p:blipFill>
        <p:spPr>
          <a:xfrm rot="-5400000">
            <a:off x="2617646" y="-2617646"/>
            <a:ext cx="3908711" cy="9144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/>
          <p:nvPr/>
        </p:nvSpPr>
        <p:spPr>
          <a:xfrm>
            <a:off x="2" y="0"/>
            <a:ext cx="9144000" cy="39087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346" y="192405"/>
            <a:ext cx="2587503" cy="81267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861160" y="2111138"/>
            <a:ext cx="4681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b="1" i="0" sz="3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874189" y="3545219"/>
            <a:ext cx="1544400" cy="4101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 txBox="1"/>
          <p:nvPr/>
        </p:nvSpPr>
        <p:spPr>
          <a:xfrm>
            <a:off x="974299" y="3595025"/>
            <a:ext cx="154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r>
              <a:rPr b="0" i="0" lang="e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.04.202</a:t>
            </a: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0" i="0" sz="1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 rot="-5400000">
            <a:off x="7467916" y="3119999"/>
            <a:ext cx="2945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1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861160" y="1529939"/>
            <a:ext cx="244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</a:t>
            </a: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0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4" name="Google Shape;114;p26"/>
          <p:cNvCxnSpPr/>
          <p:nvPr/>
        </p:nvCxnSpPr>
        <p:spPr>
          <a:xfrm>
            <a:off x="928251" y="1864958"/>
            <a:ext cx="2015400" cy="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5" name="Google Shape;115;p26"/>
          <p:cNvPicPr preferRelativeResize="0"/>
          <p:nvPr/>
        </p:nvPicPr>
        <p:blipFill rotWithShape="1">
          <a:blip r:embed="rId5">
            <a:alphaModFix/>
          </a:blip>
          <a:srcRect b="43844" l="31851" r="33841" t="27525"/>
          <a:stretch/>
        </p:blipFill>
        <p:spPr>
          <a:xfrm>
            <a:off x="5054057" y="1742688"/>
            <a:ext cx="3402614" cy="217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/>
          <p:nvPr/>
        </p:nvSpPr>
        <p:spPr>
          <a:xfrm>
            <a:off x="874210" y="4312089"/>
            <a:ext cx="2443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Nivelación</a:t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n Fundación Mustakis hemos preparado un video para que sepas por qué es tan importante responder las encuestas de satisfacción." id="123" name="Google Shape;123;p27" title="¿Por qué responder las encuestas?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-9000"/>
            <a:ext cx="9144000" cy="5161500"/>
          </a:xfrm>
          <a:prstGeom prst="rect">
            <a:avLst/>
          </a:prstGeom>
          <a:solidFill>
            <a:srgbClr val="1100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95150" y="4180700"/>
            <a:ext cx="8153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0" name="Google Shape;1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28" title="qr-cod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475" y="798950"/>
            <a:ext cx="3758251" cy="37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8"/>
          <p:cNvSpPr txBox="1"/>
          <p:nvPr/>
        </p:nvSpPr>
        <p:spPr>
          <a:xfrm>
            <a:off x="4434500" y="1815913"/>
            <a:ext cx="4570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🔧 ¡Activa tu modo encuesta!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sistema necesita tu opinión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4551200" y="2819338"/>
            <a:ext cx="4336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🛠️bit.ly/encuestacyt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/>
          <p:nvPr/>
        </p:nvSpPr>
        <p:spPr>
          <a:xfrm>
            <a:off x="0" y="-9000"/>
            <a:ext cx="9144000" cy="5161500"/>
          </a:xfrm>
          <a:prstGeom prst="rect">
            <a:avLst/>
          </a:prstGeom>
          <a:solidFill>
            <a:srgbClr val="1100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9"/>
          <p:cNvSpPr txBox="1"/>
          <p:nvPr/>
        </p:nvSpPr>
        <p:spPr>
          <a:xfrm>
            <a:off x="495150" y="4180700"/>
            <a:ext cx="8153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1" name="Google Shape;14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9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9"/>
          <p:cNvSpPr txBox="1"/>
          <p:nvPr/>
        </p:nvSpPr>
        <p:spPr>
          <a:xfrm>
            <a:off x="4434500" y="1815913"/>
            <a:ext cx="45702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🔧 ¡Activa tu modo encuesta!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sistema necesita tu opinión</a:t>
            </a:r>
            <a:endParaRPr b="1" sz="2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9"/>
          <p:cNvSpPr txBox="1"/>
          <p:nvPr/>
        </p:nvSpPr>
        <p:spPr>
          <a:xfrm>
            <a:off x="4551200" y="2819338"/>
            <a:ext cx="4336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🛠️</a:t>
            </a: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bit.ly/clubcyt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9" title="qr-code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50" y="761513"/>
            <a:ext cx="3620476" cy="362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0"/>
          <p:cNvPicPr preferRelativeResize="0"/>
          <p:nvPr/>
        </p:nvPicPr>
        <p:blipFill rotWithShape="1">
          <a:blip r:embed="rId3">
            <a:alphaModFix/>
          </a:blip>
          <a:srcRect b="68756" l="25893" r="0" t="0"/>
          <a:stretch/>
        </p:blipFill>
        <p:spPr>
          <a:xfrm rot="5400000">
            <a:off x="-1140929" y="1116585"/>
            <a:ext cx="5172836" cy="289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0"/>
          <p:cNvSpPr/>
          <p:nvPr/>
        </p:nvSpPr>
        <p:spPr>
          <a:xfrm>
            <a:off x="0" y="-20614"/>
            <a:ext cx="2901600" cy="5172900"/>
          </a:xfrm>
          <a:prstGeom prst="rect">
            <a:avLst/>
          </a:prstGeom>
          <a:solidFill>
            <a:srgbClr val="000000">
              <a:alpha val="3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113" y="623393"/>
            <a:ext cx="5104614" cy="42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0"/>
          <p:cNvSpPr/>
          <p:nvPr/>
        </p:nvSpPr>
        <p:spPr>
          <a:xfrm>
            <a:off x="5929973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3186772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5929973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3186772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0"/>
          <p:cNvSpPr/>
          <p:nvPr/>
        </p:nvSpPr>
        <p:spPr>
          <a:xfrm>
            <a:off x="5929973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3186772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0"/>
          <p:cNvSpPr txBox="1"/>
          <p:nvPr/>
        </p:nvSpPr>
        <p:spPr>
          <a:xfrm>
            <a:off x="431273" y="1350001"/>
            <a:ext cx="21066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775" lIns="75575" spcFirstLastPara="1" rIns="75575" wrap="square" tIns="377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3"/>
              <a:buFont typeface="Calibri"/>
              <a:buNone/>
            </a:pPr>
            <a:r>
              <a:rPr b="1" i="0" lang="es" sz="2400" u="none" cap="none" strike="noStrike">
                <a:solidFill>
                  <a:srgbClr val="71C9EB"/>
                </a:solidFill>
                <a:latin typeface="Poppins"/>
                <a:ea typeface="Poppins"/>
                <a:cs typeface="Poppins"/>
                <a:sym typeface="Poppins"/>
              </a:rPr>
              <a:t>¿QUÉ ROBOT </a:t>
            </a:r>
            <a:r>
              <a:rPr b="0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SOMOS HOY?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3259033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3230470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3219837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30"/>
          <p:cNvSpPr txBox="1"/>
          <p:nvPr/>
        </p:nvSpPr>
        <p:spPr>
          <a:xfrm>
            <a:off x="5978574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5957308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5978574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3AE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010" y="1392406"/>
            <a:ext cx="3360338" cy="29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2259727" y="893230"/>
            <a:ext cx="4624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 TU ENTORNO Y PONTE CÓMODO PARA TRABAJAR</a:t>
            </a:r>
            <a:b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/>
          <p:nvPr/>
        </p:nvSpPr>
        <p:spPr>
          <a:xfrm>
            <a:off x="1731977" y="1246004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aprenderemos hoy?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625" y="1725675"/>
            <a:ext cx="3560675" cy="35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2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B4D3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3">
            <a:alphaModFix amt="3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995211" y="-1514655"/>
            <a:ext cx="6113262" cy="8172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33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190" name="Google Shape;190;p33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3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33"/>
          <p:cNvSpPr txBox="1"/>
          <p:nvPr/>
        </p:nvSpPr>
        <p:spPr>
          <a:xfrm rot="-894">
            <a:off x="119550" y="1912353"/>
            <a:ext cx="3459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bjetivos de la sesión</a:t>
            </a:r>
            <a:endParaRPr b="1" sz="24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/>
        </p:nvSpPr>
        <p:spPr>
          <a:xfrm>
            <a:off x="4006026" y="958517"/>
            <a:ext cx="4558800" cy="3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Conocer </a:t>
            </a: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l</a:t>
            </a: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enguajes de programación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Conocer </a:t>
            </a: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diferentes</a:t>
            </a: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estructuras de programación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Identificar </a:t>
            </a: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qué son las </a:t>
            </a: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variables y los arreglos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Aprender </a:t>
            </a: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cómo usar el</a:t>
            </a:r>
            <a:r>
              <a:rPr b="1"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Monitor Serial</a:t>
            </a:r>
            <a:endParaRPr b="1"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5" name="Google Shape;19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idx="4294967295" type="title"/>
          </p:nvPr>
        </p:nvSpPr>
        <p:spPr>
          <a:xfrm>
            <a:off x="2302800" y="11595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programación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178850" y="577600"/>
            <a:ext cx="57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¿Qué es un lenguaje de programación?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1064325" y="1039300"/>
            <a:ext cx="6737700" cy="23127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s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“Un lenguaje de programación es un lenguaje formal (o artificial, es decir, un lenguaje con reglas gramaticales bien definidas) que le proporciona a una persona, en este caso el programador, la capacidad de escribir (o programar) una serie de instrucciones o secuencias de órdenes en forma de algoritmos con el fin de controlar el comportamiento físico o lógico de un sistema informático, de manera que se puedan obtener diversas clases de datos o ejecutar determinadas tareas”</a:t>
            </a:r>
            <a:endParaRPr b="1" i="1"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819998">
            <a:off x="-1960432" y="2818919"/>
            <a:ext cx="5057939" cy="314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374517">
            <a:off x="4965608" y="2977666"/>
            <a:ext cx="5837864" cy="3070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3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08" name="Google Shape;208;p34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3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3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1731977" y="1246004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lenguajes de programación conoces?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875" y="1872325"/>
            <a:ext cx="3185426" cy="3185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3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19" name="Google Shape;219;p35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3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3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idx="1" type="body"/>
          </p:nvPr>
        </p:nvSpPr>
        <p:spPr>
          <a:xfrm>
            <a:off x="108800" y="1848375"/>
            <a:ext cx="2663700" cy="30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 Black"/>
                <a:ea typeface="Poppins Black"/>
                <a:cs typeface="Poppins Black"/>
                <a:sym typeface="Poppins Black"/>
              </a:rPr>
              <a:t>SCRATCH</a:t>
            </a:r>
            <a:endParaRPr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</a:t>
            </a: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rogramación</a:t>
            </a: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por bloques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Lenguaje educativo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Creación</a:t>
            </a: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videojuegos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Desarrollado en 2003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7" name="Google Shape;22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975" y="65325"/>
            <a:ext cx="1508049" cy="1652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625" y="97851"/>
            <a:ext cx="1508050" cy="15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9950" y="97850"/>
            <a:ext cx="1411055" cy="158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210150" y="1848525"/>
            <a:ext cx="2723700" cy="30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 Black"/>
                <a:ea typeface="Poppins Black"/>
                <a:cs typeface="Poppins Black"/>
                <a:sym typeface="Poppins Black"/>
              </a:rPr>
              <a:t>PYTHON</a:t>
            </a:r>
            <a:endParaRPr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Lenguaje interpretado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Prototipado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Inteligencia artificial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Backend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Desarrollado en 1991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6333625" y="1848375"/>
            <a:ext cx="2723700" cy="3077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 Black"/>
                <a:ea typeface="Poppins Black"/>
                <a:cs typeface="Poppins Black"/>
                <a:sym typeface="Poppins Black"/>
              </a:rPr>
              <a:t>C</a:t>
            </a:r>
            <a:endParaRPr>
              <a:solidFill>
                <a:srgbClr val="0233AE"/>
              </a:solidFill>
              <a:latin typeface="Poppins Black"/>
              <a:ea typeface="Poppins Black"/>
              <a:cs typeface="Poppins Black"/>
              <a:sym typeface="Poppins Black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Lenguaje compilado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Programas Embebidos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Sistemas Operativos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Casi todo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800"/>
              <a:buFont typeface="Poppins Medium"/>
              <a:buChar char="●"/>
            </a:pPr>
            <a:r>
              <a:rPr lang="es">
                <a:solidFill>
                  <a:srgbClr val="0233A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Desarrollado en 1972</a:t>
            </a:r>
            <a:endParaRPr>
              <a:solidFill>
                <a:srgbClr val="0233A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32" name="Google Shape;232;p3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33" name="Google Shape;233;p36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3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3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36"/>
          <p:cNvPicPr preferRelativeResize="0"/>
          <p:nvPr/>
        </p:nvPicPr>
        <p:blipFill rotWithShape="1">
          <a:blip r:embed="rId7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951" y="0"/>
            <a:ext cx="6022101" cy="4692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37"/>
          <p:cNvGrpSpPr/>
          <p:nvPr/>
        </p:nvGrpSpPr>
        <p:grpSpPr>
          <a:xfrm>
            <a:off x="-126325" y="4839900"/>
            <a:ext cx="9270322" cy="401792"/>
            <a:chOff x="0" y="-29340"/>
            <a:chExt cx="2901600" cy="5177731"/>
          </a:xfrm>
        </p:grpSpPr>
        <p:pic>
          <p:nvPicPr>
            <p:cNvPr id="243" name="Google Shape;243;p3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3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5" name="Google Shape;245;p3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7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8"/>
          <p:cNvSpPr txBox="1"/>
          <p:nvPr>
            <p:ph type="title"/>
          </p:nvPr>
        </p:nvSpPr>
        <p:spPr>
          <a:xfrm>
            <a:off x="2302800" y="115950"/>
            <a:ext cx="453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Bases de la programación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2" name="Google Shape;2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00" y="1667900"/>
            <a:ext cx="3181302" cy="2165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8"/>
          <p:cNvCxnSpPr/>
          <p:nvPr/>
        </p:nvCxnSpPr>
        <p:spPr>
          <a:xfrm flipH="1" rot="10800000">
            <a:off x="3619775" y="2575200"/>
            <a:ext cx="2253300" cy="10800"/>
          </a:xfrm>
          <a:prstGeom prst="straightConnector1">
            <a:avLst/>
          </a:prstGeom>
          <a:noFill/>
          <a:ln cap="flat" cmpd="sng" w="1143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8"/>
          <p:cNvSpPr txBox="1"/>
          <p:nvPr/>
        </p:nvSpPr>
        <p:spPr>
          <a:xfrm>
            <a:off x="3863000" y="218580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Está basado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5475" y="1170125"/>
            <a:ext cx="2966126" cy="333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7" name="Google Shape;257;p3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58" name="Google Shape;258;p38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3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3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2988000" y="99325"/>
            <a:ext cx="348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Estructura general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128550" y="652875"/>
            <a:ext cx="5766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Existen 3 entornos diferentes donde vamos a estar trabajando:</a:t>
            </a:r>
            <a:endParaRPr sz="17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7" name="Google Shape;267;p39"/>
          <p:cNvGrpSpPr/>
          <p:nvPr/>
        </p:nvGrpSpPr>
        <p:grpSpPr>
          <a:xfrm>
            <a:off x="300475" y="1416750"/>
            <a:ext cx="8391300" cy="3276300"/>
            <a:chOff x="300475" y="1645350"/>
            <a:chExt cx="8391300" cy="3276300"/>
          </a:xfrm>
        </p:grpSpPr>
        <p:sp>
          <p:nvSpPr>
            <p:cNvPr id="268" name="Google Shape;268;p39"/>
            <p:cNvSpPr/>
            <p:nvPr/>
          </p:nvSpPr>
          <p:spPr>
            <a:xfrm>
              <a:off x="300475" y="1645350"/>
              <a:ext cx="8391300" cy="3276300"/>
            </a:xfrm>
            <a:prstGeom prst="roundRect">
              <a:avLst>
                <a:gd fmla="val 16667" name="adj"/>
              </a:avLst>
            </a:prstGeom>
            <a:solidFill>
              <a:srgbClr val="C2ED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Entorno Global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39"/>
            <p:cNvSpPr txBox="1"/>
            <p:nvPr/>
          </p:nvSpPr>
          <p:spPr>
            <a:xfrm>
              <a:off x="2231950" y="1673975"/>
              <a:ext cx="2489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AFBF40"/>
                  </a:solidFill>
                  <a:latin typeface="Consolas"/>
                  <a:ea typeface="Consolas"/>
                  <a:cs typeface="Consolas"/>
                  <a:sym typeface="Consolas"/>
                </a:rPr>
                <a:t>#include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QTRSensors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.h&gt;</a:t>
              </a:r>
              <a:endParaRPr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0" name="Google Shape;270;p39"/>
            <p:cNvSpPr txBox="1"/>
            <p:nvPr/>
          </p:nvSpPr>
          <p:spPr>
            <a:xfrm>
              <a:off x="5472575" y="1781675"/>
              <a:ext cx="2246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rgbClr val="AFBF40"/>
                  </a:solidFill>
                  <a:latin typeface="Consolas"/>
                  <a:ea typeface="Consolas"/>
                  <a:cs typeface="Consolas"/>
                  <a:sym typeface="Consolas"/>
                </a:rPr>
                <a:t>#define</a:t>
              </a:r>
              <a:r>
                <a:rPr b="1" lang="es">
                  <a:solidFill>
                    <a:schemeClr val="dk2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BUZZER 10;</a:t>
              </a:r>
              <a:endParaRPr/>
            </a:p>
          </p:txBody>
        </p:sp>
        <p:sp>
          <p:nvSpPr>
            <p:cNvPr id="271" name="Google Shape;271;p39"/>
            <p:cNvSpPr txBox="1"/>
            <p:nvPr/>
          </p:nvSpPr>
          <p:spPr>
            <a:xfrm>
              <a:off x="586650" y="4363750"/>
              <a:ext cx="2332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rgbClr val="49AAE4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1" lang="es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global_1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/>
            </a:p>
          </p:txBody>
        </p:sp>
        <p:sp>
          <p:nvSpPr>
            <p:cNvPr id="272" name="Google Shape;272;p39"/>
            <p:cNvSpPr txBox="1"/>
            <p:nvPr/>
          </p:nvSpPr>
          <p:spPr>
            <a:xfrm>
              <a:off x="6197300" y="4406425"/>
              <a:ext cx="2332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s">
                  <a:solidFill>
                    <a:srgbClr val="49AAE4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1" lang="es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global_2;</a:t>
              </a:r>
              <a:endParaRPr/>
            </a:p>
          </p:txBody>
        </p:sp>
      </p:grpSp>
      <p:grpSp>
        <p:nvGrpSpPr>
          <p:cNvPr id="273" name="Google Shape;273;p39"/>
          <p:cNvGrpSpPr/>
          <p:nvPr/>
        </p:nvGrpSpPr>
        <p:grpSpPr>
          <a:xfrm>
            <a:off x="566025" y="2189250"/>
            <a:ext cx="3790500" cy="1731300"/>
            <a:chOff x="566025" y="2417850"/>
            <a:chExt cx="3790500" cy="1731300"/>
          </a:xfrm>
        </p:grpSpPr>
        <p:sp>
          <p:nvSpPr>
            <p:cNvPr id="274" name="Google Shape;274;p39"/>
            <p:cNvSpPr/>
            <p:nvPr/>
          </p:nvSpPr>
          <p:spPr>
            <a:xfrm>
              <a:off x="566025" y="2417850"/>
              <a:ext cx="3790500" cy="17313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setup()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75" name="Google Shape;275;p39"/>
            <p:cNvSpPr txBox="1"/>
            <p:nvPr/>
          </p:nvSpPr>
          <p:spPr>
            <a:xfrm>
              <a:off x="2067425" y="2571750"/>
              <a:ext cx="2146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Serial.begin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(9600);</a:t>
              </a:r>
              <a:endParaRPr/>
            </a:p>
          </p:txBody>
        </p:sp>
        <p:sp>
          <p:nvSpPr>
            <p:cNvPr id="276" name="Google Shape;276;p39"/>
            <p:cNvSpPr txBox="1"/>
            <p:nvPr/>
          </p:nvSpPr>
          <p:spPr>
            <a:xfrm>
              <a:off x="765425" y="3534100"/>
              <a:ext cx="25182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pinMode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(unPin, </a:t>
              </a:r>
              <a:r>
                <a:rPr b="1" lang="es">
                  <a:solidFill>
                    <a:srgbClr val="FFB05D"/>
                  </a:solidFill>
                  <a:latin typeface="Consolas"/>
                  <a:ea typeface="Consolas"/>
                  <a:cs typeface="Consolas"/>
                  <a:sym typeface="Consolas"/>
                </a:rPr>
                <a:t>INPUT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/>
            </a:p>
          </p:txBody>
        </p:sp>
        <p:sp>
          <p:nvSpPr>
            <p:cNvPr id="277" name="Google Shape;277;p39"/>
            <p:cNvSpPr txBox="1"/>
            <p:nvPr/>
          </p:nvSpPr>
          <p:spPr>
            <a:xfrm>
              <a:off x="1440050" y="3052925"/>
              <a:ext cx="2651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pinMode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(otroPin, </a:t>
              </a:r>
              <a:r>
                <a:rPr b="1" lang="es">
                  <a:solidFill>
                    <a:srgbClr val="FFB05D"/>
                  </a:solidFill>
                  <a:latin typeface="Consolas"/>
                  <a:ea typeface="Consolas"/>
                  <a:cs typeface="Consolas"/>
                  <a:sym typeface="Consolas"/>
                </a:rPr>
                <a:t>INPUT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);</a:t>
              </a:r>
              <a:endParaRPr/>
            </a:p>
          </p:txBody>
        </p:sp>
      </p:grpSp>
      <p:grpSp>
        <p:nvGrpSpPr>
          <p:cNvPr id="278" name="Google Shape;278;p39"/>
          <p:cNvGrpSpPr/>
          <p:nvPr/>
        </p:nvGrpSpPr>
        <p:grpSpPr>
          <a:xfrm>
            <a:off x="4695875" y="2189250"/>
            <a:ext cx="3952825" cy="1731300"/>
            <a:chOff x="4695875" y="2417850"/>
            <a:chExt cx="3952825" cy="1731300"/>
          </a:xfrm>
        </p:grpSpPr>
        <p:sp>
          <p:nvSpPr>
            <p:cNvPr id="279" name="Google Shape;279;p39"/>
            <p:cNvSpPr/>
            <p:nvPr/>
          </p:nvSpPr>
          <p:spPr>
            <a:xfrm>
              <a:off x="4695875" y="2417850"/>
              <a:ext cx="3790500" cy="17313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loop()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0" name="Google Shape;280;p39"/>
            <p:cNvSpPr txBox="1"/>
            <p:nvPr/>
          </p:nvSpPr>
          <p:spPr>
            <a:xfrm>
              <a:off x="4843075" y="2918750"/>
              <a:ext cx="3140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global_1=</a:t>
              </a: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analogRead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(unPin);</a:t>
              </a:r>
              <a:endParaRPr/>
            </a:p>
          </p:txBody>
        </p:sp>
        <p:sp>
          <p:nvSpPr>
            <p:cNvPr id="281" name="Google Shape;281;p39"/>
            <p:cNvSpPr txBox="1"/>
            <p:nvPr/>
          </p:nvSpPr>
          <p:spPr>
            <a:xfrm>
              <a:off x="5352900" y="3269238"/>
              <a:ext cx="3295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s">
                  <a:solidFill>
                    <a:srgbClr val="49AAE4"/>
                  </a:solidFill>
                  <a:latin typeface="Consolas"/>
                  <a:ea typeface="Consolas"/>
                  <a:cs typeface="Consolas"/>
                  <a:sym typeface="Consolas"/>
                </a:rPr>
                <a:t>int</a:t>
              </a:r>
              <a:r>
                <a:rPr b="1" lang="es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local=</a:t>
              </a:r>
              <a:r>
                <a:rPr b="1" lang="es">
                  <a:solidFill>
                    <a:schemeClr val="accent4"/>
                  </a:solidFill>
                  <a:latin typeface="Consolas"/>
                  <a:ea typeface="Consolas"/>
                  <a:cs typeface="Consolas"/>
                  <a:sym typeface="Consolas"/>
                </a:rPr>
                <a:t>digitalRead</a:t>
              </a:r>
              <a:r>
                <a:rPr b="1" lang="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(otroPin);</a:t>
              </a:r>
              <a:endParaRPr/>
            </a:p>
          </p:txBody>
        </p:sp>
        <p:sp>
          <p:nvSpPr>
            <p:cNvPr id="282" name="Google Shape;282;p39"/>
            <p:cNvSpPr txBox="1"/>
            <p:nvPr/>
          </p:nvSpPr>
          <p:spPr>
            <a:xfrm>
              <a:off x="4907450" y="3619750"/>
              <a:ext cx="24393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5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s">
                  <a:solidFill>
                    <a:srgbClr val="B7B7B7"/>
                  </a:solidFill>
                  <a:latin typeface="Consolas"/>
                  <a:ea typeface="Consolas"/>
                  <a:cs typeface="Consolas"/>
                  <a:sym typeface="Consolas"/>
                </a:rPr>
                <a:t>// Código principal</a:t>
              </a:r>
              <a:endParaRPr/>
            </a:p>
          </p:txBody>
        </p:sp>
      </p:grpSp>
      <p:pic>
        <p:nvPicPr>
          <p:cNvPr id="283" name="Google Shape;283;p39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4" name="Google Shape;284;p3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85" name="Google Shape;285;p39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3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3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3701100" y="94700"/>
            <a:ext cx="191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Variables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93" name="Google Shape;293;p40"/>
          <p:cNvCxnSpPr/>
          <p:nvPr/>
        </p:nvCxnSpPr>
        <p:spPr>
          <a:xfrm>
            <a:off x="4573850" y="722100"/>
            <a:ext cx="3900" cy="4278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0"/>
          <p:cNvSpPr txBox="1"/>
          <p:nvPr>
            <p:ph type="title"/>
          </p:nvPr>
        </p:nvSpPr>
        <p:spPr>
          <a:xfrm>
            <a:off x="709375" y="558025"/>
            <a:ext cx="321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Variables globales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254425" y="1037725"/>
            <a:ext cx="4120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 crean en el entorno global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Son accesibles desde cualquier entorno, global o locales.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Si se modifica en cualquier entorno, el cambio se refleja en el resto.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324400" y="2223625"/>
            <a:ext cx="4008900" cy="2486400"/>
          </a:xfrm>
          <a:prstGeom prst="roundRect">
            <a:avLst>
              <a:gd fmla="val 16667" name="adj"/>
            </a:avLst>
          </a:prstGeom>
          <a:solidFill>
            <a:srgbClr val="C2ED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Entorno Global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40"/>
          <p:cNvSpPr txBox="1"/>
          <p:nvPr/>
        </p:nvSpPr>
        <p:spPr>
          <a:xfrm>
            <a:off x="521775" y="2714350"/>
            <a:ext cx="191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global = 10;</a:t>
            </a:r>
            <a:endParaRPr/>
          </a:p>
        </p:txBody>
      </p:sp>
      <p:sp>
        <p:nvSpPr>
          <p:cNvPr id="298" name="Google Shape;298;p40"/>
          <p:cNvSpPr/>
          <p:nvPr/>
        </p:nvSpPr>
        <p:spPr>
          <a:xfrm>
            <a:off x="389325" y="3086200"/>
            <a:ext cx="1917300" cy="1459200"/>
          </a:xfrm>
          <a:prstGeom prst="roundRect">
            <a:avLst>
              <a:gd fmla="val 16667" name="adj"/>
            </a:avLst>
          </a:prstGeom>
          <a:solidFill>
            <a:srgbClr val="FFE2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void setup()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40"/>
          <p:cNvSpPr/>
          <p:nvPr/>
        </p:nvSpPr>
        <p:spPr>
          <a:xfrm>
            <a:off x="2383900" y="3086200"/>
            <a:ext cx="1917300" cy="1459200"/>
          </a:xfrm>
          <a:prstGeom prst="roundRect">
            <a:avLst>
              <a:gd fmla="val 16667" name="adj"/>
            </a:avLst>
          </a:prstGeom>
          <a:solidFill>
            <a:srgbClr val="FFE2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void loop()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40"/>
          <p:cNvSpPr txBox="1"/>
          <p:nvPr/>
        </p:nvSpPr>
        <p:spPr>
          <a:xfrm>
            <a:off x="614750" y="3438675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global vale 10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2619950" y="3481850"/>
            <a:ext cx="135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global también vale 10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40"/>
          <p:cNvSpPr txBox="1"/>
          <p:nvPr>
            <p:ph type="title"/>
          </p:nvPr>
        </p:nvSpPr>
        <p:spPr>
          <a:xfrm>
            <a:off x="5476750" y="546025"/>
            <a:ext cx="321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Variables locales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40"/>
          <p:cNvSpPr txBox="1"/>
          <p:nvPr/>
        </p:nvSpPr>
        <p:spPr>
          <a:xfrm>
            <a:off x="5975650" y="3402800"/>
            <a:ext cx="13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40"/>
          <p:cNvSpPr txBox="1"/>
          <p:nvPr/>
        </p:nvSpPr>
        <p:spPr>
          <a:xfrm>
            <a:off x="706475" y="3934575"/>
            <a:ext cx="145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Poppins"/>
                <a:ea typeface="Poppins"/>
                <a:cs typeface="Poppins"/>
                <a:sym typeface="Poppins"/>
              </a:rPr>
              <a:t>Aquí se cambia global a 5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561250" y="3400650"/>
            <a:ext cx="165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global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5;</a:t>
            </a:r>
            <a:endParaRPr/>
          </a:p>
        </p:txBody>
      </p:sp>
      <p:sp>
        <p:nvSpPr>
          <p:cNvPr id="306" name="Google Shape;306;p40"/>
          <p:cNvSpPr txBox="1"/>
          <p:nvPr/>
        </p:nvSpPr>
        <p:spPr>
          <a:xfrm>
            <a:off x="2619950" y="3481850"/>
            <a:ext cx="145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global también cambia a 5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40"/>
          <p:cNvSpPr txBox="1"/>
          <p:nvPr/>
        </p:nvSpPr>
        <p:spPr>
          <a:xfrm>
            <a:off x="2545575" y="2317938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global cambia a 5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4776675" y="873325"/>
            <a:ext cx="4241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Se crean en cualquier entorno local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Sólo existen dentro del entorno en el que fueron creadas.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1400"/>
              <a:buFont typeface="Poppins"/>
              <a:buChar char="●"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2 entornos pueden tener una variable con el mismo nombre y diferentes valores.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9" name="Google Shape;309;p40"/>
          <p:cNvGrpSpPr/>
          <p:nvPr/>
        </p:nvGrpSpPr>
        <p:grpSpPr>
          <a:xfrm>
            <a:off x="4972050" y="2280525"/>
            <a:ext cx="4008900" cy="2486400"/>
            <a:chOff x="4972050" y="2509125"/>
            <a:chExt cx="4008900" cy="2486400"/>
          </a:xfrm>
        </p:grpSpPr>
        <p:sp>
          <p:nvSpPr>
            <p:cNvPr id="310" name="Google Shape;310;p40"/>
            <p:cNvSpPr/>
            <p:nvPr/>
          </p:nvSpPr>
          <p:spPr>
            <a:xfrm>
              <a:off x="4972050" y="2509125"/>
              <a:ext cx="4008900" cy="2486400"/>
            </a:xfrm>
            <a:prstGeom prst="roundRect">
              <a:avLst>
                <a:gd fmla="val 16667" name="adj"/>
              </a:avLst>
            </a:prstGeom>
            <a:solidFill>
              <a:srgbClr val="C2ED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Entorno Global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1" name="Google Shape;311;p40"/>
            <p:cNvSpPr/>
            <p:nvPr/>
          </p:nvSpPr>
          <p:spPr>
            <a:xfrm>
              <a:off x="5036975" y="3371700"/>
              <a:ext cx="1917300" cy="14592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setup()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12" name="Google Shape;312;p40"/>
            <p:cNvSpPr/>
            <p:nvPr/>
          </p:nvSpPr>
          <p:spPr>
            <a:xfrm>
              <a:off x="7031550" y="3371700"/>
              <a:ext cx="1917300" cy="14592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loop()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13" name="Google Shape;313;p40"/>
          <p:cNvSpPr txBox="1"/>
          <p:nvPr/>
        </p:nvSpPr>
        <p:spPr>
          <a:xfrm>
            <a:off x="5125825" y="3581875"/>
            <a:ext cx="191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3;</a:t>
            </a:r>
            <a:endParaRPr/>
          </a:p>
        </p:txBody>
      </p:sp>
      <p:sp>
        <p:nvSpPr>
          <p:cNvPr id="314" name="Google Shape;314;p40"/>
          <p:cNvSpPr txBox="1"/>
          <p:nvPr/>
        </p:nvSpPr>
        <p:spPr>
          <a:xfrm>
            <a:off x="7216375" y="2386838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local no existe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5" name="Google Shape;315;p40"/>
          <p:cNvSpPr txBox="1"/>
          <p:nvPr/>
        </p:nvSpPr>
        <p:spPr>
          <a:xfrm>
            <a:off x="7438800" y="3658588"/>
            <a:ext cx="135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tampoco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7104525" y="3550750"/>
            <a:ext cx="191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local = 5;</a:t>
            </a:r>
            <a:endParaRPr/>
          </a:p>
        </p:txBody>
      </p:sp>
      <p:sp>
        <p:nvSpPr>
          <p:cNvPr id="317" name="Google Shape;317;p40"/>
          <p:cNvSpPr txBox="1"/>
          <p:nvPr/>
        </p:nvSpPr>
        <p:spPr>
          <a:xfrm>
            <a:off x="5275500" y="3782988"/>
            <a:ext cx="135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El valor de local aquí no cambia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7216375" y="2386850"/>
            <a:ext cx="1359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Aquí local sigue sin existir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9" name="Google Shape;319;p40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0" name="Google Shape;320;p4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21" name="Google Shape;321;p40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4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p4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3023550" y="137400"/>
            <a:ext cx="342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Tipos de variables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41"/>
          <p:cNvSpPr txBox="1"/>
          <p:nvPr/>
        </p:nvSpPr>
        <p:spPr>
          <a:xfrm>
            <a:off x="214600" y="710100"/>
            <a:ext cx="823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Como sabemos, tenemos que definir </a:t>
            </a: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explícitamente</a:t>
            </a: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 el tipo de información que va a guardar cada variable, existen muchos tipos diferentes, a continuación veremos los más conocidos: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30" name="Google Shape;330;p41"/>
          <p:cNvGraphicFramePr/>
          <p:nvPr/>
        </p:nvGraphicFramePr>
        <p:xfrm>
          <a:off x="311300" y="20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075550"/>
                <a:gridCol w="3437450"/>
                <a:gridCol w="4077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Descripción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Ejemplo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Número entero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b="1" lang="es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 = 7;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Número decimal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float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decimal = 3.14;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Carácter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b="1" lang="es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letra = </a:t>
                      </a: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‘a’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Cadena de caracteres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palabra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“Hola mundo”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de verdad (verdadero o falso)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flagT = </a:t>
                      </a: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 </a:t>
                      </a: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 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flagF = </a:t>
                      </a:r>
                      <a:r>
                        <a:rPr b="1" lang="es">
                          <a:solidFill>
                            <a:srgbClr val="49AAE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b="1" lang="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</a:tbl>
          </a:graphicData>
        </a:graphic>
      </p:graphicFrame>
      <p:grpSp>
        <p:nvGrpSpPr>
          <p:cNvPr id="331" name="Google Shape;331;p41"/>
          <p:cNvGrpSpPr/>
          <p:nvPr/>
        </p:nvGrpSpPr>
        <p:grpSpPr>
          <a:xfrm>
            <a:off x="6085202" y="1273425"/>
            <a:ext cx="3058830" cy="1795554"/>
            <a:chOff x="6085202" y="1273425"/>
            <a:chExt cx="3058830" cy="1795554"/>
          </a:xfrm>
        </p:grpSpPr>
        <p:cxnSp>
          <p:nvCxnSpPr>
            <p:cNvPr id="332" name="Google Shape;332;p41"/>
            <p:cNvCxnSpPr/>
            <p:nvPr/>
          </p:nvCxnSpPr>
          <p:spPr>
            <a:xfrm flipH="1" rot="10800000">
              <a:off x="6680150" y="2603925"/>
              <a:ext cx="505200" cy="433800"/>
            </a:xfrm>
            <a:prstGeom prst="straightConnector1">
              <a:avLst/>
            </a:prstGeom>
            <a:noFill/>
            <a:ln cap="flat" cmpd="sng" w="38100">
              <a:solidFill>
                <a:srgbClr val="0233AE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3" name="Google Shape;333;p41"/>
            <p:cNvSpPr/>
            <p:nvPr/>
          </p:nvSpPr>
          <p:spPr>
            <a:xfrm>
              <a:off x="6085202" y="1273425"/>
              <a:ext cx="3058830" cy="1795554"/>
            </a:xfrm>
            <a:prstGeom prst="irregularSeal1">
              <a:avLst/>
            </a:prstGeom>
            <a:solidFill>
              <a:srgbClr val="0233A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Fijarse que la parte decimal es con un punto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41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36" name="Google Shape;336;p41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4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41"/>
          <p:cNvGrpSpPr/>
          <p:nvPr/>
        </p:nvGrpSpPr>
        <p:grpSpPr>
          <a:xfrm>
            <a:off x="3077227" y="3445425"/>
            <a:ext cx="3168948" cy="1795554"/>
            <a:chOff x="3077227" y="3445425"/>
            <a:chExt cx="3168948" cy="1795554"/>
          </a:xfrm>
        </p:grpSpPr>
        <p:cxnSp>
          <p:nvCxnSpPr>
            <p:cNvPr id="339" name="Google Shape;339;p41"/>
            <p:cNvCxnSpPr/>
            <p:nvPr/>
          </p:nvCxnSpPr>
          <p:spPr>
            <a:xfrm flipH="1">
              <a:off x="5570275" y="3685100"/>
              <a:ext cx="675900" cy="334500"/>
            </a:xfrm>
            <a:prstGeom prst="straightConnector1">
              <a:avLst/>
            </a:prstGeom>
            <a:noFill/>
            <a:ln cap="flat" cmpd="sng" w="38100">
              <a:solidFill>
                <a:srgbClr val="0233AE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0" name="Google Shape;340;p41"/>
            <p:cNvSpPr/>
            <p:nvPr/>
          </p:nvSpPr>
          <p:spPr>
            <a:xfrm>
              <a:off x="3077227" y="3445425"/>
              <a:ext cx="3058830" cy="1795554"/>
            </a:xfrm>
            <a:prstGeom prst="irregularSeal1">
              <a:avLst/>
            </a:prstGeom>
            <a:solidFill>
              <a:srgbClr val="0233A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Los textos van entre comillas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41" name="Google Shape;341;p41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3174000" y="137400"/>
            <a:ext cx="317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Arreglos (Listas)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42"/>
          <p:cNvSpPr txBox="1"/>
          <p:nvPr/>
        </p:nvSpPr>
        <p:spPr>
          <a:xfrm>
            <a:off x="214600" y="710100"/>
            <a:ext cx="823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Para poder tener variables con más de un dato, existen los arreglos, o más conocidos como listas, que permiten guardar un número definido de variables del mismo tipo: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42"/>
          <p:cNvSpPr txBox="1"/>
          <p:nvPr>
            <p:ph type="title"/>
          </p:nvPr>
        </p:nvSpPr>
        <p:spPr>
          <a:xfrm>
            <a:off x="602450" y="1392475"/>
            <a:ext cx="1564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Código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42"/>
          <p:cNvSpPr txBox="1"/>
          <p:nvPr/>
        </p:nvSpPr>
        <p:spPr>
          <a:xfrm>
            <a:off x="0" y="2117325"/>
            <a:ext cx="14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lista[5]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0" name="Google Shape;350;p42"/>
          <p:cNvCxnSpPr/>
          <p:nvPr/>
        </p:nvCxnSpPr>
        <p:spPr>
          <a:xfrm>
            <a:off x="1465500" y="2249700"/>
            <a:ext cx="597600" cy="54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42"/>
          <p:cNvSpPr/>
          <p:nvPr/>
        </p:nvSpPr>
        <p:spPr>
          <a:xfrm>
            <a:off x="2063100" y="1995250"/>
            <a:ext cx="2326200" cy="554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Crea una lista vacía de tamaño 5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0" y="3325450"/>
            <a:ext cx="299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otra_lista[]= {3,1,4};</a:t>
            </a:r>
            <a:endParaRPr/>
          </a:p>
        </p:txBody>
      </p:sp>
      <p:cxnSp>
        <p:nvCxnSpPr>
          <p:cNvPr id="353" name="Google Shape;353;p42"/>
          <p:cNvCxnSpPr/>
          <p:nvPr/>
        </p:nvCxnSpPr>
        <p:spPr>
          <a:xfrm>
            <a:off x="270325" y="2344350"/>
            <a:ext cx="21600" cy="4548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4" name="Google Shape;354;p42"/>
          <p:cNvSpPr/>
          <p:nvPr/>
        </p:nvSpPr>
        <p:spPr>
          <a:xfrm>
            <a:off x="35625" y="2781100"/>
            <a:ext cx="555000" cy="292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Tipo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42"/>
          <p:cNvSpPr/>
          <p:nvPr/>
        </p:nvSpPr>
        <p:spPr>
          <a:xfrm>
            <a:off x="731675" y="2781095"/>
            <a:ext cx="783600" cy="292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Nombre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6" name="Google Shape;356;p42"/>
          <p:cNvCxnSpPr>
            <a:endCxn id="355" idx="0"/>
          </p:cNvCxnSpPr>
          <p:nvPr/>
        </p:nvCxnSpPr>
        <p:spPr>
          <a:xfrm>
            <a:off x="896375" y="2404595"/>
            <a:ext cx="227100" cy="376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42"/>
          <p:cNvCxnSpPr/>
          <p:nvPr/>
        </p:nvCxnSpPr>
        <p:spPr>
          <a:xfrm>
            <a:off x="1124025" y="2333425"/>
            <a:ext cx="690000" cy="362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42"/>
          <p:cNvSpPr/>
          <p:nvPr/>
        </p:nvSpPr>
        <p:spPr>
          <a:xfrm>
            <a:off x="1656325" y="2781095"/>
            <a:ext cx="783600" cy="292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Tamaño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9" name="Google Shape;359;p42"/>
          <p:cNvCxnSpPr/>
          <p:nvPr/>
        </p:nvCxnSpPr>
        <p:spPr>
          <a:xfrm>
            <a:off x="2767400" y="3453500"/>
            <a:ext cx="678600" cy="3192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p42"/>
          <p:cNvSpPr/>
          <p:nvPr/>
        </p:nvSpPr>
        <p:spPr>
          <a:xfrm>
            <a:off x="3459000" y="3743675"/>
            <a:ext cx="1966200" cy="554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Crea una lista con datos de tamaño 3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1" name="Google Shape;361;p42"/>
          <p:cNvCxnSpPr/>
          <p:nvPr/>
        </p:nvCxnSpPr>
        <p:spPr>
          <a:xfrm flipH="1">
            <a:off x="1173975" y="3588675"/>
            <a:ext cx="1131000" cy="320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2" name="Google Shape;362;p42"/>
          <p:cNvSpPr/>
          <p:nvPr/>
        </p:nvSpPr>
        <p:spPr>
          <a:xfrm>
            <a:off x="80000" y="3946857"/>
            <a:ext cx="2609100" cy="659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Elementos a añadir.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Tienen que ir entre llaves “{}” y cada dato separado por una coma “,”.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42"/>
          <p:cNvSpPr txBox="1"/>
          <p:nvPr>
            <p:ph type="title"/>
          </p:nvPr>
        </p:nvSpPr>
        <p:spPr>
          <a:xfrm>
            <a:off x="5926050" y="1252225"/>
            <a:ext cx="279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Representación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364" name="Google Shape;364;p42"/>
          <p:cNvGraphicFramePr/>
          <p:nvPr/>
        </p:nvGraphicFramePr>
        <p:xfrm>
          <a:off x="5648500" y="22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058925"/>
                <a:gridCol w="1058925"/>
                <a:gridCol w="1058925"/>
              </a:tblGrid>
              <a:tr h="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</a:tr>
              <a:tr h="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</a:tr>
            </a:tbl>
          </a:graphicData>
        </a:graphic>
      </p:graphicFrame>
      <p:sp>
        <p:nvSpPr>
          <p:cNvPr id="365" name="Google Shape;365;p42"/>
          <p:cNvSpPr txBox="1"/>
          <p:nvPr>
            <p:ph type="title"/>
          </p:nvPr>
        </p:nvSpPr>
        <p:spPr>
          <a:xfrm>
            <a:off x="6605975" y="1850500"/>
            <a:ext cx="11310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onsolas"/>
                <a:ea typeface="Consolas"/>
                <a:cs typeface="Consolas"/>
                <a:sym typeface="Consolas"/>
              </a:rPr>
              <a:t>otra_lista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6" name="Google Shape;366;p42"/>
          <p:cNvCxnSpPr/>
          <p:nvPr/>
        </p:nvCxnSpPr>
        <p:spPr>
          <a:xfrm flipH="1">
            <a:off x="5264475" y="2417850"/>
            <a:ext cx="419700" cy="141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42"/>
          <p:cNvSpPr/>
          <p:nvPr/>
        </p:nvSpPr>
        <p:spPr>
          <a:xfrm>
            <a:off x="4431367" y="2147850"/>
            <a:ext cx="833100" cy="554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Índice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8" name="Google Shape;368;p42"/>
          <p:cNvCxnSpPr>
            <a:endCxn id="369" idx="3"/>
          </p:cNvCxnSpPr>
          <p:nvPr/>
        </p:nvCxnSpPr>
        <p:spPr>
          <a:xfrm flipH="1">
            <a:off x="5264467" y="2935100"/>
            <a:ext cx="419700" cy="894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p42"/>
          <p:cNvSpPr/>
          <p:nvPr/>
        </p:nvSpPr>
        <p:spPr>
          <a:xfrm>
            <a:off x="4431367" y="2747450"/>
            <a:ext cx="833100" cy="554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Valor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70" name="Google Shape;370;p42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1" name="Google Shape;371;p4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72" name="Google Shape;372;p4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4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4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3"/>
          <p:cNvSpPr txBox="1"/>
          <p:nvPr>
            <p:ph type="title"/>
          </p:nvPr>
        </p:nvSpPr>
        <p:spPr>
          <a:xfrm>
            <a:off x="3057325" y="137025"/>
            <a:ext cx="320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Ejemplo: </a:t>
            </a: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Arreglos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43"/>
          <p:cNvSpPr txBox="1"/>
          <p:nvPr/>
        </p:nvSpPr>
        <p:spPr>
          <a:xfrm>
            <a:off x="917425" y="1012075"/>
            <a:ext cx="14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lista[2];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43"/>
          <p:cNvSpPr/>
          <p:nvPr/>
        </p:nvSpPr>
        <p:spPr>
          <a:xfrm>
            <a:off x="4285175" y="937300"/>
            <a:ext cx="4512900" cy="381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Primero creamos una lista </a:t>
            </a: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vacía</a:t>
            </a: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tamaño 2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917425" y="1469275"/>
            <a:ext cx="270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lista[0] = 3;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lista[1] = 2;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p43"/>
          <p:cNvSpPr/>
          <p:nvPr/>
        </p:nvSpPr>
        <p:spPr>
          <a:xfrm>
            <a:off x="4285175" y="1470700"/>
            <a:ext cx="4512900" cy="554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Luego, le asignamos valores de la siguiente manera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43"/>
          <p:cNvSpPr/>
          <p:nvPr/>
        </p:nvSpPr>
        <p:spPr>
          <a:xfrm>
            <a:off x="4285175" y="2613700"/>
            <a:ext cx="4512900" cy="554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Ya con esto, tenemos una lista llena de datos lista para ser utilizada.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4285175" y="3756700"/>
            <a:ext cx="4512900" cy="891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 pueden realizar todo tipo de operaciones, como la suma, en este caso, el valor de suma va a ser 5 (3+2)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917425" y="4136275"/>
            <a:ext cx="327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suma = lista[0] + lista[1];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87" name="Google Shape;387;p43"/>
          <p:cNvGraphicFramePr/>
          <p:nvPr/>
        </p:nvGraphicFramePr>
        <p:xfrm>
          <a:off x="1209388" y="248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058925"/>
                <a:gridCol w="1058925"/>
              </a:tblGrid>
              <a:tr h="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2EDE3"/>
                    </a:solidFill>
                  </a:tcPr>
                </a:tc>
              </a:tr>
              <a:tr h="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2A4"/>
                    </a:solidFill>
                  </a:tcPr>
                </a:tc>
              </a:tr>
            </a:tbl>
          </a:graphicData>
        </a:graphic>
      </p:graphicFrame>
      <p:sp>
        <p:nvSpPr>
          <p:cNvPr id="388" name="Google Shape;388;p43"/>
          <p:cNvSpPr txBox="1"/>
          <p:nvPr>
            <p:ph type="title"/>
          </p:nvPr>
        </p:nvSpPr>
        <p:spPr>
          <a:xfrm>
            <a:off x="1926313" y="2063475"/>
            <a:ext cx="11310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latin typeface="Consolas"/>
                <a:ea typeface="Consolas"/>
                <a:cs typeface="Consolas"/>
                <a:sym typeface="Consolas"/>
              </a:rPr>
              <a:t>lista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9" name="Google Shape;389;p43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0" name="Google Shape;390;p4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391" name="Google Shape;391;p43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4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4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4"/>
          <p:cNvSpPr txBox="1"/>
          <p:nvPr>
            <p:ph type="title"/>
          </p:nvPr>
        </p:nvSpPr>
        <p:spPr>
          <a:xfrm>
            <a:off x="2755650" y="137400"/>
            <a:ext cx="363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Lógica Proposicional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44"/>
          <p:cNvSpPr txBox="1"/>
          <p:nvPr/>
        </p:nvSpPr>
        <p:spPr>
          <a:xfrm>
            <a:off x="157375" y="710100"/>
            <a:ext cx="84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Es como diferentes afirmaciones </a:t>
            </a: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interactúan</a:t>
            </a: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 entre sí para generar un valor booleano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00" name="Google Shape;400;p44"/>
          <p:cNvCxnSpPr/>
          <p:nvPr/>
        </p:nvCxnSpPr>
        <p:spPr>
          <a:xfrm flipH="1">
            <a:off x="4544950" y="1110300"/>
            <a:ext cx="5700" cy="3870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01" name="Google Shape;401;p44"/>
          <p:cNvGraphicFramePr/>
          <p:nvPr/>
        </p:nvGraphicFramePr>
        <p:xfrm>
          <a:off x="38250" y="2501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454775"/>
                <a:gridCol w="1524500"/>
                <a:gridCol w="1435350"/>
              </a:tblGrid>
              <a:tr h="12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Afirmación A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Afirmación B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&amp;&amp; B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 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 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2" name="Google Shape;402;p44"/>
          <p:cNvGraphicFramePr/>
          <p:nvPr/>
        </p:nvGraphicFramePr>
        <p:xfrm>
          <a:off x="4642725" y="2501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454775"/>
                <a:gridCol w="1524500"/>
                <a:gridCol w="14353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Afirmación A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Afirmación B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 || B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 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Verdadero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 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Falso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403" name="Google Shape;403;p44"/>
          <p:cNvSpPr txBox="1"/>
          <p:nvPr>
            <p:ph type="title"/>
          </p:nvPr>
        </p:nvSpPr>
        <p:spPr>
          <a:xfrm>
            <a:off x="157375" y="1158925"/>
            <a:ext cx="42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Comparador Lógico &amp;&amp;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44"/>
          <p:cNvSpPr txBox="1"/>
          <p:nvPr>
            <p:ph type="title"/>
          </p:nvPr>
        </p:nvSpPr>
        <p:spPr>
          <a:xfrm>
            <a:off x="4702325" y="1158925"/>
            <a:ext cx="429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Comparador Lógico ||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44"/>
          <p:cNvSpPr txBox="1"/>
          <p:nvPr/>
        </p:nvSpPr>
        <p:spPr>
          <a:xfrm>
            <a:off x="264700" y="1655425"/>
            <a:ext cx="35910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Este comparador significa “y”. Se utiliza en preguntas del tipo: “</a:t>
            </a:r>
            <a:r>
              <a:rPr i="1"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Esta afirmación </a:t>
            </a:r>
            <a:r>
              <a:rPr b="1" i="1"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r>
              <a:rPr i="1"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 esta otra afirmación</a:t>
            </a:r>
            <a:r>
              <a:rPr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”.</a:t>
            </a:r>
            <a:endParaRPr sz="1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44"/>
          <p:cNvSpPr txBox="1"/>
          <p:nvPr/>
        </p:nvSpPr>
        <p:spPr>
          <a:xfrm>
            <a:off x="4921725" y="1655425"/>
            <a:ext cx="3977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Este comparador significa “o”. Se utiliza en preguntas del tipo: “</a:t>
            </a:r>
            <a:r>
              <a:rPr i="1" lang="es" sz="12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Esta afirmación </a:t>
            </a:r>
            <a:r>
              <a:rPr b="1" i="1" lang="es" sz="12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i="1" lang="es" sz="12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 esta otra afirmación</a:t>
            </a:r>
            <a:r>
              <a:rPr lang="es" sz="1200">
                <a:solidFill>
                  <a:srgbClr val="0233AE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”</a:t>
            </a:r>
            <a:endParaRPr sz="1200">
              <a:solidFill>
                <a:srgbClr val="0233AE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07" name="Google Shape;407;p44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8" name="Google Shape;408;p4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09" name="Google Shape;409;p44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4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1" name="Google Shape;411;p4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45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417" name="Google Shape;417;p45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4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45"/>
          <p:cNvSpPr txBox="1"/>
          <p:nvPr/>
        </p:nvSpPr>
        <p:spPr>
          <a:xfrm rot="-755">
            <a:off x="757374" y="1073563"/>
            <a:ext cx="1365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5"/>
          <p:cNvSpPr txBox="1"/>
          <p:nvPr/>
        </p:nvSpPr>
        <p:spPr>
          <a:xfrm rot="-944">
            <a:off x="3334850" y="1645302"/>
            <a:ext cx="54648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100"/>
              <a:buFont typeface="Poppins"/>
              <a:buAutoNum type="arabicPeriod"/>
            </a:pPr>
            <a:r>
              <a:rPr b="1" lang="es" sz="21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(Verdadero &amp;&amp; Falso) ∥ Verdadero</a:t>
            </a:r>
            <a:endParaRPr b="1" sz="21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100"/>
              <a:buFont typeface="Poppins"/>
              <a:buAutoNum type="arabicPeriod"/>
            </a:pPr>
            <a:r>
              <a:rPr b="1" lang="es" sz="21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(false ∥ false) ∥ true</a:t>
            </a:r>
            <a:endParaRPr b="1" sz="21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3AE"/>
              </a:buClr>
              <a:buSzPts val="2100"/>
              <a:buFont typeface="Poppins"/>
              <a:buAutoNum type="arabicPeriod"/>
            </a:pPr>
            <a:r>
              <a:rPr b="1" lang="es" sz="21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true &amp;&amp; (false &amp;&amp; false)</a:t>
            </a:r>
            <a:endParaRPr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22" name="Google Shape;42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5"/>
          <p:cNvSpPr txBox="1"/>
          <p:nvPr/>
        </p:nvSpPr>
        <p:spPr>
          <a:xfrm>
            <a:off x="119400" y="1570600"/>
            <a:ext cx="26130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Determina el valor de verdad de las siguientes expresiones: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46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429" name="Google Shape;429;p46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4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p46"/>
          <p:cNvSpPr txBox="1"/>
          <p:nvPr/>
        </p:nvSpPr>
        <p:spPr>
          <a:xfrm rot="-755">
            <a:off x="757374" y="1073563"/>
            <a:ext cx="1365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6"/>
          <p:cNvSpPr txBox="1"/>
          <p:nvPr/>
        </p:nvSpPr>
        <p:spPr>
          <a:xfrm rot="-944">
            <a:off x="3334850" y="1783902"/>
            <a:ext cx="54648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1B99"/>
              </a:buClr>
              <a:buSzPts val="2000"/>
              <a:buFont typeface="Poppins"/>
              <a:buAutoNum type="arabicPeriod"/>
            </a:pPr>
            <a:r>
              <a:rPr b="1" lang="es" sz="19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(Verdadero &amp;&amp; _____) &amp;&amp; Verdadero</a:t>
            </a:r>
            <a:endParaRPr b="1" sz="19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1B99"/>
              </a:buClr>
              <a:buSzPts val="1900"/>
              <a:buFont typeface="Poppins"/>
              <a:buAutoNum type="arabicPeriod"/>
            </a:pPr>
            <a:r>
              <a:rPr b="1" lang="es" sz="19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_____ ∥ ((true &amp;&amp; false) ∥ false)</a:t>
            </a:r>
            <a:endParaRPr b="1" sz="19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900" u="none" cap="none" strike="noStrike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34" name="Google Shape;43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6"/>
          <p:cNvSpPr txBox="1"/>
          <p:nvPr/>
        </p:nvSpPr>
        <p:spPr>
          <a:xfrm>
            <a:off x="119400" y="1570600"/>
            <a:ext cx="2613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Determina el valor del elemento faltante para que toda la expresión sea verdadera: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47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441" name="Google Shape;441;p47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2" name="Google Shape;442;p4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47"/>
          <p:cNvSpPr txBox="1"/>
          <p:nvPr/>
        </p:nvSpPr>
        <p:spPr>
          <a:xfrm rot="-755">
            <a:off x="757374" y="1073563"/>
            <a:ext cx="13656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7"/>
          <p:cNvSpPr txBox="1"/>
          <p:nvPr/>
        </p:nvSpPr>
        <p:spPr>
          <a:xfrm rot="-911">
            <a:off x="3141225" y="1783953"/>
            <a:ext cx="5658300" cy="1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1B99"/>
              </a:buClr>
              <a:buSzPts val="2000"/>
              <a:buFont typeface="Poppins"/>
              <a:buAutoNum type="arabicPeriod"/>
            </a:pPr>
            <a:r>
              <a:rPr b="1" lang="es" sz="20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(_____ ∥ Falso) &amp;&amp; Verdadero</a:t>
            </a:r>
            <a:endParaRPr b="1" sz="20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92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1B99"/>
              </a:buClr>
              <a:buSzPts val="1900"/>
              <a:buFont typeface="Poppins"/>
              <a:buAutoNum type="arabicPeriod"/>
            </a:pPr>
            <a:r>
              <a:rPr b="1" lang="es" sz="20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((true &amp;&amp; false) ∥ true) &amp;&amp; ((true &amp;&amp; _____) &amp;&amp; true)</a:t>
            </a:r>
            <a:endParaRPr b="1" sz="19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900" u="none" cap="none" strike="noStrike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6" name="Google Shape;446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7"/>
          <p:cNvSpPr txBox="1"/>
          <p:nvPr/>
        </p:nvSpPr>
        <p:spPr>
          <a:xfrm>
            <a:off x="119400" y="1570600"/>
            <a:ext cx="2613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Determina el valor del elemento faltante para que toda la expresión sea falsa: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8"/>
          <p:cNvSpPr txBox="1"/>
          <p:nvPr>
            <p:ph type="title"/>
          </p:nvPr>
        </p:nvSpPr>
        <p:spPr>
          <a:xfrm>
            <a:off x="3628500" y="137400"/>
            <a:ext cx="203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Aritmética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53" name="Google Shape;453;p48"/>
          <p:cNvCxnSpPr/>
          <p:nvPr/>
        </p:nvCxnSpPr>
        <p:spPr>
          <a:xfrm flipH="1">
            <a:off x="4544950" y="1110300"/>
            <a:ext cx="5700" cy="38706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454" name="Google Shape;454;p48"/>
          <p:cNvGraphicFramePr/>
          <p:nvPr/>
        </p:nvGraphicFramePr>
        <p:xfrm>
          <a:off x="712850" y="1906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454775"/>
                <a:gridCol w="1524500"/>
              </a:tblGrid>
              <a:tr h="128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Nombre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Símbolo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9B2A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Igual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A==B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  <a:tr h="14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Desigual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A!=B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Menor Estricto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A&lt;B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Menor o Igual</a:t>
                      </a: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A&lt;=B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Mayor Estricto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A&gt;B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Mayor o Igual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A&gt;=B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p48"/>
          <p:cNvSpPr txBox="1"/>
          <p:nvPr>
            <p:ph type="title"/>
          </p:nvPr>
        </p:nvSpPr>
        <p:spPr>
          <a:xfrm>
            <a:off x="843175" y="701725"/>
            <a:ext cx="24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Comparación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48"/>
          <p:cNvSpPr txBox="1"/>
          <p:nvPr>
            <p:ph type="title"/>
          </p:nvPr>
        </p:nvSpPr>
        <p:spPr>
          <a:xfrm>
            <a:off x="5921525" y="625525"/>
            <a:ext cx="227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Operaciones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7" name="Google Shape;457;p48"/>
          <p:cNvSpPr txBox="1"/>
          <p:nvPr/>
        </p:nvSpPr>
        <p:spPr>
          <a:xfrm>
            <a:off x="264700" y="1198225"/>
            <a:ext cx="4280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Las diferentes variables pueden compararse entre sí para poder crear afirmaciones.</a:t>
            </a:r>
            <a:endParaRPr sz="1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48"/>
          <p:cNvSpPr txBox="1"/>
          <p:nvPr/>
        </p:nvSpPr>
        <p:spPr>
          <a:xfrm>
            <a:off x="4921725" y="1198225"/>
            <a:ext cx="39774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21B99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También se pueden realizar diferentes operaciones matemáticas con las variables (</a:t>
            </a:r>
            <a:r>
              <a:rPr i="1" lang="es" sz="1200">
                <a:solidFill>
                  <a:srgbClr val="021B99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Nota: fijarse que ambas variables sean del mismo tipo</a:t>
            </a:r>
            <a:r>
              <a:rPr lang="es" sz="1200">
                <a:solidFill>
                  <a:srgbClr val="021B99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>
              <a:solidFill>
                <a:srgbClr val="021B99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48"/>
          <p:cNvSpPr txBox="1"/>
          <p:nvPr/>
        </p:nvSpPr>
        <p:spPr>
          <a:xfrm>
            <a:off x="5180975" y="2571750"/>
            <a:ext cx="7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 +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48"/>
          <p:cNvSpPr txBox="1"/>
          <p:nvPr/>
        </p:nvSpPr>
        <p:spPr>
          <a:xfrm>
            <a:off x="7656600" y="2571750"/>
            <a:ext cx="7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 -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1" name="Google Shape;461;p48"/>
          <p:cNvSpPr txBox="1"/>
          <p:nvPr/>
        </p:nvSpPr>
        <p:spPr>
          <a:xfrm>
            <a:off x="5180963" y="3552600"/>
            <a:ext cx="7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 *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2" name="Google Shape;462;p48"/>
          <p:cNvSpPr txBox="1"/>
          <p:nvPr/>
        </p:nvSpPr>
        <p:spPr>
          <a:xfrm>
            <a:off x="7525050" y="3425975"/>
            <a:ext cx="7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nsolas"/>
                <a:ea typeface="Consolas"/>
                <a:cs typeface="Consolas"/>
                <a:sym typeface="Consolas"/>
              </a:rPr>
              <a:t>A / B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3" name="Google Shape;463;p48"/>
          <p:cNvSpPr txBox="1"/>
          <p:nvPr/>
        </p:nvSpPr>
        <p:spPr>
          <a:xfrm>
            <a:off x="5180975" y="29719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Suma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48"/>
          <p:cNvSpPr txBox="1"/>
          <p:nvPr/>
        </p:nvSpPr>
        <p:spPr>
          <a:xfrm>
            <a:off x="7656600" y="2998863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Resta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5" name="Google Shape;465;p48"/>
          <p:cNvSpPr txBox="1"/>
          <p:nvPr/>
        </p:nvSpPr>
        <p:spPr>
          <a:xfrm>
            <a:off x="4950350" y="3896950"/>
            <a:ext cx="14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Multiplicación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6" name="Google Shape;466;p48"/>
          <p:cNvSpPr txBox="1"/>
          <p:nvPr/>
        </p:nvSpPr>
        <p:spPr>
          <a:xfrm>
            <a:off x="7435425" y="3896950"/>
            <a:ext cx="14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División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7" name="Google Shape;467;p48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8" name="Google Shape;468;p4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69" name="Google Shape;469;p48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" name="Google Shape;470;p4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p4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9"/>
          <p:cNvSpPr txBox="1"/>
          <p:nvPr>
            <p:ph type="title"/>
          </p:nvPr>
        </p:nvSpPr>
        <p:spPr>
          <a:xfrm>
            <a:off x="918775" y="39750"/>
            <a:ext cx="70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Estructuras condicionales: IF-ELSE IF-ELSE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7" name="Google Shape;477;p49"/>
          <p:cNvSpPr txBox="1"/>
          <p:nvPr/>
        </p:nvSpPr>
        <p:spPr>
          <a:xfrm>
            <a:off x="2381903" y="1035413"/>
            <a:ext cx="4426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(condicion){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8" name="Google Shape;478;p49"/>
          <p:cNvCxnSpPr>
            <a:endCxn id="479" idx="3"/>
          </p:cNvCxnSpPr>
          <p:nvPr/>
        </p:nvCxnSpPr>
        <p:spPr>
          <a:xfrm rot="10800000">
            <a:off x="1846387" y="1045560"/>
            <a:ext cx="1039800" cy="130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9"/>
          <p:cNvSpPr/>
          <p:nvPr/>
        </p:nvSpPr>
        <p:spPr>
          <a:xfrm>
            <a:off x="918787" y="821760"/>
            <a:ext cx="927600" cy="447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(si)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0" name="Google Shape;480;p49"/>
          <p:cNvCxnSpPr>
            <a:endCxn id="481" idx="1"/>
          </p:cNvCxnSpPr>
          <p:nvPr/>
        </p:nvCxnSpPr>
        <p:spPr>
          <a:xfrm flipH="1" rot="10800000">
            <a:off x="3783522" y="957075"/>
            <a:ext cx="1311600" cy="783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1" name="Google Shape;481;p49"/>
          <p:cNvSpPr/>
          <p:nvPr/>
        </p:nvSpPr>
        <p:spPr>
          <a:xfrm>
            <a:off x="5095122" y="597825"/>
            <a:ext cx="1393800" cy="71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Condición (Tiene que ir entre paréntesis)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49"/>
          <p:cNvSpPr txBox="1"/>
          <p:nvPr/>
        </p:nvSpPr>
        <p:spPr>
          <a:xfrm>
            <a:off x="2381903" y="1594176"/>
            <a:ext cx="4426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 else if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(condicion){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3" name="Google Shape;483;p49"/>
          <p:cNvCxnSpPr>
            <a:stCxn id="481" idx="3"/>
            <a:endCxn id="484" idx="0"/>
          </p:cNvCxnSpPr>
          <p:nvPr/>
        </p:nvCxnSpPr>
        <p:spPr>
          <a:xfrm>
            <a:off x="6488922" y="957075"/>
            <a:ext cx="1081500" cy="6372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4" name="Google Shape;484;p49"/>
          <p:cNvSpPr/>
          <p:nvPr/>
        </p:nvSpPr>
        <p:spPr>
          <a:xfrm>
            <a:off x="6365319" y="1594176"/>
            <a:ext cx="2410500" cy="1300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Ejemplos de condiciones: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== b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  &lt; 5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variable &gt;= otra_variable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5" name="Google Shape;485;p49"/>
          <p:cNvCxnSpPr>
            <a:endCxn id="486" idx="0"/>
          </p:cNvCxnSpPr>
          <p:nvPr/>
        </p:nvCxnSpPr>
        <p:spPr>
          <a:xfrm flipH="1">
            <a:off x="1268625" y="1710776"/>
            <a:ext cx="1631100" cy="10533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6" name="Google Shape;486;p49"/>
          <p:cNvSpPr/>
          <p:nvPr/>
        </p:nvSpPr>
        <p:spPr>
          <a:xfrm>
            <a:off x="433575" y="2764076"/>
            <a:ext cx="1670100" cy="1073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</a:t>
            </a:r>
            <a:r>
              <a:rPr b="1"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opcional</a:t>
            </a: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para añadir más condiciones (Siempre tiene que ir  con un if)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49"/>
          <p:cNvSpPr txBox="1"/>
          <p:nvPr/>
        </p:nvSpPr>
        <p:spPr>
          <a:xfrm>
            <a:off x="2381903" y="2139011"/>
            <a:ext cx="4426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 else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8" name="Google Shape;488;p49"/>
          <p:cNvCxnSpPr>
            <a:endCxn id="489" idx="0"/>
          </p:cNvCxnSpPr>
          <p:nvPr/>
        </p:nvCxnSpPr>
        <p:spPr>
          <a:xfrm>
            <a:off x="3291552" y="2363526"/>
            <a:ext cx="923700" cy="12336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49"/>
          <p:cNvSpPr/>
          <p:nvPr/>
        </p:nvSpPr>
        <p:spPr>
          <a:xfrm>
            <a:off x="3380202" y="3597126"/>
            <a:ext cx="1670100" cy="1073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</a:t>
            </a:r>
            <a:r>
              <a:rPr b="1"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opcional</a:t>
            </a: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para considerar todo el resto de casos (Siempre tiene que ir  con un if, y puede existir sin un else if)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0" name="Google Shape;490;p49"/>
          <p:cNvSpPr/>
          <p:nvPr/>
        </p:nvSpPr>
        <p:spPr>
          <a:xfrm>
            <a:off x="5789049" y="3242609"/>
            <a:ext cx="2410500" cy="13002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 importante siempre fijarse que la condición esté entre paréntesis, y el código que se quiere ejecutar entre llaves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1" name="Google Shape;491;p49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4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493" name="Google Shape;493;p49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4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5" name="Google Shape;495;p4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0"/>
          <p:cNvSpPr txBox="1"/>
          <p:nvPr/>
        </p:nvSpPr>
        <p:spPr>
          <a:xfrm>
            <a:off x="2011100" y="152400"/>
            <a:ext cx="548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Cómo usar el monitor Serial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1" name="Google Shape;501;p50"/>
          <p:cNvSpPr txBox="1"/>
          <p:nvPr/>
        </p:nvSpPr>
        <p:spPr>
          <a:xfrm>
            <a:off x="202550" y="684500"/>
            <a:ext cx="857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Antes de seguir, veremos de forma simple cómo usar el monitor serial, y en las siguientes unidades profundizaremos.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2" name="Google Shape;50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425" y="1679525"/>
            <a:ext cx="1661470" cy="1789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0"/>
          <p:cNvSpPr txBox="1"/>
          <p:nvPr/>
        </p:nvSpPr>
        <p:spPr>
          <a:xfrm>
            <a:off x="6783450" y="1201388"/>
            <a:ext cx="200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¿Cómo se usa?</a:t>
            </a:r>
            <a:endParaRPr b="1"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4" name="Google Shape;504;p50"/>
          <p:cNvSpPr/>
          <p:nvPr/>
        </p:nvSpPr>
        <p:spPr>
          <a:xfrm>
            <a:off x="8257200" y="2087125"/>
            <a:ext cx="656700" cy="495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1570" y="2367975"/>
            <a:ext cx="1895454" cy="2315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6" name="Google Shape;506;p50"/>
          <p:cNvCxnSpPr/>
          <p:nvPr/>
        </p:nvCxnSpPr>
        <p:spPr>
          <a:xfrm flipH="1" rot="10800000">
            <a:off x="7313400" y="2583025"/>
            <a:ext cx="943800" cy="1128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7" name="Google Shape;507;p50"/>
          <p:cNvSpPr txBox="1"/>
          <p:nvPr/>
        </p:nvSpPr>
        <p:spPr>
          <a:xfrm>
            <a:off x="336375" y="1442700"/>
            <a:ext cx="3660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setup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Serial.begin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(9600);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8A6A6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10;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Serial.println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“hola”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Serial.println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(x); 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8" name="Google Shape;508;p50"/>
          <p:cNvCxnSpPr/>
          <p:nvPr/>
        </p:nvCxnSpPr>
        <p:spPr>
          <a:xfrm flipH="1">
            <a:off x="1920800" y="3425725"/>
            <a:ext cx="933600" cy="346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50"/>
          <p:cNvSpPr/>
          <p:nvPr/>
        </p:nvSpPr>
        <p:spPr>
          <a:xfrm>
            <a:off x="649050" y="3863300"/>
            <a:ext cx="1895400" cy="738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Aquí va la variable que queremos mostrar por pantalla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0" name="Google Shape;510;p50"/>
          <p:cNvCxnSpPr/>
          <p:nvPr/>
        </p:nvCxnSpPr>
        <p:spPr>
          <a:xfrm>
            <a:off x="3864825" y="3053000"/>
            <a:ext cx="416700" cy="5817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50"/>
          <p:cNvSpPr/>
          <p:nvPr/>
        </p:nvSpPr>
        <p:spPr>
          <a:xfrm>
            <a:off x="3752250" y="3634700"/>
            <a:ext cx="1639500" cy="967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Aquí podemos escribir texto (va entre comillas)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12" name="Google Shape;512;p50"/>
          <p:cNvCxnSpPr/>
          <p:nvPr/>
        </p:nvCxnSpPr>
        <p:spPr>
          <a:xfrm flipH="1" rot="10800000">
            <a:off x="3320225" y="1881100"/>
            <a:ext cx="451200" cy="35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50"/>
          <p:cNvSpPr/>
          <p:nvPr/>
        </p:nvSpPr>
        <p:spPr>
          <a:xfrm>
            <a:off x="3752250" y="1354750"/>
            <a:ext cx="1639500" cy="1087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esto se inicializa la comunicación serial</a:t>
            </a:r>
            <a:endParaRPr sz="1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4" name="Google Shape;514;p50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5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16" name="Google Shape;516;p50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5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5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51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24" name="Google Shape;524;p51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p5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51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Ingresa a tinkercad y con únicamente un Arduino Uno, experimenta con el siguiente código: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30" name="Google Shape;53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76300" y="1140900"/>
            <a:ext cx="4208842" cy="30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1"/>
          <p:cNvSpPr/>
          <p:nvPr/>
        </p:nvSpPr>
        <p:spPr>
          <a:xfrm>
            <a:off x="6208550" y="3597347"/>
            <a:ext cx="2708400" cy="1405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 también añadiendo los IF-ELSE que quieras.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52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37" name="Google Shape;537;p52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5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9" name="Google Shape;539;p52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2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Determina qué parte del código se va a ejecutar: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3" name="Google Shape;543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1063" y="1217100"/>
            <a:ext cx="541932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3"/>
          <p:cNvSpPr txBox="1"/>
          <p:nvPr>
            <p:ph type="title"/>
          </p:nvPr>
        </p:nvSpPr>
        <p:spPr>
          <a:xfrm>
            <a:off x="1181100" y="39750"/>
            <a:ext cx="678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Estructuras condicionales: WHILE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9" name="Google Shape;549;p53"/>
          <p:cNvSpPr txBox="1"/>
          <p:nvPr/>
        </p:nvSpPr>
        <p:spPr>
          <a:xfrm>
            <a:off x="2361550" y="706400"/>
            <a:ext cx="4764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(condicion){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0" name="Google Shape;550;p53"/>
          <p:cNvCxnSpPr/>
          <p:nvPr/>
        </p:nvCxnSpPr>
        <p:spPr>
          <a:xfrm rot="10800000">
            <a:off x="1781525" y="706400"/>
            <a:ext cx="1119000" cy="139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1" name="Google Shape;551;p53"/>
          <p:cNvSpPr/>
          <p:nvPr/>
        </p:nvSpPr>
        <p:spPr>
          <a:xfrm>
            <a:off x="727175" y="529400"/>
            <a:ext cx="998400" cy="478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(mientras)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2" name="Google Shape;552;p53"/>
          <p:cNvCxnSpPr>
            <a:stCxn id="549" idx="0"/>
            <a:endCxn id="553" idx="1"/>
          </p:cNvCxnSpPr>
          <p:nvPr/>
        </p:nvCxnSpPr>
        <p:spPr>
          <a:xfrm>
            <a:off x="4743700" y="706400"/>
            <a:ext cx="1556400" cy="2256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53"/>
          <p:cNvSpPr/>
          <p:nvPr/>
        </p:nvSpPr>
        <p:spPr>
          <a:xfrm>
            <a:off x="6300175" y="547575"/>
            <a:ext cx="1500000" cy="768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Condición (Tiene que ir entre paréntesis)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554" name="Google Shape;554;p53"/>
          <p:cNvCxnSpPr>
            <a:stCxn id="553" idx="2"/>
            <a:endCxn id="555" idx="3"/>
          </p:cNvCxnSpPr>
          <p:nvPr/>
        </p:nvCxnSpPr>
        <p:spPr>
          <a:xfrm flipH="1">
            <a:off x="5869075" y="1316175"/>
            <a:ext cx="1181100" cy="799800"/>
          </a:xfrm>
          <a:prstGeom prst="straightConnector1">
            <a:avLst/>
          </a:prstGeom>
          <a:noFill/>
          <a:ln cap="flat" cmpd="sng" w="38100">
            <a:solidFill>
              <a:srgbClr val="FFC00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5" name="Google Shape;555;p53"/>
          <p:cNvSpPr/>
          <p:nvPr/>
        </p:nvSpPr>
        <p:spPr>
          <a:xfrm>
            <a:off x="3274950" y="1420600"/>
            <a:ext cx="2594100" cy="1390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 importante que la condición se vuelva falsa en algún momento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6" name="Google Shape;556;p53"/>
          <p:cNvSpPr/>
          <p:nvPr/>
        </p:nvSpPr>
        <p:spPr>
          <a:xfrm>
            <a:off x="1237600" y="2430400"/>
            <a:ext cx="1181100" cy="11088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grpSp>
        <p:nvGrpSpPr>
          <p:cNvPr id="557" name="Google Shape;557;p53"/>
          <p:cNvGrpSpPr/>
          <p:nvPr/>
        </p:nvGrpSpPr>
        <p:grpSpPr>
          <a:xfrm>
            <a:off x="6481953" y="2592745"/>
            <a:ext cx="1136447" cy="849000"/>
            <a:chOff x="6481953" y="2897545"/>
            <a:chExt cx="1136447" cy="849000"/>
          </a:xfrm>
        </p:grpSpPr>
        <p:sp>
          <p:nvSpPr>
            <p:cNvPr id="558" name="Google Shape;558;p53"/>
            <p:cNvSpPr/>
            <p:nvPr/>
          </p:nvSpPr>
          <p:spPr>
            <a:xfrm rot="3231810">
              <a:off x="6565615" y="3185115"/>
              <a:ext cx="196876" cy="307225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53"/>
            <p:cNvSpPr/>
            <p:nvPr/>
          </p:nvSpPr>
          <p:spPr>
            <a:xfrm rot="-2089575">
              <a:off x="6579378" y="3168377"/>
              <a:ext cx="1044845" cy="30733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0" name="Google Shape;56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871" y="3479496"/>
            <a:ext cx="3614293" cy="11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350" y="3479500"/>
            <a:ext cx="3667903" cy="119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3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5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564" name="Google Shape;564;p53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" name="Google Shape;565;p5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5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oogle Shape;571;p54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72" name="Google Shape;572;p54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5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p54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4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Ingresa a tinkercad y con únicamente un Arduino Uno, experimenta con el siguiente código: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8" name="Google Shape;578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7575" y="1217100"/>
            <a:ext cx="468630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55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84" name="Google Shape;584;p55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5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6" name="Google Shape;586;p55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7" name="Google Shape;58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55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Determina cuántas veces se va a ejecutar cada código: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90" name="Google Shape;590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4275" y="1429475"/>
            <a:ext cx="5449025" cy="22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" name="Google Shape;595;p56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596" name="Google Shape;596;p56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5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8" name="Google Shape;598;p56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6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Determina cuántas veces se va a ejecutar cada parte del código y en qué orden: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2" name="Google Shape;60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5775" y="1217100"/>
            <a:ext cx="5529900" cy="34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7" name="Google Shape;607;p57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08" name="Google Shape;608;p57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5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57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32B8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7"/>
          <p:cNvSpPr txBox="1"/>
          <p:nvPr/>
        </p:nvSpPr>
        <p:spPr>
          <a:xfrm rot="-894">
            <a:off x="119398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TOMEMOS</a:t>
            </a:r>
            <a:endParaRPr/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DESCANSO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7"/>
          <p:cNvPicPr preferRelativeResize="0"/>
          <p:nvPr/>
        </p:nvPicPr>
        <p:blipFill rotWithShape="1">
          <a:blip r:embed="rId6">
            <a:alphaModFix amt="2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7" title="b3eaa60e-d18d-46b9-b73c-e73008bf6454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85488" y="240963"/>
            <a:ext cx="4661576" cy="46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8"/>
          <p:cNvSpPr txBox="1"/>
          <p:nvPr>
            <p:ph type="title"/>
          </p:nvPr>
        </p:nvSpPr>
        <p:spPr>
          <a:xfrm>
            <a:off x="2079300" y="46900"/>
            <a:ext cx="514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Estructuras condicionales: for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58"/>
          <p:cNvSpPr txBox="1"/>
          <p:nvPr/>
        </p:nvSpPr>
        <p:spPr>
          <a:xfrm>
            <a:off x="1651575" y="741200"/>
            <a:ext cx="5573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= 0;condición;modificador){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622" name="Google Shape;622;p58"/>
          <p:cNvCxnSpPr>
            <a:endCxn id="623" idx="3"/>
          </p:cNvCxnSpPr>
          <p:nvPr/>
        </p:nvCxnSpPr>
        <p:spPr>
          <a:xfrm flipH="1">
            <a:off x="1373600" y="908550"/>
            <a:ext cx="801000" cy="111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3" name="Google Shape;623;p58"/>
          <p:cNvSpPr/>
          <p:nvPr/>
        </p:nvSpPr>
        <p:spPr>
          <a:xfrm>
            <a:off x="107300" y="780150"/>
            <a:ext cx="1266300" cy="478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(para)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4" name="Google Shape;624;p58"/>
          <p:cNvCxnSpPr>
            <a:endCxn id="625" idx="0"/>
          </p:cNvCxnSpPr>
          <p:nvPr/>
        </p:nvCxnSpPr>
        <p:spPr>
          <a:xfrm flipH="1">
            <a:off x="1287700" y="1001475"/>
            <a:ext cx="1752600" cy="1004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58"/>
          <p:cNvSpPr/>
          <p:nvPr/>
        </p:nvSpPr>
        <p:spPr>
          <a:xfrm>
            <a:off x="400600" y="2005575"/>
            <a:ext cx="1774200" cy="813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Variable a utilizar (se puede crear dentro del for o usar una ya existente)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6" name="Google Shape;626;p58"/>
          <p:cNvCxnSpPr>
            <a:endCxn id="627" idx="0"/>
          </p:cNvCxnSpPr>
          <p:nvPr/>
        </p:nvCxnSpPr>
        <p:spPr>
          <a:xfrm flipH="1">
            <a:off x="3240950" y="987125"/>
            <a:ext cx="1122900" cy="1018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7" name="Google Shape;627;p58"/>
          <p:cNvSpPr/>
          <p:nvPr/>
        </p:nvSpPr>
        <p:spPr>
          <a:xfrm>
            <a:off x="2414300" y="2005625"/>
            <a:ext cx="1653300" cy="908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Condición que </a:t>
            </a:r>
            <a:r>
              <a:rPr b="1"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DEBE </a:t>
            </a: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contener la variable utilizada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8" name="Google Shape;628;p58"/>
          <p:cNvCxnSpPr>
            <a:endCxn id="629" idx="0"/>
          </p:cNvCxnSpPr>
          <p:nvPr/>
        </p:nvCxnSpPr>
        <p:spPr>
          <a:xfrm flipH="1">
            <a:off x="5281563" y="1037225"/>
            <a:ext cx="391200" cy="968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9" name="Google Shape;629;p58"/>
          <p:cNvSpPr/>
          <p:nvPr/>
        </p:nvSpPr>
        <p:spPr>
          <a:xfrm>
            <a:off x="4341063" y="2005625"/>
            <a:ext cx="1881000" cy="908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Modificador de la variable que se está usando, usualmente puede ser sumar o restar algo (i++ o i--)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0" name="Google Shape;630;p58"/>
          <p:cNvSpPr/>
          <p:nvPr/>
        </p:nvSpPr>
        <p:spPr>
          <a:xfrm>
            <a:off x="6395375" y="1223875"/>
            <a:ext cx="2594100" cy="1390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Fijarse que cada elemento del for está separado por ;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1" name="Google Shape;63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600" y="3395200"/>
            <a:ext cx="52578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5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3" name="Google Shape;633;p5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34" name="Google Shape;634;p5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5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6" name="Google Shape;636;p5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9"/>
          <p:cNvSpPr txBox="1"/>
          <p:nvPr>
            <p:ph type="title"/>
          </p:nvPr>
        </p:nvSpPr>
        <p:spPr>
          <a:xfrm>
            <a:off x="2079300" y="46900"/>
            <a:ext cx="514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Estructuras condicionales: for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2" name="Google Shape;642;p59"/>
          <p:cNvSpPr txBox="1"/>
          <p:nvPr/>
        </p:nvSpPr>
        <p:spPr>
          <a:xfrm>
            <a:off x="1651575" y="741200"/>
            <a:ext cx="5573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= 0;condición;modificador){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// Código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643" name="Google Shape;643;p59"/>
          <p:cNvCxnSpPr>
            <a:endCxn id="644" idx="3"/>
          </p:cNvCxnSpPr>
          <p:nvPr/>
        </p:nvCxnSpPr>
        <p:spPr>
          <a:xfrm flipH="1">
            <a:off x="1373600" y="908550"/>
            <a:ext cx="801000" cy="111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4" name="Google Shape;644;p59"/>
          <p:cNvSpPr/>
          <p:nvPr/>
        </p:nvSpPr>
        <p:spPr>
          <a:xfrm>
            <a:off x="107300" y="780150"/>
            <a:ext cx="1266300" cy="4788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Estructura 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(para)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45" name="Google Shape;645;p59"/>
          <p:cNvCxnSpPr>
            <a:endCxn id="646" idx="0"/>
          </p:cNvCxnSpPr>
          <p:nvPr/>
        </p:nvCxnSpPr>
        <p:spPr>
          <a:xfrm flipH="1">
            <a:off x="1287700" y="1001475"/>
            <a:ext cx="1752600" cy="1004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6" name="Google Shape;646;p59"/>
          <p:cNvSpPr/>
          <p:nvPr/>
        </p:nvSpPr>
        <p:spPr>
          <a:xfrm>
            <a:off x="400600" y="2005575"/>
            <a:ext cx="1774200" cy="813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Variable a utilizar (se puede crear dentro del for o usar una ya existente)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47" name="Google Shape;647;p59"/>
          <p:cNvCxnSpPr>
            <a:endCxn id="648" idx="0"/>
          </p:cNvCxnSpPr>
          <p:nvPr/>
        </p:nvCxnSpPr>
        <p:spPr>
          <a:xfrm flipH="1">
            <a:off x="3240950" y="987125"/>
            <a:ext cx="1122900" cy="10185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59"/>
          <p:cNvSpPr/>
          <p:nvPr/>
        </p:nvSpPr>
        <p:spPr>
          <a:xfrm>
            <a:off x="2414300" y="2005625"/>
            <a:ext cx="1653300" cy="908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Condición que </a:t>
            </a:r>
            <a:r>
              <a:rPr b="1"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DEBE </a:t>
            </a: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contener la variable utilizada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49" name="Google Shape;649;p59"/>
          <p:cNvCxnSpPr>
            <a:endCxn id="650" idx="0"/>
          </p:cNvCxnSpPr>
          <p:nvPr/>
        </p:nvCxnSpPr>
        <p:spPr>
          <a:xfrm flipH="1">
            <a:off x="5281563" y="1037225"/>
            <a:ext cx="391200" cy="968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0" name="Google Shape;650;p59"/>
          <p:cNvSpPr/>
          <p:nvPr/>
        </p:nvSpPr>
        <p:spPr>
          <a:xfrm>
            <a:off x="4341063" y="2005625"/>
            <a:ext cx="1881000" cy="908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Modificador de la variable que se está usando, usualmente puede ser sumar o restar algo (i++ o i--)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51" name="Google Shape;651;p59"/>
          <p:cNvSpPr/>
          <p:nvPr/>
        </p:nvSpPr>
        <p:spPr>
          <a:xfrm>
            <a:off x="6395375" y="1223875"/>
            <a:ext cx="2594100" cy="13908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Fijarse que cada elemento del for está separado por ;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2" name="Google Shape;65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2600" y="3395200"/>
            <a:ext cx="52578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9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4" name="Google Shape;654;p5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55" name="Google Shape;655;p59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5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7" name="Google Shape;657;p5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0"/>
          <p:cNvSpPr txBox="1"/>
          <p:nvPr>
            <p:ph type="title"/>
          </p:nvPr>
        </p:nvSpPr>
        <p:spPr>
          <a:xfrm>
            <a:off x="2079300" y="46900"/>
            <a:ext cx="498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Ejemplo: for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60"/>
          <p:cNvSpPr txBox="1"/>
          <p:nvPr/>
        </p:nvSpPr>
        <p:spPr>
          <a:xfrm>
            <a:off x="105625" y="2117700"/>
            <a:ext cx="5573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FBF40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 = 0; i &lt; 4 ;i++){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s" sz="1800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suma = 3 + i;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graphicFrame>
        <p:nvGraphicFramePr>
          <p:cNvPr id="664" name="Google Shape;664;p60"/>
          <p:cNvGraphicFramePr/>
          <p:nvPr/>
        </p:nvGraphicFramePr>
        <p:xfrm>
          <a:off x="5274825" y="11981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140850"/>
                <a:gridCol w="1195525"/>
                <a:gridCol w="11955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iteración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i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9B2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 suma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9B2A9"/>
                    </a:solidFill>
                  </a:tcPr>
                </a:tc>
              </a:tr>
              <a:tr h="49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solidFill>
                      <a:srgbClr val="FFD2C3"/>
                    </a:solidFill>
                  </a:tcPr>
                </a:tc>
              </a:tr>
            </a:tbl>
          </a:graphicData>
        </a:graphic>
      </p:graphicFrame>
      <p:cxnSp>
        <p:nvCxnSpPr>
          <p:cNvPr id="665" name="Google Shape;665;p60"/>
          <p:cNvCxnSpPr>
            <a:stCxn id="666" idx="2"/>
          </p:cNvCxnSpPr>
          <p:nvPr/>
        </p:nvCxnSpPr>
        <p:spPr>
          <a:xfrm>
            <a:off x="992725" y="1352775"/>
            <a:ext cx="900000" cy="7641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6" name="Google Shape;666;p60"/>
          <p:cNvSpPr/>
          <p:nvPr/>
        </p:nvSpPr>
        <p:spPr>
          <a:xfrm>
            <a:off x="105625" y="652875"/>
            <a:ext cx="1774200" cy="699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Primero la variable </a:t>
            </a:r>
            <a:r>
              <a:rPr b="1"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empieza en 0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67" name="Google Shape;667;p60"/>
          <p:cNvCxnSpPr>
            <a:stCxn id="668" idx="2"/>
            <a:endCxn id="663" idx="0"/>
          </p:cNvCxnSpPr>
          <p:nvPr/>
        </p:nvCxnSpPr>
        <p:spPr>
          <a:xfrm flipH="1">
            <a:off x="2892425" y="1352675"/>
            <a:ext cx="384600" cy="7650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8" name="Google Shape;668;p60"/>
          <p:cNvSpPr/>
          <p:nvPr/>
        </p:nvSpPr>
        <p:spPr>
          <a:xfrm>
            <a:off x="2389925" y="588575"/>
            <a:ext cx="1774200" cy="7641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El for va a ejecutarse mientras </a:t>
            </a:r>
            <a:r>
              <a:rPr b="1"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sea menor que 4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69" name="Google Shape;669;p60"/>
          <p:cNvCxnSpPr>
            <a:stCxn id="670" idx="0"/>
          </p:cNvCxnSpPr>
          <p:nvPr/>
        </p:nvCxnSpPr>
        <p:spPr>
          <a:xfrm rot="10800000">
            <a:off x="3590375" y="2412750"/>
            <a:ext cx="424200" cy="10389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0" name="Google Shape;670;p60"/>
          <p:cNvSpPr/>
          <p:nvPr/>
        </p:nvSpPr>
        <p:spPr>
          <a:xfrm>
            <a:off x="3127475" y="3451650"/>
            <a:ext cx="1774200" cy="8130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cada iteración, se va a sumar 1 a </a:t>
            </a:r>
            <a:r>
              <a:rPr b="1"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71" name="Google Shape;671;p60"/>
          <p:cNvCxnSpPr>
            <a:stCxn id="672" idx="0"/>
          </p:cNvCxnSpPr>
          <p:nvPr/>
        </p:nvCxnSpPr>
        <p:spPr>
          <a:xfrm flipH="1" rot="10800000">
            <a:off x="1259225" y="2694600"/>
            <a:ext cx="669600" cy="1232400"/>
          </a:xfrm>
          <a:prstGeom prst="straightConnector1">
            <a:avLst/>
          </a:prstGeom>
          <a:noFill/>
          <a:ln cap="flat" cmpd="sng" w="38100">
            <a:solidFill>
              <a:srgbClr val="0233AE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2" name="Google Shape;672;p60"/>
          <p:cNvSpPr/>
          <p:nvPr/>
        </p:nvSpPr>
        <p:spPr>
          <a:xfrm>
            <a:off x="310625" y="3927000"/>
            <a:ext cx="1897200" cy="6999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Dentro del for se puede utilizar </a:t>
            </a:r>
            <a:r>
              <a:rPr b="1"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 </a:t>
            </a:r>
            <a:r>
              <a:rPr lang="es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una variable más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673" name="Google Shape;673;p60"/>
          <p:cNvGraphicFramePr/>
          <p:nvPr/>
        </p:nvGraphicFramePr>
        <p:xfrm>
          <a:off x="5274825" y="3451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140850"/>
                <a:gridCol w="1195525"/>
                <a:gridCol w="11955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4" name="Google Shape;674;p60"/>
          <p:cNvGraphicFramePr/>
          <p:nvPr/>
        </p:nvGraphicFramePr>
        <p:xfrm>
          <a:off x="5274825" y="2842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140850"/>
                <a:gridCol w="1195525"/>
                <a:gridCol w="1195525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5" name="Google Shape;675;p60"/>
          <p:cNvGraphicFramePr/>
          <p:nvPr/>
        </p:nvGraphicFramePr>
        <p:xfrm>
          <a:off x="5274825" y="2294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{71F3B599-C9A8-4FAC-972A-53BD8398147A}</a:tableStyleId>
              </a:tblPr>
              <a:tblGrid>
                <a:gridCol w="1140850"/>
                <a:gridCol w="1195525"/>
                <a:gridCol w="1195525"/>
              </a:tblGrid>
              <a:tr h="55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4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E0EE"/>
                    </a:solidFill>
                  </a:tcPr>
                </a:tc>
              </a:tr>
            </a:tbl>
          </a:graphicData>
        </a:graphic>
      </p:graphicFrame>
      <p:pic>
        <p:nvPicPr>
          <p:cNvPr id="676" name="Google Shape;676;p60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6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678" name="Google Shape;678;p60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9" name="Google Shape;679;p6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0" name="Google Shape;680;p6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61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86" name="Google Shape;686;p61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6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61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EJERCICIO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1"/>
          <p:cNvSpPr txBox="1"/>
          <p:nvPr/>
        </p:nvSpPr>
        <p:spPr>
          <a:xfrm>
            <a:off x="3184275" y="201300"/>
            <a:ext cx="559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Ingresa a tinkercad y con únicamente un Arduino Uno, experimenta con el siguiente código: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2" name="Google Shape;692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5050" y="1292600"/>
            <a:ext cx="46672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1"/>
          <p:cNvSpPr/>
          <p:nvPr/>
        </p:nvSpPr>
        <p:spPr>
          <a:xfrm>
            <a:off x="6627600" y="3865075"/>
            <a:ext cx="2321700" cy="11202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Prueba también con listas de diferente tipo</a:t>
            </a:r>
            <a:endParaRPr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62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699" name="Google Shape;699;p62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6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62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62"/>
          <p:cNvSpPr txBox="1"/>
          <p:nvPr/>
        </p:nvSpPr>
        <p:spPr>
          <a:xfrm>
            <a:off x="3184275" y="201300"/>
            <a:ext cx="5592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Determina cuántas veces se va a ejecutar cada parte del código y en qué orden: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05" name="Google Shape;705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7500" y="1217100"/>
            <a:ext cx="58090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63"/>
          <p:cNvSpPr txBox="1"/>
          <p:nvPr>
            <p:ph type="title"/>
          </p:nvPr>
        </p:nvSpPr>
        <p:spPr>
          <a:xfrm>
            <a:off x="3688225" y="193875"/>
            <a:ext cx="20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Funciones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11" name="Google Shape;711;p63"/>
          <p:cNvGrpSpPr/>
          <p:nvPr/>
        </p:nvGrpSpPr>
        <p:grpSpPr>
          <a:xfrm>
            <a:off x="344123" y="1475179"/>
            <a:ext cx="8089213" cy="3087257"/>
            <a:chOff x="300475" y="1645350"/>
            <a:chExt cx="8391300" cy="3276300"/>
          </a:xfrm>
        </p:grpSpPr>
        <p:sp>
          <p:nvSpPr>
            <p:cNvPr id="712" name="Google Shape;712;p63"/>
            <p:cNvSpPr/>
            <p:nvPr/>
          </p:nvSpPr>
          <p:spPr>
            <a:xfrm>
              <a:off x="300475" y="1645350"/>
              <a:ext cx="8391300" cy="3276300"/>
            </a:xfrm>
            <a:prstGeom prst="roundRect">
              <a:avLst>
                <a:gd fmla="val 16667" name="adj"/>
              </a:avLst>
            </a:prstGeom>
            <a:solidFill>
              <a:srgbClr val="C2ED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Entorno Global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3" name="Google Shape;713;p63"/>
            <p:cNvSpPr/>
            <p:nvPr/>
          </p:nvSpPr>
          <p:spPr>
            <a:xfrm>
              <a:off x="608975" y="2396400"/>
              <a:ext cx="1998000" cy="11517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setup()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14" name="Google Shape;714;p63"/>
            <p:cNvSpPr/>
            <p:nvPr/>
          </p:nvSpPr>
          <p:spPr>
            <a:xfrm>
              <a:off x="2961650" y="1816950"/>
              <a:ext cx="1998000" cy="11517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loop()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15" name="Google Shape;715;p63"/>
          <p:cNvSpPr txBox="1"/>
          <p:nvPr/>
        </p:nvSpPr>
        <p:spPr>
          <a:xfrm>
            <a:off x="157375" y="710100"/>
            <a:ext cx="846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Las funciones son herramientas para simplificar y ordenar nuestro código y que se comportan como un entorno extra de los que ya vimos:</a:t>
            </a:r>
            <a:endParaRPr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6" name="Google Shape;716;p63"/>
          <p:cNvSpPr/>
          <p:nvPr/>
        </p:nvSpPr>
        <p:spPr>
          <a:xfrm>
            <a:off x="2909629" y="3045641"/>
            <a:ext cx="1926300" cy="1085100"/>
          </a:xfrm>
          <a:prstGeom prst="roundRect">
            <a:avLst>
              <a:gd fmla="val 16667" name="adj"/>
            </a:avLst>
          </a:prstGeom>
          <a:solidFill>
            <a:srgbClr val="FFC78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void funcion()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7" name="Google Shape;717;p63"/>
          <p:cNvSpPr/>
          <p:nvPr/>
        </p:nvSpPr>
        <p:spPr>
          <a:xfrm>
            <a:off x="5341399" y="1697475"/>
            <a:ext cx="2131200" cy="1085100"/>
          </a:xfrm>
          <a:prstGeom prst="roundRect">
            <a:avLst>
              <a:gd fmla="val 16667" name="adj"/>
            </a:avLst>
          </a:prstGeom>
          <a:solidFill>
            <a:srgbClr val="FFC78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int otra_funcion()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8" name="Google Shape;718;p63"/>
          <p:cNvSpPr/>
          <p:nvPr/>
        </p:nvSpPr>
        <p:spPr>
          <a:xfrm>
            <a:off x="5244875" y="3045650"/>
            <a:ext cx="3054300" cy="1085100"/>
          </a:xfrm>
          <a:prstGeom prst="roundRect">
            <a:avLst>
              <a:gd fmla="val 16667" name="adj"/>
            </a:avLst>
          </a:prstGeom>
          <a:solidFill>
            <a:srgbClr val="FFC78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Poppins"/>
                <a:ea typeface="Poppins"/>
                <a:cs typeface="Poppins"/>
                <a:sym typeface="Poppins"/>
              </a:rPr>
              <a:t>float funcion_compleja(int f)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19" name="Google Shape;719;p63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0" name="Google Shape;720;p63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21" name="Google Shape;721;p63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6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3" name="Google Shape;723;p63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4"/>
          <p:cNvSpPr txBox="1"/>
          <p:nvPr>
            <p:ph type="title"/>
          </p:nvPr>
        </p:nvSpPr>
        <p:spPr>
          <a:xfrm>
            <a:off x="3133300" y="190000"/>
            <a:ext cx="348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Funciones básicas</a:t>
            </a:r>
            <a:endParaRPr b="1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9" name="Google Shape;729;p64"/>
          <p:cNvSpPr txBox="1"/>
          <p:nvPr/>
        </p:nvSpPr>
        <p:spPr>
          <a:xfrm>
            <a:off x="157375" y="710100"/>
            <a:ext cx="846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Las funciones de tipo void (al igual que setup() y loop()) son las más básicas y simplemente realizan una acción.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0" name="Google Shape;73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50" y="1585400"/>
            <a:ext cx="3563325" cy="839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64"/>
          <p:cNvSpPr txBox="1"/>
          <p:nvPr/>
        </p:nvSpPr>
        <p:spPr>
          <a:xfrm>
            <a:off x="109475" y="2529300"/>
            <a:ext cx="40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Se tienen que crear fuera del setup() o loop() y debe tener un nombre descriptivo.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2" name="Google Shape;73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8900" y="1585400"/>
            <a:ext cx="4291721" cy="8396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64"/>
          <p:cNvSpPr txBox="1"/>
          <p:nvPr/>
        </p:nvSpPr>
        <p:spPr>
          <a:xfrm>
            <a:off x="4508900" y="2529300"/>
            <a:ext cx="405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Para utilizarla se debe llamar la función así, desde el setup() o loop().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4" name="Google Shape;734;p64"/>
          <p:cNvSpPr/>
          <p:nvPr/>
        </p:nvSpPr>
        <p:spPr>
          <a:xfrm>
            <a:off x="3266100" y="3378900"/>
            <a:ext cx="2243700" cy="12270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Recordar cómo funcionan las variables locales vs globales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5" name="Google Shape;735;p64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6" name="Google Shape;736;p64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37" name="Google Shape;737;p64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p64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64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 txBox="1"/>
          <p:nvPr>
            <p:ph type="title"/>
          </p:nvPr>
        </p:nvSpPr>
        <p:spPr>
          <a:xfrm>
            <a:off x="3133300" y="190000"/>
            <a:ext cx="348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Funciones Input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65"/>
          <p:cNvSpPr txBox="1"/>
          <p:nvPr/>
        </p:nvSpPr>
        <p:spPr>
          <a:xfrm>
            <a:off x="185975" y="695800"/>
            <a:ext cx="846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Para utilizar variables locales dentro de una función se utilizan las funciones Input, que significa que tienen datos de entrada para funcionar: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6" name="Google Shape;74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71" y="1685446"/>
            <a:ext cx="3483900" cy="982638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5"/>
          <p:cNvSpPr txBox="1"/>
          <p:nvPr/>
        </p:nvSpPr>
        <p:spPr>
          <a:xfrm>
            <a:off x="1402375" y="1356100"/>
            <a:ext cx="12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8" name="Google Shape;748;p65"/>
          <p:cNvSpPr txBox="1"/>
          <p:nvPr/>
        </p:nvSpPr>
        <p:spPr>
          <a:xfrm>
            <a:off x="263875" y="2858400"/>
            <a:ext cx="364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Para indicar los inputs, dentro del paréntesis de la función se declaran con el tipo y un nombre que </a:t>
            </a: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SÓLO </a:t>
            </a: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existe dentro de la función (variable local). Pueden haber muchos inputs, cada uno separado por una coma.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65"/>
          <p:cNvSpPr txBox="1"/>
          <p:nvPr/>
        </p:nvSpPr>
        <p:spPr>
          <a:xfrm>
            <a:off x="1402375" y="1356100"/>
            <a:ext cx="12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Utilización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50" name="Google Shape;75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375" y="1842700"/>
            <a:ext cx="3414875" cy="668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1" name="Google Shape;751;p65"/>
          <p:cNvGrpSpPr/>
          <p:nvPr/>
        </p:nvGrpSpPr>
        <p:grpSpPr>
          <a:xfrm>
            <a:off x="3855722" y="1311366"/>
            <a:ext cx="4704386" cy="3384716"/>
            <a:chOff x="3855825" y="1473675"/>
            <a:chExt cx="5208000" cy="3627000"/>
          </a:xfrm>
        </p:grpSpPr>
        <p:sp>
          <p:nvSpPr>
            <p:cNvPr id="752" name="Google Shape;752;p65"/>
            <p:cNvSpPr/>
            <p:nvPr/>
          </p:nvSpPr>
          <p:spPr>
            <a:xfrm>
              <a:off x="3855825" y="1473675"/>
              <a:ext cx="5208000" cy="3627000"/>
            </a:xfrm>
            <a:prstGeom prst="roundRect">
              <a:avLst>
                <a:gd fmla="val 16667" name="adj"/>
              </a:avLst>
            </a:prstGeom>
            <a:solidFill>
              <a:srgbClr val="C2ED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Entorno Global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3972075" y="2016427"/>
              <a:ext cx="1614900" cy="8094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setup()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5758725" y="1591877"/>
              <a:ext cx="3054600" cy="10299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loop()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4227775" y="3556541"/>
              <a:ext cx="4392300" cy="1330800"/>
            </a:xfrm>
            <a:prstGeom prst="roundRect">
              <a:avLst>
                <a:gd fmla="val 16667" name="adj"/>
              </a:avLst>
            </a:prstGeom>
            <a:solidFill>
              <a:srgbClr val="FFC78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mi_funcion_input(int a,char b)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56" name="Google Shape;756;p65"/>
          <p:cNvSpPr txBox="1"/>
          <p:nvPr/>
        </p:nvSpPr>
        <p:spPr>
          <a:xfrm>
            <a:off x="5689975" y="1786000"/>
            <a:ext cx="270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letra = “b”;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mi_funcion_input(1,letra)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7" name="Google Shape;757;p65"/>
          <p:cNvSpPr txBox="1"/>
          <p:nvPr/>
        </p:nvSpPr>
        <p:spPr>
          <a:xfrm>
            <a:off x="4398451" y="3653737"/>
            <a:ext cx="361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Se va a ejecutar el código de la función, con la variable a igual a 1 y la variable b igual a “b”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58" name="Google Shape;758;p65"/>
          <p:cNvGrpSpPr/>
          <p:nvPr/>
        </p:nvGrpSpPr>
        <p:grpSpPr>
          <a:xfrm>
            <a:off x="6175397" y="2382775"/>
            <a:ext cx="1590124" cy="872307"/>
            <a:chOff x="6423825" y="2510683"/>
            <a:chExt cx="1760350" cy="976500"/>
          </a:xfrm>
        </p:grpSpPr>
        <p:cxnSp>
          <p:nvCxnSpPr>
            <p:cNvPr id="759" name="Google Shape;759;p65"/>
            <p:cNvCxnSpPr>
              <a:stCxn id="754" idx="2"/>
              <a:endCxn id="755" idx="0"/>
            </p:cNvCxnSpPr>
            <p:nvPr/>
          </p:nvCxnSpPr>
          <p:spPr>
            <a:xfrm flipH="1">
              <a:off x="6423825" y="2510683"/>
              <a:ext cx="862200" cy="9765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0" name="Google Shape;760;p65"/>
            <p:cNvSpPr txBox="1"/>
            <p:nvPr/>
          </p:nvSpPr>
          <p:spPr>
            <a:xfrm>
              <a:off x="6977275" y="2810450"/>
              <a:ext cx="12069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DATOS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61" name="Google Shape;761;p65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6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63" name="Google Shape;763;p65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6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5" name="Google Shape;765;p6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type="title"/>
          </p:nvPr>
        </p:nvSpPr>
        <p:spPr>
          <a:xfrm>
            <a:off x="3133300" y="190000"/>
            <a:ext cx="348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Funciones Output</a:t>
            </a:r>
            <a:endParaRPr b="1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185975" y="695800"/>
            <a:ext cx="846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Ahora con el caso contrario, para obtener la información generada dentro de una función se utilizan las funciones Output, es decir, tienen una salida: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2" name="Google Shape;772;p66"/>
          <p:cNvSpPr txBox="1"/>
          <p:nvPr/>
        </p:nvSpPr>
        <p:spPr>
          <a:xfrm>
            <a:off x="1402375" y="1356100"/>
            <a:ext cx="12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73" name="Google Shape;77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6300"/>
            <a:ext cx="3483900" cy="11291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4" name="Google Shape;774;p66"/>
          <p:cNvGrpSpPr/>
          <p:nvPr/>
        </p:nvGrpSpPr>
        <p:grpSpPr>
          <a:xfrm>
            <a:off x="3855688" y="1311404"/>
            <a:ext cx="5146546" cy="3420986"/>
            <a:chOff x="3855825" y="1473675"/>
            <a:chExt cx="5208000" cy="3627000"/>
          </a:xfrm>
        </p:grpSpPr>
        <p:sp>
          <p:nvSpPr>
            <p:cNvPr id="775" name="Google Shape;775;p66"/>
            <p:cNvSpPr/>
            <p:nvPr/>
          </p:nvSpPr>
          <p:spPr>
            <a:xfrm>
              <a:off x="3855825" y="1473675"/>
              <a:ext cx="5208000" cy="3627000"/>
            </a:xfrm>
            <a:prstGeom prst="roundRect">
              <a:avLst>
                <a:gd fmla="val 16667" name="adj"/>
              </a:avLst>
            </a:prstGeom>
            <a:solidFill>
              <a:srgbClr val="C2EDE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Entorno Global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6" name="Google Shape;776;p66"/>
            <p:cNvSpPr/>
            <p:nvPr/>
          </p:nvSpPr>
          <p:spPr>
            <a:xfrm>
              <a:off x="3972075" y="2016427"/>
              <a:ext cx="1614900" cy="8094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setup()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7" name="Google Shape;777;p66"/>
            <p:cNvSpPr/>
            <p:nvPr/>
          </p:nvSpPr>
          <p:spPr>
            <a:xfrm>
              <a:off x="5758725" y="1591877"/>
              <a:ext cx="3054600" cy="1029900"/>
            </a:xfrm>
            <a:prstGeom prst="roundRect">
              <a:avLst>
                <a:gd fmla="val 16667" name="adj"/>
              </a:avLst>
            </a:prstGeom>
            <a:solidFill>
              <a:srgbClr val="FFE2A4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void loop()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778" name="Google Shape;778;p66"/>
            <p:cNvSpPr/>
            <p:nvPr/>
          </p:nvSpPr>
          <p:spPr>
            <a:xfrm>
              <a:off x="4227775" y="3558272"/>
              <a:ext cx="4392300" cy="1330800"/>
            </a:xfrm>
            <a:prstGeom prst="roundRect">
              <a:avLst>
                <a:gd fmla="val 16667" name="adj"/>
              </a:avLst>
            </a:prstGeom>
            <a:solidFill>
              <a:srgbClr val="FFC78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int mi_funcion_output()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79" name="Google Shape;779;p66"/>
          <p:cNvSpPr txBox="1"/>
          <p:nvPr/>
        </p:nvSpPr>
        <p:spPr>
          <a:xfrm>
            <a:off x="152400" y="3051550"/>
            <a:ext cx="3642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Primero se debe indicar qué tipo de variable se quiere devolver en vez de void. Luego crear la variable y al final de la función un return (retorno) de lo que se quiera. Cabe destacar que sólo se puede retornar valores únicos.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0" name="Google Shape;780;p66"/>
          <p:cNvSpPr txBox="1"/>
          <p:nvPr/>
        </p:nvSpPr>
        <p:spPr>
          <a:xfrm>
            <a:off x="1402375" y="1333063"/>
            <a:ext cx="120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Utilización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1" name="Google Shape;781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484" y="1907321"/>
            <a:ext cx="3465723" cy="8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66"/>
          <p:cNvSpPr txBox="1"/>
          <p:nvPr/>
        </p:nvSpPr>
        <p:spPr>
          <a:xfrm>
            <a:off x="152400" y="3051550"/>
            <a:ext cx="364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Para usar la función se debe asignar a una variable(del mismo tipo que la función), para así guardar la información que reciba.</a:t>
            </a:r>
            <a:endParaRPr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3" name="Google Shape;783;p66"/>
          <p:cNvSpPr txBox="1"/>
          <p:nvPr/>
        </p:nvSpPr>
        <p:spPr>
          <a:xfrm>
            <a:off x="5757332" y="1791087"/>
            <a:ext cx="301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mi_funcion_output();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84" name="Google Shape;784;p66"/>
          <p:cNvGrpSpPr/>
          <p:nvPr/>
        </p:nvGrpSpPr>
        <p:grpSpPr>
          <a:xfrm>
            <a:off x="6393761" y="2241987"/>
            <a:ext cx="1605281" cy="1035807"/>
            <a:chOff x="6423825" y="2510762"/>
            <a:chExt cx="1624450" cy="1147200"/>
          </a:xfrm>
        </p:grpSpPr>
        <p:cxnSp>
          <p:nvCxnSpPr>
            <p:cNvPr id="785" name="Google Shape;785;p66"/>
            <p:cNvCxnSpPr/>
            <p:nvPr/>
          </p:nvCxnSpPr>
          <p:spPr>
            <a:xfrm flipH="1" rot="10800000">
              <a:off x="6423825" y="2510762"/>
              <a:ext cx="862200" cy="11472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6" name="Google Shape;786;p66"/>
            <p:cNvSpPr txBox="1"/>
            <p:nvPr/>
          </p:nvSpPr>
          <p:spPr>
            <a:xfrm>
              <a:off x="6841375" y="3005813"/>
              <a:ext cx="1206900" cy="4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Poppins"/>
                  <a:ea typeface="Poppins"/>
                  <a:cs typeface="Poppins"/>
                  <a:sym typeface="Poppins"/>
                </a:rPr>
                <a:t>DATOS</a:t>
              </a:r>
              <a:endParaRPr b="1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787" name="Google Shape;787;p66"/>
          <p:cNvSpPr txBox="1"/>
          <p:nvPr/>
        </p:nvSpPr>
        <p:spPr>
          <a:xfrm>
            <a:off x="4377722" y="3877238"/>
            <a:ext cx="282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 = 1;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49AAE4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b="1" lang="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8" name="Google Shape;788;p66"/>
          <p:cNvSpPr txBox="1"/>
          <p:nvPr/>
        </p:nvSpPr>
        <p:spPr>
          <a:xfrm>
            <a:off x="5859900" y="1713070"/>
            <a:ext cx="280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oppins"/>
                <a:ea typeface="Poppins"/>
                <a:cs typeface="Poppins"/>
                <a:sym typeface="Poppins"/>
              </a:rPr>
              <a:t>Ahora el valor de x va a ser igual a 1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89" name="Google Shape;789;p66"/>
          <p:cNvPicPr preferRelativeResize="0"/>
          <p:nvPr/>
        </p:nvPicPr>
        <p:blipFill rotWithShape="1">
          <a:blip r:embed="rId5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0" name="Google Shape;790;p66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791" name="Google Shape;791;p66"/>
            <p:cNvPicPr preferRelativeResize="0"/>
            <p:nvPr/>
          </p:nvPicPr>
          <p:blipFill rotWithShape="1">
            <a:blip r:embed="rId6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2" name="Google Shape;792;p66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3" name="Google Shape;793;p66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67"/>
          <p:cNvSpPr/>
          <p:nvPr/>
        </p:nvSpPr>
        <p:spPr>
          <a:xfrm>
            <a:off x="1337350" y="710975"/>
            <a:ext cx="6536700" cy="36234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último, se pueden unir estos 2 tipos de funciones para crear funciones Input-Output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9" name="Google Shape;799;p6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p68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805" name="Google Shape;805;p68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7" name="Google Shape;807;p68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8" name="Google Shape;808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8"/>
          <p:cNvSpPr txBox="1"/>
          <p:nvPr/>
        </p:nvSpPr>
        <p:spPr>
          <a:xfrm>
            <a:off x="3184275" y="201300"/>
            <a:ext cx="559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Determina cuántas veces el código se va a ejecutar: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11" name="Google Shape;811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2925" y="1360700"/>
            <a:ext cx="5840475" cy="27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6" name="Google Shape;816;p69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817" name="Google Shape;817;p69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6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9" name="Google Shape;819;p69"/>
          <p:cNvSpPr txBox="1"/>
          <p:nvPr/>
        </p:nvSpPr>
        <p:spPr>
          <a:xfrm rot="-641">
            <a:off x="635575" y="2359129"/>
            <a:ext cx="1609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DESAFÍO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0" name="Google Shape;820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9"/>
          <p:cNvSpPr txBox="1"/>
          <p:nvPr/>
        </p:nvSpPr>
        <p:spPr>
          <a:xfrm>
            <a:off x="3184275" y="201300"/>
            <a:ext cx="5592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1B99"/>
                </a:solidFill>
                <a:latin typeface="Poppins"/>
                <a:ea typeface="Poppins"/>
                <a:cs typeface="Poppins"/>
                <a:sym typeface="Poppins"/>
              </a:rPr>
              <a:t>Determina cuántas veces el código se va a ejecutar:</a:t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3" name="Google Shape;823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1337" y="859575"/>
            <a:ext cx="3958775" cy="391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/>
          <p:nvPr/>
        </p:nvSpPr>
        <p:spPr>
          <a:xfrm>
            <a:off x="1731977" y="1246004"/>
            <a:ext cx="5484600" cy="23016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¿Qué vimos nosotros hoy?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9" name="Google Shape;82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7450" y="1782475"/>
            <a:ext cx="3272826" cy="327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1" name="Google Shape;831;p7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832" name="Google Shape;832;p7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3" name="Google Shape;833;p7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7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40" name="Google Shape;840;p71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- Plan de nivelación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Gaspar Fábrega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2 - Abril 2024</a:t>
            </a:r>
            <a:endParaRPr b="1"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1" name="Google Shape;841;p71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Atribución-NoComercial-CompartirIgual (CC BY-NC-SA)</a:t>
            </a:r>
            <a:endParaRPr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42" name="Google Shape;84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05" cy="4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238" cy="29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486" y="3949"/>
            <a:ext cx="3680762" cy="1132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5" name="Google Shape;845;p71"/>
          <p:cNvGrpSpPr/>
          <p:nvPr/>
        </p:nvGrpSpPr>
        <p:grpSpPr>
          <a:xfrm>
            <a:off x="1401723" y="2909269"/>
            <a:ext cx="6290455" cy="732213"/>
            <a:chOff x="1013333" y="3795825"/>
            <a:chExt cx="8388391" cy="976283"/>
          </a:xfrm>
        </p:grpSpPr>
        <p:pic>
          <p:nvPicPr>
            <p:cNvPr descr="https://lh5.googleusercontent.com/wP2h_lc6--vyMzu5qXgRG-Bbe6w1LN7Ph5RgxIP2Ngd_pFZFcUDkC-cp09ZNvc-Xm3iTwoQ8go_elSTWCw68Lrn_HKTBlb9E-8CWQqnHg6t8L9JidsYDttMUJ7XHVUWj9hjtPLtPZtU" id="846" name="Google Shape;846;p71"/>
            <p:cNvPicPr preferRelativeResize="0"/>
            <p:nvPr/>
          </p:nvPicPr>
          <p:blipFill rotWithShape="1">
            <a:blip r:embed="rId6">
              <a:alphaModFix/>
            </a:blip>
            <a:srcRect b="0" l="5141" r="0" t="3428"/>
            <a:stretch/>
          </p:blipFill>
          <p:spPr>
            <a:xfrm>
              <a:off x="4796200" y="3836108"/>
              <a:ext cx="92196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TFSM-01" id="847" name="Google Shape;847;p7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13333" y="3836100"/>
              <a:ext cx="180648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8" name="Google Shape;848;p7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28251" y="3795833"/>
              <a:ext cx="1159522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71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126574" y="3836096"/>
              <a:ext cx="1111725" cy="93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71"/>
            <p:cNvPicPr preferRelativeResize="0"/>
            <p:nvPr/>
          </p:nvPicPr>
          <p:blipFill rotWithShape="1">
            <a:blip r:embed="rId10">
              <a:alphaModFix/>
            </a:blip>
            <a:srcRect b="18725" l="7227" r="0" t="17082"/>
            <a:stretch/>
          </p:blipFill>
          <p:spPr>
            <a:xfrm>
              <a:off x="7646725" y="3795825"/>
              <a:ext cx="1754999" cy="93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51" name="Google Shape;851;p71"/>
          <p:cNvPicPr preferRelativeResize="0"/>
          <p:nvPr/>
        </p:nvPicPr>
        <p:blipFill rotWithShape="1">
          <a:blip r:embed="rId11">
            <a:alphaModFix/>
          </a:blip>
          <a:srcRect b="309" l="25827" r="0" t="0"/>
          <a:stretch/>
        </p:blipFill>
        <p:spPr>
          <a:xfrm rot="-5400000">
            <a:off x="2027107" y="-2027109"/>
            <a:ext cx="5223134" cy="9277347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1"/>
          <p:cNvSpPr/>
          <p:nvPr/>
        </p:nvSpPr>
        <p:spPr>
          <a:xfrm>
            <a:off x="0" y="-4538"/>
            <a:ext cx="9277500" cy="52116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3" name="Google Shape;853;p71"/>
          <p:cNvSpPr txBox="1"/>
          <p:nvPr/>
        </p:nvSpPr>
        <p:spPr>
          <a:xfrm>
            <a:off x="1238541" y="1228118"/>
            <a:ext cx="6647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 - Nivelación</a:t>
            </a:r>
            <a:endParaRPr b="1" i="1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202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Estos materiales han sido elaborados de manera colaborativa entre los equipos de las Universidades Socias del Programa de Robótica Educativa de la Fundación Gabriel &amp; Mary Mustakis.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4" name="Google Shape;854;p7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31328" y="257197"/>
            <a:ext cx="2662178" cy="820166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1"/>
          <p:cNvSpPr txBox="1"/>
          <p:nvPr/>
        </p:nvSpPr>
        <p:spPr>
          <a:xfrm>
            <a:off x="2766215" y="4662465"/>
            <a:ext cx="3592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Publicado Bajo Licencia Creative Commons</a:t>
            </a:r>
            <a:endParaRPr b="1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Atribución-NoComercial-CompartirIgual (CC BY-NC-SA)</a:t>
            </a:r>
            <a:endParaRPr b="0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6" name="Google Shape;856;p7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3526" y="2207618"/>
            <a:ext cx="6237780" cy="138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03616" y="3846309"/>
            <a:ext cx="11176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