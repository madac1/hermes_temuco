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  <p:embeddedFont>
      <p:font typeface="Poppins"/>
      <p:bold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699dd733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" name="Google Shape;52;g3f8699dd733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3" name="Google Shape;53;g3f8699dd733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8699dd733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8699dd733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" name="Google Shape;56;g3f8699dd733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0795a553b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2f0795a553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0795a5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f0795a5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0795a553b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f0795a553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0795a553b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2f0795a55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5b3650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f5b3650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7ef3f2bc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2f7ef3f2bc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7ef3f2bc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f7ef3f2bc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7ef3f2bc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f7ef3f2bc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7ef3f2bc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f7ef3f2bc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7ef3f2bc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f7ef3f2bc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7ef3f2bc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f7ef3f2bc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7ef3f2bc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f7ef3f2bc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7ef3f2bc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f7ef3f2bc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7ef3f2bc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2f7ef3f2bc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7ef3f2bc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f7ef3f2bc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7ef3f2bc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f7ef3f2bc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7ef3f2bc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f7ef3f2bc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f7ef3f2bc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2f7ef3f2bc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19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9" Type="http://schemas.openxmlformats.org/officeDocument/2006/relationships/image" Target="../media/image13.jp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8.jp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174545" y="3908711"/>
            <a:ext cx="8969407" cy="1234821"/>
          </a:xfrm>
          <a:custGeom>
            <a:rect b="b" l="l" r="r" t="t"/>
            <a:pathLst>
              <a:path extrusionOk="0" h="3292856" w="23918418">
                <a:moveTo>
                  <a:pt x="0" y="0"/>
                </a:moveTo>
                <a:lnTo>
                  <a:pt x="23918418" y="0"/>
                </a:lnTo>
                <a:lnTo>
                  <a:pt x="23918418" y="3292856"/>
                </a:lnTo>
                <a:lnTo>
                  <a:pt x="0" y="3292856"/>
                </a:lnTo>
                <a:close/>
              </a:path>
            </a:pathLst>
          </a:custGeom>
          <a:solidFill>
            <a:srgbClr val="011893"/>
          </a:solidFill>
          <a:ln>
            <a:noFill/>
          </a:ln>
        </p:spPr>
      </p:sp>
      <p:sp>
        <p:nvSpPr>
          <p:cNvPr id="59" name="Google Shape;59;p13"/>
          <p:cNvSpPr/>
          <p:nvPr/>
        </p:nvSpPr>
        <p:spPr>
          <a:xfrm rot="-5400000">
            <a:off x="2617637" y="-2617653"/>
            <a:ext cx="3908727" cy="9144000"/>
          </a:xfrm>
          <a:custGeom>
            <a:rect b="b" l="l" r="r" t="t"/>
            <a:pathLst>
              <a:path extrusionOk="0" h="24384000" w="10423271">
                <a:moveTo>
                  <a:pt x="0" y="0"/>
                </a:moveTo>
                <a:lnTo>
                  <a:pt x="10423271" y="0"/>
                </a:lnTo>
                <a:lnTo>
                  <a:pt x="10423271" y="24384000"/>
                </a:lnTo>
                <a:lnTo>
                  <a:pt x="0" y="2438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60" l="-80989" r="0" t="10"/>
            </a:stretch>
          </a:blipFill>
          <a:ln>
            <a:noFill/>
          </a:ln>
        </p:spPr>
      </p:sp>
      <p:sp>
        <p:nvSpPr>
          <p:cNvPr id="60" name="Google Shape;60;p13"/>
          <p:cNvSpPr/>
          <p:nvPr/>
        </p:nvSpPr>
        <p:spPr>
          <a:xfrm>
            <a:off x="2" y="0"/>
            <a:ext cx="9144000" cy="3908679"/>
          </a:xfrm>
          <a:custGeom>
            <a:rect b="b" l="l" r="r" t="t"/>
            <a:pathLst>
              <a:path extrusionOk="0" h="10423144" w="24384000">
                <a:moveTo>
                  <a:pt x="0" y="0"/>
                </a:moveTo>
                <a:lnTo>
                  <a:pt x="24384000" y="0"/>
                </a:lnTo>
                <a:lnTo>
                  <a:pt x="24384000" y="10423144"/>
                </a:lnTo>
                <a:lnTo>
                  <a:pt x="0" y="10423144"/>
                </a:lnTo>
                <a:close/>
              </a:path>
            </a:pathLst>
          </a:custGeom>
          <a:solidFill>
            <a:srgbClr val="002060">
              <a:alpha val="23140"/>
            </a:srgbClr>
          </a:solidFill>
          <a:ln>
            <a:noFill/>
          </a:ln>
        </p:spPr>
      </p:sp>
      <p:sp>
        <p:nvSpPr>
          <p:cNvPr id="61" name="Google Shape;61;p13"/>
          <p:cNvSpPr/>
          <p:nvPr/>
        </p:nvSpPr>
        <p:spPr>
          <a:xfrm>
            <a:off x="6354346" y="192405"/>
            <a:ext cx="2587514" cy="812673"/>
          </a:xfrm>
          <a:custGeom>
            <a:rect b="b" l="l" r="r" t="t"/>
            <a:pathLst>
              <a:path extrusionOk="0" h="2167128" w="6900037">
                <a:moveTo>
                  <a:pt x="0" y="0"/>
                </a:moveTo>
                <a:lnTo>
                  <a:pt x="6900037" y="0"/>
                </a:lnTo>
                <a:lnTo>
                  <a:pt x="6900037" y="2167128"/>
                </a:lnTo>
                <a:lnTo>
                  <a:pt x="0" y="2167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910" t="0"/>
            </a:stretch>
          </a:blipFill>
          <a:ln>
            <a:noFill/>
          </a:ln>
        </p:spPr>
      </p:sp>
      <p:sp>
        <p:nvSpPr>
          <p:cNvPr id="62" name="Google Shape;62;p13"/>
          <p:cNvSpPr txBox="1"/>
          <p:nvPr/>
        </p:nvSpPr>
        <p:spPr>
          <a:xfrm>
            <a:off x="906872" y="2105413"/>
            <a:ext cx="4590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</a:t>
            </a:r>
            <a:endParaRPr sz="7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</a:t>
            </a:r>
            <a:endParaRPr sz="700"/>
          </a:p>
        </p:txBody>
      </p:sp>
      <p:sp>
        <p:nvSpPr>
          <p:cNvPr id="63" name="Google Shape;63;p13"/>
          <p:cNvSpPr/>
          <p:nvPr/>
        </p:nvSpPr>
        <p:spPr>
          <a:xfrm>
            <a:off x="874189" y="3545219"/>
            <a:ext cx="1544384" cy="410099"/>
          </a:xfrm>
          <a:custGeom>
            <a:rect b="b" l="l" r="r" t="t"/>
            <a:pathLst>
              <a:path extrusionOk="0" h="1093597" w="4118356">
                <a:moveTo>
                  <a:pt x="0" y="0"/>
                </a:moveTo>
                <a:lnTo>
                  <a:pt x="4118356" y="0"/>
                </a:lnTo>
                <a:lnTo>
                  <a:pt x="4118356" y="1093597"/>
                </a:lnTo>
                <a:lnTo>
                  <a:pt x="0" y="1093597"/>
                </a:lnTo>
                <a:close/>
              </a:path>
            </a:pathLst>
          </a:custGeom>
          <a:solidFill>
            <a:srgbClr val="011893"/>
          </a:solidFill>
          <a:ln>
            <a:noFill/>
          </a:ln>
        </p:spPr>
      </p:sp>
      <p:sp>
        <p:nvSpPr>
          <p:cNvPr id="64" name="Google Shape;64;p13"/>
          <p:cNvSpPr txBox="1"/>
          <p:nvPr/>
        </p:nvSpPr>
        <p:spPr>
          <a:xfrm>
            <a:off x="1020011" y="3603588"/>
            <a:ext cx="145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.202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700"/>
          </a:p>
        </p:txBody>
      </p:sp>
      <p:sp>
        <p:nvSpPr>
          <p:cNvPr id="65" name="Google Shape;65;p13"/>
          <p:cNvSpPr txBox="1"/>
          <p:nvPr/>
        </p:nvSpPr>
        <p:spPr>
          <a:xfrm rot="-5400000">
            <a:off x="7476029" y="3166236"/>
            <a:ext cx="285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sz="700"/>
          </a:p>
        </p:txBody>
      </p:sp>
      <p:sp>
        <p:nvSpPr>
          <p:cNvPr id="66" name="Google Shape;66;p13"/>
          <p:cNvSpPr txBox="1"/>
          <p:nvPr/>
        </p:nvSpPr>
        <p:spPr>
          <a:xfrm>
            <a:off x="906872" y="1528977"/>
            <a:ext cx="235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Sesión Nº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700"/>
          </a:p>
        </p:txBody>
      </p:sp>
      <p:sp>
        <p:nvSpPr>
          <p:cNvPr id="67" name="Google Shape;67;p13"/>
          <p:cNvSpPr txBox="1"/>
          <p:nvPr/>
        </p:nvSpPr>
        <p:spPr>
          <a:xfrm>
            <a:off x="1020011" y="4196136"/>
            <a:ext cx="248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 </a:t>
            </a: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VELOCISTAS</a:t>
            </a:r>
            <a:endParaRPr sz="700"/>
          </a:p>
        </p:txBody>
      </p:sp>
      <p:cxnSp>
        <p:nvCxnSpPr>
          <p:cNvPr id="68" name="Google Shape;68;p13"/>
          <p:cNvCxnSpPr/>
          <p:nvPr/>
        </p:nvCxnSpPr>
        <p:spPr>
          <a:xfrm rot="26908">
            <a:off x="920282" y="1864971"/>
            <a:ext cx="2031362" cy="0"/>
          </a:xfrm>
          <a:prstGeom prst="straightConnector1">
            <a:avLst/>
          </a:prstGeom>
          <a:noFill/>
          <a:ln cap="rnd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3"/>
          <p:cNvSpPr/>
          <p:nvPr/>
        </p:nvSpPr>
        <p:spPr>
          <a:xfrm>
            <a:off x="5054057" y="1742688"/>
            <a:ext cx="3402616" cy="2171033"/>
          </a:xfrm>
          <a:custGeom>
            <a:rect b="b" l="l" r="r" t="t"/>
            <a:pathLst>
              <a:path extrusionOk="0" h="5789422" w="9073642">
                <a:moveTo>
                  <a:pt x="0" y="0"/>
                </a:moveTo>
                <a:lnTo>
                  <a:pt x="9073642" y="0"/>
                </a:lnTo>
                <a:lnTo>
                  <a:pt x="9073642" y="5789422"/>
                </a:lnTo>
                <a:lnTo>
                  <a:pt x="0" y="5789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3129" l="-94628" r="-102487" t="-9613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1705350" y="1928400"/>
            <a:ext cx="5733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¡Recordemos!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-111850" y="958575"/>
            <a:ext cx="8314800" cy="2423400"/>
          </a:xfrm>
          <a:prstGeom prst="cloudCallout">
            <a:avLst>
              <a:gd fmla="val 51093" name="adj1"/>
              <a:gd fmla="val 65398" name="adj2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significaba Kp?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¿Para qué nos sirve la constante de proporcionalidad?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diferencias habia entre el seguidor de líneas del Iroh y el empleado en el Hermes?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118600" y="214325"/>
            <a:ext cx="49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vimos la clase anterior?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100" y="3069282"/>
            <a:ext cx="1919801" cy="203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2089050" y="178775"/>
            <a:ext cx="49659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¿Que vimos la clase anterior?</a:t>
            </a:r>
            <a:endParaRPr b="1" i="0" sz="2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57177" y="1668375"/>
            <a:ext cx="9144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0"/>
              <a:buFont typeface="Arial"/>
              <a:buNone/>
            </a:pPr>
            <a:r>
              <a:rPr b="1" i="0" lang="es" sz="358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 Y…¿Qué haremos hoy?</a:t>
            </a:r>
            <a:endParaRPr b="1" i="0" sz="358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9275" y="2882132"/>
            <a:ext cx="1919801" cy="203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/>
        </p:nvSpPr>
        <p:spPr>
          <a:xfrm>
            <a:off x="2791500" y="292150"/>
            <a:ext cx="3561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9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1" i="0" sz="29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925" y="1091051"/>
            <a:ext cx="3652150" cy="34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060450" y="1660500"/>
            <a:ext cx="30231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Expandir c</a:t>
            </a: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ontrolador Proporcional a </a:t>
            </a:r>
            <a:r>
              <a:rPr b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uno</a:t>
            </a: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Propor</a:t>
            </a:r>
            <a:r>
              <a:rPr b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cional, </a:t>
            </a: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Integral y Derivativo (PID)</a:t>
            </a:r>
            <a:r>
              <a:rPr b="1" lang="e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364" y="900037"/>
            <a:ext cx="725275" cy="7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¿Para qué nos sirve cada concepto?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1034650" y="1371725"/>
            <a:ext cx="1175100" cy="480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error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1034650" y="2063850"/>
            <a:ext cx="1175100" cy="480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referencia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1034650" y="2763225"/>
            <a:ext cx="1175100" cy="480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Tp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1034650" y="3506900"/>
            <a:ext cx="1175100" cy="480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Kp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1034650" y="4250575"/>
            <a:ext cx="1175100" cy="480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giro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874950" y="2115400"/>
            <a:ext cx="3231900" cy="480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Constante de proporcionalidad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874950" y="2807525"/>
            <a:ext cx="3231900" cy="480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Velocidad base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874950" y="3506900"/>
            <a:ext cx="3231900" cy="480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Diferencia de posición respecto a la referencia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874950" y="4250575"/>
            <a:ext cx="3231900" cy="480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de posición objetivo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874950" y="1357100"/>
            <a:ext cx="3231900" cy="480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Potencia de giro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13" name="Google Shape;113;p18"/>
          <p:cNvCxnSpPr>
            <a:stCxn id="103" idx="3"/>
            <a:endCxn id="110" idx="1"/>
          </p:cNvCxnSpPr>
          <p:nvPr/>
        </p:nvCxnSpPr>
        <p:spPr>
          <a:xfrm>
            <a:off x="2209750" y="1612025"/>
            <a:ext cx="2665200" cy="213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18"/>
          <p:cNvCxnSpPr>
            <a:stCxn id="104" idx="3"/>
            <a:endCxn id="111" idx="1"/>
          </p:cNvCxnSpPr>
          <p:nvPr/>
        </p:nvCxnSpPr>
        <p:spPr>
          <a:xfrm>
            <a:off x="2209750" y="2304150"/>
            <a:ext cx="2665200" cy="2186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18"/>
          <p:cNvCxnSpPr>
            <a:stCxn id="105" idx="3"/>
            <a:endCxn id="109" idx="1"/>
          </p:cNvCxnSpPr>
          <p:nvPr/>
        </p:nvCxnSpPr>
        <p:spPr>
          <a:xfrm>
            <a:off x="2209750" y="3003525"/>
            <a:ext cx="2665200" cy="444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18"/>
          <p:cNvCxnSpPr>
            <a:endCxn id="112" idx="1"/>
          </p:cNvCxnSpPr>
          <p:nvPr/>
        </p:nvCxnSpPr>
        <p:spPr>
          <a:xfrm flipH="1" rot="10800000">
            <a:off x="2209750" y="1597400"/>
            <a:ext cx="2665200" cy="28935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18"/>
          <p:cNvCxnSpPr>
            <a:stCxn id="106" idx="3"/>
            <a:endCxn id="108" idx="1"/>
          </p:cNvCxnSpPr>
          <p:nvPr/>
        </p:nvCxnSpPr>
        <p:spPr>
          <a:xfrm flipH="1" rot="10800000">
            <a:off x="2209750" y="2355800"/>
            <a:ext cx="2665200" cy="1391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¿Qué es un PID?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389250" y="1371725"/>
            <a:ext cx="8365500" cy="125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Controlador PID (Proporcional Integral Derivativo) es un tipo de controlador que ayuda a máquinas y dispositivos a funcionar de manera suave y precisa por medio de ajustes para mantener un objetivo.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89250" y="2842500"/>
            <a:ext cx="8365500" cy="616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Una forma de verlo, es como cuando andamos en bicicleta. 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Hacemos constantes ajustes para mantenernos en equilibrio.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7375" y="3458700"/>
            <a:ext cx="1916626" cy="19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¿Qué es un PID?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06925" y="1042000"/>
            <a:ext cx="67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 PID está compuesto por 3 partes.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206925" y="1655050"/>
            <a:ext cx="2712300" cy="2520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Proporcional</a:t>
            </a:r>
            <a:r>
              <a:rPr b="0" i="0" lang="es" sz="14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Se ajusta respecto a </a:t>
            </a:r>
            <a:r>
              <a:rPr lang="e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qué</a:t>
            </a:r>
            <a:r>
              <a:rPr b="0" i="0" lang="es" sz="14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tan lejos estoy de la referencia.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215850" y="1655050"/>
            <a:ext cx="2712300" cy="25200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Integral</a:t>
            </a:r>
            <a:r>
              <a:rPr b="0" i="0" lang="es" sz="14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Responde al error acumulado en el tiempo, el error histórico.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6146925" y="1655050"/>
            <a:ext cx="2712300" cy="2520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Derivativo</a:t>
            </a:r>
            <a:r>
              <a:rPr b="0" i="0" lang="es" sz="14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Responde a la tasa de cambio del error. Ayuda a anticipar futuros errores.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5" name="Google Shape;135;p20"/>
          <p:cNvSpPr/>
          <p:nvPr/>
        </p:nvSpPr>
        <p:spPr>
          <a:xfrm rot="-5400000">
            <a:off x="1400475" y="3118725"/>
            <a:ext cx="325200" cy="266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73275" y="4722800"/>
            <a:ext cx="23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Nosotros sabemos esto</a:t>
            </a:r>
            <a:endParaRPr b="0" i="0" sz="14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0"/>
          <p:cNvSpPr/>
          <p:nvPr/>
        </p:nvSpPr>
        <p:spPr>
          <a:xfrm rot="-5400000">
            <a:off x="5877600" y="1650525"/>
            <a:ext cx="325200" cy="5596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850400" y="4722800"/>
            <a:ext cx="23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Hoy aprenderemos esto</a:t>
            </a:r>
            <a:endParaRPr b="0" i="0" sz="14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Agregando la integral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206925" y="1042000"/>
            <a:ext cx="85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Integral: Responde al error acumulado en el tiempo, el error histórico.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206925" y="1961575"/>
            <a:ext cx="8365500" cy="59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Vamos a ir almacenando los errores que vamos leyendo de manera continua.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263600" y="3017950"/>
            <a:ext cx="8365500" cy="616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integral = integral + error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Agregando la integral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06925" y="1042000"/>
            <a:ext cx="85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¿De qué nos sirve?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7451750" y="1293250"/>
            <a:ext cx="303000" cy="40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7125" y="3458575"/>
            <a:ext cx="3931499" cy="29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206925" y="1611025"/>
            <a:ext cx="4936500" cy="1722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Por ejemplo, si el error se mantiene del mismo signo por mucho rato, como -150, es decir, nuestro robot tiende a seguir por un solo lado.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Esta suma constante, nos ayuda a corregir haciendo una corrección más agresiva.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5971200" y="1633200"/>
            <a:ext cx="31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437975" y="1293250"/>
            <a:ext cx="105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 Lectura: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Integral: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6386375" y="1309800"/>
            <a:ext cx="95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-150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6386375" y="1309800"/>
            <a:ext cx="95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-300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6386375" y="1309800"/>
            <a:ext cx="95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-400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206925" y="3720000"/>
            <a:ext cx="4936500" cy="1260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Agregándolo a nuestro cálculo del giro, tenemos: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giro = Kp * error + Ki * integral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5950" y="2993000"/>
            <a:ext cx="3931499" cy="29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Agregando la integral: Escoger Ki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206925" y="1042000"/>
            <a:ext cx="85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¿Cómo escogemos Ki?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206925" y="1611025"/>
            <a:ext cx="8277000" cy="864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giro = Kp * error + Ki * integral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5971200" y="1633200"/>
            <a:ext cx="31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206925" y="2744500"/>
            <a:ext cx="8277000" cy="1260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Ki es nuestra constante de integración, usualmente se inicializa en 0.1 y se ajusta de acuerdo a nuestro Hermes y necesidades del entorno, según se vaya viendo.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Control proporcional + integral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369500" y="1041975"/>
            <a:ext cx="765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Establecemos nuestro algoritmo de control proporcional e integral con los valores obtenidos.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369500" y="1885325"/>
            <a:ext cx="4079400" cy="299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Nuestras variables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Kp= 0.39  </a:t>
            </a:r>
            <a:r>
              <a:rPr b="0" i="0" lang="es" sz="12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//Constante proporcional</a:t>
            </a:r>
            <a:endParaRPr b="0" i="0" sz="12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Ki= 0.1   </a:t>
            </a:r>
            <a:r>
              <a:rPr b="1" i="0" lang="es" sz="12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//Constante Integral</a:t>
            </a:r>
            <a:b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ref= 0    </a:t>
            </a:r>
            <a:r>
              <a:rPr b="0" i="0" lang="es" sz="12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//Valor objetivo(centro)</a:t>
            </a:r>
            <a:endParaRPr b="0" i="0" sz="12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Tp= 100   </a:t>
            </a: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//Velocidad base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error= 0  </a:t>
            </a: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//Variable que almacena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     el error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integral= 0</a:t>
            </a:r>
            <a:r>
              <a:rPr b="1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//Variable que </a:t>
            </a:r>
            <a:endParaRPr b="1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     almacena la integral</a:t>
            </a:r>
            <a:endParaRPr b="1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4734250" y="1885325"/>
            <a:ext cx="4079400" cy="299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A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 nuestro loop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posicion = leerSensores()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error = posicion - ref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integral = integral + error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giro = Kp * error </a:t>
            </a: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Ki * integral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velIzq = Tp - giro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velDer = Tp + giro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moverMotores(velIzq, velDer)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5"/>
          <p:cNvCxnSpPr/>
          <p:nvPr/>
        </p:nvCxnSpPr>
        <p:spPr>
          <a:xfrm>
            <a:off x="437675" y="9391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25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345525" y="1014550"/>
            <a:ext cx="8512200" cy="1557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los datos entregados anteriormente, agregar los cambios relacionados con el control integral.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1" y="2463875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Agregando la derivación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206925" y="1042000"/>
            <a:ext cx="854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Derivativo: Responde a la tasa de cambio del error. Ayuda a anticipar futuros errores.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206925" y="1961575"/>
            <a:ext cx="8365500" cy="1947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Miraremos al futuro usando derivadas, así anticiparemos el error. Lo haremos esperando que el siguiente cambio será igual a la diferencia de los 2 errores anteriores.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esta tasa de cambio la llamaremos derivada y se puede pensar como la pendiente de la recta en un punto específico.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206925" y="4318600"/>
            <a:ext cx="8365500" cy="616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derivada = error - ultimoError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Agregando la derivación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206925" y="1042000"/>
            <a:ext cx="85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¿De qué nos sirve?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206925" y="1611025"/>
            <a:ext cx="8547900" cy="1722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Supongamos que el robot comienza a moverse rápidamente a la derecha, con la derivada anticipamos que tiende a ese lado y anticipamos frenando o cambiando la dirección. De esta manera podemos evitar un constante zig-zag.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5971200" y="1633200"/>
            <a:ext cx="31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206925" y="3720000"/>
            <a:ext cx="8547900" cy="1260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Agregándolo a nuestro cálculo del giro, queda: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giro = Kp * error + Ki * integral + Kd * derivada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Agregando la derivación: Escoger Kd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206925" y="1042000"/>
            <a:ext cx="85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¿Cómo escogemos Kd?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206925" y="1611025"/>
            <a:ext cx="8277000" cy="864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giro = Kp * error + Ki * integral + Kd * derivada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5971200" y="1633200"/>
            <a:ext cx="31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206925" y="2744500"/>
            <a:ext cx="8277000" cy="1260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28575">
            <a:solidFill>
              <a:srgbClr val="FFC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 igual que el proporcional e integral, tenemos una constante, que llamaremos Kd, que inicializaremos en 0.01, valor que debemos ir ajustando a nuestras necesidades.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Control proporcional + integral + derivativo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369500" y="1041975"/>
            <a:ext cx="765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Establecemos nuestro algoritmo de control proporcional e integral con los valores obtenidos.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369500" y="1885325"/>
            <a:ext cx="4079400" cy="299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Nuestras variables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float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Kp= 0.39  </a:t>
            </a:r>
            <a:r>
              <a:rPr b="0" i="0" lang="es" sz="12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//Constante proporcional</a:t>
            </a:r>
            <a:endParaRPr b="0" i="0" sz="12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float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Ki= 0.1   </a:t>
            </a:r>
            <a:r>
              <a:rPr b="0" i="0" lang="es" sz="12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//Constante Integral</a:t>
            </a:r>
            <a:endParaRPr b="0" i="0" sz="12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float </a:t>
            </a: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Kd= 0.01  </a:t>
            </a:r>
            <a:r>
              <a:rPr b="1" i="0" lang="es" sz="12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//Constante Derivativa</a:t>
            </a:r>
            <a:b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ref= 0    </a:t>
            </a:r>
            <a:r>
              <a:rPr b="0" i="0" lang="es" sz="12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//Valor objetivo(centro)</a:t>
            </a:r>
            <a:endParaRPr b="0" i="0" sz="12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Tp= 100   </a:t>
            </a: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//Velocidad base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error= 0  </a:t>
            </a: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//Variable que almacena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     el error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integral= 0</a:t>
            </a: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//Variable que 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     almacena la integral</a:t>
            </a:r>
            <a:endParaRPr b="0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ultimoError= 0</a:t>
            </a:r>
            <a:r>
              <a:rPr b="1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//Almacena el último error</a:t>
            </a:r>
            <a:endParaRPr b="1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derivada= 0</a:t>
            </a:r>
            <a:r>
              <a:rPr b="1" i="0" lang="es" sz="12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//Almacena el error</a:t>
            </a:r>
            <a:endParaRPr b="1" i="0" sz="12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4734250" y="1885325"/>
            <a:ext cx="4079400" cy="333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A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 nuestro loop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posicion = leerSensores()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error = posicion - ref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integral = integral + error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derivada = error - ultimoError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giro = Kp * error </a:t>
            </a: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Ki * integral + Kd * derivada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velIzq = Tp - giro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velDer = Tp + giro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moverMotores(velIzq, velDer)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ultimoError = error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/>
        </p:nvSpPr>
        <p:spPr>
          <a:xfrm>
            <a:off x="389250" y="244150"/>
            <a:ext cx="83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PID completo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206925" y="889600"/>
            <a:ext cx="67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3011300" y="3634425"/>
            <a:ext cx="3026400" cy="524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I:   Ki*(I+error)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3011300" y="4311500"/>
            <a:ext cx="3026400" cy="52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D:   Kd*(error-ultimoError)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3011300" y="2957350"/>
            <a:ext cx="3026400" cy="5244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P:   Kp*error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1087525" y="1600075"/>
            <a:ext cx="1138200" cy="1108500"/>
          </a:xfrm>
          <a:prstGeom prst="ellipse">
            <a:avLst/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Salida</a:t>
            </a:r>
            <a:endParaRPr b="0" i="0" sz="12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3955400" y="1892125"/>
            <a:ext cx="1138200" cy="52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Hermes</a:t>
            </a:r>
            <a:endParaRPr b="0" i="0" sz="14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749375" y="1600075"/>
            <a:ext cx="1138200" cy="11085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Entrada</a:t>
            </a:r>
            <a:endParaRPr b="0" i="0" sz="12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234" name="Google Shape;234;p30"/>
          <p:cNvCxnSpPr>
            <a:endCxn id="233" idx="0"/>
          </p:cNvCxnSpPr>
          <p:nvPr/>
        </p:nvCxnSpPr>
        <p:spPr>
          <a:xfrm flipH="1">
            <a:off x="7318475" y="894775"/>
            <a:ext cx="10200" cy="70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30"/>
          <p:cNvSpPr txBox="1"/>
          <p:nvPr/>
        </p:nvSpPr>
        <p:spPr>
          <a:xfrm>
            <a:off x="7441800" y="933950"/>
            <a:ext cx="123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Referencia </a:t>
            </a:r>
            <a:endParaRPr b="0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Centro de Línea </a:t>
            </a:r>
            <a:endParaRPr b="0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(Posición = 0)</a:t>
            </a:r>
            <a:endParaRPr b="0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6" name="Google Shape;236;p30"/>
          <p:cNvCxnSpPr>
            <a:stCxn id="232" idx="3"/>
            <a:endCxn id="233" idx="2"/>
          </p:cNvCxnSpPr>
          <p:nvPr/>
        </p:nvCxnSpPr>
        <p:spPr>
          <a:xfrm>
            <a:off x="5093600" y="2154325"/>
            <a:ext cx="165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30"/>
          <p:cNvCxnSpPr>
            <a:stCxn id="233" idx="4"/>
            <a:endCxn id="230" idx="3"/>
          </p:cNvCxnSpPr>
          <p:nvPr/>
        </p:nvCxnSpPr>
        <p:spPr>
          <a:xfrm rot="5400000">
            <a:off x="6422675" y="2323675"/>
            <a:ext cx="510900" cy="12807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30"/>
          <p:cNvCxnSpPr>
            <a:stCxn id="233" idx="4"/>
            <a:endCxn id="228" idx="3"/>
          </p:cNvCxnSpPr>
          <p:nvPr/>
        </p:nvCxnSpPr>
        <p:spPr>
          <a:xfrm rot="5400000">
            <a:off x="6084125" y="2662225"/>
            <a:ext cx="1188000" cy="12807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30"/>
          <p:cNvCxnSpPr>
            <a:stCxn id="233" idx="4"/>
            <a:endCxn id="229" idx="3"/>
          </p:cNvCxnSpPr>
          <p:nvPr/>
        </p:nvCxnSpPr>
        <p:spPr>
          <a:xfrm rot="5400000">
            <a:off x="5745575" y="3000775"/>
            <a:ext cx="1865100" cy="12807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30"/>
          <p:cNvCxnSpPr>
            <a:stCxn id="231" idx="4"/>
            <a:endCxn id="230" idx="1"/>
          </p:cNvCxnSpPr>
          <p:nvPr/>
        </p:nvCxnSpPr>
        <p:spPr>
          <a:xfrm flipH="1" rot="-5400000">
            <a:off x="2078575" y="2286625"/>
            <a:ext cx="510900" cy="13548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41" name="Google Shape;241;p30"/>
          <p:cNvCxnSpPr>
            <a:stCxn id="231" idx="4"/>
          </p:cNvCxnSpPr>
          <p:nvPr/>
        </p:nvCxnSpPr>
        <p:spPr>
          <a:xfrm flipH="1" rot="-5400000">
            <a:off x="1740025" y="2625175"/>
            <a:ext cx="1188000" cy="13548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42" name="Google Shape;242;p30"/>
          <p:cNvCxnSpPr>
            <a:stCxn id="231" idx="4"/>
          </p:cNvCxnSpPr>
          <p:nvPr/>
        </p:nvCxnSpPr>
        <p:spPr>
          <a:xfrm flipH="1" rot="-5400000">
            <a:off x="1401475" y="2963725"/>
            <a:ext cx="1865100" cy="1354800"/>
          </a:xfrm>
          <a:prstGeom prst="bentConnector3">
            <a:avLst>
              <a:gd fmla="val 10019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43" name="Google Shape;243;p30"/>
          <p:cNvCxnSpPr>
            <a:stCxn id="231" idx="6"/>
            <a:endCxn id="232" idx="1"/>
          </p:cNvCxnSpPr>
          <p:nvPr/>
        </p:nvCxnSpPr>
        <p:spPr>
          <a:xfrm>
            <a:off x="2225725" y="2154325"/>
            <a:ext cx="1729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30"/>
          <p:cNvSpPr txBox="1"/>
          <p:nvPr/>
        </p:nvSpPr>
        <p:spPr>
          <a:xfrm>
            <a:off x="5258950" y="1831225"/>
            <a:ext cx="1234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Posición actual</a:t>
            </a:r>
            <a:endParaRPr b="0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2473450" y="1868388"/>
            <a:ext cx="1234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Mover motores</a:t>
            </a:r>
            <a:endParaRPr b="0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5759050" y="2191500"/>
            <a:ext cx="23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7011850" y="1072550"/>
            <a:ext cx="23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2217025" y="2896375"/>
            <a:ext cx="23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2217025" y="3570400"/>
            <a:ext cx="23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2217025" y="4244425"/>
            <a:ext cx="23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31"/>
          <p:cNvCxnSpPr/>
          <p:nvPr/>
        </p:nvCxnSpPr>
        <p:spPr>
          <a:xfrm>
            <a:off x="437675" y="9391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31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345525" y="1014550"/>
            <a:ext cx="8512200" cy="1557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los datos entregados, agregar los cambios relacionados con el control derivativo para completar nuestro controlador PID.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1" y="2463875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</a:t>
            </a:r>
            <a:r>
              <a:rPr b="1" lang="es" sz="15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- Línea robots velocistas HERMES</a:t>
            </a:r>
            <a:endParaRPr b="1" i="0" sz="15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René Garcés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</a:t>
            </a:r>
            <a:r>
              <a:rPr b="1" lang="es" sz="12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- Agosto 202</a:t>
            </a:r>
            <a:r>
              <a:rPr b="1" lang="es" sz="12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2903438" y="46632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268" name="Google Shape;26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269" name="Google Shape;26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270" name="Google Shape;270;p32"/>
          <p:cNvPicPr preferRelativeResize="0"/>
          <p:nvPr/>
        </p:nvPicPr>
        <p:blipFill rotWithShape="1">
          <a:blip r:embed="rId7">
            <a:alphaModFix/>
          </a:blip>
          <a:srcRect b="0" l="5141" r="0" t="3427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271" name="Google Shape;27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