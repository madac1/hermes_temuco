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Proxima Nova"/>
      <p:regular r:id="rId16"/>
      <p:bold r:id="rId17"/>
      <p:italic r:id="rId18"/>
      <p:boldItalic r:id="rId19"/>
    </p:embeddedFont>
    <p:embeddedFont>
      <p:font typeface="Poppi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11" Type="http://schemas.openxmlformats.org/officeDocument/2006/relationships/slide" Target="slides/slide6.xml"/><Relationship Id="rId22" Type="http://schemas.openxmlformats.org/officeDocument/2006/relationships/font" Target="fonts/Poppins-italic.fntdata"/><Relationship Id="rId10" Type="http://schemas.openxmlformats.org/officeDocument/2006/relationships/slide" Target="slides/slide5.xml"/><Relationship Id="rId21" Type="http://schemas.openxmlformats.org/officeDocument/2006/relationships/font" Target="fonts/Poppin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Poppi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roximaNova-bold.fntdata"/><Relationship Id="rId16" Type="http://schemas.openxmlformats.org/officeDocument/2006/relationships/font" Target="fonts/ProximaNova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roximaNova-boldItalic.fntdata"/><Relationship Id="rId6" Type="http://schemas.openxmlformats.org/officeDocument/2006/relationships/slide" Target="slides/slide1.xml"/><Relationship Id="rId18" Type="http://schemas.openxmlformats.org/officeDocument/2006/relationships/font" Target="fonts/ProximaNova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AutoNum type="arabicPeriod"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Especificar que esta herramient sólo está disponible en android, ya que parece que IOS no tiene una forma de ver la conexión serial del bluetooth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Link: https://play.google.com/store/apps/details?id=de.kai_morich.serial_bluetooth_terminal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jpg"/><Relationship Id="rId4" Type="http://schemas.openxmlformats.org/officeDocument/2006/relationships/image" Target="../media/image20.jpg"/><Relationship Id="rId5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1.png"/><Relationship Id="rId5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Relationship Id="rId4" Type="http://schemas.openxmlformats.org/officeDocument/2006/relationships/image" Target="../media/image26.png"/><Relationship Id="rId11" Type="http://schemas.openxmlformats.org/officeDocument/2006/relationships/image" Target="../media/image18.png"/><Relationship Id="rId10" Type="http://schemas.openxmlformats.org/officeDocument/2006/relationships/image" Target="../media/image23.png"/><Relationship Id="rId9" Type="http://schemas.openxmlformats.org/officeDocument/2006/relationships/image" Target="../media/image24.jpg"/><Relationship Id="rId5" Type="http://schemas.openxmlformats.org/officeDocument/2006/relationships/image" Target="../media/image25.png"/><Relationship Id="rId6" Type="http://schemas.openxmlformats.org/officeDocument/2006/relationships/image" Target="../media/image16.png"/><Relationship Id="rId7" Type="http://schemas.openxmlformats.org/officeDocument/2006/relationships/image" Target="../media/image15.jpg"/><Relationship Id="rId8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9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8238" y="-4750"/>
            <a:ext cx="3967136" cy="122083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488662"/>
            <a:ext cx="3016560" cy="16546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" name="Google Shape;56;p13"/>
          <p:cNvGrpSpPr/>
          <p:nvPr/>
        </p:nvGrpSpPr>
        <p:grpSpPr>
          <a:xfrm>
            <a:off x="2297353" y="1829250"/>
            <a:ext cx="4549543" cy="1853207"/>
            <a:chOff x="3690762" y="2215834"/>
            <a:chExt cx="4698000" cy="2328150"/>
          </a:xfrm>
        </p:grpSpPr>
        <p:sp>
          <p:nvSpPr>
            <p:cNvPr id="57" name="Google Shape;57;p13"/>
            <p:cNvSpPr txBox="1"/>
            <p:nvPr/>
          </p:nvSpPr>
          <p:spPr>
            <a:xfrm>
              <a:off x="3690762" y="2215834"/>
              <a:ext cx="4698000" cy="10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68575" lIns="68575" spcFirstLastPara="1" rIns="68575" wrap="square" tIns="68575">
              <a:norm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00"/>
                <a:buFont typeface="Arial"/>
                <a:buNone/>
              </a:pPr>
              <a:r>
                <a:rPr b="0" i="0" lang="es" sz="3900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Sesión N° 5</a:t>
              </a:r>
              <a:endParaRPr b="0" i="0" sz="3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8" name="Google Shape;58;p13"/>
            <p:cNvSpPr txBox="1"/>
            <p:nvPr/>
          </p:nvSpPr>
          <p:spPr>
            <a:xfrm>
              <a:off x="3690762" y="3460984"/>
              <a:ext cx="4698000" cy="10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rm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" sz="1600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Clubes de Ciencia y Tecnología</a:t>
              </a:r>
              <a:endParaRPr b="0" i="0" sz="1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s" sz="1600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LÍNEA VELOCISTA</a:t>
              </a:r>
              <a:endParaRPr b="1" i="0" sz="1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3690762" y="3244845"/>
              <a:ext cx="4698000" cy="81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15D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1388325" y="1017725"/>
            <a:ext cx="5929800" cy="2423400"/>
          </a:xfrm>
          <a:prstGeom prst="cloudCallout">
            <a:avLst>
              <a:gd fmla="val 51093" name="adj1"/>
              <a:gd fmla="val 65398" name="adj2"/>
            </a:avLst>
          </a:prstGeom>
          <a:solidFill>
            <a:srgbClr val="FFC004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oppins"/>
              <a:buChar char="●"/>
            </a:pPr>
            <a:r>
              <a:rPr b="0" i="0" lang="es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¿Cuáles son las diferencias entre Hermes y Iroh?</a:t>
            </a:r>
            <a:endParaRPr b="0" i="0" sz="20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2617650" y="106150"/>
            <a:ext cx="3908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Recapitulación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6" name="Google Shape;6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8125" y="3317625"/>
            <a:ext cx="1825875" cy="182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 rotWithShape="1">
          <a:blip r:embed="rId4">
            <a:alphaModFix/>
          </a:blip>
          <a:srcRect b="21938" l="9222" r="8364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3950" y="753400"/>
            <a:ext cx="2901400" cy="29014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2617650" y="106150"/>
            <a:ext cx="3908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Bluetooth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355175" y="3877525"/>
            <a:ext cx="8464800" cy="10875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Hermes posee un puerto específico para poder conectar un controlador bluetooth</a:t>
            </a:r>
            <a:endParaRPr b="0" i="0" sz="17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 rotWithShape="1">
          <a:blip r:embed="rId4">
            <a:alphaModFix/>
          </a:blip>
          <a:srcRect b="21938" l="9222" r="8364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 title="ChatGPT Image 22 sept 2026, 09_20_45 p.m.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2350" y="747863"/>
            <a:ext cx="4788608" cy="2912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/>
        </p:nvSpPr>
        <p:spPr>
          <a:xfrm>
            <a:off x="1653750" y="106150"/>
            <a:ext cx="5836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Cómo está conectado en Hermes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2" name="Google Shape;82;p16"/>
          <p:cNvPicPr preferRelativeResize="0"/>
          <p:nvPr/>
        </p:nvPicPr>
        <p:blipFill rotWithShape="1">
          <a:blip r:embed="rId3">
            <a:alphaModFix/>
          </a:blip>
          <a:srcRect b="21938" l="9222" r="8364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 title="Bluetooth_bb.png"/>
          <p:cNvPicPr preferRelativeResize="0"/>
          <p:nvPr/>
        </p:nvPicPr>
        <p:blipFill rotWithShape="1">
          <a:blip r:embed="rId4">
            <a:alphaModFix/>
          </a:blip>
          <a:srcRect b="9796" l="0" r="0" t="0"/>
          <a:stretch/>
        </p:blipFill>
        <p:spPr>
          <a:xfrm>
            <a:off x="1650525" y="1216412"/>
            <a:ext cx="5842951" cy="376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/>
        </p:nvSpPr>
        <p:spPr>
          <a:xfrm>
            <a:off x="2617650" y="106150"/>
            <a:ext cx="3908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Montaje Bluetooth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9" name="Google Shape;89;p17"/>
          <p:cNvPicPr preferRelativeResize="0"/>
          <p:nvPr/>
        </p:nvPicPr>
        <p:blipFill rotWithShape="1">
          <a:blip r:embed="rId3">
            <a:alphaModFix/>
          </a:blip>
          <a:srcRect b="0" l="19359" r="26638" t="0"/>
          <a:stretch/>
        </p:blipFill>
        <p:spPr>
          <a:xfrm>
            <a:off x="576125" y="660250"/>
            <a:ext cx="3490248" cy="3642076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/>
          <p:nvPr/>
        </p:nvSpPr>
        <p:spPr>
          <a:xfrm>
            <a:off x="558775" y="3789300"/>
            <a:ext cx="3688200" cy="10656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1. Alinear los pines del bluetooth con los que aparecen en la placa</a:t>
            </a:r>
            <a:endParaRPr b="0" i="0" sz="15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1" name="Google Shape;91;p17"/>
          <p:cNvPicPr preferRelativeResize="0"/>
          <p:nvPr/>
        </p:nvPicPr>
        <p:blipFill rotWithShape="1">
          <a:blip r:embed="rId4">
            <a:alphaModFix/>
          </a:blip>
          <a:srcRect b="0" l="21808" r="11395" t="0"/>
          <a:stretch/>
        </p:blipFill>
        <p:spPr>
          <a:xfrm>
            <a:off x="4572000" y="660250"/>
            <a:ext cx="3984973" cy="336172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7"/>
          <p:cNvSpPr/>
          <p:nvPr/>
        </p:nvSpPr>
        <p:spPr>
          <a:xfrm>
            <a:off x="4720388" y="3789300"/>
            <a:ext cx="3688200" cy="10656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2. Conectar el bluetooth asegurándose de que todos los pines se encuentren bien posicionados</a:t>
            </a:r>
            <a:endParaRPr b="0" i="0" sz="15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3" name="Google Shape;93;p17"/>
          <p:cNvPicPr preferRelativeResize="0"/>
          <p:nvPr/>
        </p:nvPicPr>
        <p:blipFill rotWithShape="1">
          <a:blip r:embed="rId5">
            <a:alphaModFix/>
          </a:blip>
          <a:srcRect b="21938" l="9222" r="8364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/>
        </p:nvSpPr>
        <p:spPr>
          <a:xfrm>
            <a:off x="2312850" y="-46250"/>
            <a:ext cx="3908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Cómo se utiliza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9" name="Google Shape;9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3538" y="0"/>
            <a:ext cx="22050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8"/>
          <p:cNvSpPr/>
          <p:nvPr/>
        </p:nvSpPr>
        <p:spPr>
          <a:xfrm>
            <a:off x="0" y="3848800"/>
            <a:ext cx="3688200" cy="10656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1. Descargar la siguiente aplicación de la play store</a:t>
            </a:r>
            <a:endParaRPr b="0" i="0" sz="15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1" name="Google Shape;10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44650" y="0"/>
            <a:ext cx="2074405" cy="4838702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8"/>
          <p:cNvSpPr/>
          <p:nvPr/>
        </p:nvSpPr>
        <p:spPr>
          <a:xfrm>
            <a:off x="3624625" y="686550"/>
            <a:ext cx="2372100" cy="10656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2. Esta es la vista dentro de la aplicación</a:t>
            </a:r>
            <a:endParaRPr b="0" i="0" sz="15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3" name="Google Shape;103;p18"/>
          <p:cNvSpPr/>
          <p:nvPr/>
        </p:nvSpPr>
        <p:spPr>
          <a:xfrm>
            <a:off x="3624625" y="1886550"/>
            <a:ext cx="2372100" cy="10656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2. Primero se accede al menú </a:t>
            </a:r>
            <a:endParaRPr b="0" i="0" sz="15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4" name="Google Shape;104;p18"/>
          <p:cNvSpPr/>
          <p:nvPr/>
        </p:nvSpPr>
        <p:spPr>
          <a:xfrm>
            <a:off x="5619700" y="69125"/>
            <a:ext cx="505500" cy="4830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p18"/>
          <p:cNvPicPr preferRelativeResize="0"/>
          <p:nvPr/>
        </p:nvPicPr>
        <p:blipFill rotWithShape="1">
          <a:blip r:embed="rId5">
            <a:alphaModFix/>
          </a:blip>
          <a:srcRect b="21938" l="9222" r="8364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/>
        </p:nvSpPr>
        <p:spPr>
          <a:xfrm>
            <a:off x="2312850" y="-46250"/>
            <a:ext cx="3908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Cómo se utiliza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1" name="Google Shape;11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400" y="60000"/>
            <a:ext cx="2074405" cy="4838702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9"/>
          <p:cNvSpPr/>
          <p:nvPr/>
        </p:nvSpPr>
        <p:spPr>
          <a:xfrm>
            <a:off x="0" y="3848800"/>
            <a:ext cx="3688200" cy="10656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3. Se abrirá este menú, se debe ingresar a devices</a:t>
            </a:r>
            <a:endParaRPr b="0" i="0" sz="15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3" name="Google Shape;113;p19"/>
          <p:cNvSpPr/>
          <p:nvPr/>
        </p:nvSpPr>
        <p:spPr>
          <a:xfrm>
            <a:off x="-164925" y="1020375"/>
            <a:ext cx="1619700" cy="3684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73950" y="60000"/>
            <a:ext cx="2074405" cy="4838702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9"/>
          <p:cNvSpPr/>
          <p:nvPr/>
        </p:nvSpPr>
        <p:spPr>
          <a:xfrm>
            <a:off x="3967400" y="755100"/>
            <a:ext cx="2372100" cy="10656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4. Se abrirá una lista de dispositivos vinculados.</a:t>
            </a:r>
            <a:endParaRPr b="0" i="0" sz="15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" name="Google Shape;116;p19"/>
          <p:cNvSpPr/>
          <p:nvPr/>
        </p:nvSpPr>
        <p:spPr>
          <a:xfrm>
            <a:off x="3967400" y="2038950"/>
            <a:ext cx="2372100" cy="13125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4. Para añadir nuevos dispositivos, hay que hacer click en el siguiente botón.</a:t>
            </a:r>
            <a:endParaRPr b="0" i="0" sz="15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7" name="Google Shape;117;p19"/>
          <p:cNvSpPr/>
          <p:nvPr/>
        </p:nvSpPr>
        <p:spPr>
          <a:xfrm>
            <a:off x="8070650" y="94825"/>
            <a:ext cx="505500" cy="4830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088" y="0"/>
            <a:ext cx="22050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0"/>
          <p:cNvSpPr txBox="1"/>
          <p:nvPr/>
        </p:nvSpPr>
        <p:spPr>
          <a:xfrm>
            <a:off x="2312850" y="-46250"/>
            <a:ext cx="3908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Cómo se utiliza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4" name="Google Shape;124;p20"/>
          <p:cNvSpPr/>
          <p:nvPr/>
        </p:nvSpPr>
        <p:spPr>
          <a:xfrm>
            <a:off x="0" y="3471350"/>
            <a:ext cx="3688200" cy="14430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5. Saldrá una opción para ir a la configuración del sistema de bluetooth, ahí emparejan el bluetooth como cualquier otro dispositivo</a:t>
            </a:r>
            <a:endParaRPr b="0" i="0" sz="15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5" name="Google Shape;12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73950" y="60000"/>
            <a:ext cx="2074405" cy="4838702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0"/>
          <p:cNvSpPr/>
          <p:nvPr/>
        </p:nvSpPr>
        <p:spPr>
          <a:xfrm>
            <a:off x="1184927" y="60000"/>
            <a:ext cx="1589700" cy="4830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0"/>
          <p:cNvSpPr/>
          <p:nvPr/>
        </p:nvSpPr>
        <p:spPr>
          <a:xfrm>
            <a:off x="4677275" y="3418075"/>
            <a:ext cx="3688200" cy="14430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6. Una vez emparejado el dispositivo, se selecciona en la lista.</a:t>
            </a:r>
            <a:endParaRPr b="0" i="0" sz="15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8" name="Google Shape;128;p20"/>
          <p:cNvSpPr/>
          <p:nvPr/>
        </p:nvSpPr>
        <p:spPr>
          <a:xfrm>
            <a:off x="5870752" y="1360775"/>
            <a:ext cx="1589700" cy="4830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/>
          <p:nvPr/>
        </p:nvSpPr>
        <p:spPr>
          <a:xfrm>
            <a:off x="4522800" y="660475"/>
            <a:ext cx="4387800" cy="41391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Desde el lado del Arduino, no hay que hacer programación extra, ya que el bluetooth funciona a través de la comunicación serial. (</a:t>
            </a:r>
            <a:r>
              <a:rPr b="1" i="0" lang="es" sz="1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NOTA:</a:t>
            </a:r>
            <a:r>
              <a:rPr b="0" i="0" lang="es" sz="1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No conectar el bluetooth y el USB al mismo tiempo)</a:t>
            </a:r>
            <a:endParaRPr b="0" i="0" sz="17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4" name="Google Shape;134;p21"/>
          <p:cNvSpPr txBox="1"/>
          <p:nvPr/>
        </p:nvSpPr>
        <p:spPr>
          <a:xfrm>
            <a:off x="2312850" y="-46250"/>
            <a:ext cx="3908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Cómo se utiliza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5" name="Google Shape;13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025" y="49550"/>
            <a:ext cx="2008050" cy="468392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1"/>
          <p:cNvSpPr/>
          <p:nvPr/>
        </p:nvSpPr>
        <p:spPr>
          <a:xfrm>
            <a:off x="1328325" y="2297275"/>
            <a:ext cx="2560200" cy="10575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7. Por último, se aprieta el siguiente botón para conectarlo</a:t>
            </a:r>
            <a:endParaRPr b="0" i="0" sz="15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7" name="Google Shape;137;p21"/>
          <p:cNvSpPr/>
          <p:nvPr/>
        </p:nvSpPr>
        <p:spPr>
          <a:xfrm>
            <a:off x="1848975" y="119050"/>
            <a:ext cx="420900" cy="3888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21"/>
          <p:cNvPicPr preferRelativeResize="0"/>
          <p:nvPr/>
        </p:nvPicPr>
        <p:blipFill rotWithShape="1">
          <a:blip r:embed="rId4">
            <a:alphaModFix/>
          </a:blip>
          <a:srcRect b="21938" l="9222" r="8364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44" name="Google Shape;144;p22"/>
          <p:cNvSpPr txBox="1"/>
          <p:nvPr/>
        </p:nvSpPr>
        <p:spPr>
          <a:xfrm>
            <a:off x="759925" y="1234250"/>
            <a:ext cx="7574400" cy="12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5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Clubes de Ciencia y Tecnología 202</a:t>
            </a:r>
            <a:r>
              <a:rPr b="1" lang="es" sz="15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6</a:t>
            </a:r>
            <a:r>
              <a:rPr b="1" i="0" lang="es" sz="15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- Línea robots velocistas HERMES</a:t>
            </a:r>
            <a:endParaRPr b="1" i="0" sz="15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2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Estos materiales han sido elaborados por Benjamín Espinoza para el Programa de Ciencia y Tecnología de Fundación Gabriel &amp; Mary Mustakis. Se permite su uso bajo licencia Creative Commons (CC) por las Universidades Socias del Programa de Ciencia y Tecnología de Fundación Gabriel &amp; Mary Mustakis.</a:t>
            </a:r>
            <a:endParaRPr b="0" i="0" sz="12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i="0" lang="es" sz="12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Versión 3 - Julio 202</a:t>
            </a:r>
            <a:r>
              <a:rPr b="1"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6</a:t>
            </a:r>
            <a:r>
              <a:rPr b="1" i="0" lang="es" sz="12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endParaRPr b="1" i="0" sz="12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5" name="Google Shape;145;p22"/>
          <p:cNvSpPr txBox="1"/>
          <p:nvPr/>
        </p:nvSpPr>
        <p:spPr>
          <a:xfrm>
            <a:off x="2903400" y="4650625"/>
            <a:ext cx="33372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Publicado Bajo Licencia Creative Commons</a:t>
            </a:r>
            <a:endParaRPr b="1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Atribución-NoComercial-CompartirIgual (CC BY-NC-SA)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36213" y="3910275"/>
            <a:ext cx="471550" cy="47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35386" y="4411750"/>
            <a:ext cx="873325" cy="291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ACH-01-01" id="148" name="Google Shape;14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7975" y="2847163"/>
            <a:ext cx="1476375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TC-01" id="149" name="Google Shape;14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60325" y="2847163"/>
            <a:ext cx="1362075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lh5.googleusercontent.com/wP2h_lc6--vyMzu5qXgRG-Bbe6w1LN7Ph5RgxIP2Ngd_pFZFcUDkC-cp09ZNvc-Xm3iTwoQ8go_elSTWCw68Lrn_HKTBlb9E-8CWQqnHg6t8L9JidsYDttMUJ7XHVUWj9hjtPLtPZtU" id="150" name="Google Shape;150;p22"/>
          <p:cNvPicPr preferRelativeResize="0"/>
          <p:nvPr/>
        </p:nvPicPr>
        <p:blipFill rotWithShape="1">
          <a:blip r:embed="rId7">
            <a:alphaModFix/>
          </a:blip>
          <a:srcRect b="0" l="5141" r="0" t="3428"/>
          <a:stretch/>
        </p:blipFill>
        <p:spPr>
          <a:xfrm>
            <a:off x="4884250" y="2828650"/>
            <a:ext cx="769150" cy="7799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TFSM-01" id="151" name="Google Shape;151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9925" y="2877075"/>
            <a:ext cx="1303350" cy="6831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819488" y="2836300"/>
            <a:ext cx="8953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822801" y="2845825"/>
            <a:ext cx="838115" cy="70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731486" y="3949"/>
            <a:ext cx="3681126" cy="113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