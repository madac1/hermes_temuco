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Proxima Nova"/>
      <p:regular r:id="rId38"/>
      <p:bold r:id="rId39"/>
      <p:italic r:id="rId40"/>
      <p:boldItalic r:id="rId41"/>
    </p:embeddedFont>
    <p:embeddedFont>
      <p:font typeface="Poppins"/>
      <p:regular r:id="rId42"/>
      <p:bold r:id="rId43"/>
      <p:italic r:id="rId44"/>
      <p:boldItalic r:id="rId45"/>
    </p:embeddedFont>
    <p:embeddedFont>
      <p:font typeface="Poppins SemiBold"/>
      <p:regular r:id="rId46"/>
      <p:bold r:id="rId47"/>
      <p:italic r:id="rId48"/>
      <p:boldItalic r:id="rId49"/>
    </p:embeddedFont>
    <p:embeddedFont>
      <p:font typeface="Roboto Mono"/>
      <p:regular r:id="rId50"/>
      <p:bold r:id="rId51"/>
      <p:italic r:id="rId52"/>
      <p:boldItalic r:id="rId53"/>
    </p:embeddedFont>
    <p:embeddedFont>
      <p:font typeface="Mali SemiBold"/>
      <p:regular r:id="rId54"/>
      <p:bold r:id="rId55"/>
      <p:italic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italic.fntdata"/><Relationship Id="rId42" Type="http://schemas.openxmlformats.org/officeDocument/2006/relationships/font" Target="fonts/Poppins-regular.fntdata"/><Relationship Id="rId41" Type="http://schemas.openxmlformats.org/officeDocument/2006/relationships/font" Target="fonts/ProximaNova-boldItalic.fntdata"/><Relationship Id="rId44" Type="http://schemas.openxmlformats.org/officeDocument/2006/relationships/font" Target="fonts/Poppins-italic.fntdata"/><Relationship Id="rId43" Type="http://schemas.openxmlformats.org/officeDocument/2006/relationships/font" Target="fonts/Poppins-bold.fntdata"/><Relationship Id="rId46" Type="http://schemas.openxmlformats.org/officeDocument/2006/relationships/font" Target="fonts/PoppinsSemiBold-regular.fntdata"/><Relationship Id="rId45"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ProximaNova-bold.fntdata"/><Relationship Id="rId38" Type="http://schemas.openxmlformats.org/officeDocument/2006/relationships/font" Target="fonts/ProximaNova-regular.fntdata"/><Relationship Id="rId61" Type="http://schemas.openxmlformats.org/officeDocument/2006/relationships/font" Target="fonts/OpenSans-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6.xml"/><Relationship Id="rId55" Type="http://schemas.openxmlformats.org/officeDocument/2006/relationships/font" Target="fonts/MaliSemiBold-bold.fntdata"/><Relationship Id="rId10" Type="http://schemas.openxmlformats.org/officeDocument/2006/relationships/slide" Target="slides/slide5.xml"/><Relationship Id="rId54" Type="http://schemas.openxmlformats.org/officeDocument/2006/relationships/font" Target="fonts/MaliSemiBold-regular.fntdata"/><Relationship Id="rId13" Type="http://schemas.openxmlformats.org/officeDocument/2006/relationships/slide" Target="slides/slide8.xml"/><Relationship Id="rId57" Type="http://schemas.openxmlformats.org/officeDocument/2006/relationships/font" Target="fonts/MaliSemiBold-boldItalic.fntdata"/><Relationship Id="rId12" Type="http://schemas.openxmlformats.org/officeDocument/2006/relationships/slide" Target="slides/slide7.xml"/><Relationship Id="rId56" Type="http://schemas.openxmlformats.org/officeDocument/2006/relationships/font" Target="fonts/MaliSemiBold-italic.fntdata"/><Relationship Id="rId15" Type="http://schemas.openxmlformats.org/officeDocument/2006/relationships/slide" Target="slides/slide10.xml"/><Relationship Id="rId59" Type="http://schemas.openxmlformats.org/officeDocument/2006/relationships/font" Target="fonts/OpenSans-bold.fntdata"/><Relationship Id="rId14" Type="http://schemas.openxmlformats.org/officeDocument/2006/relationships/slide" Target="slides/slide9.xml"/><Relationship Id="rId58" Type="http://schemas.openxmlformats.org/officeDocument/2006/relationships/font" Target="fonts/Open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trandbeest.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atthewgardiner.ne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f77fd17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2cf77fd17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5000"/>
              </a:lnSpc>
              <a:spcBef>
                <a:spcPts val="0"/>
              </a:spcBef>
              <a:spcAft>
                <a:spcPts val="0"/>
              </a:spcAft>
              <a:buClr>
                <a:schemeClr val="dk1"/>
              </a:buClr>
              <a:buSzPts val="1000"/>
              <a:buFont typeface="Arial"/>
              <a:buAutoNum type="arabicPeriod"/>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1396d93f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1396d93f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1396d93f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1396d93f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7d1bc34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2c7d1bc345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7d1bc345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chemeClr val="dk1"/>
              </a:buClr>
              <a:buSzPts val="1400"/>
              <a:buFont typeface="Open Sans"/>
              <a:buChar char="-"/>
            </a:pPr>
            <a:r>
              <a:rPr lang="es" sz="1400">
                <a:solidFill>
                  <a:schemeClr val="dk1"/>
                </a:solidFill>
                <a:latin typeface="Open Sans"/>
                <a:ea typeface="Open Sans"/>
                <a:cs typeface="Open Sans"/>
                <a:sym typeface="Open Sans"/>
              </a:rPr>
              <a:t>Simplificar las reglas y traducirlas al español</a:t>
            </a:r>
            <a:endParaRPr sz="1400">
              <a:solidFill>
                <a:schemeClr val="dk1"/>
              </a:solidFill>
              <a:latin typeface="Open Sans"/>
              <a:ea typeface="Open Sans"/>
              <a:cs typeface="Open Sans"/>
              <a:sym typeface="Open Sans"/>
            </a:endParaRPr>
          </a:p>
          <a:p>
            <a:pPr indent="-317500" lvl="0" marL="457200" rtl="0" algn="l">
              <a:lnSpc>
                <a:spcPct val="200000"/>
              </a:lnSpc>
              <a:spcBef>
                <a:spcPts val="0"/>
              </a:spcBef>
              <a:spcAft>
                <a:spcPts val="0"/>
              </a:spcAft>
              <a:buClr>
                <a:schemeClr val="dk1"/>
              </a:buClr>
              <a:buSzPts val="1400"/>
              <a:buFont typeface="Open Sans"/>
              <a:buChar char="-"/>
            </a:pPr>
            <a:r>
              <a:rPr lang="es" sz="1400">
                <a:solidFill>
                  <a:schemeClr val="dk1"/>
                </a:solidFill>
                <a:latin typeface="Open Sans"/>
                <a:ea typeface="Open Sans"/>
                <a:cs typeface="Open Sans"/>
                <a:sym typeface="Open Sans"/>
              </a:rPr>
              <a:t>Mostrar solo los mejores referentes</a:t>
            </a:r>
            <a:endParaRPr sz="1400">
              <a:solidFill>
                <a:schemeClr val="dk1"/>
              </a:solidFill>
              <a:latin typeface="Open Sans"/>
              <a:ea typeface="Open Sans"/>
              <a:cs typeface="Open Sans"/>
              <a:sym typeface="Open Sans"/>
            </a:endParaRPr>
          </a:p>
          <a:p>
            <a:pPr indent="-317500" lvl="0" marL="457200" rtl="0" algn="l">
              <a:lnSpc>
                <a:spcPct val="200000"/>
              </a:lnSpc>
              <a:spcBef>
                <a:spcPts val="0"/>
              </a:spcBef>
              <a:spcAft>
                <a:spcPts val="0"/>
              </a:spcAft>
              <a:buClr>
                <a:schemeClr val="dk1"/>
              </a:buClr>
              <a:buSzPts val="1400"/>
              <a:buFont typeface="Open Sans"/>
              <a:buChar char="-"/>
            </a:pPr>
            <a:r>
              <a:rPr lang="es" sz="1400">
                <a:solidFill>
                  <a:schemeClr val="dk1"/>
                </a:solidFill>
                <a:latin typeface="Open Sans"/>
                <a:ea typeface="Open Sans"/>
                <a:cs typeface="Open Sans"/>
                <a:sym typeface="Open Sans"/>
              </a:rPr>
              <a:t>Incentivar ideas de escenografía </a:t>
            </a:r>
            <a:endParaRPr sz="1400">
              <a:solidFill>
                <a:schemeClr val="dk1"/>
              </a:solidFill>
              <a:latin typeface="Open Sans"/>
              <a:ea typeface="Open Sans"/>
              <a:cs typeface="Open Sans"/>
              <a:sym typeface="Open Sans"/>
            </a:endParaRPr>
          </a:p>
          <a:p>
            <a:pPr indent="-317500" lvl="0" marL="457200" rtl="0" algn="l">
              <a:lnSpc>
                <a:spcPct val="200000"/>
              </a:lnSpc>
              <a:spcBef>
                <a:spcPts val="0"/>
              </a:spcBef>
              <a:spcAft>
                <a:spcPts val="0"/>
              </a:spcAft>
              <a:buClr>
                <a:schemeClr val="dk1"/>
              </a:buClr>
              <a:buSzPts val="1400"/>
              <a:buFont typeface="Open Sans"/>
              <a:buChar char="-"/>
            </a:pPr>
            <a:r>
              <a:rPr lang="es" sz="1400">
                <a:solidFill>
                  <a:schemeClr val="dk1"/>
                </a:solidFill>
                <a:latin typeface="Open Sans"/>
                <a:ea typeface="Open Sans"/>
                <a:cs typeface="Open Sans"/>
                <a:sym typeface="Open Sans"/>
              </a:rPr>
              <a:t>Intentar conducirles a temáticas más profundas</a:t>
            </a:r>
            <a:endParaRPr sz="14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s" sz="1400">
                <a:solidFill>
                  <a:schemeClr val="dk1"/>
                </a:solidFill>
              </a:rPr>
              <a:t>Mínimo robots: Leds + dos sensores + motores</a:t>
            </a:r>
            <a:r>
              <a:rPr lang="es" sz="1300">
                <a:solidFill>
                  <a:schemeClr val="dk1"/>
                </a:solidFill>
              </a:rPr>
              <a:t> </a:t>
            </a:r>
            <a:endParaRPr sz="1300">
              <a:solidFill>
                <a:schemeClr val="dk1"/>
              </a:solidFill>
            </a:endParaRPr>
          </a:p>
          <a:p>
            <a:pPr indent="0" lvl="0" marL="457200" rtl="0" algn="l">
              <a:lnSpc>
                <a:spcPct val="115000"/>
              </a:lnSpc>
              <a:spcBef>
                <a:spcPts val="0"/>
              </a:spcBef>
              <a:spcAft>
                <a:spcPts val="0"/>
              </a:spcAft>
              <a:buNone/>
            </a:pPr>
            <a:r>
              <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s" sz="1300">
                <a:solidFill>
                  <a:schemeClr val="dk1"/>
                </a:solidFill>
              </a:rPr>
              <a:t>Incentivar el uso de materiales reciclables </a:t>
            </a:r>
            <a:endParaRPr sz="1300">
              <a:solidFill>
                <a:schemeClr val="dk1"/>
              </a:solidFill>
            </a:endParaRPr>
          </a:p>
          <a:p>
            <a:pPr indent="0" lvl="0" marL="0" rtl="0" algn="l">
              <a:spcBef>
                <a:spcPts val="0"/>
              </a:spcBef>
              <a:spcAft>
                <a:spcPts val="0"/>
              </a:spcAft>
              <a:buNone/>
            </a:pPr>
            <a:r>
              <a:t/>
            </a:r>
            <a:endParaRPr>
              <a:solidFill>
                <a:schemeClr val="dk1"/>
              </a:solidFill>
            </a:endParaRPr>
          </a:p>
        </p:txBody>
      </p:sp>
      <p:sp>
        <p:nvSpPr>
          <p:cNvPr id="125" name="Google Shape;125;g2c7d1bc3450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7d1bc345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c7d1bc3450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7d1bc345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2c7d1bc3450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c49bfdad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c49bfdad5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c49bfdad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lang="es" sz="1400" u="sng">
                <a:solidFill>
                  <a:schemeClr val="dk1"/>
                </a:solidFill>
                <a:latin typeface="Calibri"/>
                <a:ea typeface="Calibri"/>
                <a:cs typeface="Calibri"/>
                <a:sym typeface="Calibri"/>
                <a:hlinkClick r:id="rId2">
                  <a:extLst>
                    <a:ext uri="{A12FA001-AC4F-418D-AE19-62706E023703}">
                      <ahyp:hlinkClr val="tx"/>
                    </a:ext>
                  </a:extLst>
                </a:hlinkClick>
              </a:rPr>
              <a:t>https://www.strandbeest.com/</a:t>
            </a:r>
            <a:endParaRPr sz="14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rgbClr val="EEEEEE"/>
              </a:solidFill>
              <a:highlight>
                <a:srgbClr val="333333"/>
              </a:highlight>
            </a:endParaRPr>
          </a:p>
        </p:txBody>
      </p:sp>
      <p:sp>
        <p:nvSpPr>
          <p:cNvPr id="170" name="Google Shape;170;g2c49bfdad5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c49bfdad5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2c49bfdad59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c49bfdad5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lang="es" sz="1400" u="sng">
                <a:solidFill>
                  <a:srgbClr val="333333"/>
                </a:solidFill>
                <a:latin typeface="Calibri"/>
                <a:ea typeface="Calibri"/>
                <a:cs typeface="Calibri"/>
                <a:sym typeface="Calibri"/>
                <a:hlinkClick r:id="rId2">
                  <a:extLst>
                    <a:ext uri="{A12FA001-AC4F-418D-AE19-62706E023703}">
                      <ahyp:hlinkClr val="tx"/>
                    </a:ext>
                  </a:extLst>
                </a:hlinkClick>
              </a:rPr>
              <a:t>https://www.matthewgardiner.net/</a:t>
            </a:r>
            <a:endParaRPr sz="1200">
              <a:solidFill>
                <a:srgbClr val="333333"/>
              </a:solidFill>
              <a:highlight>
                <a:srgbClr val="333333"/>
              </a:highlight>
            </a:endParaRPr>
          </a:p>
        </p:txBody>
      </p:sp>
      <p:sp>
        <p:nvSpPr>
          <p:cNvPr id="194" name="Google Shape;194;g2c49bfdad5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c49bfdad5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2c49bfdad59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49bfdad5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2c49bfdad59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c49bfdad5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2c49bfdad59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513bc45a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513bc45a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c49bfdad5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2c49bfdad5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c49bfdad5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2c49bfdad59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c49bfdad5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2c49bfdad59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c49bfdad5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2c49bfdad59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c49bfdad5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2c49bfdad59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c49bfdad5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2c49bfdad59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c49bfdad5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2c49bfdad59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c49bfdad5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usar solo una funcion de las que estan dentro del loop</a:t>
            </a:r>
            <a:endParaRPr/>
          </a:p>
        </p:txBody>
      </p:sp>
      <p:sp>
        <p:nvSpPr>
          <p:cNvPr id="365" name="Google Shape;365;g2c49bfdad59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c49bfdad59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2c49bfdad59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c49bfdad59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2c49bfdad59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c49bfdad5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2c49bfdad59_0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c49bfdad59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2c49bfdad59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c49bfdad59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2c49bfdad59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c49bfdad59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2c49bfdad59_0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c49bfdad59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2c49bfdad59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c49bfdad59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2c49bfdad59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cb6a99b4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2cb6a99b4d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50" name="Shape 50"/>
        <p:cNvGrpSpPr/>
        <p:nvPr/>
      </p:nvGrpSpPr>
      <p:grpSpPr>
        <a:xfrm>
          <a:off x="0" y="0"/>
          <a:ext cx="0" cy="0"/>
          <a:chOff x="0" y="0"/>
          <a:chExt cx="0" cy="0"/>
        </a:xfrm>
      </p:grpSpPr>
      <p:sp>
        <p:nvSpPr>
          <p:cNvPr id="51" name="Google Shape;51;p13"/>
          <p:cNvSpPr/>
          <p:nvPr>
            <p:ph idx="2" type="pic"/>
          </p:nvPr>
        </p:nvSpPr>
        <p:spPr>
          <a:xfrm>
            <a:off x="0" y="0"/>
            <a:ext cx="9144000" cy="5143500"/>
          </a:xfrm>
          <a:prstGeom prst="rect">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52" name="Shape 52"/>
        <p:cNvGrpSpPr/>
        <p:nvPr/>
      </p:nvGrpSpPr>
      <p:grpSpPr>
        <a:xfrm>
          <a:off x="0" y="0"/>
          <a:ext cx="0" cy="0"/>
          <a:chOff x="0" y="0"/>
          <a:chExt cx="0" cy="0"/>
        </a:xfrm>
      </p:grpSpPr>
      <p:sp>
        <p:nvSpPr>
          <p:cNvPr id="53" name="Google Shape;53;p14"/>
          <p:cNvSpPr/>
          <p:nvPr>
            <p:ph idx="2" type="pic"/>
          </p:nvPr>
        </p:nvSpPr>
        <p:spPr>
          <a:xfrm>
            <a:off x="-320039" y="3055144"/>
            <a:ext cx="4781400" cy="1623000"/>
          </a:xfrm>
          <a:prstGeom prst="roundRect">
            <a:avLst>
              <a:gd fmla="val 6952" name="adj"/>
            </a:avLst>
          </a:prstGeom>
          <a:solidFill>
            <a:srgbClr val="F2F2F2"/>
          </a:solidFill>
          <a:ln>
            <a:noFill/>
          </a:ln>
        </p:spPr>
      </p:sp>
      <p:sp>
        <p:nvSpPr>
          <p:cNvPr id="54" name="Google Shape;54;p14"/>
          <p:cNvSpPr/>
          <p:nvPr>
            <p:ph idx="3" type="pic"/>
          </p:nvPr>
        </p:nvSpPr>
        <p:spPr>
          <a:xfrm>
            <a:off x="4682689" y="3055143"/>
            <a:ext cx="4781400" cy="1623000"/>
          </a:xfrm>
          <a:prstGeom prst="roundRect">
            <a:avLst>
              <a:gd fmla="val 6952"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55" name="Shape 55"/>
        <p:cNvGrpSpPr/>
        <p:nvPr/>
      </p:nvGrpSpPr>
      <p:grpSpPr>
        <a:xfrm>
          <a:off x="0" y="0"/>
          <a:ext cx="0" cy="0"/>
          <a:chOff x="0" y="0"/>
          <a:chExt cx="0" cy="0"/>
        </a:xfrm>
      </p:grpSpPr>
      <p:sp>
        <p:nvSpPr>
          <p:cNvPr id="56" name="Google Shape;56;p15"/>
          <p:cNvSpPr/>
          <p:nvPr>
            <p:ph idx="2" type="pic"/>
          </p:nvPr>
        </p:nvSpPr>
        <p:spPr>
          <a:xfrm>
            <a:off x="3963203" y="465535"/>
            <a:ext cx="4659300" cy="2270400"/>
          </a:xfrm>
          <a:prstGeom prst="roundRect">
            <a:avLst>
              <a:gd fmla="val 6952" name="adj"/>
            </a:avLst>
          </a:prstGeom>
          <a:solidFill>
            <a:srgbClr val="F2F2F2"/>
          </a:solidFill>
          <a:ln>
            <a:noFill/>
          </a:ln>
        </p:spPr>
      </p:sp>
      <p:sp>
        <p:nvSpPr>
          <p:cNvPr id="57" name="Google Shape;57;p15"/>
          <p:cNvSpPr/>
          <p:nvPr>
            <p:ph idx="3" type="pic"/>
          </p:nvPr>
        </p:nvSpPr>
        <p:spPr>
          <a:xfrm>
            <a:off x="521494" y="2807542"/>
            <a:ext cx="2820900" cy="2336100"/>
          </a:xfrm>
          <a:prstGeom prst="round2SameRect">
            <a:avLst>
              <a:gd fmla="val 6392" name="adj1"/>
              <a:gd fmla="val 0" name="adj2"/>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58" name="Shape 58"/>
        <p:cNvGrpSpPr/>
        <p:nvPr/>
      </p:nvGrpSpPr>
      <p:grpSpPr>
        <a:xfrm>
          <a:off x="0" y="0"/>
          <a:ext cx="0" cy="0"/>
          <a:chOff x="0" y="0"/>
          <a:chExt cx="0" cy="0"/>
        </a:xfrm>
      </p:grpSpPr>
      <p:sp>
        <p:nvSpPr>
          <p:cNvPr id="59" name="Google Shape;59;p16"/>
          <p:cNvSpPr/>
          <p:nvPr>
            <p:ph idx="2" type="pic"/>
          </p:nvPr>
        </p:nvSpPr>
        <p:spPr>
          <a:xfrm>
            <a:off x="4381500" y="0"/>
            <a:ext cx="4762500" cy="5143500"/>
          </a:xfrm>
          <a:prstGeom prst="rect">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60" name="Shape 60"/>
        <p:cNvGrpSpPr/>
        <p:nvPr/>
      </p:nvGrpSpPr>
      <p:grpSpPr>
        <a:xfrm>
          <a:off x="0" y="0"/>
          <a:ext cx="0" cy="0"/>
          <a:chOff x="0" y="0"/>
          <a:chExt cx="0" cy="0"/>
        </a:xfrm>
      </p:grpSpPr>
      <p:sp>
        <p:nvSpPr>
          <p:cNvPr id="61" name="Google Shape;61;p17"/>
          <p:cNvSpPr/>
          <p:nvPr>
            <p:ph idx="2" type="pic"/>
          </p:nvPr>
        </p:nvSpPr>
        <p:spPr>
          <a:xfrm>
            <a:off x="-238224" y="2151247"/>
            <a:ext cx="7890300" cy="3118500"/>
          </a:xfrm>
          <a:prstGeom prst="roundRect">
            <a:avLst>
              <a:gd fmla="val 6062"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2.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6.png"/><Relationship Id="rId5"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hyperlink" Target="http://www.youtube.com/watch?v=ZPqzNP2YrB4" TargetMode="External"/><Relationship Id="rId4" Type="http://schemas.openxmlformats.org/officeDocument/2006/relationships/image" Target="../media/image8.jp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hyperlink" Target="http://www.youtube.com/watch?v=cRaiiXxHsQw" TargetMode="Externa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17.jpg"/><Relationship Id="rId5" Type="http://schemas.openxmlformats.org/officeDocument/2006/relationships/image" Target="../media/image10.jp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www.youtube.com/watch?v=LewVEF2B_pM" TargetMode="External"/><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6.jpg"/><Relationship Id="rId5" Type="http://schemas.openxmlformats.org/officeDocument/2006/relationships/image" Target="../media/image10.jp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www.youtube.com/watch?v=GW7ishRbLSM" TargetMode="External"/><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www.youtube.com/watch?v=oLXz8HJRZu0" TargetMode="External"/><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www.youtube.com/watch?v=Q6nQ0tbsVvw" TargetMode="External"/><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24.png"/><Relationship Id="rId7" Type="http://schemas.openxmlformats.org/officeDocument/2006/relationships/image" Target="../media/image62.png"/><Relationship Id="rId8"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1.jpg"/><Relationship Id="rId4" Type="http://schemas.openxmlformats.org/officeDocument/2006/relationships/image" Target="../media/image40.jpg"/><Relationship Id="rId5" Type="http://schemas.openxmlformats.org/officeDocument/2006/relationships/image" Target="../media/image9.png"/><Relationship Id="rId6"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8.jpg"/><Relationship Id="rId4" Type="http://schemas.openxmlformats.org/officeDocument/2006/relationships/image" Target="../media/image26.jpg"/><Relationship Id="rId5" Type="http://schemas.openxmlformats.org/officeDocument/2006/relationships/image" Target="../media/image29.jpg"/><Relationship Id="rId6" Type="http://schemas.openxmlformats.org/officeDocument/2006/relationships/image" Target="../media/image34.jpg"/><Relationship Id="rId7" Type="http://schemas.openxmlformats.org/officeDocument/2006/relationships/image" Target="../media/image9.png"/><Relationship Id="rId8"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10.jpg"/><Relationship Id="rId5"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9.png"/><Relationship Id="rId5"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47.jpg"/><Relationship Id="rId4" Type="http://schemas.openxmlformats.org/officeDocument/2006/relationships/image" Target="../media/image10.jpg"/><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0.jpg"/><Relationship Id="rId4" Type="http://schemas.openxmlformats.org/officeDocument/2006/relationships/image" Target="../media/image9.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0.jpg"/><Relationship Id="rId5" Type="http://schemas.openxmlformats.org/officeDocument/2006/relationships/image" Target="../media/image44.png"/><Relationship Id="rId6"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64.jpg"/><Relationship Id="rId4" Type="http://schemas.openxmlformats.org/officeDocument/2006/relationships/image" Target="../media/image10.jp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60.jpg"/><Relationship Id="rId4" Type="http://schemas.openxmlformats.org/officeDocument/2006/relationships/image" Target="../media/image9.png"/><Relationship Id="rId5"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56.jpg"/><Relationship Id="rId4" Type="http://schemas.openxmlformats.org/officeDocument/2006/relationships/image" Target="../media/image9.png"/><Relationship Id="rId5"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55.jpg"/><Relationship Id="rId4" Type="http://schemas.openxmlformats.org/officeDocument/2006/relationships/image" Target="../media/image57.jpg"/><Relationship Id="rId5" Type="http://schemas.openxmlformats.org/officeDocument/2006/relationships/image" Target="../media/image9.png"/><Relationship Id="rId6"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59.jpg"/><Relationship Id="rId4" Type="http://schemas.openxmlformats.org/officeDocument/2006/relationships/image" Target="../media/image9.png"/><Relationship Id="rId5"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50.jpg"/><Relationship Id="rId4" Type="http://schemas.openxmlformats.org/officeDocument/2006/relationships/image" Target="../media/image9.png"/><Relationship Id="rId5"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0.jpg"/><Relationship Id="rId4" Type="http://schemas.openxmlformats.org/officeDocument/2006/relationships/hyperlink" Target="http://drive.google.com/file/d/1Ls74Mw_Xs4EFyOpMn9P2T5yCdwRyFSFt/view" TargetMode="External"/><Relationship Id="rId5" Type="http://schemas.openxmlformats.org/officeDocument/2006/relationships/image" Target="../media/image4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hyperlink" Target="https://www.ri.cmu.edu/pub_files/pub4/balkcom_devin_2004_1/balkcom_devin_2004_1.pdf" TargetMode="External"/><Relationship Id="rId4" Type="http://schemas.openxmlformats.org/officeDocument/2006/relationships/image" Target="../media/image9.png"/><Relationship Id="rId5" Type="http://schemas.openxmlformats.org/officeDocument/2006/relationships/image" Target="../media/image10.jpg"/></Relationships>
</file>

<file path=ppt/slides/_rels/slide32.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52.jpg"/><Relationship Id="rId13" Type="http://schemas.openxmlformats.org/officeDocument/2006/relationships/image" Target="../media/image1.png"/><Relationship Id="rId12" Type="http://schemas.openxmlformats.org/officeDocument/2006/relationships/image" Target="../media/image12.jpg"/><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5.png"/><Relationship Id="rId4" Type="http://schemas.openxmlformats.org/officeDocument/2006/relationships/image" Target="../media/image41.png"/><Relationship Id="rId9" Type="http://schemas.openxmlformats.org/officeDocument/2006/relationships/image" Target="../media/image43.jpg"/><Relationship Id="rId15" Type="http://schemas.openxmlformats.org/officeDocument/2006/relationships/image" Target="../media/image58.png"/><Relationship Id="rId14" Type="http://schemas.openxmlformats.org/officeDocument/2006/relationships/image" Target="../media/image54.png"/><Relationship Id="rId5" Type="http://schemas.openxmlformats.org/officeDocument/2006/relationships/image" Target="../media/image63.png"/><Relationship Id="rId6" Type="http://schemas.openxmlformats.org/officeDocument/2006/relationships/image" Target="../media/image38.jpg"/><Relationship Id="rId7" Type="http://schemas.openxmlformats.org/officeDocument/2006/relationships/image" Target="../media/image51.png"/><Relationship Id="rId8"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09F"/>
        </a:solidFill>
      </p:bgPr>
    </p:bg>
    <p:spTree>
      <p:nvGrpSpPr>
        <p:cNvPr id="65" name="Shape 65"/>
        <p:cNvGrpSpPr/>
        <p:nvPr/>
      </p:nvGrpSpPr>
      <p:grpSpPr>
        <a:xfrm>
          <a:off x="0" y="0"/>
          <a:ext cx="0" cy="0"/>
          <a:chOff x="0" y="0"/>
          <a:chExt cx="0" cy="0"/>
        </a:xfrm>
      </p:grpSpPr>
      <p:sp>
        <p:nvSpPr>
          <p:cNvPr id="66" name="Google Shape;66;p18"/>
          <p:cNvSpPr/>
          <p:nvPr/>
        </p:nvSpPr>
        <p:spPr>
          <a:xfrm>
            <a:off x="174544" y="3908703"/>
            <a:ext cx="8969400" cy="1234800"/>
          </a:xfrm>
          <a:prstGeom prst="rect">
            <a:avLst/>
          </a:prstGeom>
          <a:solidFill>
            <a:srgbClr val="01189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000" u="none" cap="none" strike="noStrike">
              <a:solidFill>
                <a:srgbClr val="FFFFFF"/>
              </a:solidFill>
              <a:latin typeface="Arial"/>
              <a:ea typeface="Arial"/>
              <a:cs typeface="Arial"/>
              <a:sym typeface="Arial"/>
            </a:endParaRPr>
          </a:p>
        </p:txBody>
      </p:sp>
      <p:pic>
        <p:nvPicPr>
          <p:cNvPr id="67" name="Google Shape;67;p18"/>
          <p:cNvPicPr preferRelativeResize="0"/>
          <p:nvPr/>
        </p:nvPicPr>
        <p:blipFill rotWithShape="1">
          <a:blip r:embed="rId3">
            <a:alphaModFix/>
          </a:blip>
          <a:srcRect b="299" l="44748" r="0" t="-10"/>
          <a:stretch/>
        </p:blipFill>
        <p:spPr>
          <a:xfrm rot="-5400000">
            <a:off x="2617645" y="-2617647"/>
            <a:ext cx="3908705" cy="9143994"/>
          </a:xfrm>
          <a:prstGeom prst="rect">
            <a:avLst/>
          </a:prstGeom>
          <a:noFill/>
          <a:ln>
            <a:noFill/>
          </a:ln>
        </p:spPr>
      </p:pic>
      <p:sp>
        <p:nvSpPr>
          <p:cNvPr id="68" name="Google Shape;68;p18"/>
          <p:cNvSpPr/>
          <p:nvPr/>
        </p:nvSpPr>
        <p:spPr>
          <a:xfrm>
            <a:off x="1" y="0"/>
            <a:ext cx="9144000" cy="3908700"/>
          </a:xfrm>
          <a:prstGeom prst="rect">
            <a:avLst/>
          </a:prstGeom>
          <a:solidFill>
            <a:srgbClr val="002060">
              <a:alpha val="4863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pic>
        <p:nvPicPr>
          <p:cNvPr id="69" name="Google Shape;69;p18"/>
          <p:cNvPicPr preferRelativeResize="0"/>
          <p:nvPr/>
        </p:nvPicPr>
        <p:blipFill rotWithShape="1">
          <a:blip r:embed="rId4">
            <a:alphaModFix/>
          </a:blip>
          <a:srcRect b="0" l="0" r="0" t="0"/>
          <a:stretch/>
        </p:blipFill>
        <p:spPr>
          <a:xfrm>
            <a:off x="6354344" y="192405"/>
            <a:ext cx="2587503" cy="812591"/>
          </a:xfrm>
          <a:prstGeom prst="rect">
            <a:avLst/>
          </a:prstGeom>
          <a:noFill/>
          <a:ln>
            <a:noFill/>
          </a:ln>
        </p:spPr>
      </p:pic>
      <p:sp>
        <p:nvSpPr>
          <p:cNvPr id="70" name="Google Shape;70;p18"/>
          <p:cNvSpPr txBox="1"/>
          <p:nvPr/>
        </p:nvSpPr>
        <p:spPr>
          <a:xfrm>
            <a:off x="861159" y="2111134"/>
            <a:ext cx="4681500" cy="808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1" i="0" lang="es" sz="2400" u="none" cap="none" strike="noStrike">
                <a:solidFill>
                  <a:srgbClr val="FFFFFF"/>
                </a:solidFill>
                <a:latin typeface="Poppins"/>
                <a:ea typeface="Poppins"/>
                <a:cs typeface="Poppins"/>
                <a:sym typeface="Poppins"/>
              </a:rPr>
              <a:t>Clubes de</a:t>
            </a:r>
            <a:endParaRPr sz="1000"/>
          </a:p>
          <a:p>
            <a:pPr indent="0" lvl="0" marL="0" marR="0" rtl="0" algn="l">
              <a:lnSpc>
                <a:spcPct val="100000"/>
              </a:lnSpc>
              <a:spcBef>
                <a:spcPts val="0"/>
              </a:spcBef>
              <a:spcAft>
                <a:spcPts val="0"/>
              </a:spcAft>
              <a:buNone/>
            </a:pPr>
            <a:r>
              <a:rPr b="1" i="0" lang="es" sz="2400" u="none" cap="none" strike="noStrike">
                <a:solidFill>
                  <a:srgbClr val="FFFFFF"/>
                </a:solidFill>
                <a:latin typeface="Poppins"/>
                <a:ea typeface="Poppins"/>
                <a:cs typeface="Poppins"/>
                <a:sym typeface="Poppins"/>
              </a:rPr>
              <a:t>Ciencia y Tecnología</a:t>
            </a:r>
            <a:endParaRPr b="1" i="0" sz="2400" u="none" cap="none" strike="noStrike">
              <a:solidFill>
                <a:srgbClr val="000000"/>
              </a:solidFill>
              <a:latin typeface="Poppins"/>
              <a:ea typeface="Poppins"/>
              <a:cs typeface="Poppins"/>
              <a:sym typeface="Poppins"/>
            </a:endParaRPr>
          </a:p>
        </p:txBody>
      </p:sp>
      <p:sp>
        <p:nvSpPr>
          <p:cNvPr id="71" name="Google Shape;71;p18"/>
          <p:cNvSpPr/>
          <p:nvPr/>
        </p:nvSpPr>
        <p:spPr>
          <a:xfrm>
            <a:off x="874188" y="3545211"/>
            <a:ext cx="1544400" cy="410100"/>
          </a:xfrm>
          <a:prstGeom prst="rect">
            <a:avLst/>
          </a:prstGeom>
          <a:solidFill>
            <a:srgbClr val="01189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000" u="none" cap="none" strike="noStrike">
              <a:solidFill>
                <a:srgbClr val="FFFFFF"/>
              </a:solidFill>
              <a:latin typeface="Arial"/>
              <a:ea typeface="Arial"/>
              <a:cs typeface="Arial"/>
              <a:sym typeface="Arial"/>
            </a:endParaRPr>
          </a:p>
        </p:txBody>
      </p:sp>
      <p:sp>
        <p:nvSpPr>
          <p:cNvPr id="72" name="Google Shape;72;p18"/>
          <p:cNvSpPr txBox="1"/>
          <p:nvPr/>
        </p:nvSpPr>
        <p:spPr>
          <a:xfrm>
            <a:off x="974298" y="3595017"/>
            <a:ext cx="15444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lang="es" sz="1200">
                <a:solidFill>
                  <a:srgbClr val="FFFFFF"/>
                </a:solidFill>
                <a:latin typeface="Poppins"/>
                <a:ea typeface="Poppins"/>
                <a:cs typeface="Poppins"/>
                <a:sym typeface="Poppins"/>
              </a:rPr>
              <a:t>XX</a:t>
            </a:r>
            <a:r>
              <a:rPr b="0" i="0" lang="es" sz="1200" u="none" cap="none" strike="noStrike">
                <a:solidFill>
                  <a:srgbClr val="FFFFFF"/>
                </a:solidFill>
                <a:latin typeface="Poppins"/>
                <a:ea typeface="Poppins"/>
                <a:cs typeface="Poppins"/>
                <a:sym typeface="Poppins"/>
              </a:rPr>
              <a:t>.</a:t>
            </a:r>
            <a:r>
              <a:rPr lang="es" sz="1200">
                <a:solidFill>
                  <a:srgbClr val="FFFFFF"/>
                </a:solidFill>
                <a:latin typeface="Poppins"/>
                <a:ea typeface="Poppins"/>
                <a:cs typeface="Poppins"/>
                <a:sym typeface="Poppins"/>
              </a:rPr>
              <a:t>XX</a:t>
            </a:r>
            <a:r>
              <a:rPr b="0" i="0" lang="es" sz="1200" u="none" cap="none" strike="noStrike">
                <a:solidFill>
                  <a:srgbClr val="FFFFFF"/>
                </a:solidFill>
                <a:latin typeface="Poppins"/>
                <a:ea typeface="Poppins"/>
                <a:cs typeface="Poppins"/>
                <a:sym typeface="Poppins"/>
              </a:rPr>
              <a:t>.2025</a:t>
            </a:r>
            <a:endParaRPr b="0" i="0" sz="1200" u="none" cap="none" strike="noStrike">
              <a:solidFill>
                <a:srgbClr val="000000"/>
              </a:solidFill>
              <a:latin typeface="Poppins"/>
              <a:ea typeface="Poppins"/>
              <a:cs typeface="Poppins"/>
              <a:sym typeface="Poppins"/>
            </a:endParaRPr>
          </a:p>
        </p:txBody>
      </p:sp>
      <p:sp>
        <p:nvSpPr>
          <p:cNvPr id="73" name="Google Shape;73;p18"/>
          <p:cNvSpPr txBox="1"/>
          <p:nvPr/>
        </p:nvSpPr>
        <p:spPr>
          <a:xfrm rot="-5400000">
            <a:off x="7433264" y="3154639"/>
            <a:ext cx="29457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s" sz="700" u="none" cap="none" strike="noStrike">
                <a:solidFill>
                  <a:srgbClr val="FFFFFF"/>
                </a:solidFill>
                <a:latin typeface="Poppins"/>
                <a:ea typeface="Poppins"/>
                <a:cs typeface="Poppins"/>
                <a:sym typeface="Poppins"/>
              </a:rPr>
              <a:t>www.fundacionmustakis.org</a:t>
            </a:r>
            <a:endParaRPr b="0" i="0" sz="700" u="none" cap="none" strike="noStrike">
              <a:solidFill>
                <a:srgbClr val="000000"/>
              </a:solidFill>
              <a:latin typeface="Poppins"/>
              <a:ea typeface="Poppins"/>
              <a:cs typeface="Poppins"/>
              <a:sym typeface="Poppins"/>
            </a:endParaRPr>
          </a:p>
        </p:txBody>
      </p:sp>
      <p:sp>
        <p:nvSpPr>
          <p:cNvPr id="74" name="Google Shape;74;p18"/>
          <p:cNvSpPr txBox="1"/>
          <p:nvPr/>
        </p:nvSpPr>
        <p:spPr>
          <a:xfrm>
            <a:off x="861159" y="1529936"/>
            <a:ext cx="24435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FFFFFF"/>
                </a:solidFill>
                <a:latin typeface="Poppins"/>
                <a:ea typeface="Poppins"/>
                <a:cs typeface="Poppins"/>
                <a:sym typeface="Poppins"/>
              </a:rPr>
              <a:t>Sesión Nº</a:t>
            </a:r>
            <a:r>
              <a:rPr lang="es" sz="1500">
                <a:solidFill>
                  <a:srgbClr val="FFFFFF"/>
                </a:solidFill>
                <a:latin typeface="Poppins"/>
                <a:ea typeface="Poppins"/>
                <a:cs typeface="Poppins"/>
                <a:sym typeface="Poppins"/>
              </a:rPr>
              <a:t>9</a:t>
            </a:r>
            <a:endParaRPr b="0" i="0" sz="1500" u="none" cap="none" strike="noStrike">
              <a:solidFill>
                <a:srgbClr val="000000"/>
              </a:solidFill>
              <a:latin typeface="Poppins"/>
              <a:ea typeface="Poppins"/>
              <a:cs typeface="Poppins"/>
              <a:sym typeface="Poppins"/>
            </a:endParaRPr>
          </a:p>
        </p:txBody>
      </p:sp>
      <p:cxnSp>
        <p:nvCxnSpPr>
          <p:cNvPr id="75" name="Google Shape;75;p18"/>
          <p:cNvCxnSpPr/>
          <p:nvPr/>
        </p:nvCxnSpPr>
        <p:spPr>
          <a:xfrm>
            <a:off x="928250" y="1864954"/>
            <a:ext cx="2015400" cy="0"/>
          </a:xfrm>
          <a:prstGeom prst="straightConnector1">
            <a:avLst/>
          </a:prstGeom>
          <a:noFill/>
          <a:ln cap="flat" cmpd="sng" w="15875">
            <a:solidFill>
              <a:srgbClr val="FFFFFF"/>
            </a:solidFill>
            <a:prstDash val="solid"/>
            <a:round/>
            <a:headEnd len="sm" w="sm" type="none"/>
            <a:tailEnd len="sm" w="sm" type="none"/>
          </a:ln>
        </p:spPr>
      </p:cxnSp>
      <p:pic>
        <p:nvPicPr>
          <p:cNvPr id="76" name="Google Shape;76;p18"/>
          <p:cNvPicPr preferRelativeResize="0"/>
          <p:nvPr/>
        </p:nvPicPr>
        <p:blipFill rotWithShape="1">
          <a:blip r:embed="rId5">
            <a:alphaModFix/>
          </a:blip>
          <a:srcRect b="43844" l="31851" r="33841" t="27525"/>
          <a:stretch/>
        </p:blipFill>
        <p:spPr>
          <a:xfrm>
            <a:off x="5054055" y="1742684"/>
            <a:ext cx="3402614" cy="21710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p:cNvPicPr preferRelativeResize="0"/>
          <p:nvPr/>
        </p:nvPicPr>
        <p:blipFill rotWithShape="1">
          <a:blip r:embed="rId3">
            <a:alphaModFix/>
          </a:blip>
          <a:srcRect b="68756" l="25893" r="0" t="0"/>
          <a:stretch/>
        </p:blipFill>
        <p:spPr>
          <a:xfrm rot="5400000">
            <a:off x="-1140929" y="1116585"/>
            <a:ext cx="5172836" cy="2890776"/>
          </a:xfrm>
          <a:prstGeom prst="rect">
            <a:avLst/>
          </a:prstGeom>
          <a:noFill/>
          <a:ln>
            <a:noFill/>
          </a:ln>
        </p:spPr>
      </p:pic>
      <p:sp>
        <p:nvSpPr>
          <p:cNvPr id="82" name="Google Shape;82;p19"/>
          <p:cNvSpPr/>
          <p:nvPr/>
        </p:nvSpPr>
        <p:spPr>
          <a:xfrm>
            <a:off x="0" y="-20614"/>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83" name="Google Shape;83;p19"/>
          <p:cNvPicPr preferRelativeResize="0"/>
          <p:nvPr/>
        </p:nvPicPr>
        <p:blipFill rotWithShape="1">
          <a:blip r:embed="rId4">
            <a:alphaModFix/>
          </a:blip>
          <a:srcRect b="0" l="0" r="0" t="0"/>
          <a:stretch/>
        </p:blipFill>
        <p:spPr>
          <a:xfrm>
            <a:off x="3608113" y="623393"/>
            <a:ext cx="5104614" cy="4212680"/>
          </a:xfrm>
          <a:prstGeom prst="rect">
            <a:avLst/>
          </a:prstGeom>
          <a:noFill/>
          <a:ln>
            <a:noFill/>
          </a:ln>
        </p:spPr>
      </p:pic>
      <p:sp>
        <p:nvSpPr>
          <p:cNvPr id="84" name="Google Shape;84;p19"/>
          <p:cNvSpPr/>
          <p:nvPr/>
        </p:nvSpPr>
        <p:spPr>
          <a:xfrm>
            <a:off x="5929973" y="4016068"/>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5" name="Google Shape;85;p19"/>
          <p:cNvSpPr/>
          <p:nvPr/>
        </p:nvSpPr>
        <p:spPr>
          <a:xfrm>
            <a:off x="3186772" y="4016068"/>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6" name="Google Shape;86;p19"/>
          <p:cNvSpPr/>
          <p:nvPr/>
        </p:nvSpPr>
        <p:spPr>
          <a:xfrm>
            <a:off x="5929973" y="2671362"/>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7" name="Google Shape;87;p19"/>
          <p:cNvSpPr/>
          <p:nvPr/>
        </p:nvSpPr>
        <p:spPr>
          <a:xfrm>
            <a:off x="3186772" y="2671362"/>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8" name="Google Shape;88;p19"/>
          <p:cNvSpPr/>
          <p:nvPr/>
        </p:nvSpPr>
        <p:spPr>
          <a:xfrm>
            <a:off x="5929973" y="1003927"/>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9" name="Google Shape;89;p19"/>
          <p:cNvSpPr/>
          <p:nvPr/>
        </p:nvSpPr>
        <p:spPr>
          <a:xfrm>
            <a:off x="3186772" y="1003927"/>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0" name="Google Shape;90;p19"/>
          <p:cNvSpPr txBox="1"/>
          <p:nvPr/>
        </p:nvSpPr>
        <p:spPr>
          <a:xfrm>
            <a:off x="431273" y="1350001"/>
            <a:ext cx="2106600" cy="1141800"/>
          </a:xfrm>
          <a:prstGeom prst="rect">
            <a:avLst/>
          </a:prstGeom>
          <a:noFill/>
          <a:ln>
            <a:noFill/>
          </a:ln>
        </p:spPr>
        <p:txBody>
          <a:bodyPr anchorCtr="0" anchor="t" bIns="37775" lIns="75575" spcFirstLastPara="1" rIns="75575" wrap="square" tIns="37775">
            <a:normAutofit/>
          </a:bodyPr>
          <a:lstStyle/>
          <a:p>
            <a:pPr indent="0" lvl="0" marL="0" marR="0" rtl="0" algn="l">
              <a:lnSpc>
                <a:spcPct val="90000"/>
              </a:lnSpc>
              <a:spcBef>
                <a:spcPts val="0"/>
              </a:spcBef>
              <a:spcAft>
                <a:spcPts val="0"/>
              </a:spcAft>
              <a:buClr>
                <a:srgbClr val="000000"/>
              </a:buClr>
              <a:buSzPts val="1673"/>
              <a:buFont typeface="Calibri"/>
              <a:buNone/>
            </a:pPr>
            <a:r>
              <a:rPr b="1" i="0" lang="es" sz="2400" u="none" cap="none" strike="noStrike">
                <a:solidFill>
                  <a:srgbClr val="71C9EB"/>
                </a:solidFill>
                <a:latin typeface="Poppins"/>
                <a:ea typeface="Poppins"/>
                <a:cs typeface="Poppins"/>
                <a:sym typeface="Poppins"/>
              </a:rPr>
              <a:t>¿QUÉ ROBOT </a:t>
            </a:r>
            <a:r>
              <a:rPr b="0" i="0" lang="es" sz="2400" u="none" cap="none" strike="noStrike">
                <a:solidFill>
                  <a:srgbClr val="FFFFFF"/>
                </a:solidFill>
                <a:latin typeface="Poppins"/>
                <a:ea typeface="Poppins"/>
                <a:cs typeface="Poppins"/>
                <a:sym typeface="Poppins"/>
              </a:rPr>
              <a:t>SOMOS HOY?</a:t>
            </a:r>
            <a:endParaRPr b="0" i="0" sz="2400" u="none" cap="none" strike="noStrike">
              <a:solidFill>
                <a:srgbClr val="000000"/>
              </a:solidFill>
              <a:latin typeface="Poppins"/>
              <a:ea typeface="Poppins"/>
              <a:cs typeface="Poppins"/>
              <a:sym typeface="Poppins"/>
            </a:endParaRPr>
          </a:p>
        </p:txBody>
      </p:sp>
      <p:sp>
        <p:nvSpPr>
          <p:cNvPr id="91" name="Google Shape;91;p19"/>
          <p:cNvSpPr txBox="1"/>
          <p:nvPr/>
        </p:nvSpPr>
        <p:spPr>
          <a:xfrm>
            <a:off x="3259033" y="103619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1.</a:t>
            </a:r>
            <a:endParaRPr b="1" i="0" sz="1800" u="none" cap="none" strike="noStrike">
              <a:solidFill>
                <a:srgbClr val="FFFFFF"/>
              </a:solidFill>
              <a:latin typeface="Poppins"/>
              <a:ea typeface="Poppins"/>
              <a:cs typeface="Poppins"/>
              <a:sym typeface="Poppins"/>
            </a:endParaRPr>
          </a:p>
        </p:txBody>
      </p:sp>
      <p:sp>
        <p:nvSpPr>
          <p:cNvPr id="92" name="Google Shape;92;p19"/>
          <p:cNvSpPr txBox="1"/>
          <p:nvPr/>
        </p:nvSpPr>
        <p:spPr>
          <a:xfrm>
            <a:off x="3230470" y="2703629"/>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3.</a:t>
            </a:r>
            <a:endParaRPr b="1" i="0" sz="1800" u="none" cap="none" strike="noStrike">
              <a:solidFill>
                <a:srgbClr val="FFFFFF"/>
              </a:solidFill>
              <a:latin typeface="Poppins"/>
              <a:ea typeface="Poppins"/>
              <a:cs typeface="Poppins"/>
              <a:sym typeface="Poppins"/>
            </a:endParaRPr>
          </a:p>
        </p:txBody>
      </p:sp>
      <p:sp>
        <p:nvSpPr>
          <p:cNvPr id="93" name="Google Shape;93;p19"/>
          <p:cNvSpPr txBox="1"/>
          <p:nvPr/>
        </p:nvSpPr>
        <p:spPr>
          <a:xfrm>
            <a:off x="3219837" y="405730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5.</a:t>
            </a:r>
            <a:endParaRPr b="1" i="0" sz="1800" u="none" cap="none" strike="noStrike">
              <a:solidFill>
                <a:srgbClr val="FFFFFF"/>
              </a:solidFill>
              <a:latin typeface="Poppins"/>
              <a:ea typeface="Poppins"/>
              <a:cs typeface="Poppins"/>
              <a:sym typeface="Poppins"/>
            </a:endParaRPr>
          </a:p>
        </p:txBody>
      </p:sp>
      <p:sp>
        <p:nvSpPr>
          <p:cNvPr id="94" name="Google Shape;94;p19"/>
          <p:cNvSpPr txBox="1"/>
          <p:nvPr/>
        </p:nvSpPr>
        <p:spPr>
          <a:xfrm>
            <a:off x="5978574" y="103619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2.</a:t>
            </a:r>
            <a:endParaRPr b="1" i="0" sz="1800" u="none" cap="none" strike="noStrike">
              <a:solidFill>
                <a:srgbClr val="FFFFFF"/>
              </a:solidFill>
              <a:latin typeface="Poppins"/>
              <a:ea typeface="Poppins"/>
              <a:cs typeface="Poppins"/>
              <a:sym typeface="Poppins"/>
            </a:endParaRPr>
          </a:p>
        </p:txBody>
      </p:sp>
      <p:sp>
        <p:nvSpPr>
          <p:cNvPr id="95" name="Google Shape;95;p19"/>
          <p:cNvSpPr txBox="1"/>
          <p:nvPr/>
        </p:nvSpPr>
        <p:spPr>
          <a:xfrm>
            <a:off x="5957308" y="2703629"/>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4.</a:t>
            </a:r>
            <a:endParaRPr b="1" i="0" sz="1800" u="none" cap="none" strike="noStrike">
              <a:solidFill>
                <a:srgbClr val="FFFFFF"/>
              </a:solidFill>
              <a:latin typeface="Poppins"/>
              <a:ea typeface="Poppins"/>
              <a:cs typeface="Poppins"/>
              <a:sym typeface="Poppins"/>
            </a:endParaRPr>
          </a:p>
        </p:txBody>
      </p:sp>
      <p:sp>
        <p:nvSpPr>
          <p:cNvPr id="96" name="Google Shape;96;p19"/>
          <p:cNvSpPr txBox="1"/>
          <p:nvPr/>
        </p:nvSpPr>
        <p:spPr>
          <a:xfrm>
            <a:off x="5978574" y="405730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6.</a:t>
            </a:r>
            <a:endParaRPr b="1" i="0" sz="1800" u="none" cap="none" strike="noStrike">
              <a:solidFill>
                <a:srgbClr val="FFFFFF"/>
              </a:solidFill>
              <a:latin typeface="Poppins"/>
              <a:ea typeface="Poppins"/>
              <a:cs typeface="Poppins"/>
              <a:sym typeface="Poppins"/>
            </a:endParaRPr>
          </a:p>
        </p:txBody>
      </p:sp>
      <p:pic>
        <p:nvPicPr>
          <p:cNvPr id="97" name="Google Shape;97;p19"/>
          <p:cNvPicPr preferRelativeResize="0"/>
          <p:nvPr/>
        </p:nvPicPr>
        <p:blipFill rotWithShape="1">
          <a:blip r:embed="rId5">
            <a:alphaModFix/>
          </a:blip>
          <a:srcRect b="0" l="0" r="0" t="0"/>
          <a:stretch/>
        </p:blipFill>
        <p:spPr>
          <a:xfrm>
            <a:off x="119398" y="114505"/>
            <a:ext cx="548700" cy="3889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09F"/>
        </a:solidFill>
      </p:bgPr>
    </p:bg>
    <p:spTree>
      <p:nvGrpSpPr>
        <p:cNvPr id="101" name="Shape 101"/>
        <p:cNvGrpSpPr/>
        <p:nvPr/>
      </p:nvGrpSpPr>
      <p:grpSpPr>
        <a:xfrm>
          <a:off x="0" y="0"/>
          <a:ext cx="0" cy="0"/>
          <a:chOff x="0" y="0"/>
          <a:chExt cx="0" cy="0"/>
        </a:xfrm>
      </p:grpSpPr>
      <p:pic>
        <p:nvPicPr>
          <p:cNvPr id="102" name="Google Shape;102;p20"/>
          <p:cNvPicPr preferRelativeResize="0"/>
          <p:nvPr/>
        </p:nvPicPr>
        <p:blipFill rotWithShape="1">
          <a:blip r:embed="rId3">
            <a:alphaModFix/>
          </a:blip>
          <a:srcRect b="0" l="0" r="0" t="0"/>
          <a:stretch/>
        </p:blipFill>
        <p:spPr>
          <a:xfrm>
            <a:off x="2874010" y="1392406"/>
            <a:ext cx="3360338" cy="2925862"/>
          </a:xfrm>
          <a:prstGeom prst="rect">
            <a:avLst/>
          </a:prstGeom>
          <a:noFill/>
          <a:ln>
            <a:noFill/>
          </a:ln>
        </p:spPr>
      </p:pic>
      <p:sp>
        <p:nvSpPr>
          <p:cNvPr id="103" name="Google Shape;103;p20"/>
          <p:cNvSpPr txBox="1"/>
          <p:nvPr/>
        </p:nvSpPr>
        <p:spPr>
          <a:xfrm>
            <a:off x="2259727" y="893230"/>
            <a:ext cx="4624500" cy="774900"/>
          </a:xfrm>
          <a:prstGeom prst="rect">
            <a:avLst/>
          </a:prstGeom>
          <a:noFill/>
          <a:ln>
            <a:noFill/>
          </a:ln>
        </p:spPr>
        <p:txBody>
          <a:bodyPr anchorCtr="0" anchor="ctr" bIns="91425" lIns="91425" spcFirstLastPara="1" rIns="91425" wrap="square" tIns="91425">
            <a:noAutofit/>
          </a:bodyPr>
          <a:lstStyle/>
          <a:p>
            <a:pPr indent="0" lvl="1" marL="457200" rtl="0" algn="ctr">
              <a:spcBef>
                <a:spcPts val="0"/>
              </a:spcBef>
              <a:spcAft>
                <a:spcPts val="0"/>
              </a:spcAft>
              <a:buNone/>
            </a:pPr>
            <a:r>
              <a:rPr b="1" lang="es" sz="1600">
                <a:solidFill>
                  <a:srgbClr val="FFFFFF"/>
                </a:solidFill>
                <a:latin typeface="Poppins"/>
                <a:ea typeface="Poppins"/>
                <a:cs typeface="Poppins"/>
                <a:sym typeface="Poppins"/>
              </a:rPr>
              <a:t>PREPARA TU ENTORNO Y PONTE CÓMODO PARA TRABAJAR</a:t>
            </a:r>
            <a:br>
              <a:rPr b="1" lang="es" sz="1600">
                <a:solidFill>
                  <a:srgbClr val="FFFFFF"/>
                </a:solidFill>
                <a:latin typeface="Poppins"/>
                <a:ea typeface="Poppins"/>
                <a:cs typeface="Poppins"/>
                <a:sym typeface="Poppins"/>
              </a:rPr>
            </a:br>
            <a:endParaRPr b="1" sz="1600">
              <a:solidFill>
                <a:srgbClr val="FFFFFF"/>
              </a:solidFill>
              <a:latin typeface="Poppins"/>
              <a:ea typeface="Poppins"/>
              <a:cs typeface="Poppins"/>
              <a:sym typeface="Poppins"/>
            </a:endParaRPr>
          </a:p>
        </p:txBody>
      </p:sp>
      <p:pic>
        <p:nvPicPr>
          <p:cNvPr id="104" name="Google Shape;104;p20"/>
          <p:cNvPicPr preferRelativeResize="0"/>
          <p:nvPr/>
        </p:nvPicPr>
        <p:blipFill rotWithShape="1">
          <a:blip r:embed="rId4">
            <a:alphaModFix/>
          </a:blip>
          <a:srcRect b="0" l="0" r="0" t="0"/>
          <a:stretch/>
        </p:blipFill>
        <p:spPr>
          <a:xfrm>
            <a:off x="8185002" y="63549"/>
            <a:ext cx="819695" cy="491233"/>
          </a:xfrm>
          <a:prstGeom prst="rect">
            <a:avLst/>
          </a:prstGeom>
          <a:noFill/>
          <a:ln>
            <a:noFill/>
          </a:ln>
        </p:spPr>
      </p:pic>
      <p:sp>
        <p:nvSpPr>
          <p:cNvPr id="105" name="Google Shape;105;p20"/>
          <p:cNvSpPr txBox="1"/>
          <p:nvPr/>
        </p:nvSpPr>
        <p:spPr>
          <a:xfrm>
            <a:off x="189130" y="4801377"/>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p:cNvPicPr preferRelativeResize="0"/>
          <p:nvPr>
            <p:ph idx="2" type="pic"/>
          </p:nvPr>
        </p:nvPicPr>
        <p:blipFill rotWithShape="1">
          <a:blip r:embed="rId3">
            <a:alphaModFix/>
          </a:blip>
          <a:srcRect b="0" l="3789" r="3789" t="0"/>
          <a:stretch/>
        </p:blipFill>
        <p:spPr>
          <a:xfrm>
            <a:off x="4381500" y="0"/>
            <a:ext cx="4762500" cy="5143499"/>
          </a:xfrm>
          <a:prstGeom prst="rect">
            <a:avLst/>
          </a:prstGeom>
          <a:solidFill>
            <a:srgbClr val="F2F2F2"/>
          </a:solidFill>
          <a:ln>
            <a:noFill/>
          </a:ln>
        </p:spPr>
      </p:pic>
      <p:sp>
        <p:nvSpPr>
          <p:cNvPr id="111" name="Google Shape;111;p21"/>
          <p:cNvSpPr/>
          <p:nvPr/>
        </p:nvSpPr>
        <p:spPr>
          <a:xfrm>
            <a:off x="0" y="0"/>
            <a:ext cx="5912423" cy="5143500"/>
          </a:xfrm>
          <a:custGeom>
            <a:rect b="b" l="l" r="r" t="t"/>
            <a:pathLst>
              <a:path extrusionOk="0" h="5143500" w="5912423">
                <a:moveTo>
                  <a:pt x="5411153" y="0"/>
                </a:moveTo>
                <a:cubicBezTo>
                  <a:pt x="5411153" y="0"/>
                  <a:pt x="6654165" y="1004888"/>
                  <a:pt x="5225415" y="2019300"/>
                </a:cubicBezTo>
                <a:cubicBezTo>
                  <a:pt x="3796665" y="3033713"/>
                  <a:pt x="4353878" y="5053013"/>
                  <a:pt x="5825490" y="5143500"/>
                </a:cubicBezTo>
                <a:lnTo>
                  <a:pt x="0" y="5143500"/>
                </a:lnTo>
                <a:lnTo>
                  <a:pt x="0" y="0"/>
                </a:lnTo>
                <a:lnTo>
                  <a:pt x="5411153" y="0"/>
                </a:lnTo>
                <a:close/>
              </a:path>
            </a:pathLst>
          </a:custGeom>
          <a:solidFill>
            <a:srgbClr val="11009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11009C"/>
              </a:solidFill>
              <a:latin typeface="Calibri"/>
              <a:ea typeface="Calibri"/>
              <a:cs typeface="Calibri"/>
              <a:sym typeface="Calibri"/>
            </a:endParaRPr>
          </a:p>
        </p:txBody>
      </p:sp>
      <p:sp>
        <p:nvSpPr>
          <p:cNvPr id="112" name="Google Shape;112;p21"/>
          <p:cNvSpPr txBox="1"/>
          <p:nvPr/>
        </p:nvSpPr>
        <p:spPr>
          <a:xfrm>
            <a:off x="255038" y="1305450"/>
            <a:ext cx="3971400" cy="3482400"/>
          </a:xfrm>
          <a:prstGeom prst="rect">
            <a:avLst/>
          </a:prstGeom>
          <a:noFill/>
          <a:ln>
            <a:noFill/>
          </a:ln>
        </p:spPr>
        <p:txBody>
          <a:bodyPr anchorCtr="0" anchor="t" bIns="34275" lIns="68575" spcFirstLastPara="1" rIns="68575" wrap="square" tIns="34275">
            <a:spAutoFit/>
          </a:bodyPr>
          <a:lstStyle/>
          <a:p>
            <a:pPr indent="0" lvl="0" marL="0" rtl="0" algn="just">
              <a:lnSpc>
                <a:spcPct val="115000"/>
              </a:lnSpc>
              <a:spcBef>
                <a:spcPts val="0"/>
              </a:spcBef>
              <a:spcAft>
                <a:spcPts val="0"/>
              </a:spcAft>
              <a:buNone/>
            </a:pPr>
            <a:r>
              <a:rPr lang="es" sz="1000">
                <a:solidFill>
                  <a:schemeClr val="lt1"/>
                </a:solidFill>
                <a:latin typeface="Poppins"/>
                <a:ea typeface="Poppins"/>
                <a:cs typeface="Poppins"/>
                <a:sym typeface="Poppins"/>
              </a:rPr>
              <a:t>RoboCup es una iniciativa científica internacional con el objetivo de avanzar en el estado del arte de los robots inteligentes. Cuando se estableció en 1997, la misión original era formar un equipo de robots capaces de ganar contra los campeones de la Copa Mundial de fútbol humano para 2050.</a:t>
            </a:r>
            <a:endParaRPr sz="10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t/>
            </a:r>
            <a:endParaRPr sz="10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rPr lang="es" sz="1000">
                <a:solidFill>
                  <a:schemeClr val="lt1"/>
                </a:solidFill>
                <a:latin typeface="Poppins"/>
                <a:ea typeface="Poppins"/>
                <a:cs typeface="Poppins"/>
                <a:sym typeface="Poppins"/>
              </a:rPr>
              <a:t>RoboCup Junior es una categoría de la Robocup,  una iniciativa científica internacional que tiene el objetivo de avanzar en el ámbito de los robots inteligentes. Es una competencia  de robótica educativa orientada a proyectos para estudiantes de 14 hasta 19 años,</a:t>
            </a:r>
            <a:endParaRPr sz="10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t/>
            </a:r>
            <a:endParaRPr sz="10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rPr lang="es" sz="1000">
                <a:solidFill>
                  <a:schemeClr val="lt1"/>
                </a:solidFill>
                <a:latin typeface="Poppins"/>
                <a:ea typeface="Poppins"/>
                <a:cs typeface="Poppins"/>
                <a:sym typeface="Poppins"/>
              </a:rPr>
              <a:t>Tiene tres categorías: RESCUE , SOCCER Y </a:t>
            </a:r>
            <a:r>
              <a:rPr b="1" lang="es" sz="1500">
                <a:solidFill>
                  <a:schemeClr val="lt1"/>
                </a:solidFill>
                <a:latin typeface="Poppins"/>
                <a:ea typeface="Poppins"/>
                <a:cs typeface="Poppins"/>
                <a:sym typeface="Poppins"/>
              </a:rPr>
              <a:t>ON STAGE. </a:t>
            </a:r>
            <a:endParaRPr b="1" sz="15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rPr lang="es" sz="1000">
                <a:solidFill>
                  <a:schemeClr val="lt1"/>
                </a:solidFill>
                <a:latin typeface="Poppins"/>
                <a:ea typeface="Poppins"/>
                <a:cs typeface="Poppins"/>
                <a:sym typeface="Poppins"/>
              </a:rPr>
              <a:t>Cada una de estas fue diseñada para enfatizar la resolución cooperativa de problemas y para llegar a mentes creativas jóvenes con una variedad de intereses y habilidades. </a:t>
            </a:r>
            <a:endParaRPr sz="1000">
              <a:solidFill>
                <a:schemeClr val="lt1"/>
              </a:solidFill>
              <a:latin typeface="Poppins"/>
              <a:ea typeface="Poppins"/>
              <a:cs typeface="Poppins"/>
              <a:sym typeface="Poppins"/>
            </a:endParaRPr>
          </a:p>
          <a:p>
            <a:pPr indent="0" lvl="0" marL="0" rtl="0" algn="just">
              <a:lnSpc>
                <a:spcPct val="115000"/>
              </a:lnSpc>
              <a:spcBef>
                <a:spcPts val="0"/>
              </a:spcBef>
              <a:spcAft>
                <a:spcPts val="0"/>
              </a:spcAft>
              <a:buNone/>
            </a:pPr>
            <a:r>
              <a:t/>
            </a:r>
            <a:endParaRPr sz="900">
              <a:solidFill>
                <a:schemeClr val="lt1"/>
              </a:solidFill>
              <a:latin typeface="Poppins"/>
              <a:ea typeface="Poppins"/>
              <a:cs typeface="Poppins"/>
              <a:sym typeface="Poppins"/>
            </a:endParaRPr>
          </a:p>
        </p:txBody>
      </p:sp>
      <p:sp>
        <p:nvSpPr>
          <p:cNvPr id="113" name="Google Shape;113;p21"/>
          <p:cNvSpPr txBox="1"/>
          <p:nvPr/>
        </p:nvSpPr>
        <p:spPr>
          <a:xfrm>
            <a:off x="407436" y="766425"/>
            <a:ext cx="41625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chemeClr val="lt1"/>
                </a:solidFill>
                <a:latin typeface="Poppins SemiBold"/>
                <a:ea typeface="Poppins SemiBold"/>
                <a:cs typeface="Poppins SemiBold"/>
                <a:sym typeface="Poppins SemiBold"/>
              </a:rPr>
              <a:t>ROBOCUP </a:t>
            </a:r>
            <a:r>
              <a:rPr lang="es" sz="2500">
                <a:solidFill>
                  <a:schemeClr val="lt1"/>
                </a:solidFill>
                <a:latin typeface="Poppins SemiBold"/>
                <a:ea typeface="Poppins SemiBold"/>
                <a:cs typeface="Poppins SemiBold"/>
                <a:sym typeface="Poppins SemiBold"/>
              </a:rPr>
              <a:t>JUNIOR</a:t>
            </a:r>
            <a:endParaRPr sz="2500">
              <a:solidFill>
                <a:schemeClr val="lt1"/>
              </a:solidFill>
              <a:latin typeface="Poppins SemiBold"/>
              <a:ea typeface="Poppins SemiBold"/>
              <a:cs typeface="Poppins SemiBold"/>
              <a:sym typeface="Poppins SemiBold"/>
            </a:endParaRPr>
          </a:p>
        </p:txBody>
      </p:sp>
      <p:grpSp>
        <p:nvGrpSpPr>
          <p:cNvPr id="114" name="Google Shape;114;p21"/>
          <p:cNvGrpSpPr/>
          <p:nvPr/>
        </p:nvGrpSpPr>
        <p:grpSpPr>
          <a:xfrm>
            <a:off x="521769" y="322345"/>
            <a:ext cx="613322" cy="307165"/>
            <a:chOff x="7228638" y="333378"/>
            <a:chExt cx="1193466" cy="597714"/>
          </a:xfrm>
        </p:grpSpPr>
        <p:sp>
          <p:nvSpPr>
            <p:cNvPr id="115" name="Google Shape;115;p21"/>
            <p:cNvSpPr/>
            <p:nvPr/>
          </p:nvSpPr>
          <p:spPr>
            <a:xfrm rot="5400000">
              <a:off x="7228638" y="334392"/>
              <a:ext cx="596700" cy="596700"/>
            </a:xfrm>
            <a:prstGeom prst="triangle">
              <a:avLst>
                <a:gd fmla="val 50000"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16" name="Google Shape;116;p21"/>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17" name="Google Shape;117;p21"/>
          <p:cNvSpPr/>
          <p:nvPr/>
        </p:nvSpPr>
        <p:spPr>
          <a:xfrm>
            <a:off x="4862268" y="1160281"/>
            <a:ext cx="933300" cy="933300"/>
          </a:xfrm>
          <a:prstGeom prst="donut">
            <a:avLst>
              <a:gd fmla="val 25000"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pic>
        <p:nvPicPr>
          <p:cNvPr id="118" name="Google Shape;118;p21"/>
          <p:cNvPicPr preferRelativeResize="0"/>
          <p:nvPr/>
        </p:nvPicPr>
        <p:blipFill rotWithShape="1">
          <a:blip r:embed="rId4">
            <a:alphaModFix/>
          </a:blip>
          <a:srcRect b="0" l="0" r="0" t="0"/>
          <a:stretch/>
        </p:blipFill>
        <p:spPr>
          <a:xfrm>
            <a:off x="8185002" y="63549"/>
            <a:ext cx="819695" cy="491233"/>
          </a:xfrm>
          <a:prstGeom prst="rect">
            <a:avLst/>
          </a:prstGeom>
          <a:noFill/>
          <a:ln>
            <a:noFill/>
          </a:ln>
        </p:spPr>
      </p:pic>
      <p:grpSp>
        <p:nvGrpSpPr>
          <p:cNvPr id="119" name="Google Shape;119;p21"/>
          <p:cNvGrpSpPr/>
          <p:nvPr/>
        </p:nvGrpSpPr>
        <p:grpSpPr>
          <a:xfrm>
            <a:off x="-126275" y="4746700"/>
            <a:ext cx="9270322" cy="401792"/>
            <a:chOff x="0" y="-29340"/>
            <a:chExt cx="2901600" cy="5177731"/>
          </a:xfrm>
        </p:grpSpPr>
        <p:pic>
          <p:nvPicPr>
            <p:cNvPr id="120" name="Google Shape;120;p21"/>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21" name="Google Shape;121;p2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22" name="Google Shape;122;p2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009C"/>
        </a:solidFill>
      </p:bgPr>
    </p:bg>
    <p:spTree>
      <p:nvGrpSpPr>
        <p:cNvPr id="126" name="Shape 126"/>
        <p:cNvGrpSpPr/>
        <p:nvPr/>
      </p:nvGrpSpPr>
      <p:grpSpPr>
        <a:xfrm>
          <a:off x="0" y="0"/>
          <a:ext cx="0" cy="0"/>
          <a:chOff x="0" y="0"/>
          <a:chExt cx="0" cy="0"/>
        </a:xfrm>
      </p:grpSpPr>
      <p:sp>
        <p:nvSpPr>
          <p:cNvPr id="127" name="Google Shape;127;p22"/>
          <p:cNvSpPr txBox="1"/>
          <p:nvPr/>
        </p:nvSpPr>
        <p:spPr>
          <a:xfrm>
            <a:off x="3373593" y="365681"/>
            <a:ext cx="41625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700">
                <a:solidFill>
                  <a:schemeClr val="lt1"/>
                </a:solidFill>
                <a:latin typeface="Poppins SemiBold"/>
                <a:ea typeface="Poppins SemiBold"/>
                <a:cs typeface="Poppins SemiBold"/>
                <a:sym typeface="Poppins SemiBold"/>
              </a:rPr>
              <a:t>ROBOCUP JUNIOR</a:t>
            </a:r>
            <a:endParaRPr sz="1700">
              <a:solidFill>
                <a:schemeClr val="lt1"/>
              </a:solidFill>
              <a:latin typeface="Poppins SemiBold"/>
              <a:ea typeface="Poppins SemiBold"/>
              <a:cs typeface="Poppins SemiBold"/>
              <a:sym typeface="Poppins SemiBold"/>
            </a:endParaRPr>
          </a:p>
        </p:txBody>
      </p:sp>
      <p:grpSp>
        <p:nvGrpSpPr>
          <p:cNvPr id="128" name="Google Shape;128;p22"/>
          <p:cNvGrpSpPr/>
          <p:nvPr/>
        </p:nvGrpSpPr>
        <p:grpSpPr>
          <a:xfrm>
            <a:off x="521769" y="322345"/>
            <a:ext cx="613322" cy="307165"/>
            <a:chOff x="7228638" y="333378"/>
            <a:chExt cx="1193466" cy="597714"/>
          </a:xfrm>
        </p:grpSpPr>
        <p:sp>
          <p:nvSpPr>
            <p:cNvPr id="129" name="Google Shape;129;p22"/>
            <p:cNvSpPr/>
            <p:nvPr/>
          </p:nvSpPr>
          <p:spPr>
            <a:xfrm rot="5400000">
              <a:off x="7228638" y="334392"/>
              <a:ext cx="596700" cy="596700"/>
            </a:xfrm>
            <a:prstGeom prst="triangle">
              <a:avLst>
                <a:gd fmla="val 50000" name="adj"/>
              </a:avLst>
            </a:prstGeom>
            <a:solidFill>
              <a:srgbClr val="87CB2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0" name="Google Shape;130;p22"/>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31" name="Google Shape;131;p22"/>
          <p:cNvSpPr/>
          <p:nvPr/>
        </p:nvSpPr>
        <p:spPr>
          <a:xfrm>
            <a:off x="8096324" y="1269481"/>
            <a:ext cx="933300" cy="933300"/>
          </a:xfrm>
          <a:prstGeom prst="donut">
            <a:avLst>
              <a:gd fmla="val 25000"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2" name="Google Shape;132;p22"/>
          <p:cNvSpPr txBox="1"/>
          <p:nvPr/>
        </p:nvSpPr>
        <p:spPr>
          <a:xfrm>
            <a:off x="1268736" y="176981"/>
            <a:ext cx="41625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chemeClr val="lt1"/>
                </a:solidFill>
                <a:latin typeface="Poppins SemiBold"/>
                <a:ea typeface="Poppins SemiBold"/>
                <a:cs typeface="Poppins SemiBold"/>
                <a:sym typeface="Poppins SemiBold"/>
              </a:rPr>
              <a:t>ONSTAGE</a:t>
            </a:r>
            <a:endParaRPr sz="2500">
              <a:solidFill>
                <a:schemeClr val="lt1"/>
              </a:solidFill>
              <a:latin typeface="Poppins SemiBold"/>
              <a:ea typeface="Poppins SemiBold"/>
              <a:cs typeface="Poppins SemiBold"/>
              <a:sym typeface="Poppins SemiBold"/>
            </a:endParaRPr>
          </a:p>
        </p:txBody>
      </p:sp>
      <p:sp>
        <p:nvSpPr>
          <p:cNvPr id="133" name="Google Shape;133;p22"/>
          <p:cNvSpPr txBox="1"/>
          <p:nvPr/>
        </p:nvSpPr>
        <p:spPr>
          <a:xfrm>
            <a:off x="111225" y="601775"/>
            <a:ext cx="7908900" cy="1974900"/>
          </a:xfrm>
          <a:prstGeom prst="rect">
            <a:avLst/>
          </a:prstGeom>
          <a:noFill/>
          <a:ln>
            <a:noFill/>
          </a:ln>
        </p:spPr>
        <p:txBody>
          <a:bodyPr anchorCtr="0" anchor="t" bIns="68575" lIns="68575" spcFirstLastPara="1" rIns="68575" wrap="square" tIns="68575">
            <a:noAutofit/>
          </a:bodyPr>
          <a:lstStyle/>
          <a:p>
            <a:pPr indent="0" lvl="0" marL="0" rtl="0" algn="l">
              <a:lnSpc>
                <a:spcPct val="120000"/>
              </a:lnSpc>
              <a:spcBef>
                <a:spcPts val="0"/>
              </a:spcBef>
              <a:spcAft>
                <a:spcPts val="0"/>
              </a:spcAft>
              <a:buNone/>
            </a:pPr>
            <a:r>
              <a:rPr b="1" lang="es">
                <a:solidFill>
                  <a:schemeClr val="lt1"/>
                </a:solidFill>
                <a:latin typeface="Poppins"/>
                <a:ea typeface="Poppins"/>
                <a:cs typeface="Poppins"/>
                <a:sym typeface="Poppins"/>
              </a:rPr>
              <a:t>¿De qué se trata?</a:t>
            </a:r>
            <a:endParaRPr b="1" sz="1700">
              <a:solidFill>
                <a:schemeClr val="lt1"/>
              </a:solidFill>
              <a:latin typeface="Poppins"/>
              <a:ea typeface="Poppins"/>
              <a:cs typeface="Poppins"/>
              <a:sym typeface="Poppins"/>
            </a:endParaRPr>
          </a:p>
          <a:p>
            <a:pPr indent="0" lvl="0" marL="0" rtl="0" algn="just">
              <a:lnSpc>
                <a:spcPct val="115000"/>
              </a:lnSpc>
              <a:spcBef>
                <a:spcPts val="500"/>
              </a:spcBef>
              <a:spcAft>
                <a:spcPts val="0"/>
              </a:spcAft>
              <a:buNone/>
            </a:pPr>
            <a:r>
              <a:rPr lang="es" sz="1300">
                <a:solidFill>
                  <a:schemeClr val="lt1"/>
                </a:solidFill>
                <a:latin typeface="Poppins"/>
                <a:ea typeface="Poppins"/>
                <a:cs typeface="Poppins"/>
                <a:sym typeface="Poppins"/>
              </a:rPr>
              <a:t>Invita a los equipos a diseñar, construir y programar robots físicos </a:t>
            </a:r>
            <a:r>
              <a:rPr b="1" lang="es" sz="1300">
                <a:solidFill>
                  <a:schemeClr val="lt1"/>
                </a:solidFill>
                <a:latin typeface="Poppins"/>
                <a:ea typeface="Poppins"/>
                <a:cs typeface="Poppins"/>
                <a:sym typeface="Poppins"/>
              </a:rPr>
              <a:t>creativos</a:t>
            </a:r>
            <a:r>
              <a:rPr lang="es" sz="1300">
                <a:solidFill>
                  <a:schemeClr val="lt1"/>
                </a:solidFill>
                <a:latin typeface="Poppins"/>
                <a:ea typeface="Poppins"/>
                <a:cs typeface="Poppins"/>
                <a:sym typeface="Poppins"/>
              </a:rPr>
              <a:t> y autónomos. El objetivo es crear una actuación robótica en vivo o transmitida que utilice una </a:t>
            </a:r>
            <a:r>
              <a:rPr b="1" lang="es" sz="1300">
                <a:solidFill>
                  <a:schemeClr val="lt1"/>
                </a:solidFill>
                <a:latin typeface="Poppins"/>
                <a:ea typeface="Poppins"/>
                <a:cs typeface="Poppins"/>
                <a:sym typeface="Poppins"/>
              </a:rPr>
              <a:t>amplia variedad de tecnología </a:t>
            </a:r>
            <a:r>
              <a:rPr lang="es" sz="1300">
                <a:solidFill>
                  <a:schemeClr val="lt1"/>
                </a:solidFill>
                <a:latin typeface="Poppins"/>
                <a:ea typeface="Poppins"/>
                <a:cs typeface="Poppins"/>
                <a:sym typeface="Poppins"/>
              </a:rPr>
              <a:t>para atraer a una audiencia. Esto incluye una variedad de posibles </a:t>
            </a:r>
            <a:r>
              <a:rPr b="1" lang="es" sz="1300">
                <a:solidFill>
                  <a:schemeClr val="lt1"/>
                </a:solidFill>
                <a:latin typeface="Poppins"/>
                <a:ea typeface="Poppins"/>
                <a:cs typeface="Poppins"/>
                <a:sym typeface="Poppins"/>
              </a:rPr>
              <a:t>actuaciones, como danza, narración de cuentos, teatro o instalaciones de arte</a:t>
            </a:r>
            <a:r>
              <a:rPr lang="es" sz="1300">
                <a:solidFill>
                  <a:schemeClr val="lt1"/>
                </a:solidFill>
                <a:latin typeface="Poppins"/>
                <a:ea typeface="Poppins"/>
                <a:cs typeface="Poppins"/>
                <a:sym typeface="Poppins"/>
              </a:rPr>
              <a:t>. La actuación puede involucrar música, pero esto es opcional. La liga está destinada a ser abierta. Se alienta a los equipos a ser c</a:t>
            </a:r>
            <a:r>
              <a:rPr b="1" lang="es" sz="1300">
                <a:solidFill>
                  <a:schemeClr val="lt1"/>
                </a:solidFill>
                <a:latin typeface="Poppins"/>
                <a:ea typeface="Poppins"/>
                <a:cs typeface="Poppins"/>
                <a:sym typeface="Poppins"/>
              </a:rPr>
              <a:t>reativos, innovadores y entretenidos</a:t>
            </a:r>
            <a:r>
              <a:rPr lang="es" sz="1300">
                <a:solidFill>
                  <a:schemeClr val="lt1"/>
                </a:solidFill>
                <a:latin typeface="Poppins"/>
                <a:ea typeface="Poppins"/>
                <a:cs typeface="Poppins"/>
                <a:sym typeface="Poppins"/>
              </a:rPr>
              <a:t>, tanto en el diseño de los robots como en el diseño del rendimiento general.</a:t>
            </a:r>
            <a:endParaRPr sz="1300">
              <a:solidFill>
                <a:schemeClr val="lt1"/>
              </a:solidFill>
              <a:latin typeface="Poppins"/>
              <a:ea typeface="Poppins"/>
              <a:cs typeface="Poppins"/>
              <a:sym typeface="Poppins"/>
            </a:endParaRPr>
          </a:p>
          <a:p>
            <a:pPr indent="0" lvl="0" marL="0" rtl="0" algn="l">
              <a:spcBef>
                <a:spcPts val="1000"/>
              </a:spcBef>
              <a:spcAft>
                <a:spcPts val="0"/>
              </a:spcAft>
              <a:buNone/>
            </a:pPr>
            <a:r>
              <a:t/>
            </a:r>
            <a:endParaRPr sz="900">
              <a:solidFill>
                <a:schemeClr val="lt1"/>
              </a:solidFill>
              <a:latin typeface="Poppins"/>
              <a:ea typeface="Poppins"/>
              <a:cs typeface="Poppins"/>
              <a:sym typeface="Poppins"/>
            </a:endParaRPr>
          </a:p>
        </p:txBody>
      </p:sp>
      <p:pic>
        <p:nvPicPr>
          <p:cNvPr id="134" name="Google Shape;134;p22"/>
          <p:cNvPicPr preferRelativeResize="0"/>
          <p:nvPr/>
        </p:nvPicPr>
        <p:blipFill rotWithShape="1">
          <a:blip r:embed="rId3">
            <a:alphaModFix/>
          </a:blip>
          <a:srcRect b="9248" l="0" r="0" t="4959"/>
          <a:stretch/>
        </p:blipFill>
        <p:spPr>
          <a:xfrm>
            <a:off x="-46775" y="2619650"/>
            <a:ext cx="9237550" cy="2435649"/>
          </a:xfrm>
          <a:prstGeom prst="rect">
            <a:avLst/>
          </a:prstGeom>
          <a:noFill/>
          <a:ln>
            <a:noFill/>
          </a:ln>
        </p:spPr>
      </p:pic>
      <p:pic>
        <p:nvPicPr>
          <p:cNvPr id="135" name="Google Shape;135;p22"/>
          <p:cNvPicPr preferRelativeResize="0"/>
          <p:nvPr/>
        </p:nvPicPr>
        <p:blipFill rotWithShape="1">
          <a:blip r:embed="rId4">
            <a:alphaModFix/>
          </a:blip>
          <a:srcRect b="0" l="0" r="0" t="0"/>
          <a:stretch/>
        </p:blipFill>
        <p:spPr>
          <a:xfrm>
            <a:off x="8185002" y="63549"/>
            <a:ext cx="819695" cy="491233"/>
          </a:xfrm>
          <a:prstGeom prst="rect">
            <a:avLst/>
          </a:prstGeom>
          <a:noFill/>
          <a:ln>
            <a:noFill/>
          </a:ln>
        </p:spPr>
      </p:pic>
      <p:grpSp>
        <p:nvGrpSpPr>
          <p:cNvPr id="136" name="Google Shape;136;p22"/>
          <p:cNvGrpSpPr/>
          <p:nvPr/>
        </p:nvGrpSpPr>
        <p:grpSpPr>
          <a:xfrm>
            <a:off x="-126275" y="4746700"/>
            <a:ext cx="9270322" cy="401792"/>
            <a:chOff x="0" y="-29340"/>
            <a:chExt cx="2901600" cy="5177731"/>
          </a:xfrm>
        </p:grpSpPr>
        <p:pic>
          <p:nvPicPr>
            <p:cNvPr id="137" name="Google Shape;137;p22"/>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38" name="Google Shape;138;p2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39" name="Google Shape;139;p2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Official RoboCupJunior 2023 OnStage Performance 1" id="144" name="Google Shape;144;p23" title="RoboCupJunior Bordeaux 2023 - OnStage Performance 1 - Yes, correct, all righ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145" name="Google Shape;145;p23"/>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First Performance of Robert Robotecky and Eyebots by Friendly Friends Team at Robocup 2021&#10;&#10;Группа ВКонтакте: https://vk.com/tlabrobot" id="150" name="Google Shape;150;p24" title="Friendly Friends / Performance 1 / Robocup 2021 On Stage">
            <a:hlinkClick r:id="rId3"/>
          </p:cNvPr>
          <p:cNvPicPr preferRelativeResize="0"/>
          <p:nvPr/>
        </p:nvPicPr>
        <p:blipFill>
          <a:blip r:embed="rId4">
            <a:alphaModFix/>
          </a:blip>
          <a:stretch>
            <a:fillRect/>
          </a:stretch>
        </p:blipFill>
        <p:spPr>
          <a:xfrm>
            <a:off x="-31750" y="0"/>
            <a:ext cx="914400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25"/>
          <p:cNvSpPr txBox="1"/>
          <p:nvPr/>
        </p:nvSpPr>
        <p:spPr>
          <a:xfrm>
            <a:off x="129409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 sz="4100">
                <a:solidFill>
                  <a:srgbClr val="11009C"/>
                </a:solidFill>
                <a:latin typeface="Poppins"/>
                <a:ea typeface="Poppins"/>
                <a:cs typeface="Poppins"/>
                <a:sym typeface="Poppins"/>
              </a:rPr>
              <a:t>ARTE CINÉTICO</a:t>
            </a:r>
            <a:endParaRPr b="1" sz="4200">
              <a:solidFill>
                <a:srgbClr val="11009C"/>
              </a:solidFill>
              <a:latin typeface="Poppins"/>
              <a:ea typeface="Poppins"/>
              <a:cs typeface="Poppins"/>
              <a:sym typeface="Poppins"/>
            </a:endParaRPr>
          </a:p>
        </p:txBody>
      </p:sp>
      <p:sp>
        <p:nvSpPr>
          <p:cNvPr id="156" name="Google Shape;156;p25"/>
          <p:cNvSpPr txBox="1"/>
          <p:nvPr/>
        </p:nvSpPr>
        <p:spPr>
          <a:xfrm>
            <a:off x="2014488" y="1133925"/>
            <a:ext cx="5115000" cy="2770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s" sz="1900">
                <a:solidFill>
                  <a:srgbClr val="11009C"/>
                </a:solidFill>
                <a:latin typeface="Poppins"/>
                <a:ea typeface="Poppins"/>
                <a:cs typeface="Poppins"/>
                <a:sym typeface="Poppins"/>
              </a:rPr>
              <a:t>El arte cinético es una corriente de arte en el que las obras </a:t>
            </a:r>
            <a:r>
              <a:rPr lang="es" sz="1900">
                <a:solidFill>
                  <a:srgbClr val="11009C"/>
                </a:solidFill>
                <a:latin typeface="Poppins"/>
                <a:ea typeface="Poppins"/>
                <a:cs typeface="Poppins"/>
                <a:sym typeface="Poppins"/>
              </a:rPr>
              <a:t>tienen</a:t>
            </a:r>
            <a:r>
              <a:rPr lang="es" sz="1900">
                <a:solidFill>
                  <a:srgbClr val="11009C"/>
                </a:solidFill>
                <a:latin typeface="Poppins"/>
                <a:ea typeface="Poppins"/>
                <a:cs typeface="Poppins"/>
                <a:sym typeface="Poppins"/>
              </a:rPr>
              <a:t> </a:t>
            </a:r>
            <a:r>
              <a:rPr b="1" i="1" lang="es" sz="1900">
                <a:solidFill>
                  <a:srgbClr val="11009C"/>
                </a:solidFill>
                <a:latin typeface="Poppins"/>
                <a:ea typeface="Poppins"/>
                <a:cs typeface="Poppins"/>
                <a:sym typeface="Poppins"/>
              </a:rPr>
              <a:t>movimiento </a:t>
            </a:r>
            <a:r>
              <a:rPr lang="es" sz="1900">
                <a:solidFill>
                  <a:srgbClr val="11009C"/>
                </a:solidFill>
                <a:latin typeface="Poppins"/>
                <a:ea typeface="Poppins"/>
                <a:cs typeface="Poppins"/>
                <a:sym typeface="Poppins"/>
              </a:rPr>
              <a:t>perceptible por el espectador o que depende del movimiento para su efecto. Los cuadros que amplían la perspectiva del espectador de la obra de arte e incorporan </a:t>
            </a:r>
            <a:r>
              <a:rPr b="1" i="1" lang="es" sz="1900">
                <a:solidFill>
                  <a:srgbClr val="11009C"/>
                </a:solidFill>
                <a:latin typeface="Poppins"/>
                <a:ea typeface="Poppins"/>
                <a:cs typeface="Poppins"/>
                <a:sym typeface="Poppins"/>
              </a:rPr>
              <a:t>movimiento multidimensional </a:t>
            </a:r>
            <a:r>
              <a:rPr lang="es" sz="1900">
                <a:solidFill>
                  <a:srgbClr val="11009C"/>
                </a:solidFill>
                <a:latin typeface="Poppins"/>
                <a:ea typeface="Poppins"/>
                <a:cs typeface="Poppins"/>
                <a:sym typeface="Poppins"/>
              </a:rPr>
              <a:t>son los primeros ejemplos de arte cinético.</a:t>
            </a:r>
            <a:endParaRPr sz="1900">
              <a:solidFill>
                <a:srgbClr val="11009C"/>
              </a:solidFill>
              <a:latin typeface="Poppins"/>
              <a:ea typeface="Poppins"/>
              <a:cs typeface="Poppins"/>
              <a:sym typeface="Poppins"/>
            </a:endParaRPr>
          </a:p>
        </p:txBody>
      </p:sp>
      <p:sp>
        <p:nvSpPr>
          <p:cNvPr id="157" name="Google Shape;157;p25"/>
          <p:cNvSpPr/>
          <p:nvPr/>
        </p:nvSpPr>
        <p:spPr>
          <a:xfrm>
            <a:off x="146723" y="134125"/>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8" name="Google Shape;158;p25"/>
          <p:cNvSpPr/>
          <p:nvPr/>
        </p:nvSpPr>
        <p:spPr>
          <a:xfrm>
            <a:off x="7577403" y="3492425"/>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9" name="Google Shape;159;p25"/>
          <p:cNvSpPr/>
          <p:nvPr/>
        </p:nvSpPr>
        <p:spPr>
          <a:xfrm>
            <a:off x="146723" y="1059353"/>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0" name="Google Shape;160;p25"/>
          <p:cNvSpPr/>
          <p:nvPr/>
        </p:nvSpPr>
        <p:spPr>
          <a:xfrm>
            <a:off x="146723" y="1973214"/>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1" name="Google Shape;161;p25"/>
          <p:cNvSpPr/>
          <p:nvPr/>
        </p:nvSpPr>
        <p:spPr>
          <a:xfrm rot="8953128">
            <a:off x="7317240" y="1334286"/>
            <a:ext cx="1065732" cy="1026990"/>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2" name="Google Shape;162;p25"/>
          <p:cNvSpPr/>
          <p:nvPr/>
        </p:nvSpPr>
        <p:spPr>
          <a:xfrm rot="-6892186">
            <a:off x="1079043" y="3456333"/>
            <a:ext cx="1065729" cy="1027071"/>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163" name="Google Shape;163;p25"/>
          <p:cNvGrpSpPr/>
          <p:nvPr/>
        </p:nvGrpSpPr>
        <p:grpSpPr>
          <a:xfrm>
            <a:off x="-126275" y="4746700"/>
            <a:ext cx="9270322" cy="401792"/>
            <a:chOff x="0" y="-29340"/>
            <a:chExt cx="2901600" cy="5177731"/>
          </a:xfrm>
        </p:grpSpPr>
        <p:pic>
          <p:nvPicPr>
            <p:cNvPr id="164" name="Google Shape;164;p25"/>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165" name="Google Shape;165;p2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66" name="Google Shape;166;p2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167" name="Google Shape;167;p25"/>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nvSpPr>
        <p:spPr>
          <a:xfrm>
            <a:off x="577541" y="551998"/>
            <a:ext cx="36894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3300">
                <a:solidFill>
                  <a:srgbClr val="11009C"/>
                </a:solidFill>
                <a:latin typeface="Poppins"/>
                <a:ea typeface="Poppins"/>
                <a:cs typeface="Poppins"/>
                <a:sym typeface="Poppins"/>
              </a:rPr>
              <a:t>REFERENTES</a:t>
            </a:r>
            <a:endParaRPr b="1" sz="3300">
              <a:solidFill>
                <a:srgbClr val="11009C"/>
              </a:solidFill>
              <a:latin typeface="Poppins"/>
              <a:ea typeface="Poppins"/>
              <a:cs typeface="Poppins"/>
              <a:sym typeface="Poppins"/>
            </a:endParaRPr>
          </a:p>
        </p:txBody>
      </p:sp>
      <p:sp>
        <p:nvSpPr>
          <p:cNvPr id="173" name="Google Shape;173;p26"/>
          <p:cNvSpPr/>
          <p:nvPr/>
        </p:nvSpPr>
        <p:spPr>
          <a:xfrm>
            <a:off x="4834006" y="938062"/>
            <a:ext cx="3520800" cy="1763400"/>
          </a:xfrm>
          <a:prstGeom prst="roundRect">
            <a:avLst>
              <a:gd fmla="val 9434"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4" name="Google Shape;174;p26"/>
          <p:cNvSpPr txBox="1"/>
          <p:nvPr/>
        </p:nvSpPr>
        <p:spPr>
          <a:xfrm>
            <a:off x="5016600" y="997250"/>
            <a:ext cx="2238900" cy="408000"/>
          </a:xfrm>
          <a:prstGeom prst="rect">
            <a:avLst/>
          </a:prstGeom>
          <a:noFill/>
          <a:ln>
            <a:noFill/>
          </a:ln>
        </p:spPr>
        <p:txBody>
          <a:bodyPr anchorCtr="0" anchor="t" bIns="34275" lIns="68575" spcFirstLastPara="1" rIns="68575" wrap="square" tIns="34275">
            <a:spAutoFit/>
          </a:bodyPr>
          <a:lstStyle/>
          <a:p>
            <a:pPr indent="0" lvl="0" marL="0" marR="101600" rtl="0" algn="l">
              <a:lnSpc>
                <a:spcPct val="120000"/>
              </a:lnSpc>
              <a:spcBef>
                <a:spcPts val="0"/>
              </a:spcBef>
              <a:spcAft>
                <a:spcPts val="500"/>
              </a:spcAft>
              <a:buNone/>
            </a:pPr>
            <a:r>
              <a:rPr b="1" lang="es" sz="2200">
                <a:solidFill>
                  <a:srgbClr val="EEEEEE"/>
                </a:solidFill>
                <a:latin typeface="Poppins"/>
                <a:ea typeface="Poppins"/>
                <a:cs typeface="Poppins"/>
                <a:sym typeface="Poppins"/>
              </a:rPr>
              <a:t>THEO JANSEN</a:t>
            </a:r>
            <a:endParaRPr sz="1200">
              <a:solidFill>
                <a:schemeClr val="lt1"/>
              </a:solidFill>
              <a:latin typeface="Mali SemiBold"/>
              <a:ea typeface="Mali SemiBold"/>
              <a:cs typeface="Mali SemiBold"/>
              <a:sym typeface="Mali SemiBold"/>
            </a:endParaRPr>
          </a:p>
        </p:txBody>
      </p:sp>
      <p:pic>
        <p:nvPicPr>
          <p:cNvPr id="175" name="Google Shape;175;p26"/>
          <p:cNvPicPr preferRelativeResize="0"/>
          <p:nvPr>
            <p:ph idx="2" type="pic"/>
          </p:nvPr>
        </p:nvPicPr>
        <p:blipFill rotWithShape="1">
          <a:blip r:embed="rId3">
            <a:alphaModFix/>
          </a:blip>
          <a:srcRect b="0" l="7037" r="19885" t="0"/>
          <a:stretch/>
        </p:blipFill>
        <p:spPr>
          <a:xfrm>
            <a:off x="19" y="1441624"/>
            <a:ext cx="4502100" cy="3080400"/>
          </a:xfrm>
          <a:prstGeom prst="roundRect">
            <a:avLst>
              <a:gd fmla="val 6952" name="adj"/>
            </a:avLst>
          </a:prstGeom>
          <a:solidFill>
            <a:srgbClr val="F2F2F2"/>
          </a:solidFill>
          <a:ln>
            <a:noFill/>
          </a:ln>
        </p:spPr>
      </p:pic>
      <p:pic>
        <p:nvPicPr>
          <p:cNvPr id="176" name="Google Shape;176;p26"/>
          <p:cNvPicPr preferRelativeResize="0"/>
          <p:nvPr>
            <p:ph idx="3" type="pic"/>
          </p:nvPr>
        </p:nvPicPr>
        <p:blipFill rotWithShape="1">
          <a:blip r:embed="rId4">
            <a:alphaModFix/>
          </a:blip>
          <a:srcRect b="8430" l="0" r="0" t="8430"/>
          <a:stretch/>
        </p:blipFill>
        <p:spPr>
          <a:xfrm>
            <a:off x="4642050" y="1441631"/>
            <a:ext cx="4502100" cy="3080400"/>
          </a:xfrm>
          <a:prstGeom prst="roundRect">
            <a:avLst>
              <a:gd fmla="val 6952" name="adj"/>
            </a:avLst>
          </a:prstGeom>
          <a:solidFill>
            <a:srgbClr val="F2F2F2"/>
          </a:solidFill>
          <a:ln>
            <a:noFill/>
          </a:ln>
        </p:spPr>
      </p:pic>
      <p:grpSp>
        <p:nvGrpSpPr>
          <p:cNvPr id="177" name="Google Shape;177;p26"/>
          <p:cNvGrpSpPr/>
          <p:nvPr/>
        </p:nvGrpSpPr>
        <p:grpSpPr>
          <a:xfrm>
            <a:off x="24" y="1204239"/>
            <a:ext cx="577518" cy="583070"/>
            <a:chOff x="7228638" y="333378"/>
            <a:chExt cx="1193466" cy="597714"/>
          </a:xfrm>
        </p:grpSpPr>
        <p:sp>
          <p:nvSpPr>
            <p:cNvPr id="178" name="Google Shape;178;p26"/>
            <p:cNvSpPr/>
            <p:nvPr/>
          </p:nvSpPr>
          <p:spPr>
            <a:xfrm rot="5400000">
              <a:off x="7228638" y="334392"/>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11009C"/>
                </a:solidFill>
                <a:latin typeface="Calibri"/>
                <a:ea typeface="Calibri"/>
                <a:cs typeface="Calibri"/>
                <a:sym typeface="Calibri"/>
              </a:endParaRPr>
            </a:p>
          </p:txBody>
        </p:sp>
        <p:sp>
          <p:nvSpPr>
            <p:cNvPr id="179" name="Google Shape;179;p26"/>
            <p:cNvSpPr/>
            <p:nvPr/>
          </p:nvSpPr>
          <p:spPr>
            <a:xfrm rot="5400000">
              <a:off x="7825404" y="333378"/>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11009C"/>
                </a:solidFill>
                <a:latin typeface="Calibri"/>
                <a:ea typeface="Calibri"/>
                <a:cs typeface="Calibri"/>
                <a:sym typeface="Calibri"/>
              </a:endParaRPr>
            </a:p>
          </p:txBody>
        </p:sp>
      </p:grpSp>
      <p:sp>
        <p:nvSpPr>
          <p:cNvPr id="180" name="Google Shape;180;p26"/>
          <p:cNvSpPr/>
          <p:nvPr/>
        </p:nvSpPr>
        <p:spPr>
          <a:xfrm>
            <a:off x="4559904" y="1381519"/>
            <a:ext cx="577500" cy="583200"/>
          </a:xfrm>
          <a:prstGeom prst="flowChartDelay">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181" name="Google Shape;181;p26"/>
          <p:cNvGrpSpPr/>
          <p:nvPr/>
        </p:nvGrpSpPr>
        <p:grpSpPr>
          <a:xfrm>
            <a:off x="-126275" y="4746700"/>
            <a:ext cx="9270322" cy="401792"/>
            <a:chOff x="0" y="-29340"/>
            <a:chExt cx="2901600" cy="5177731"/>
          </a:xfrm>
        </p:grpSpPr>
        <p:pic>
          <p:nvPicPr>
            <p:cNvPr id="182" name="Google Shape;182;p26"/>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83" name="Google Shape;183;p2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84" name="Google Shape;184;p2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185" name="Google Shape;185;p26"/>
          <p:cNvPicPr preferRelativeResize="0"/>
          <p:nvPr/>
        </p:nvPicPr>
        <p:blipFill rotWithShape="1">
          <a:blip r:embed="rId6">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descr="www.strandbeest.com &#10;Numerous specimen of the Strandbeest evolution on music of Khachaturian's Spartacus. It open the archives of fossils. Theo Jansen's work since 1990. He tries to make new forms of live on beaches. His animals get their energy from the wind so they don't have to eat. In the future he wants to put out in herds." id="191" name="Google Shape;191;p27" title="STRANDBEEST EVOLUTION 2017">
            <a:hlinkClick r:id="rId3"/>
          </p:cNvPr>
          <p:cNvPicPr preferRelativeResize="0"/>
          <p:nvPr/>
        </p:nvPicPr>
        <p:blipFill>
          <a:blip r:embed="rId4">
            <a:alphaModFix/>
          </a:blip>
          <a:stretch>
            <a:fillRect/>
          </a:stretch>
        </p:blipFill>
        <p:spPr>
          <a:xfrm>
            <a:off x="-18000" y="0"/>
            <a:ext cx="9236194" cy="51953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nvSpPr>
        <p:spPr>
          <a:xfrm>
            <a:off x="577541" y="551998"/>
            <a:ext cx="36894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3300">
                <a:solidFill>
                  <a:srgbClr val="11009C"/>
                </a:solidFill>
                <a:latin typeface="Poppins"/>
                <a:ea typeface="Poppins"/>
                <a:cs typeface="Poppins"/>
                <a:sym typeface="Poppins"/>
              </a:rPr>
              <a:t>REFERENTES</a:t>
            </a:r>
            <a:endParaRPr b="1" sz="3300">
              <a:solidFill>
                <a:srgbClr val="11009C"/>
              </a:solidFill>
              <a:latin typeface="Poppins"/>
              <a:ea typeface="Poppins"/>
              <a:cs typeface="Poppins"/>
              <a:sym typeface="Poppins"/>
            </a:endParaRPr>
          </a:p>
        </p:txBody>
      </p:sp>
      <p:sp>
        <p:nvSpPr>
          <p:cNvPr id="197" name="Google Shape;197;p28"/>
          <p:cNvSpPr/>
          <p:nvPr/>
        </p:nvSpPr>
        <p:spPr>
          <a:xfrm>
            <a:off x="4834006" y="938062"/>
            <a:ext cx="3520800" cy="1763400"/>
          </a:xfrm>
          <a:prstGeom prst="roundRect">
            <a:avLst>
              <a:gd fmla="val 9434"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28"/>
          <p:cNvSpPr txBox="1"/>
          <p:nvPr/>
        </p:nvSpPr>
        <p:spPr>
          <a:xfrm>
            <a:off x="5016600" y="997238"/>
            <a:ext cx="4127400" cy="724500"/>
          </a:xfrm>
          <a:prstGeom prst="rect">
            <a:avLst/>
          </a:prstGeom>
          <a:noFill/>
          <a:ln>
            <a:noFill/>
          </a:ln>
        </p:spPr>
        <p:txBody>
          <a:bodyPr anchorCtr="0" anchor="t" bIns="34275" lIns="68575" spcFirstLastPara="1" rIns="68575" wrap="square" tIns="34275">
            <a:spAutoFit/>
          </a:bodyPr>
          <a:lstStyle/>
          <a:p>
            <a:pPr indent="0" lvl="0" marL="0" marR="101600" rtl="0" algn="l">
              <a:lnSpc>
                <a:spcPct val="120000"/>
              </a:lnSpc>
              <a:spcBef>
                <a:spcPts val="0"/>
              </a:spcBef>
              <a:spcAft>
                <a:spcPts val="0"/>
              </a:spcAft>
              <a:buNone/>
            </a:pPr>
            <a:r>
              <a:rPr b="1" lang="es" sz="2200">
                <a:solidFill>
                  <a:srgbClr val="EEEEEE"/>
                </a:solidFill>
                <a:latin typeface="Poppins"/>
                <a:ea typeface="Poppins"/>
                <a:cs typeface="Poppins"/>
                <a:sym typeface="Poppins"/>
              </a:rPr>
              <a:t>MATTHEW GARDINER</a:t>
            </a:r>
            <a:endParaRPr b="1" sz="2200">
              <a:solidFill>
                <a:srgbClr val="EEEEEE"/>
              </a:solidFill>
              <a:latin typeface="Poppins"/>
              <a:ea typeface="Poppins"/>
              <a:cs typeface="Poppins"/>
              <a:sym typeface="Poppins"/>
            </a:endParaRPr>
          </a:p>
          <a:p>
            <a:pPr indent="-215900" lvl="0" marL="215900" marR="0" rtl="0" algn="l">
              <a:lnSpc>
                <a:spcPct val="150000"/>
              </a:lnSpc>
              <a:spcBef>
                <a:spcPts val="500"/>
              </a:spcBef>
              <a:spcAft>
                <a:spcPts val="0"/>
              </a:spcAft>
              <a:buClr>
                <a:schemeClr val="lt1"/>
              </a:buClr>
              <a:buSzPts val="1200"/>
              <a:buFont typeface="Arial"/>
              <a:buChar char="•"/>
            </a:pPr>
            <a:r>
              <a:t/>
            </a:r>
            <a:endParaRPr sz="1200">
              <a:solidFill>
                <a:schemeClr val="lt1"/>
              </a:solidFill>
              <a:latin typeface="Mali SemiBold"/>
              <a:ea typeface="Mali SemiBold"/>
              <a:cs typeface="Mali SemiBold"/>
              <a:sym typeface="Mali SemiBold"/>
            </a:endParaRPr>
          </a:p>
        </p:txBody>
      </p:sp>
      <p:pic>
        <p:nvPicPr>
          <p:cNvPr id="199" name="Google Shape;199;p28"/>
          <p:cNvPicPr preferRelativeResize="0"/>
          <p:nvPr>
            <p:ph idx="2" type="pic"/>
          </p:nvPr>
        </p:nvPicPr>
        <p:blipFill rotWithShape="1">
          <a:blip r:embed="rId3">
            <a:alphaModFix/>
          </a:blip>
          <a:srcRect b="0" l="15481" r="12582" t="0"/>
          <a:stretch/>
        </p:blipFill>
        <p:spPr>
          <a:xfrm>
            <a:off x="19" y="1441624"/>
            <a:ext cx="4502100" cy="3080400"/>
          </a:xfrm>
          <a:prstGeom prst="roundRect">
            <a:avLst>
              <a:gd fmla="val 6952" name="adj"/>
            </a:avLst>
          </a:prstGeom>
          <a:solidFill>
            <a:srgbClr val="F2F2F2"/>
          </a:solidFill>
          <a:ln>
            <a:noFill/>
          </a:ln>
        </p:spPr>
      </p:pic>
      <p:pic>
        <p:nvPicPr>
          <p:cNvPr id="200" name="Google Shape;200;p28"/>
          <p:cNvPicPr preferRelativeResize="0"/>
          <p:nvPr>
            <p:ph idx="3" type="pic"/>
          </p:nvPr>
        </p:nvPicPr>
        <p:blipFill rotWithShape="1">
          <a:blip r:embed="rId4">
            <a:alphaModFix/>
          </a:blip>
          <a:srcRect b="0" l="1276" r="1286" t="0"/>
          <a:stretch/>
        </p:blipFill>
        <p:spPr>
          <a:xfrm>
            <a:off x="4642050" y="1441631"/>
            <a:ext cx="4502100" cy="3080400"/>
          </a:xfrm>
          <a:prstGeom prst="roundRect">
            <a:avLst>
              <a:gd fmla="val 6952" name="adj"/>
            </a:avLst>
          </a:prstGeom>
          <a:solidFill>
            <a:srgbClr val="F2F2F2"/>
          </a:solidFill>
          <a:ln>
            <a:noFill/>
          </a:ln>
        </p:spPr>
      </p:pic>
      <p:grpSp>
        <p:nvGrpSpPr>
          <p:cNvPr id="201" name="Google Shape;201;p28"/>
          <p:cNvGrpSpPr/>
          <p:nvPr/>
        </p:nvGrpSpPr>
        <p:grpSpPr>
          <a:xfrm>
            <a:off x="24" y="1204239"/>
            <a:ext cx="577518" cy="583070"/>
            <a:chOff x="7228638" y="333378"/>
            <a:chExt cx="1193466" cy="597714"/>
          </a:xfrm>
        </p:grpSpPr>
        <p:sp>
          <p:nvSpPr>
            <p:cNvPr id="202" name="Google Shape;202;p28"/>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3" name="Google Shape;203;p28"/>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04" name="Google Shape;204;p28"/>
          <p:cNvSpPr/>
          <p:nvPr/>
        </p:nvSpPr>
        <p:spPr>
          <a:xfrm>
            <a:off x="4559904" y="1381519"/>
            <a:ext cx="577500" cy="583200"/>
          </a:xfrm>
          <a:prstGeom prst="flowChartDelay">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205" name="Google Shape;205;p28"/>
          <p:cNvGrpSpPr/>
          <p:nvPr/>
        </p:nvGrpSpPr>
        <p:grpSpPr>
          <a:xfrm>
            <a:off x="-126275" y="4746700"/>
            <a:ext cx="9270322" cy="401792"/>
            <a:chOff x="0" y="-29340"/>
            <a:chExt cx="2901600" cy="5177731"/>
          </a:xfrm>
        </p:grpSpPr>
        <p:pic>
          <p:nvPicPr>
            <p:cNvPr id="206" name="Google Shape;206;p28"/>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207" name="Google Shape;207;p2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08" name="Google Shape;208;p2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09" name="Google Shape;209;p28"/>
          <p:cNvPicPr preferRelativeResize="0"/>
          <p:nvPr/>
        </p:nvPicPr>
        <p:blipFill rotWithShape="1">
          <a:blip r:embed="rId6">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descr="Oribokit™ is a democratized art science robotic origami kit, created to engage audiences in their homes and to encourage a more widespread expansion of Oribotic research. The kit allows you to make your own robotic garden at home. The assembled kit grafts onto a tree branch and is designed to minimise materials usage and maximise modular recyclability for robotic origami applications. Kits include 1,2 or 3 oribotic blossoms featuring easy to fold laser-cut paper, servo motors, drive wires, and Arduino compatible microcontroller plus open-source firmware." id="215" name="Google Shape;215;p29" title="oribokit the origami and robotics kit to teach oribotics make your own oribot">
            <a:hlinkClick r:id="rId3"/>
          </p:cNvPr>
          <p:cNvPicPr preferRelativeResize="0"/>
          <p:nvPr/>
        </p:nvPicPr>
        <p:blipFill>
          <a:blip r:embed="rId4">
            <a:alphaModFix/>
          </a:blip>
          <a:stretch>
            <a:fillRect/>
          </a:stretch>
        </p:blipFill>
        <p:spPr>
          <a:xfrm>
            <a:off x="-180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How to make paper based soft robot. &#10;www.opensoftmachines.com&#10;&#10;Origami / SMA / locomotion&#10;Soft robot / Soft materials / Soft machines&#10;&#10;This project is supported by ERATO Kawahara Universal Information Network Project." id="220" name="Google Shape;220;p30" title="Origami Robot - opensoftmachines">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PBS Member Stations rely on viewers like you. To support your local station, go to: http://to.pbs.org/DonateTerra. &#10;↓ More info below ↓&#10;How can one sheet of folding paper inform engineering and the future of space travel?&#10;Subscribe so you never miss an episode: https://bit.ly/3mOfd77&#10;More info below ↓↓↓  &#10;&#10;Jinkyu “JK” Yang sees endless possibilities in a single sheet of paper. The aeronautics and astronautics professor at the University of Washington uses origami as a creative way to design foldable structures. The resulting shapes could inform new designs for a rocket’s landing gear, medical devices, or solar panels — all while pushing the boundaries of where art and science meet.&#10;&#10;Human Elements, produced by Seattle-based KCTS9, is a show about the people behind science’s facts and figures. Subscribe to PBS Terra so you never miss an episode: https://bit.ly/3mOfd77&#10;&#10;#HumansElements #Origami #STEM &#10;&#10;Keep up with Human Elements and PBS Terra...&#10;Facebook: https://www.facebook.com/PBSDigitalSt...&#10;Twitter: https://twitter.com/pbsds&#10;Instagram: https://www.instagram.com/pbsds" id="225" name="Google Shape;225;p31" title="Origami: Art, Engineering… or Both?">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pSp>
        <p:nvGrpSpPr>
          <p:cNvPr id="230" name="Google Shape;230;p32"/>
          <p:cNvGrpSpPr/>
          <p:nvPr/>
        </p:nvGrpSpPr>
        <p:grpSpPr>
          <a:xfrm>
            <a:off x="-10633" y="-29340"/>
            <a:ext cx="2901600" cy="5177731"/>
            <a:chOff x="0" y="-29340"/>
            <a:chExt cx="2901600" cy="5177731"/>
          </a:xfrm>
        </p:grpSpPr>
        <p:pic>
          <p:nvPicPr>
            <p:cNvPr id="231" name="Google Shape;231;p32"/>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232" name="Google Shape;232;p3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33" name="Google Shape;233;p32"/>
          <p:cNvSpPr/>
          <p:nvPr/>
        </p:nvSpPr>
        <p:spPr>
          <a:xfrm>
            <a:off x="2889190" y="-6900"/>
            <a:ext cx="6254700" cy="5143500"/>
          </a:xfrm>
          <a:prstGeom prst="rect">
            <a:avLst/>
          </a:prstGeom>
          <a:solidFill>
            <a:srgbClr val="32B8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2"/>
          <p:cNvSpPr txBox="1"/>
          <p:nvPr/>
        </p:nvSpPr>
        <p:spPr>
          <a:xfrm rot="-894">
            <a:off x="119398" y="1912348"/>
            <a:ext cx="3459900" cy="400800"/>
          </a:xfrm>
          <a:prstGeom prst="rect">
            <a:avLst/>
          </a:prstGeom>
          <a:noFill/>
          <a:ln>
            <a:noFill/>
          </a:ln>
        </p:spPr>
        <p:txBody>
          <a:bodyPr anchorCtr="0" anchor="t" bIns="91425" lIns="91425" spcFirstLastPara="1" rIns="91425" wrap="square" tIns="91425">
            <a:noAutofit/>
          </a:bodyPr>
          <a:lstStyle/>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TOMEMOS</a:t>
            </a:r>
            <a:endParaRPr/>
          </a:p>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UN DESCANSO</a:t>
            </a:r>
            <a:endParaRPr b="1" i="0" sz="2400" u="none" cap="none" strike="noStrike">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235" name="Google Shape;235;p32"/>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236" name="Google Shape;236;p32"/>
          <p:cNvPicPr preferRelativeResize="0"/>
          <p:nvPr/>
        </p:nvPicPr>
        <p:blipFill rotWithShape="1">
          <a:blip r:embed="rId5">
            <a:alphaModFix/>
          </a:blip>
          <a:srcRect b="0" l="0" r="0" t="0"/>
          <a:stretch/>
        </p:blipFill>
        <p:spPr>
          <a:xfrm>
            <a:off x="4230723" y="959898"/>
            <a:ext cx="3571742" cy="3810796"/>
          </a:xfrm>
          <a:prstGeom prst="rect">
            <a:avLst/>
          </a:prstGeom>
          <a:noFill/>
          <a:ln>
            <a:noFill/>
          </a:ln>
        </p:spPr>
      </p:pic>
      <p:pic>
        <p:nvPicPr>
          <p:cNvPr id="237" name="Google Shape;237;p32"/>
          <p:cNvPicPr preferRelativeResize="0"/>
          <p:nvPr/>
        </p:nvPicPr>
        <p:blipFill rotWithShape="1">
          <a:blip r:embed="rId6">
            <a:alphaModFix/>
          </a:blip>
          <a:srcRect b="64756" l="0" r="33249" t="0"/>
          <a:stretch/>
        </p:blipFill>
        <p:spPr>
          <a:xfrm>
            <a:off x="4739787" y="309001"/>
            <a:ext cx="1858212" cy="981101"/>
          </a:xfrm>
          <a:prstGeom prst="rect">
            <a:avLst/>
          </a:prstGeom>
          <a:noFill/>
          <a:ln>
            <a:noFill/>
          </a:ln>
        </p:spPr>
      </p:pic>
      <p:pic>
        <p:nvPicPr>
          <p:cNvPr id="238" name="Google Shape;238;p32"/>
          <p:cNvPicPr preferRelativeResize="0"/>
          <p:nvPr/>
        </p:nvPicPr>
        <p:blipFill rotWithShape="1">
          <a:blip r:embed="rId7">
            <a:alphaModFix/>
          </a:blip>
          <a:srcRect b="0" l="0" r="0" t="0"/>
          <a:stretch/>
        </p:blipFill>
        <p:spPr>
          <a:xfrm>
            <a:off x="220128" y="3335674"/>
            <a:ext cx="1365667" cy="1534231"/>
          </a:xfrm>
          <a:prstGeom prst="rect">
            <a:avLst/>
          </a:prstGeom>
          <a:noFill/>
          <a:ln>
            <a:noFill/>
          </a:ln>
        </p:spPr>
      </p:pic>
      <p:pic>
        <p:nvPicPr>
          <p:cNvPr id="239" name="Google Shape;239;p32"/>
          <p:cNvPicPr preferRelativeResize="0"/>
          <p:nvPr/>
        </p:nvPicPr>
        <p:blipFill rotWithShape="1">
          <a:blip r:embed="rId8">
            <a:alphaModFix amt="23000"/>
          </a:blip>
          <a:srcRect b="0" l="50261" r="0" t="0"/>
          <a:stretch/>
        </p:blipFill>
        <p:spPr>
          <a:xfrm>
            <a:off x="5902035" y="-34234"/>
            <a:ext cx="3310799"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3"/>
          <p:cNvPicPr preferRelativeResize="0"/>
          <p:nvPr>
            <p:ph idx="2" type="pic"/>
          </p:nvPr>
        </p:nvPicPr>
        <p:blipFill rotWithShape="1">
          <a:blip r:embed="rId3">
            <a:alphaModFix/>
          </a:blip>
          <a:srcRect b="0" l="4068" r="0" t="2638"/>
          <a:stretch/>
        </p:blipFill>
        <p:spPr>
          <a:xfrm>
            <a:off x="3596799" y="61500"/>
            <a:ext cx="4239600" cy="2868000"/>
          </a:xfrm>
          <a:prstGeom prst="roundRect">
            <a:avLst>
              <a:gd fmla="val 6952" name="adj"/>
            </a:avLst>
          </a:prstGeom>
          <a:solidFill>
            <a:srgbClr val="F2F2F2"/>
          </a:solidFill>
          <a:ln>
            <a:noFill/>
          </a:ln>
        </p:spPr>
      </p:pic>
      <p:sp>
        <p:nvSpPr>
          <p:cNvPr id="245" name="Google Shape;245;p33"/>
          <p:cNvSpPr txBox="1"/>
          <p:nvPr/>
        </p:nvSpPr>
        <p:spPr>
          <a:xfrm>
            <a:off x="3444400" y="3005700"/>
            <a:ext cx="4899300" cy="1870200"/>
          </a:xfrm>
          <a:prstGeom prst="rect">
            <a:avLst/>
          </a:prstGeom>
          <a:noFill/>
          <a:ln>
            <a:noFill/>
          </a:ln>
        </p:spPr>
        <p:txBody>
          <a:bodyPr anchorCtr="0" anchor="t" bIns="34275" lIns="68575" spcFirstLastPara="1" rIns="68575" wrap="square" tIns="34275">
            <a:spAutoFit/>
          </a:bodyPr>
          <a:lstStyle/>
          <a:p>
            <a:pPr indent="0" lvl="0" marL="0" marR="0" rtl="0" algn="just">
              <a:lnSpc>
                <a:spcPct val="200000"/>
              </a:lnSpc>
              <a:spcBef>
                <a:spcPts val="0"/>
              </a:spcBef>
              <a:spcAft>
                <a:spcPts val="0"/>
              </a:spcAft>
              <a:buNone/>
            </a:pPr>
            <a:r>
              <a:rPr lang="es" sz="1300">
                <a:solidFill>
                  <a:srgbClr val="11009C"/>
                </a:solidFill>
                <a:latin typeface="Poppins"/>
                <a:ea typeface="Poppins"/>
                <a:cs typeface="Poppins"/>
                <a:sym typeface="Poppins"/>
              </a:rPr>
              <a:t>Los estudiantes aprenderán cómo programar motores y  servo motores.  por medio de papel y la técnica de Origami, crearán sus propios robots o animales. </a:t>
            </a:r>
            <a:endParaRPr sz="1300">
              <a:solidFill>
                <a:srgbClr val="11009C"/>
              </a:solidFill>
              <a:latin typeface="Poppins"/>
              <a:ea typeface="Poppins"/>
              <a:cs typeface="Poppins"/>
              <a:sym typeface="Poppins"/>
            </a:endParaRPr>
          </a:p>
          <a:p>
            <a:pPr indent="-311150" lvl="0" marL="457200" marR="0" rtl="0" algn="just">
              <a:lnSpc>
                <a:spcPct val="200000"/>
              </a:lnSpc>
              <a:spcBef>
                <a:spcPts val="0"/>
              </a:spcBef>
              <a:spcAft>
                <a:spcPts val="0"/>
              </a:spcAft>
              <a:buClr>
                <a:srgbClr val="11009C"/>
              </a:buClr>
              <a:buSzPts val="1300"/>
              <a:buFont typeface="Poppins"/>
              <a:buChar char="●"/>
            </a:pPr>
            <a:r>
              <a:rPr lang="es" sz="1300">
                <a:solidFill>
                  <a:srgbClr val="11009C"/>
                </a:solidFill>
                <a:latin typeface="Poppins"/>
                <a:ea typeface="Poppins"/>
                <a:cs typeface="Poppins"/>
                <a:sym typeface="Poppins"/>
              </a:rPr>
              <a:t>Botones para activar los robot origami</a:t>
            </a:r>
            <a:endParaRPr sz="1300">
              <a:solidFill>
                <a:srgbClr val="11009C"/>
              </a:solidFill>
              <a:latin typeface="Poppins"/>
              <a:ea typeface="Poppins"/>
              <a:cs typeface="Poppins"/>
              <a:sym typeface="Poppins"/>
            </a:endParaRPr>
          </a:p>
          <a:p>
            <a:pPr indent="0" lvl="0" marL="0" marR="0" rtl="0" algn="just">
              <a:lnSpc>
                <a:spcPct val="200000"/>
              </a:lnSpc>
              <a:spcBef>
                <a:spcPts val="0"/>
              </a:spcBef>
              <a:spcAft>
                <a:spcPts val="0"/>
              </a:spcAft>
              <a:buNone/>
            </a:pPr>
            <a:r>
              <a:t/>
            </a:r>
            <a:endParaRPr sz="1300">
              <a:solidFill>
                <a:schemeClr val="dk1"/>
              </a:solidFill>
              <a:latin typeface="Poppins"/>
              <a:ea typeface="Poppins"/>
              <a:cs typeface="Poppins"/>
              <a:sym typeface="Poppins"/>
            </a:endParaRPr>
          </a:p>
        </p:txBody>
      </p:sp>
      <p:sp>
        <p:nvSpPr>
          <p:cNvPr id="246" name="Google Shape;246;p33"/>
          <p:cNvSpPr txBox="1"/>
          <p:nvPr/>
        </p:nvSpPr>
        <p:spPr>
          <a:xfrm>
            <a:off x="521506" y="1952056"/>
            <a:ext cx="32874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700">
                <a:solidFill>
                  <a:srgbClr val="11009C"/>
                </a:solidFill>
                <a:latin typeface="Poppins SemiBold"/>
                <a:ea typeface="Poppins SemiBold"/>
                <a:cs typeface="Poppins SemiBold"/>
                <a:sym typeface="Poppins SemiBold"/>
              </a:rPr>
              <a:t>ORIGAMI ROBOTS</a:t>
            </a:r>
            <a:endParaRPr sz="1700">
              <a:solidFill>
                <a:srgbClr val="11009C"/>
              </a:solidFill>
              <a:latin typeface="Poppins SemiBold"/>
              <a:ea typeface="Poppins SemiBold"/>
              <a:cs typeface="Poppins SemiBold"/>
              <a:sym typeface="Poppins SemiBold"/>
            </a:endParaRPr>
          </a:p>
        </p:txBody>
      </p:sp>
      <p:sp>
        <p:nvSpPr>
          <p:cNvPr id="247" name="Google Shape;247;p33"/>
          <p:cNvSpPr txBox="1"/>
          <p:nvPr/>
        </p:nvSpPr>
        <p:spPr>
          <a:xfrm>
            <a:off x="521493" y="887644"/>
            <a:ext cx="30753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ACTIVIDAD PRÁCTICA</a:t>
            </a:r>
            <a:endParaRPr sz="3300">
              <a:solidFill>
                <a:srgbClr val="11009C"/>
              </a:solidFill>
              <a:latin typeface="Poppins SemiBold"/>
              <a:ea typeface="Poppins SemiBold"/>
              <a:cs typeface="Poppins SemiBold"/>
              <a:sym typeface="Poppins SemiBold"/>
            </a:endParaRPr>
          </a:p>
        </p:txBody>
      </p:sp>
      <p:grpSp>
        <p:nvGrpSpPr>
          <p:cNvPr id="248" name="Google Shape;248;p33"/>
          <p:cNvGrpSpPr/>
          <p:nvPr/>
        </p:nvGrpSpPr>
        <p:grpSpPr>
          <a:xfrm>
            <a:off x="84019" y="61495"/>
            <a:ext cx="613322" cy="307165"/>
            <a:chOff x="7228638" y="333378"/>
            <a:chExt cx="1193466" cy="597714"/>
          </a:xfrm>
        </p:grpSpPr>
        <p:sp>
          <p:nvSpPr>
            <p:cNvPr id="249" name="Google Shape;249;p33"/>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50" name="Google Shape;250;p33"/>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251" name="Google Shape;251;p33"/>
          <p:cNvPicPr preferRelativeResize="0"/>
          <p:nvPr>
            <p:ph idx="3" type="pic"/>
          </p:nvPr>
        </p:nvPicPr>
        <p:blipFill rotWithShape="1">
          <a:blip r:embed="rId4">
            <a:alphaModFix/>
          </a:blip>
          <a:srcRect b="8596" l="0" r="0" t="8596"/>
          <a:stretch/>
        </p:blipFill>
        <p:spPr>
          <a:xfrm>
            <a:off x="521494" y="2282954"/>
            <a:ext cx="2820900" cy="2336100"/>
          </a:xfrm>
          <a:prstGeom prst="round2SameRect">
            <a:avLst>
              <a:gd fmla="val 6392" name="adj1"/>
              <a:gd fmla="val 0" name="adj2"/>
            </a:avLst>
          </a:prstGeom>
          <a:solidFill>
            <a:srgbClr val="F2F2F2"/>
          </a:solidFill>
          <a:ln>
            <a:noFill/>
          </a:ln>
        </p:spPr>
      </p:pic>
      <p:sp>
        <p:nvSpPr>
          <p:cNvPr id="252" name="Google Shape;252;p33"/>
          <p:cNvSpPr/>
          <p:nvPr/>
        </p:nvSpPr>
        <p:spPr>
          <a:xfrm>
            <a:off x="8090803" y="3394800"/>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p:txBody>
      </p:sp>
      <p:pic>
        <p:nvPicPr>
          <p:cNvPr id="253" name="Google Shape;253;p33"/>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grpSp>
        <p:nvGrpSpPr>
          <p:cNvPr id="254" name="Google Shape;254;p33"/>
          <p:cNvGrpSpPr/>
          <p:nvPr/>
        </p:nvGrpSpPr>
        <p:grpSpPr>
          <a:xfrm>
            <a:off x="-126275" y="4746700"/>
            <a:ext cx="9270322" cy="401792"/>
            <a:chOff x="0" y="-29340"/>
            <a:chExt cx="2901600" cy="5177731"/>
          </a:xfrm>
        </p:grpSpPr>
        <p:pic>
          <p:nvPicPr>
            <p:cNvPr id="255" name="Google Shape;255;p33"/>
            <p:cNvPicPr preferRelativeResize="0"/>
            <p:nvPr/>
          </p:nvPicPr>
          <p:blipFill rotWithShape="1">
            <a:blip r:embed="rId6">
              <a:alphaModFix/>
            </a:blip>
            <a:srcRect b="68756" l="25893" r="0" t="0"/>
            <a:stretch/>
          </p:blipFill>
          <p:spPr>
            <a:xfrm rot="5400000">
              <a:off x="-1130296" y="1116585"/>
              <a:ext cx="5172836" cy="2890776"/>
            </a:xfrm>
            <a:prstGeom prst="rect">
              <a:avLst/>
            </a:prstGeom>
            <a:noFill/>
            <a:ln>
              <a:noFill/>
            </a:ln>
          </p:spPr>
        </p:pic>
        <p:sp>
          <p:nvSpPr>
            <p:cNvPr id="256" name="Google Shape;256;p3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57" name="Google Shape;257;p33"/>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nvSpPr>
        <p:spPr>
          <a:xfrm>
            <a:off x="521493" y="887644"/>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M</a:t>
            </a:r>
            <a:r>
              <a:rPr lang="es" sz="3300">
                <a:solidFill>
                  <a:srgbClr val="11009C"/>
                </a:solidFill>
                <a:latin typeface="Poppins SemiBold"/>
                <a:ea typeface="Poppins SemiBold"/>
                <a:cs typeface="Poppins SemiBold"/>
                <a:sym typeface="Poppins SemiBold"/>
              </a:rPr>
              <a:t>ateriales</a:t>
            </a:r>
            <a:endParaRPr sz="3300">
              <a:solidFill>
                <a:srgbClr val="11009C"/>
              </a:solidFill>
              <a:latin typeface="Poppins SemiBold"/>
              <a:ea typeface="Poppins SemiBold"/>
              <a:cs typeface="Poppins SemiBold"/>
              <a:sym typeface="Poppins SemiBold"/>
            </a:endParaRPr>
          </a:p>
        </p:txBody>
      </p:sp>
      <p:grpSp>
        <p:nvGrpSpPr>
          <p:cNvPr id="263" name="Google Shape;263;p34"/>
          <p:cNvGrpSpPr/>
          <p:nvPr/>
        </p:nvGrpSpPr>
        <p:grpSpPr>
          <a:xfrm>
            <a:off x="521769" y="322345"/>
            <a:ext cx="613322" cy="307165"/>
            <a:chOff x="7228638" y="333378"/>
            <a:chExt cx="1193466" cy="597714"/>
          </a:xfrm>
        </p:grpSpPr>
        <p:sp>
          <p:nvSpPr>
            <p:cNvPr id="264" name="Google Shape;264;p34"/>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5" name="Google Shape;265;p34"/>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66" name="Google Shape;266;p34"/>
          <p:cNvSpPr txBox="1"/>
          <p:nvPr/>
        </p:nvSpPr>
        <p:spPr>
          <a:xfrm>
            <a:off x="521496" y="1837475"/>
            <a:ext cx="1629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a:ea typeface="Poppins"/>
                <a:cs typeface="Poppins"/>
                <a:sym typeface="Poppins"/>
              </a:rPr>
              <a:t>Cartón</a:t>
            </a:r>
            <a:endParaRPr sz="3300">
              <a:solidFill>
                <a:srgbClr val="11009C"/>
              </a:solidFill>
              <a:latin typeface="Poppins"/>
              <a:ea typeface="Poppins"/>
              <a:cs typeface="Poppins"/>
              <a:sym typeface="Poppins"/>
            </a:endParaRPr>
          </a:p>
        </p:txBody>
      </p:sp>
      <p:sp>
        <p:nvSpPr>
          <p:cNvPr id="267" name="Google Shape;267;p34"/>
          <p:cNvSpPr txBox="1"/>
          <p:nvPr/>
        </p:nvSpPr>
        <p:spPr>
          <a:xfrm>
            <a:off x="3666100" y="1837475"/>
            <a:ext cx="1191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a:ea typeface="Poppins"/>
                <a:cs typeface="Poppins"/>
                <a:sym typeface="Poppins"/>
              </a:rPr>
              <a:t>Clip</a:t>
            </a:r>
            <a:endParaRPr sz="3300">
              <a:solidFill>
                <a:srgbClr val="11009C"/>
              </a:solidFill>
              <a:latin typeface="Poppins"/>
              <a:ea typeface="Poppins"/>
              <a:cs typeface="Poppins"/>
              <a:sym typeface="Poppins"/>
            </a:endParaRPr>
          </a:p>
        </p:txBody>
      </p:sp>
      <p:pic>
        <p:nvPicPr>
          <p:cNvPr id="268" name="Google Shape;268;p34"/>
          <p:cNvPicPr preferRelativeResize="0"/>
          <p:nvPr/>
        </p:nvPicPr>
        <p:blipFill>
          <a:blip r:embed="rId3">
            <a:alphaModFix/>
          </a:blip>
          <a:stretch>
            <a:fillRect/>
          </a:stretch>
        </p:blipFill>
        <p:spPr>
          <a:xfrm>
            <a:off x="255550" y="2673275"/>
            <a:ext cx="2126425" cy="1907401"/>
          </a:xfrm>
          <a:prstGeom prst="rect">
            <a:avLst/>
          </a:prstGeom>
          <a:noFill/>
          <a:ln>
            <a:noFill/>
          </a:ln>
        </p:spPr>
      </p:pic>
      <p:pic>
        <p:nvPicPr>
          <p:cNvPr id="269" name="Google Shape;269;p34"/>
          <p:cNvPicPr preferRelativeResize="0"/>
          <p:nvPr/>
        </p:nvPicPr>
        <p:blipFill>
          <a:blip r:embed="rId4">
            <a:alphaModFix/>
          </a:blip>
          <a:stretch>
            <a:fillRect/>
          </a:stretch>
        </p:blipFill>
        <p:spPr>
          <a:xfrm rot="5400000">
            <a:off x="2938000" y="3110322"/>
            <a:ext cx="1684925" cy="1121250"/>
          </a:xfrm>
          <a:prstGeom prst="rect">
            <a:avLst/>
          </a:prstGeom>
          <a:noFill/>
          <a:ln>
            <a:noFill/>
          </a:ln>
        </p:spPr>
      </p:pic>
      <p:sp>
        <p:nvSpPr>
          <p:cNvPr id="270" name="Google Shape;270;p34"/>
          <p:cNvSpPr txBox="1"/>
          <p:nvPr/>
        </p:nvSpPr>
        <p:spPr>
          <a:xfrm>
            <a:off x="6417000" y="1837475"/>
            <a:ext cx="14328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a:ea typeface="Poppins"/>
                <a:cs typeface="Poppins"/>
                <a:sym typeface="Poppins"/>
              </a:rPr>
              <a:t>Servo  </a:t>
            </a:r>
            <a:endParaRPr sz="3300">
              <a:solidFill>
                <a:srgbClr val="11009C"/>
              </a:solidFill>
              <a:latin typeface="Poppins"/>
              <a:ea typeface="Poppins"/>
              <a:cs typeface="Poppins"/>
              <a:sym typeface="Poppins"/>
            </a:endParaRPr>
          </a:p>
        </p:txBody>
      </p:sp>
      <p:pic>
        <p:nvPicPr>
          <p:cNvPr id="271" name="Google Shape;271;p34"/>
          <p:cNvPicPr preferRelativeResize="0"/>
          <p:nvPr/>
        </p:nvPicPr>
        <p:blipFill>
          <a:blip r:embed="rId5">
            <a:alphaModFix/>
          </a:blip>
          <a:stretch>
            <a:fillRect/>
          </a:stretch>
        </p:blipFill>
        <p:spPr>
          <a:xfrm>
            <a:off x="4972976" y="2787300"/>
            <a:ext cx="1986475" cy="1986475"/>
          </a:xfrm>
          <a:prstGeom prst="rect">
            <a:avLst/>
          </a:prstGeom>
          <a:noFill/>
          <a:ln>
            <a:noFill/>
          </a:ln>
        </p:spPr>
      </p:pic>
      <p:pic>
        <p:nvPicPr>
          <p:cNvPr id="272" name="Google Shape;272;p34"/>
          <p:cNvPicPr preferRelativeResize="0"/>
          <p:nvPr/>
        </p:nvPicPr>
        <p:blipFill>
          <a:blip r:embed="rId6">
            <a:alphaModFix/>
          </a:blip>
          <a:stretch>
            <a:fillRect/>
          </a:stretch>
        </p:blipFill>
        <p:spPr>
          <a:xfrm>
            <a:off x="7145700" y="2571750"/>
            <a:ext cx="1817829" cy="2078374"/>
          </a:xfrm>
          <a:prstGeom prst="rect">
            <a:avLst/>
          </a:prstGeom>
          <a:noFill/>
          <a:ln>
            <a:noFill/>
          </a:ln>
        </p:spPr>
      </p:pic>
      <p:pic>
        <p:nvPicPr>
          <p:cNvPr id="273" name="Google Shape;273;p34"/>
          <p:cNvPicPr preferRelativeResize="0"/>
          <p:nvPr/>
        </p:nvPicPr>
        <p:blipFill rotWithShape="1">
          <a:blip r:embed="rId7">
            <a:alphaModFix/>
          </a:blip>
          <a:srcRect b="21938" l="9222" r="8365" t="22367"/>
          <a:stretch/>
        </p:blipFill>
        <p:spPr>
          <a:xfrm>
            <a:off x="7612167" y="244316"/>
            <a:ext cx="1360523" cy="612003"/>
          </a:xfrm>
          <a:prstGeom prst="rect">
            <a:avLst/>
          </a:prstGeom>
          <a:noFill/>
          <a:ln>
            <a:noFill/>
          </a:ln>
        </p:spPr>
      </p:pic>
      <p:grpSp>
        <p:nvGrpSpPr>
          <p:cNvPr id="274" name="Google Shape;274;p34"/>
          <p:cNvGrpSpPr/>
          <p:nvPr/>
        </p:nvGrpSpPr>
        <p:grpSpPr>
          <a:xfrm>
            <a:off x="-126275" y="4746700"/>
            <a:ext cx="9270322" cy="401792"/>
            <a:chOff x="0" y="-29340"/>
            <a:chExt cx="2901600" cy="5177731"/>
          </a:xfrm>
        </p:grpSpPr>
        <p:pic>
          <p:nvPicPr>
            <p:cNvPr id="275" name="Google Shape;275;p34"/>
            <p:cNvPicPr preferRelativeResize="0"/>
            <p:nvPr/>
          </p:nvPicPr>
          <p:blipFill rotWithShape="1">
            <a:blip r:embed="rId8">
              <a:alphaModFix/>
            </a:blip>
            <a:srcRect b="68756" l="25893" r="0" t="0"/>
            <a:stretch/>
          </p:blipFill>
          <p:spPr>
            <a:xfrm rot="5400000">
              <a:off x="-1130296" y="1116585"/>
              <a:ext cx="5172836" cy="2890776"/>
            </a:xfrm>
            <a:prstGeom prst="rect">
              <a:avLst/>
            </a:prstGeom>
            <a:noFill/>
            <a:ln>
              <a:noFill/>
            </a:ln>
          </p:spPr>
        </p:pic>
        <p:sp>
          <p:nvSpPr>
            <p:cNvPr id="276" name="Google Shape;276;p3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77" name="Google Shape;277;p34"/>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C</a:t>
            </a:r>
            <a:r>
              <a:rPr lang="es" sz="3300">
                <a:solidFill>
                  <a:srgbClr val="11009C"/>
                </a:solidFill>
                <a:latin typeface="Poppins SemiBold"/>
                <a:ea typeface="Poppins SemiBold"/>
                <a:cs typeface="Poppins SemiBold"/>
                <a:sym typeface="Poppins SemiBold"/>
              </a:rPr>
              <a:t>orte</a:t>
            </a:r>
            <a:endParaRPr sz="3300">
              <a:solidFill>
                <a:srgbClr val="11009C"/>
              </a:solidFill>
              <a:latin typeface="Poppins SemiBold"/>
              <a:ea typeface="Poppins SemiBold"/>
              <a:cs typeface="Poppins SemiBold"/>
              <a:sym typeface="Poppins SemiBold"/>
            </a:endParaRPr>
          </a:p>
        </p:txBody>
      </p:sp>
      <p:grpSp>
        <p:nvGrpSpPr>
          <p:cNvPr id="283" name="Google Shape;283;p35"/>
          <p:cNvGrpSpPr/>
          <p:nvPr/>
        </p:nvGrpSpPr>
        <p:grpSpPr>
          <a:xfrm>
            <a:off x="521769" y="322345"/>
            <a:ext cx="613322" cy="307165"/>
            <a:chOff x="7228638" y="333378"/>
            <a:chExt cx="1193466" cy="597714"/>
          </a:xfrm>
        </p:grpSpPr>
        <p:sp>
          <p:nvSpPr>
            <p:cNvPr id="284" name="Google Shape;284;p35"/>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5" name="Google Shape;285;p35"/>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286" name="Google Shape;286;p35"/>
          <p:cNvPicPr preferRelativeResize="0"/>
          <p:nvPr/>
        </p:nvPicPr>
        <p:blipFill>
          <a:blip r:embed="rId3">
            <a:alphaModFix/>
          </a:blip>
          <a:stretch>
            <a:fillRect/>
          </a:stretch>
        </p:blipFill>
        <p:spPr>
          <a:xfrm>
            <a:off x="785825" y="852588"/>
            <a:ext cx="6508850" cy="3671025"/>
          </a:xfrm>
          <a:prstGeom prst="rect">
            <a:avLst/>
          </a:prstGeom>
          <a:noFill/>
          <a:ln>
            <a:noFill/>
          </a:ln>
        </p:spPr>
      </p:pic>
      <p:sp>
        <p:nvSpPr>
          <p:cNvPr id="287" name="Google Shape;287;p35"/>
          <p:cNvSpPr txBox="1"/>
          <p:nvPr/>
        </p:nvSpPr>
        <p:spPr>
          <a:xfrm>
            <a:off x="4536499" y="407975"/>
            <a:ext cx="23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11009C"/>
                </a:solidFill>
                <a:latin typeface="Poppins SemiBold"/>
                <a:ea typeface="Poppins SemiBold"/>
                <a:cs typeface="Poppins SemiBold"/>
                <a:sym typeface="Poppins SemiBold"/>
              </a:rPr>
              <a:t>(medidas en mm)</a:t>
            </a:r>
            <a:endParaRPr>
              <a:solidFill>
                <a:srgbClr val="11009C"/>
              </a:solidFill>
              <a:latin typeface="Poppins SemiBold"/>
              <a:ea typeface="Poppins SemiBold"/>
              <a:cs typeface="Poppins SemiBold"/>
              <a:sym typeface="Poppins SemiBold"/>
            </a:endParaRPr>
          </a:p>
        </p:txBody>
      </p:sp>
      <p:cxnSp>
        <p:nvCxnSpPr>
          <p:cNvPr id="288" name="Google Shape;288;p35"/>
          <p:cNvCxnSpPr/>
          <p:nvPr/>
        </p:nvCxnSpPr>
        <p:spPr>
          <a:xfrm>
            <a:off x="7407450" y="3167702"/>
            <a:ext cx="529200" cy="0"/>
          </a:xfrm>
          <a:prstGeom prst="straightConnector1">
            <a:avLst/>
          </a:prstGeom>
          <a:noFill/>
          <a:ln cap="flat" cmpd="sng" w="38100">
            <a:solidFill>
              <a:schemeClr val="dk1"/>
            </a:solidFill>
            <a:prstDash val="solid"/>
            <a:round/>
            <a:headEnd len="med" w="med" type="none"/>
            <a:tailEnd len="med" w="med" type="none"/>
          </a:ln>
        </p:spPr>
      </p:cxnSp>
      <p:cxnSp>
        <p:nvCxnSpPr>
          <p:cNvPr id="289" name="Google Shape;289;p35"/>
          <p:cNvCxnSpPr/>
          <p:nvPr/>
        </p:nvCxnSpPr>
        <p:spPr>
          <a:xfrm>
            <a:off x="7407450" y="3696848"/>
            <a:ext cx="529200" cy="0"/>
          </a:xfrm>
          <a:prstGeom prst="straightConnector1">
            <a:avLst/>
          </a:prstGeom>
          <a:noFill/>
          <a:ln cap="flat" cmpd="sng" w="19050">
            <a:solidFill>
              <a:schemeClr val="dk1"/>
            </a:solidFill>
            <a:prstDash val="dot"/>
            <a:round/>
            <a:headEnd len="med" w="med" type="none"/>
            <a:tailEnd len="med" w="med" type="none"/>
          </a:ln>
        </p:spPr>
      </p:cxnSp>
      <p:sp>
        <p:nvSpPr>
          <p:cNvPr id="290" name="Google Shape;290;p35"/>
          <p:cNvSpPr txBox="1"/>
          <p:nvPr/>
        </p:nvSpPr>
        <p:spPr>
          <a:xfrm>
            <a:off x="8049417" y="2956925"/>
            <a:ext cx="1058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11009C"/>
                </a:solidFill>
                <a:latin typeface="Poppins SemiBold"/>
                <a:ea typeface="Poppins SemiBold"/>
                <a:cs typeface="Poppins SemiBold"/>
                <a:sym typeface="Poppins SemiBold"/>
              </a:rPr>
              <a:t>corte</a:t>
            </a:r>
            <a:endParaRPr>
              <a:solidFill>
                <a:srgbClr val="11009C"/>
              </a:solidFill>
              <a:latin typeface="Poppins SemiBold"/>
              <a:ea typeface="Poppins SemiBold"/>
              <a:cs typeface="Poppins SemiBold"/>
              <a:sym typeface="Poppins SemiBold"/>
            </a:endParaRPr>
          </a:p>
        </p:txBody>
      </p:sp>
      <p:sp>
        <p:nvSpPr>
          <p:cNvPr id="291" name="Google Shape;291;p35"/>
          <p:cNvSpPr txBox="1"/>
          <p:nvPr/>
        </p:nvSpPr>
        <p:spPr>
          <a:xfrm>
            <a:off x="8049417" y="3562271"/>
            <a:ext cx="1058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11009C"/>
                </a:solidFill>
                <a:latin typeface="Poppins SemiBold"/>
                <a:ea typeface="Poppins SemiBold"/>
                <a:cs typeface="Poppins SemiBold"/>
                <a:sym typeface="Poppins SemiBold"/>
              </a:rPr>
              <a:t>doblez</a:t>
            </a:r>
            <a:endParaRPr>
              <a:solidFill>
                <a:srgbClr val="11009C"/>
              </a:solidFill>
              <a:latin typeface="Poppins SemiBold"/>
              <a:ea typeface="Poppins SemiBold"/>
              <a:cs typeface="Poppins SemiBold"/>
              <a:sym typeface="Poppins SemiBold"/>
            </a:endParaRPr>
          </a:p>
        </p:txBody>
      </p:sp>
      <p:grpSp>
        <p:nvGrpSpPr>
          <p:cNvPr id="292" name="Google Shape;292;p35"/>
          <p:cNvGrpSpPr/>
          <p:nvPr/>
        </p:nvGrpSpPr>
        <p:grpSpPr>
          <a:xfrm>
            <a:off x="-126275" y="4746700"/>
            <a:ext cx="9270322" cy="401792"/>
            <a:chOff x="0" y="-29340"/>
            <a:chExt cx="2901600" cy="5177731"/>
          </a:xfrm>
        </p:grpSpPr>
        <p:pic>
          <p:nvPicPr>
            <p:cNvPr id="293" name="Google Shape;293;p35"/>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94" name="Google Shape;294;p3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95" name="Google Shape;295;p3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96" name="Google Shape;296;p35"/>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6"/>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D</a:t>
            </a:r>
            <a:r>
              <a:rPr lang="es" sz="3300">
                <a:solidFill>
                  <a:srgbClr val="11009C"/>
                </a:solidFill>
                <a:latin typeface="Poppins SemiBold"/>
                <a:ea typeface="Poppins SemiBold"/>
                <a:cs typeface="Poppins SemiBold"/>
                <a:sym typeface="Poppins SemiBold"/>
              </a:rPr>
              <a:t>obleces</a:t>
            </a:r>
            <a:endParaRPr sz="3300">
              <a:solidFill>
                <a:srgbClr val="11009C"/>
              </a:solidFill>
              <a:latin typeface="Poppins SemiBold"/>
              <a:ea typeface="Poppins SemiBold"/>
              <a:cs typeface="Poppins SemiBold"/>
              <a:sym typeface="Poppins SemiBold"/>
            </a:endParaRPr>
          </a:p>
        </p:txBody>
      </p:sp>
      <p:grpSp>
        <p:nvGrpSpPr>
          <p:cNvPr id="302" name="Google Shape;302;p36"/>
          <p:cNvGrpSpPr/>
          <p:nvPr/>
        </p:nvGrpSpPr>
        <p:grpSpPr>
          <a:xfrm>
            <a:off x="521769" y="322345"/>
            <a:ext cx="613322" cy="307165"/>
            <a:chOff x="7228638" y="333378"/>
            <a:chExt cx="1193466" cy="597714"/>
          </a:xfrm>
        </p:grpSpPr>
        <p:sp>
          <p:nvSpPr>
            <p:cNvPr id="303" name="Google Shape;303;p36"/>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36"/>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305" name="Google Shape;305;p36"/>
          <p:cNvPicPr preferRelativeResize="0"/>
          <p:nvPr/>
        </p:nvPicPr>
        <p:blipFill>
          <a:blip r:embed="rId3">
            <a:alphaModFix/>
          </a:blip>
          <a:stretch>
            <a:fillRect/>
          </a:stretch>
        </p:blipFill>
        <p:spPr>
          <a:xfrm>
            <a:off x="1068350" y="1487066"/>
            <a:ext cx="7181850" cy="2628900"/>
          </a:xfrm>
          <a:prstGeom prst="rect">
            <a:avLst/>
          </a:prstGeom>
          <a:noFill/>
          <a:ln>
            <a:noFill/>
          </a:ln>
        </p:spPr>
      </p:pic>
      <p:pic>
        <p:nvPicPr>
          <p:cNvPr id="306" name="Google Shape;306;p36"/>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307" name="Google Shape;307;p36"/>
          <p:cNvGrpSpPr/>
          <p:nvPr/>
        </p:nvGrpSpPr>
        <p:grpSpPr>
          <a:xfrm>
            <a:off x="-126275" y="4746700"/>
            <a:ext cx="9270322" cy="401792"/>
            <a:chOff x="0" y="-29340"/>
            <a:chExt cx="2901600" cy="5177731"/>
          </a:xfrm>
        </p:grpSpPr>
        <p:pic>
          <p:nvPicPr>
            <p:cNvPr id="308" name="Google Shape;308;p36"/>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309" name="Google Shape;309;p3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10" name="Google Shape;310;p3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7"/>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U</a:t>
            </a:r>
            <a:r>
              <a:rPr lang="es" sz="3300">
                <a:solidFill>
                  <a:srgbClr val="11009C"/>
                </a:solidFill>
                <a:latin typeface="Poppins SemiBold"/>
                <a:ea typeface="Poppins SemiBold"/>
                <a:cs typeface="Poppins SemiBold"/>
                <a:sym typeface="Poppins SemiBold"/>
              </a:rPr>
              <a:t>nión</a:t>
            </a:r>
            <a:endParaRPr sz="3300">
              <a:solidFill>
                <a:srgbClr val="11009C"/>
              </a:solidFill>
              <a:latin typeface="Poppins SemiBold"/>
              <a:ea typeface="Poppins SemiBold"/>
              <a:cs typeface="Poppins SemiBold"/>
              <a:sym typeface="Poppins SemiBold"/>
            </a:endParaRPr>
          </a:p>
        </p:txBody>
      </p:sp>
      <p:grpSp>
        <p:nvGrpSpPr>
          <p:cNvPr id="316" name="Google Shape;316;p37"/>
          <p:cNvGrpSpPr/>
          <p:nvPr/>
        </p:nvGrpSpPr>
        <p:grpSpPr>
          <a:xfrm>
            <a:off x="521769" y="322345"/>
            <a:ext cx="613322" cy="307165"/>
            <a:chOff x="7228638" y="333378"/>
            <a:chExt cx="1193466" cy="597714"/>
          </a:xfrm>
        </p:grpSpPr>
        <p:sp>
          <p:nvSpPr>
            <p:cNvPr id="317" name="Google Shape;317;p37"/>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18" name="Google Shape;318;p37"/>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319" name="Google Shape;319;p37"/>
          <p:cNvPicPr preferRelativeResize="0"/>
          <p:nvPr/>
        </p:nvPicPr>
        <p:blipFill>
          <a:blip r:embed="rId3">
            <a:alphaModFix/>
          </a:blip>
          <a:stretch>
            <a:fillRect/>
          </a:stretch>
        </p:blipFill>
        <p:spPr>
          <a:xfrm>
            <a:off x="3619388" y="629498"/>
            <a:ext cx="3741624" cy="3741655"/>
          </a:xfrm>
          <a:prstGeom prst="rect">
            <a:avLst/>
          </a:prstGeom>
          <a:noFill/>
          <a:ln>
            <a:noFill/>
          </a:ln>
        </p:spPr>
      </p:pic>
      <p:sp>
        <p:nvSpPr>
          <p:cNvPr id="320" name="Google Shape;320;p37"/>
          <p:cNvSpPr txBox="1"/>
          <p:nvPr/>
        </p:nvSpPr>
        <p:spPr>
          <a:xfrm>
            <a:off x="424950" y="1553550"/>
            <a:ext cx="2826600" cy="1685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rgbClr val="11009C"/>
                </a:solidFill>
                <a:latin typeface="Poppins"/>
                <a:ea typeface="Poppins"/>
                <a:cs typeface="Poppins"/>
                <a:sym typeface="Poppins"/>
              </a:rPr>
              <a:t>Debemos conectar las piezas utilizando cinta de enmascarar</a:t>
            </a:r>
            <a:endParaRPr sz="2100">
              <a:solidFill>
                <a:srgbClr val="11009C"/>
              </a:solidFill>
              <a:latin typeface="Poppins"/>
              <a:ea typeface="Poppins"/>
              <a:cs typeface="Poppins"/>
              <a:sym typeface="Poppins"/>
            </a:endParaRPr>
          </a:p>
          <a:p>
            <a:pPr indent="0" lvl="0" marL="0" marR="0" rtl="0" algn="l">
              <a:spcBef>
                <a:spcPts val="0"/>
              </a:spcBef>
              <a:spcAft>
                <a:spcPts val="0"/>
              </a:spcAft>
              <a:buNone/>
            </a:pPr>
            <a:r>
              <a:t/>
            </a:r>
            <a:endParaRPr sz="2100">
              <a:solidFill>
                <a:srgbClr val="11009C"/>
              </a:solidFill>
              <a:latin typeface="Poppins"/>
              <a:ea typeface="Poppins"/>
              <a:cs typeface="Poppins"/>
              <a:sym typeface="Poppins"/>
            </a:endParaRPr>
          </a:p>
        </p:txBody>
      </p:sp>
      <p:grpSp>
        <p:nvGrpSpPr>
          <p:cNvPr id="321" name="Google Shape;321;p37"/>
          <p:cNvGrpSpPr/>
          <p:nvPr/>
        </p:nvGrpSpPr>
        <p:grpSpPr>
          <a:xfrm>
            <a:off x="-126275" y="4746700"/>
            <a:ext cx="9270322" cy="401792"/>
            <a:chOff x="0" y="-29340"/>
            <a:chExt cx="2901600" cy="5177731"/>
          </a:xfrm>
        </p:grpSpPr>
        <p:pic>
          <p:nvPicPr>
            <p:cNvPr id="322" name="Google Shape;322;p37"/>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23" name="Google Shape;323;p3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24" name="Google Shape;324;p3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25" name="Google Shape;325;p37"/>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8"/>
          <p:cNvSpPr txBox="1"/>
          <p:nvPr/>
        </p:nvSpPr>
        <p:spPr>
          <a:xfrm>
            <a:off x="1312750" y="114375"/>
            <a:ext cx="53196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M</a:t>
            </a:r>
            <a:r>
              <a:rPr lang="es" sz="3300">
                <a:solidFill>
                  <a:srgbClr val="11009C"/>
                </a:solidFill>
                <a:latin typeface="Poppins SemiBold"/>
                <a:ea typeface="Poppins SemiBold"/>
                <a:cs typeface="Poppins SemiBold"/>
                <a:sym typeface="Poppins SemiBold"/>
              </a:rPr>
              <a:t>odificación del servo</a:t>
            </a:r>
            <a:endParaRPr sz="3300">
              <a:solidFill>
                <a:srgbClr val="11009C"/>
              </a:solidFill>
              <a:latin typeface="Poppins SemiBold"/>
              <a:ea typeface="Poppins SemiBold"/>
              <a:cs typeface="Poppins SemiBold"/>
              <a:sym typeface="Poppins SemiBold"/>
            </a:endParaRPr>
          </a:p>
          <a:p>
            <a:pPr indent="0" lvl="0" marL="0" marR="0" rtl="0" algn="l">
              <a:spcBef>
                <a:spcPts val="0"/>
              </a:spcBef>
              <a:spcAft>
                <a:spcPts val="0"/>
              </a:spcAft>
              <a:buNone/>
            </a:pPr>
            <a:r>
              <a:t/>
            </a:r>
            <a:endParaRPr sz="3300">
              <a:solidFill>
                <a:srgbClr val="11009C"/>
              </a:solidFill>
              <a:latin typeface="Poppins SemiBold"/>
              <a:ea typeface="Poppins SemiBold"/>
              <a:cs typeface="Poppins SemiBold"/>
              <a:sym typeface="Poppins SemiBold"/>
            </a:endParaRPr>
          </a:p>
        </p:txBody>
      </p:sp>
      <p:grpSp>
        <p:nvGrpSpPr>
          <p:cNvPr id="331" name="Google Shape;331;p38"/>
          <p:cNvGrpSpPr/>
          <p:nvPr/>
        </p:nvGrpSpPr>
        <p:grpSpPr>
          <a:xfrm>
            <a:off x="521769" y="322345"/>
            <a:ext cx="613322" cy="307165"/>
            <a:chOff x="7228638" y="333378"/>
            <a:chExt cx="1193466" cy="597714"/>
          </a:xfrm>
        </p:grpSpPr>
        <p:sp>
          <p:nvSpPr>
            <p:cNvPr id="332" name="Google Shape;332;p38"/>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3" name="Google Shape;333;p38"/>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34" name="Google Shape;334;p38"/>
          <p:cNvSpPr txBox="1"/>
          <p:nvPr/>
        </p:nvSpPr>
        <p:spPr>
          <a:xfrm>
            <a:off x="317825" y="1249275"/>
            <a:ext cx="8655000" cy="565500"/>
          </a:xfrm>
          <a:prstGeom prst="rect">
            <a:avLst/>
          </a:prstGeom>
          <a:noFill/>
          <a:ln>
            <a:noFill/>
          </a:ln>
        </p:spPr>
        <p:txBody>
          <a:bodyPr anchorCtr="0" anchor="t" bIns="34275" lIns="68575" spcFirstLastPara="1" rIns="68575" wrap="square" tIns="34275">
            <a:spAutoFit/>
          </a:bodyPr>
          <a:lstStyle/>
          <a:p>
            <a:pPr indent="0" lvl="0" marL="0" marR="0" rtl="0" algn="just">
              <a:lnSpc>
                <a:spcPct val="115000"/>
              </a:lnSpc>
              <a:spcBef>
                <a:spcPts val="0"/>
              </a:spcBef>
              <a:spcAft>
                <a:spcPts val="0"/>
              </a:spcAft>
              <a:buNone/>
            </a:pPr>
            <a:r>
              <a:rPr lang="es" sz="1500">
                <a:solidFill>
                  <a:srgbClr val="11009C"/>
                </a:solidFill>
                <a:latin typeface="Poppins"/>
                <a:ea typeface="Poppins"/>
                <a:cs typeface="Poppins"/>
                <a:sym typeface="Poppins"/>
              </a:rPr>
              <a:t>Para lograr obtener un robot origami movil, necesitamos modificar un servomotor para transformarlo en uno de rotación continua</a:t>
            </a:r>
            <a:r>
              <a:rPr lang="es">
                <a:solidFill>
                  <a:srgbClr val="11009C"/>
                </a:solidFill>
                <a:latin typeface="Poppins"/>
                <a:ea typeface="Poppins"/>
                <a:cs typeface="Poppins"/>
                <a:sym typeface="Poppins"/>
              </a:rPr>
              <a:t>.</a:t>
            </a:r>
            <a:endParaRPr sz="1500">
              <a:solidFill>
                <a:srgbClr val="11009C"/>
              </a:solidFill>
              <a:latin typeface="Poppins"/>
              <a:ea typeface="Poppins"/>
              <a:cs typeface="Poppins"/>
              <a:sym typeface="Poppins"/>
            </a:endParaRPr>
          </a:p>
        </p:txBody>
      </p:sp>
      <p:sp>
        <p:nvSpPr>
          <p:cNvPr id="335" name="Google Shape;335;p38"/>
          <p:cNvSpPr txBox="1"/>
          <p:nvPr/>
        </p:nvSpPr>
        <p:spPr>
          <a:xfrm>
            <a:off x="1116000" y="771725"/>
            <a:ext cx="46260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300">
                <a:solidFill>
                  <a:srgbClr val="11009C"/>
                </a:solidFill>
                <a:latin typeface="Poppins SemiBold"/>
                <a:ea typeface="Poppins SemiBold"/>
                <a:cs typeface="Poppins SemiBold"/>
                <a:sym typeface="Poppins SemiBold"/>
              </a:rPr>
              <a:t>Paso 1: abrir el servo</a:t>
            </a:r>
            <a:endParaRPr sz="2300">
              <a:solidFill>
                <a:srgbClr val="11009C"/>
              </a:solidFill>
              <a:latin typeface="Poppins SemiBold"/>
              <a:ea typeface="Poppins SemiBold"/>
              <a:cs typeface="Poppins SemiBold"/>
              <a:sym typeface="Poppins SemiBold"/>
            </a:endParaRPr>
          </a:p>
        </p:txBody>
      </p:sp>
      <p:grpSp>
        <p:nvGrpSpPr>
          <p:cNvPr id="336" name="Google Shape;336;p38"/>
          <p:cNvGrpSpPr/>
          <p:nvPr/>
        </p:nvGrpSpPr>
        <p:grpSpPr>
          <a:xfrm>
            <a:off x="-126275" y="4746700"/>
            <a:ext cx="9270322" cy="401792"/>
            <a:chOff x="0" y="-29340"/>
            <a:chExt cx="2901600" cy="5177731"/>
          </a:xfrm>
        </p:grpSpPr>
        <p:pic>
          <p:nvPicPr>
            <p:cNvPr id="337" name="Google Shape;337;p38"/>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38" name="Google Shape;338;p3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39" name="Google Shape;339;p3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40" name="Google Shape;340;p38"/>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pic>
        <p:nvPicPr>
          <p:cNvPr id="341" name="Google Shape;341;p38"/>
          <p:cNvPicPr preferRelativeResize="0"/>
          <p:nvPr/>
        </p:nvPicPr>
        <p:blipFill>
          <a:blip r:embed="rId5">
            <a:alphaModFix/>
          </a:blip>
          <a:stretch>
            <a:fillRect/>
          </a:stretch>
        </p:blipFill>
        <p:spPr>
          <a:xfrm>
            <a:off x="525050" y="1864582"/>
            <a:ext cx="1970343" cy="2627124"/>
          </a:xfrm>
          <a:prstGeom prst="rect">
            <a:avLst/>
          </a:prstGeom>
          <a:noFill/>
          <a:ln>
            <a:noFill/>
          </a:ln>
        </p:spPr>
      </p:pic>
      <p:pic>
        <p:nvPicPr>
          <p:cNvPr id="342" name="Google Shape;342;p38"/>
          <p:cNvPicPr preferRelativeResize="0"/>
          <p:nvPr/>
        </p:nvPicPr>
        <p:blipFill>
          <a:blip r:embed="rId6">
            <a:alphaModFix/>
          </a:blip>
          <a:stretch>
            <a:fillRect/>
          </a:stretch>
        </p:blipFill>
        <p:spPr>
          <a:xfrm>
            <a:off x="2606725" y="1864582"/>
            <a:ext cx="1970343" cy="2627124"/>
          </a:xfrm>
          <a:prstGeom prst="rect">
            <a:avLst/>
          </a:prstGeom>
          <a:noFill/>
          <a:ln>
            <a:noFill/>
          </a:ln>
        </p:spPr>
      </p:pic>
      <p:pic>
        <p:nvPicPr>
          <p:cNvPr id="343" name="Google Shape;343;p38"/>
          <p:cNvPicPr preferRelativeResize="0"/>
          <p:nvPr/>
        </p:nvPicPr>
        <p:blipFill>
          <a:blip r:embed="rId7">
            <a:alphaModFix/>
          </a:blip>
          <a:stretch>
            <a:fillRect/>
          </a:stretch>
        </p:blipFill>
        <p:spPr>
          <a:xfrm>
            <a:off x="4729468" y="1897732"/>
            <a:ext cx="1970343" cy="2627124"/>
          </a:xfrm>
          <a:prstGeom prst="rect">
            <a:avLst/>
          </a:prstGeom>
          <a:noFill/>
          <a:ln>
            <a:noFill/>
          </a:ln>
        </p:spPr>
      </p:pic>
      <p:pic>
        <p:nvPicPr>
          <p:cNvPr id="344" name="Google Shape;344;p38"/>
          <p:cNvPicPr preferRelativeResize="0"/>
          <p:nvPr/>
        </p:nvPicPr>
        <p:blipFill>
          <a:blip r:embed="rId8">
            <a:alphaModFix/>
          </a:blip>
          <a:stretch>
            <a:fillRect/>
          </a:stretch>
        </p:blipFill>
        <p:spPr>
          <a:xfrm>
            <a:off x="6795261" y="1864575"/>
            <a:ext cx="1970343" cy="26271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nvSpPr>
        <p:spPr>
          <a:xfrm>
            <a:off x="1269755" y="145450"/>
            <a:ext cx="52419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Modificación del servo</a:t>
            </a:r>
            <a:endParaRPr sz="3300">
              <a:solidFill>
                <a:srgbClr val="11009C"/>
              </a:solidFill>
              <a:latin typeface="Poppins SemiBold"/>
              <a:ea typeface="Poppins SemiBold"/>
              <a:cs typeface="Poppins SemiBold"/>
              <a:sym typeface="Poppins SemiBold"/>
            </a:endParaRPr>
          </a:p>
          <a:p>
            <a:pPr indent="0" lvl="0" marL="0" marR="0" rtl="0" algn="l">
              <a:spcBef>
                <a:spcPts val="0"/>
              </a:spcBef>
              <a:spcAft>
                <a:spcPts val="0"/>
              </a:spcAft>
              <a:buNone/>
            </a:pPr>
            <a:r>
              <a:t/>
            </a:r>
            <a:endParaRPr sz="3300">
              <a:solidFill>
                <a:srgbClr val="11009C"/>
              </a:solidFill>
              <a:latin typeface="Poppins SemiBold"/>
              <a:ea typeface="Poppins SemiBold"/>
              <a:cs typeface="Poppins SemiBold"/>
              <a:sym typeface="Poppins SemiBold"/>
            </a:endParaRPr>
          </a:p>
        </p:txBody>
      </p:sp>
      <p:grpSp>
        <p:nvGrpSpPr>
          <p:cNvPr id="350" name="Google Shape;350;p39"/>
          <p:cNvGrpSpPr/>
          <p:nvPr/>
        </p:nvGrpSpPr>
        <p:grpSpPr>
          <a:xfrm>
            <a:off x="521769" y="322345"/>
            <a:ext cx="613322" cy="307165"/>
            <a:chOff x="7228638" y="333378"/>
            <a:chExt cx="1193466" cy="597714"/>
          </a:xfrm>
        </p:grpSpPr>
        <p:sp>
          <p:nvSpPr>
            <p:cNvPr id="351" name="Google Shape;351;p39"/>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11009C"/>
                </a:solidFill>
                <a:latin typeface="Calibri"/>
                <a:ea typeface="Calibri"/>
                <a:cs typeface="Calibri"/>
                <a:sym typeface="Calibri"/>
              </a:endParaRPr>
            </a:p>
          </p:txBody>
        </p:sp>
        <p:sp>
          <p:nvSpPr>
            <p:cNvPr id="352" name="Google Shape;352;p39"/>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53" name="Google Shape;353;p39"/>
          <p:cNvSpPr txBox="1"/>
          <p:nvPr/>
        </p:nvSpPr>
        <p:spPr>
          <a:xfrm>
            <a:off x="742350" y="764200"/>
            <a:ext cx="60549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000">
                <a:solidFill>
                  <a:srgbClr val="11009C"/>
                </a:solidFill>
                <a:latin typeface="Poppins"/>
                <a:ea typeface="Poppins"/>
                <a:cs typeface="Poppins"/>
                <a:sym typeface="Poppins"/>
              </a:rPr>
              <a:t>Paso 2: </a:t>
            </a:r>
            <a:r>
              <a:rPr lang="es" sz="2000">
                <a:solidFill>
                  <a:srgbClr val="11009C"/>
                </a:solidFill>
                <a:latin typeface="Poppins SemiBold"/>
                <a:ea typeface="Poppins SemiBold"/>
                <a:cs typeface="Poppins SemiBold"/>
                <a:sym typeface="Poppins SemiBold"/>
              </a:rPr>
              <a:t>Desconectar el potenciómetro</a:t>
            </a:r>
            <a:endParaRPr sz="2000">
              <a:solidFill>
                <a:srgbClr val="11009C"/>
              </a:solidFill>
              <a:latin typeface="Poppins SemiBold"/>
              <a:ea typeface="Poppins SemiBold"/>
              <a:cs typeface="Poppins SemiBold"/>
              <a:sym typeface="Poppins SemiBold"/>
            </a:endParaRPr>
          </a:p>
          <a:p>
            <a:pPr indent="0" lvl="0" marL="0" marR="0" rtl="0" algn="l">
              <a:spcBef>
                <a:spcPts val="0"/>
              </a:spcBef>
              <a:spcAft>
                <a:spcPts val="0"/>
              </a:spcAft>
              <a:buNone/>
            </a:pPr>
            <a:r>
              <a:t/>
            </a:r>
            <a:endParaRPr sz="2000">
              <a:solidFill>
                <a:srgbClr val="11009C"/>
              </a:solidFill>
              <a:latin typeface="Poppins SemiBold"/>
              <a:ea typeface="Poppins SemiBold"/>
              <a:cs typeface="Poppins SemiBold"/>
              <a:sym typeface="Poppins SemiBold"/>
            </a:endParaRPr>
          </a:p>
        </p:txBody>
      </p:sp>
      <p:pic>
        <p:nvPicPr>
          <p:cNvPr id="354" name="Google Shape;354;p39"/>
          <p:cNvPicPr preferRelativeResize="0"/>
          <p:nvPr/>
        </p:nvPicPr>
        <p:blipFill rotWithShape="1">
          <a:blip r:embed="rId3">
            <a:alphaModFix/>
          </a:blip>
          <a:srcRect b="21938" l="9222" r="8365" t="22367"/>
          <a:stretch/>
        </p:blipFill>
        <p:spPr>
          <a:xfrm>
            <a:off x="7612167" y="244316"/>
            <a:ext cx="1360523" cy="612003"/>
          </a:xfrm>
          <a:prstGeom prst="rect">
            <a:avLst/>
          </a:prstGeom>
          <a:noFill/>
          <a:ln>
            <a:noFill/>
          </a:ln>
        </p:spPr>
      </p:pic>
      <p:grpSp>
        <p:nvGrpSpPr>
          <p:cNvPr id="355" name="Google Shape;355;p39"/>
          <p:cNvGrpSpPr/>
          <p:nvPr/>
        </p:nvGrpSpPr>
        <p:grpSpPr>
          <a:xfrm>
            <a:off x="-126275" y="4746700"/>
            <a:ext cx="9270322" cy="401792"/>
            <a:chOff x="0" y="-29340"/>
            <a:chExt cx="2901600" cy="5177731"/>
          </a:xfrm>
        </p:grpSpPr>
        <p:pic>
          <p:nvPicPr>
            <p:cNvPr id="356" name="Google Shape;356;p39"/>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57" name="Google Shape;357;p3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58" name="Google Shape;358;p3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59" name="Google Shape;359;p39"/>
          <p:cNvPicPr preferRelativeResize="0"/>
          <p:nvPr/>
        </p:nvPicPr>
        <p:blipFill>
          <a:blip r:embed="rId5">
            <a:alphaModFix/>
          </a:blip>
          <a:stretch>
            <a:fillRect/>
          </a:stretch>
        </p:blipFill>
        <p:spPr>
          <a:xfrm>
            <a:off x="676875" y="1353000"/>
            <a:ext cx="2244600" cy="2992800"/>
          </a:xfrm>
          <a:prstGeom prst="rect">
            <a:avLst/>
          </a:prstGeom>
          <a:noFill/>
          <a:ln>
            <a:noFill/>
          </a:ln>
        </p:spPr>
      </p:pic>
      <p:pic>
        <p:nvPicPr>
          <p:cNvPr id="360" name="Google Shape;360;p39"/>
          <p:cNvPicPr preferRelativeResize="0"/>
          <p:nvPr/>
        </p:nvPicPr>
        <p:blipFill rotWithShape="1">
          <a:blip r:embed="rId6">
            <a:alphaModFix/>
          </a:blip>
          <a:srcRect b="0" l="0" r="0" t="32281"/>
          <a:stretch/>
        </p:blipFill>
        <p:spPr>
          <a:xfrm>
            <a:off x="5161100" y="1449100"/>
            <a:ext cx="2244600" cy="2026676"/>
          </a:xfrm>
          <a:prstGeom prst="rect">
            <a:avLst/>
          </a:prstGeom>
          <a:noFill/>
          <a:ln>
            <a:noFill/>
          </a:ln>
        </p:spPr>
      </p:pic>
      <p:sp>
        <p:nvSpPr>
          <p:cNvPr id="361" name="Google Shape;361;p39"/>
          <p:cNvSpPr txBox="1"/>
          <p:nvPr/>
        </p:nvSpPr>
        <p:spPr>
          <a:xfrm>
            <a:off x="2993850" y="1353000"/>
            <a:ext cx="1987200" cy="2158800"/>
          </a:xfrm>
          <a:prstGeom prst="rect">
            <a:avLst/>
          </a:prstGeom>
          <a:noFill/>
          <a:ln>
            <a:noFill/>
          </a:ln>
        </p:spPr>
        <p:txBody>
          <a:bodyPr anchorCtr="0" anchor="t" bIns="34275" lIns="68575" spcFirstLastPara="1" rIns="68575" wrap="square" tIns="34275">
            <a:spAutoFit/>
          </a:bodyPr>
          <a:lstStyle/>
          <a:p>
            <a:pPr indent="0" lvl="0" marL="0" marR="0" rtl="0" algn="just">
              <a:lnSpc>
                <a:spcPct val="115000"/>
              </a:lnSpc>
              <a:spcBef>
                <a:spcPts val="0"/>
              </a:spcBef>
              <a:spcAft>
                <a:spcPts val="0"/>
              </a:spcAft>
              <a:buNone/>
            </a:pPr>
            <a:r>
              <a:rPr lang="es" sz="1500">
                <a:solidFill>
                  <a:srgbClr val="11009C"/>
                </a:solidFill>
                <a:latin typeface="Poppins"/>
                <a:ea typeface="Poppins"/>
                <a:cs typeface="Poppins"/>
                <a:sym typeface="Poppins"/>
              </a:rPr>
              <a:t>Cortamos el </a:t>
            </a:r>
            <a:r>
              <a:rPr lang="es" sz="1500">
                <a:solidFill>
                  <a:srgbClr val="11009C"/>
                </a:solidFill>
                <a:latin typeface="Poppins"/>
                <a:ea typeface="Poppins"/>
                <a:cs typeface="Poppins"/>
                <a:sym typeface="Poppins"/>
              </a:rPr>
              <a:t>potenciómetro, justo a la altura del plástico. </a:t>
            </a:r>
            <a:endParaRPr sz="1500">
              <a:solidFill>
                <a:srgbClr val="11009C"/>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11009C"/>
              </a:solidFill>
              <a:latin typeface="Poppins"/>
              <a:ea typeface="Poppins"/>
              <a:cs typeface="Poppins"/>
              <a:sym typeface="Poppins"/>
            </a:endParaRPr>
          </a:p>
          <a:p>
            <a:pPr indent="0" lvl="0" marL="0" marR="0" rtl="0" algn="just">
              <a:lnSpc>
                <a:spcPct val="115000"/>
              </a:lnSpc>
              <a:spcBef>
                <a:spcPts val="0"/>
              </a:spcBef>
              <a:spcAft>
                <a:spcPts val="0"/>
              </a:spcAft>
              <a:buNone/>
            </a:pPr>
            <a:r>
              <a:rPr lang="es" sz="1500">
                <a:solidFill>
                  <a:srgbClr val="11009C"/>
                </a:solidFill>
                <a:latin typeface="Poppins"/>
                <a:ea typeface="Poppins"/>
                <a:cs typeface="Poppins"/>
                <a:sym typeface="Poppins"/>
              </a:rPr>
              <a:t>Dejamos al descubierto las tres patas.</a:t>
            </a:r>
            <a:endParaRPr sz="1500">
              <a:solidFill>
                <a:srgbClr val="11009C"/>
              </a:solidFill>
              <a:latin typeface="Poppins"/>
              <a:ea typeface="Poppins"/>
              <a:cs typeface="Poppins"/>
              <a:sym typeface="Poppins"/>
            </a:endParaRPr>
          </a:p>
        </p:txBody>
      </p:sp>
      <p:sp>
        <p:nvSpPr>
          <p:cNvPr id="362" name="Google Shape;362;p39"/>
          <p:cNvSpPr txBox="1"/>
          <p:nvPr/>
        </p:nvSpPr>
        <p:spPr>
          <a:xfrm>
            <a:off x="5161100" y="3645450"/>
            <a:ext cx="3811500" cy="1096800"/>
          </a:xfrm>
          <a:prstGeom prst="rect">
            <a:avLst/>
          </a:prstGeom>
          <a:noFill/>
          <a:ln>
            <a:noFill/>
          </a:ln>
        </p:spPr>
        <p:txBody>
          <a:bodyPr anchorCtr="0" anchor="t" bIns="34275" lIns="68575" spcFirstLastPara="1" rIns="68575" wrap="square" tIns="34275">
            <a:spAutoFit/>
          </a:bodyPr>
          <a:lstStyle/>
          <a:p>
            <a:pPr indent="0" lvl="0" marL="0" marR="0" rtl="0" algn="just">
              <a:lnSpc>
                <a:spcPct val="115000"/>
              </a:lnSpc>
              <a:spcBef>
                <a:spcPts val="0"/>
              </a:spcBef>
              <a:spcAft>
                <a:spcPts val="0"/>
              </a:spcAft>
              <a:buNone/>
            </a:pPr>
            <a:r>
              <a:rPr lang="es" sz="1500">
                <a:solidFill>
                  <a:srgbClr val="11009C"/>
                </a:solidFill>
                <a:latin typeface="Poppins"/>
                <a:ea typeface="Poppins"/>
                <a:cs typeface="Poppins"/>
                <a:sym typeface="Poppins"/>
              </a:rPr>
              <a:t>Soldamos dos resistencias, formando una “V”. Cada una de las patas del </a:t>
            </a:r>
            <a:r>
              <a:rPr lang="es" sz="1500">
                <a:solidFill>
                  <a:srgbClr val="11009C"/>
                </a:solidFill>
                <a:latin typeface="Poppins"/>
                <a:ea typeface="Poppins"/>
                <a:cs typeface="Poppins"/>
                <a:sym typeface="Poppins"/>
              </a:rPr>
              <a:t>potenciómetro</a:t>
            </a:r>
            <a:r>
              <a:rPr lang="es" sz="1500">
                <a:solidFill>
                  <a:srgbClr val="11009C"/>
                </a:solidFill>
                <a:latin typeface="Poppins"/>
                <a:ea typeface="Poppins"/>
                <a:cs typeface="Poppins"/>
                <a:sym typeface="Poppins"/>
              </a:rPr>
              <a:t> se sueldan a la resistencia. </a:t>
            </a:r>
            <a:endParaRPr sz="1500">
              <a:solidFill>
                <a:srgbClr val="11009C"/>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0"/>
          <p:cNvSpPr/>
          <p:nvPr/>
        </p:nvSpPr>
        <p:spPr>
          <a:xfrm>
            <a:off x="71700" y="1007175"/>
            <a:ext cx="8989500" cy="334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0"/>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369" name="Google Shape;369;p40"/>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USO DE SERVO modificado</a:t>
            </a:r>
            <a:endParaRPr sz="3300">
              <a:solidFill>
                <a:srgbClr val="11009C"/>
              </a:solidFill>
              <a:latin typeface="Poppins SemiBold"/>
              <a:ea typeface="Poppins SemiBold"/>
              <a:cs typeface="Poppins SemiBold"/>
              <a:sym typeface="Poppins SemiBold"/>
            </a:endParaRPr>
          </a:p>
        </p:txBody>
      </p:sp>
      <p:grpSp>
        <p:nvGrpSpPr>
          <p:cNvPr id="370" name="Google Shape;370;p40"/>
          <p:cNvGrpSpPr/>
          <p:nvPr/>
        </p:nvGrpSpPr>
        <p:grpSpPr>
          <a:xfrm>
            <a:off x="521769" y="322345"/>
            <a:ext cx="613322" cy="307165"/>
            <a:chOff x="7228638" y="333378"/>
            <a:chExt cx="1193466" cy="597714"/>
          </a:xfrm>
        </p:grpSpPr>
        <p:sp>
          <p:nvSpPr>
            <p:cNvPr id="371" name="Google Shape;371;p40"/>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72" name="Google Shape;372;p40"/>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73" name="Google Shape;373;p40"/>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11009C"/>
                </a:solidFill>
                <a:latin typeface="Poppins SemiBold"/>
                <a:ea typeface="Poppins SemiBold"/>
                <a:cs typeface="Poppins SemiBold"/>
                <a:sym typeface="Poppins SemiBold"/>
              </a:rPr>
              <a:t>Servo</a:t>
            </a:r>
            <a:endParaRPr sz="1400">
              <a:solidFill>
                <a:srgbClr val="11009C"/>
              </a:solidFill>
              <a:latin typeface="Poppins SemiBold"/>
              <a:ea typeface="Poppins SemiBold"/>
              <a:cs typeface="Poppins SemiBold"/>
              <a:sym typeface="Poppins SemiBold"/>
            </a:endParaRPr>
          </a:p>
        </p:txBody>
      </p:sp>
      <p:sp>
        <p:nvSpPr>
          <p:cNvPr id="374" name="Google Shape;374;p40"/>
          <p:cNvSpPr txBox="1"/>
          <p:nvPr/>
        </p:nvSpPr>
        <p:spPr>
          <a:xfrm>
            <a:off x="186450" y="1182250"/>
            <a:ext cx="9066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accent1"/>
                </a:solidFill>
                <a:latin typeface="Roboto Mono"/>
                <a:ea typeface="Roboto Mono"/>
                <a:cs typeface="Roboto Mono"/>
                <a:sym typeface="Roboto Mono"/>
              </a:rPr>
              <a:t>Servo servoMotor;</a:t>
            </a:r>
            <a:endParaRPr sz="1800">
              <a:solidFill>
                <a:schemeClr val="accen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solidFill>
                <a:schemeClr val="accent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1800">
                <a:solidFill>
                  <a:srgbClr val="CE0000"/>
                </a:solidFill>
                <a:latin typeface="Roboto Mono"/>
                <a:ea typeface="Roboto Mono"/>
                <a:cs typeface="Roboto Mono"/>
                <a:sym typeface="Roboto Mono"/>
              </a:rPr>
              <a:t>void </a:t>
            </a:r>
            <a:r>
              <a:rPr i="1" lang="es" sz="1800">
                <a:solidFill>
                  <a:srgbClr val="9900FF"/>
                </a:solidFill>
                <a:latin typeface="Roboto Mono"/>
                <a:ea typeface="Roboto Mono"/>
                <a:cs typeface="Roboto Mono"/>
                <a:sym typeface="Roboto Mono"/>
              </a:rPr>
              <a:t>setup()</a:t>
            </a:r>
            <a:r>
              <a:rPr i="1" lang="es" sz="1800">
                <a:solidFill>
                  <a:schemeClr val="dk1"/>
                </a:solidFill>
                <a:latin typeface="Roboto Mono"/>
                <a:ea typeface="Roboto Mono"/>
                <a:cs typeface="Roboto Mono"/>
                <a:sym typeface="Roboto Mono"/>
              </a:rPr>
              <a:t>{</a:t>
            </a:r>
            <a:endParaRPr i="1" sz="1800">
              <a:solidFill>
                <a:schemeClr val="dk2"/>
              </a:solidFill>
              <a:latin typeface="Roboto Mono"/>
              <a:ea typeface="Roboto Mono"/>
              <a:cs typeface="Roboto Mono"/>
              <a:sym typeface="Roboto Mono"/>
            </a:endParaRPr>
          </a:p>
          <a:p>
            <a:pPr indent="0" lvl="0" marL="0" rtl="0" algn="l">
              <a:spcBef>
                <a:spcPts val="0"/>
              </a:spcBef>
              <a:spcAft>
                <a:spcPts val="0"/>
              </a:spcAft>
              <a:buNone/>
            </a:pPr>
            <a:r>
              <a:rPr i="1" lang="es" sz="1800">
                <a:solidFill>
                  <a:schemeClr val="accent1"/>
                </a:solidFill>
                <a:latin typeface="Roboto Mono"/>
                <a:ea typeface="Roboto Mono"/>
                <a:cs typeface="Roboto Mono"/>
                <a:sym typeface="Roboto Mono"/>
              </a:rPr>
              <a:t>servoMotor.attach(</a:t>
            </a:r>
            <a:r>
              <a:rPr i="1" lang="es" sz="1800">
                <a:solidFill>
                  <a:srgbClr val="FF0000"/>
                </a:solidFill>
                <a:latin typeface="Roboto Mono"/>
                <a:ea typeface="Roboto Mono"/>
                <a:cs typeface="Roboto Mono"/>
                <a:sym typeface="Roboto Mono"/>
              </a:rPr>
              <a:t>9</a:t>
            </a:r>
            <a:r>
              <a:rPr i="1" lang="es" sz="1800">
                <a:solidFill>
                  <a:schemeClr val="accent1"/>
                </a:solidFill>
                <a:latin typeface="Roboto Mono"/>
                <a:ea typeface="Roboto Mono"/>
                <a:cs typeface="Roboto Mono"/>
                <a:sym typeface="Roboto Mono"/>
              </a:rPr>
              <a:t>);</a:t>
            </a:r>
            <a:r>
              <a:rPr i="1" lang="es" sz="1800">
                <a:solidFill>
                  <a:schemeClr val="dk1"/>
                </a:solidFill>
                <a:latin typeface="Roboto Mono"/>
                <a:ea typeface="Roboto Mono"/>
                <a:cs typeface="Roboto Mono"/>
                <a:sym typeface="Roboto Mono"/>
              </a:rPr>
              <a:t>}</a:t>
            </a:r>
            <a:endParaRPr i="1" sz="18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i="1" sz="1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1800">
                <a:solidFill>
                  <a:srgbClr val="CE0000"/>
                </a:solidFill>
                <a:latin typeface="Roboto Mono"/>
                <a:ea typeface="Roboto Mono"/>
                <a:cs typeface="Roboto Mono"/>
                <a:sym typeface="Roboto Mono"/>
              </a:rPr>
              <a:t>void </a:t>
            </a:r>
            <a:r>
              <a:rPr i="1" lang="es" sz="1800">
                <a:solidFill>
                  <a:srgbClr val="9900FF"/>
                </a:solidFill>
                <a:latin typeface="Roboto Mono"/>
                <a:ea typeface="Roboto Mono"/>
                <a:cs typeface="Roboto Mono"/>
                <a:sym typeface="Roboto Mono"/>
              </a:rPr>
              <a:t>loop()</a:t>
            </a:r>
            <a:r>
              <a:rPr i="1" lang="es" sz="1800">
                <a:solidFill>
                  <a:schemeClr val="dk1"/>
                </a:solidFill>
                <a:latin typeface="Roboto Mono"/>
                <a:ea typeface="Roboto Mono"/>
                <a:cs typeface="Roboto Mono"/>
                <a:sym typeface="Roboto Mono"/>
              </a:rPr>
              <a:t>{</a:t>
            </a:r>
            <a:endParaRPr i="1" sz="1800">
              <a:solidFill>
                <a:srgbClr val="87CB22"/>
              </a:solidFill>
              <a:latin typeface="Roboto Mono"/>
              <a:ea typeface="Roboto Mono"/>
              <a:cs typeface="Roboto Mono"/>
              <a:sym typeface="Roboto Mono"/>
            </a:endParaRPr>
          </a:p>
          <a:p>
            <a:pPr indent="0" lvl="0" marL="0" rtl="0" algn="l">
              <a:spcBef>
                <a:spcPts val="0"/>
              </a:spcBef>
              <a:spcAft>
                <a:spcPts val="0"/>
              </a:spcAft>
              <a:buNone/>
            </a:pPr>
            <a:r>
              <a:rPr lang="es" sz="1800">
                <a:solidFill>
                  <a:srgbClr val="4A86E8"/>
                </a:solidFill>
                <a:latin typeface="Roboto Mono"/>
                <a:ea typeface="Roboto Mono"/>
                <a:cs typeface="Roboto Mono"/>
                <a:sym typeface="Roboto Mono"/>
              </a:rPr>
              <a:t>servoMotor.write(</a:t>
            </a:r>
            <a:r>
              <a:rPr lang="es" sz="1800">
                <a:solidFill>
                  <a:srgbClr val="87CB22"/>
                </a:solidFill>
                <a:latin typeface="Roboto Mono"/>
                <a:ea typeface="Roboto Mono"/>
                <a:cs typeface="Roboto Mono"/>
                <a:sym typeface="Roboto Mono"/>
              </a:rPr>
              <a:t>90</a:t>
            </a:r>
            <a:r>
              <a:rPr lang="es" sz="1800">
                <a:solidFill>
                  <a:srgbClr val="4A86E8"/>
                </a:solidFill>
                <a:latin typeface="Roboto Mono"/>
                <a:ea typeface="Roboto Mono"/>
                <a:cs typeface="Roboto Mono"/>
                <a:sym typeface="Roboto Mono"/>
              </a:rPr>
              <a:t>);  </a:t>
            </a:r>
            <a:r>
              <a:rPr i="1" lang="es" sz="1800">
                <a:solidFill>
                  <a:schemeClr val="dk2"/>
                </a:solidFill>
                <a:latin typeface="Roboto Mono"/>
                <a:ea typeface="Roboto Mono"/>
                <a:cs typeface="Roboto Mono"/>
                <a:sym typeface="Roboto Mono"/>
              </a:rPr>
              <a:t>// No hay movimiento</a:t>
            </a:r>
            <a:endParaRPr sz="18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s" sz="1800">
                <a:solidFill>
                  <a:srgbClr val="4A86E8"/>
                </a:solidFill>
                <a:latin typeface="Roboto Mono"/>
                <a:ea typeface="Roboto Mono"/>
                <a:cs typeface="Roboto Mono"/>
                <a:sym typeface="Roboto Mono"/>
              </a:rPr>
              <a:t>servoMotor.write(</a:t>
            </a:r>
            <a:r>
              <a:rPr lang="es" sz="1800">
                <a:solidFill>
                  <a:srgbClr val="87CB22"/>
                </a:solidFill>
                <a:latin typeface="Roboto Mono"/>
                <a:ea typeface="Roboto Mono"/>
                <a:cs typeface="Roboto Mono"/>
                <a:sym typeface="Roboto Mono"/>
              </a:rPr>
              <a:t>120</a:t>
            </a:r>
            <a:r>
              <a:rPr lang="es" sz="1800">
                <a:solidFill>
                  <a:srgbClr val="4A86E8"/>
                </a:solidFill>
                <a:latin typeface="Roboto Mono"/>
                <a:ea typeface="Roboto Mono"/>
                <a:cs typeface="Roboto Mono"/>
                <a:sym typeface="Roboto Mono"/>
              </a:rPr>
              <a:t>); </a:t>
            </a:r>
            <a:r>
              <a:rPr i="1" lang="es" sz="1800">
                <a:solidFill>
                  <a:schemeClr val="dk2"/>
                </a:solidFill>
                <a:latin typeface="Roboto Mono"/>
                <a:ea typeface="Roboto Mono"/>
                <a:cs typeface="Roboto Mono"/>
                <a:sym typeface="Roboto Mono"/>
              </a:rPr>
              <a:t>// Movimiento en sentido horario</a:t>
            </a:r>
            <a:endParaRPr sz="18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s" sz="1800">
                <a:solidFill>
                  <a:srgbClr val="4A86E8"/>
                </a:solidFill>
                <a:latin typeface="Roboto Mono"/>
                <a:ea typeface="Roboto Mono"/>
                <a:cs typeface="Roboto Mono"/>
                <a:sym typeface="Roboto Mono"/>
              </a:rPr>
              <a:t>servoMotor.write(</a:t>
            </a:r>
            <a:r>
              <a:rPr lang="es" sz="1800">
                <a:solidFill>
                  <a:srgbClr val="87CB22"/>
                </a:solidFill>
                <a:latin typeface="Roboto Mono"/>
                <a:ea typeface="Roboto Mono"/>
                <a:cs typeface="Roboto Mono"/>
                <a:sym typeface="Roboto Mono"/>
              </a:rPr>
              <a:t>50</a:t>
            </a:r>
            <a:r>
              <a:rPr lang="es" sz="1800">
                <a:solidFill>
                  <a:srgbClr val="4A86E8"/>
                </a:solidFill>
                <a:latin typeface="Roboto Mono"/>
                <a:ea typeface="Roboto Mono"/>
                <a:cs typeface="Roboto Mono"/>
                <a:sym typeface="Roboto Mono"/>
              </a:rPr>
              <a:t>);  </a:t>
            </a:r>
            <a:r>
              <a:rPr i="1" lang="es" sz="1800">
                <a:solidFill>
                  <a:schemeClr val="dk2"/>
                </a:solidFill>
                <a:latin typeface="Roboto Mono"/>
                <a:ea typeface="Roboto Mono"/>
                <a:cs typeface="Roboto Mono"/>
                <a:sym typeface="Roboto Mono"/>
              </a:rPr>
              <a:t>// Movimiento en sentido </a:t>
            </a:r>
            <a:endParaRPr sz="1800">
              <a:solidFill>
                <a:srgbClr val="4A86E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1800">
                <a:solidFill>
                  <a:schemeClr val="dk1"/>
                </a:solidFill>
                <a:latin typeface="Roboto Mono"/>
                <a:ea typeface="Roboto Mono"/>
                <a:cs typeface="Roboto Mono"/>
                <a:sym typeface="Roboto Mono"/>
              </a:rPr>
              <a:t>}</a:t>
            </a:r>
            <a:r>
              <a:rPr lang="es" sz="1800">
                <a:solidFill>
                  <a:srgbClr val="4A86E8"/>
                </a:solidFill>
                <a:latin typeface="Roboto Mono"/>
                <a:ea typeface="Roboto Mono"/>
                <a:cs typeface="Roboto Mono"/>
                <a:sym typeface="Roboto Mono"/>
              </a:rPr>
              <a:t> </a:t>
            </a:r>
            <a:r>
              <a:rPr i="1" lang="es" sz="1800">
                <a:solidFill>
                  <a:schemeClr val="dk2"/>
                </a:solidFill>
                <a:latin typeface="Roboto Mono"/>
                <a:ea typeface="Roboto Mono"/>
                <a:cs typeface="Roboto Mono"/>
                <a:sym typeface="Roboto Mono"/>
              </a:rPr>
              <a:t>    </a:t>
            </a:r>
            <a:r>
              <a:rPr i="1" lang="es" sz="1800">
                <a:solidFill>
                  <a:schemeClr val="dk2"/>
                </a:solidFill>
                <a:latin typeface="Roboto Mono"/>
                <a:ea typeface="Roboto Mono"/>
                <a:cs typeface="Roboto Mono"/>
                <a:sym typeface="Roboto Mono"/>
              </a:rPr>
              <a:t>                 // antihorario</a:t>
            </a:r>
            <a:endParaRPr sz="1800">
              <a:solidFill>
                <a:schemeClr val="dk1"/>
              </a:solidFill>
              <a:latin typeface="Roboto Mono"/>
              <a:ea typeface="Roboto Mono"/>
              <a:cs typeface="Roboto Mono"/>
              <a:sym typeface="Roboto Mono"/>
            </a:endParaRPr>
          </a:p>
        </p:txBody>
      </p:sp>
      <p:pic>
        <p:nvPicPr>
          <p:cNvPr id="375" name="Google Shape;375;p40"/>
          <p:cNvPicPr preferRelativeResize="0"/>
          <p:nvPr/>
        </p:nvPicPr>
        <p:blipFill rotWithShape="1">
          <a:blip r:embed="rId3">
            <a:alphaModFix/>
          </a:blip>
          <a:srcRect b="21938" l="9222" r="8365" t="22367"/>
          <a:stretch/>
        </p:blipFill>
        <p:spPr>
          <a:xfrm>
            <a:off x="7612167" y="244316"/>
            <a:ext cx="1360523" cy="612003"/>
          </a:xfrm>
          <a:prstGeom prst="rect">
            <a:avLst/>
          </a:prstGeom>
          <a:noFill/>
          <a:ln>
            <a:noFill/>
          </a:ln>
        </p:spPr>
      </p:pic>
      <p:grpSp>
        <p:nvGrpSpPr>
          <p:cNvPr id="376" name="Google Shape;376;p40"/>
          <p:cNvGrpSpPr/>
          <p:nvPr/>
        </p:nvGrpSpPr>
        <p:grpSpPr>
          <a:xfrm>
            <a:off x="-126275" y="4746700"/>
            <a:ext cx="9270322" cy="401792"/>
            <a:chOff x="0" y="-29340"/>
            <a:chExt cx="2901600" cy="5177731"/>
          </a:xfrm>
        </p:grpSpPr>
        <p:pic>
          <p:nvPicPr>
            <p:cNvPr id="377" name="Google Shape;377;p40"/>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78" name="Google Shape;378;p4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79" name="Google Shape;379;p4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1"/>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a:t>
            </a:r>
            <a:r>
              <a:rPr lang="es" sz="3300">
                <a:solidFill>
                  <a:srgbClr val="11009C"/>
                </a:solidFill>
                <a:latin typeface="Poppins SemiBold"/>
                <a:ea typeface="Poppins SemiBold"/>
                <a:cs typeface="Poppins SemiBold"/>
                <a:sym typeface="Poppins SemiBold"/>
              </a:rPr>
              <a:t>nsamblado</a:t>
            </a:r>
            <a:endParaRPr sz="3300">
              <a:solidFill>
                <a:srgbClr val="11009C"/>
              </a:solidFill>
              <a:latin typeface="Poppins SemiBold"/>
              <a:ea typeface="Poppins SemiBold"/>
              <a:cs typeface="Poppins SemiBold"/>
              <a:sym typeface="Poppins SemiBold"/>
            </a:endParaRPr>
          </a:p>
        </p:txBody>
      </p:sp>
      <p:grpSp>
        <p:nvGrpSpPr>
          <p:cNvPr id="385" name="Google Shape;385;p41"/>
          <p:cNvGrpSpPr/>
          <p:nvPr/>
        </p:nvGrpSpPr>
        <p:grpSpPr>
          <a:xfrm>
            <a:off x="521769" y="322345"/>
            <a:ext cx="613322" cy="307165"/>
            <a:chOff x="7228638" y="333378"/>
            <a:chExt cx="1193466" cy="597714"/>
          </a:xfrm>
        </p:grpSpPr>
        <p:sp>
          <p:nvSpPr>
            <p:cNvPr id="386" name="Google Shape;386;p41"/>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87" name="Google Shape;387;p41"/>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388" name="Google Shape;388;p41"/>
          <p:cNvPicPr preferRelativeResize="0"/>
          <p:nvPr/>
        </p:nvPicPr>
        <p:blipFill>
          <a:blip r:embed="rId3">
            <a:alphaModFix/>
          </a:blip>
          <a:stretch>
            <a:fillRect/>
          </a:stretch>
        </p:blipFill>
        <p:spPr>
          <a:xfrm>
            <a:off x="452950" y="764000"/>
            <a:ext cx="3848212" cy="3848212"/>
          </a:xfrm>
          <a:prstGeom prst="rect">
            <a:avLst/>
          </a:prstGeom>
          <a:noFill/>
          <a:ln>
            <a:noFill/>
          </a:ln>
        </p:spPr>
      </p:pic>
      <p:sp>
        <p:nvSpPr>
          <p:cNvPr id="389" name="Google Shape;389;p41"/>
          <p:cNvSpPr txBox="1"/>
          <p:nvPr/>
        </p:nvSpPr>
        <p:spPr>
          <a:xfrm>
            <a:off x="4572000" y="1325700"/>
            <a:ext cx="4052100" cy="2978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100">
                <a:solidFill>
                  <a:srgbClr val="11009C"/>
                </a:solidFill>
                <a:latin typeface="Poppins"/>
                <a:ea typeface="Poppins"/>
                <a:cs typeface="Poppins"/>
                <a:sym typeface="Poppins"/>
              </a:rPr>
              <a:t>Ordenar todos los materiales y herramientas</a:t>
            </a:r>
            <a:endParaRPr sz="2100">
              <a:solidFill>
                <a:srgbClr val="11009C"/>
              </a:solidFill>
              <a:latin typeface="Poppins"/>
              <a:ea typeface="Poppins"/>
              <a:cs typeface="Poppins"/>
              <a:sym typeface="Poppins"/>
            </a:endParaRPr>
          </a:p>
          <a:p>
            <a:pPr indent="0" lvl="0" marL="0" marR="0" rtl="0" algn="l">
              <a:spcBef>
                <a:spcPts val="0"/>
              </a:spcBef>
              <a:spcAft>
                <a:spcPts val="0"/>
              </a:spcAft>
              <a:buNone/>
            </a:pPr>
            <a:r>
              <a:t/>
            </a:r>
            <a:endParaRPr i="1"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Destornillador pequeño</a:t>
            </a:r>
            <a:endParaRPr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Alicate pequeño</a:t>
            </a:r>
            <a:endParaRPr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Tornillos del kit de servo</a:t>
            </a:r>
            <a:endParaRPr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Cabezal de servo doble</a:t>
            </a:r>
            <a:endParaRPr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Eje (clip estirado)</a:t>
            </a:r>
            <a:endParaRPr sz="2100">
              <a:solidFill>
                <a:srgbClr val="11009C"/>
              </a:solidFill>
              <a:latin typeface="Poppins"/>
              <a:ea typeface="Poppins"/>
              <a:cs typeface="Poppins"/>
              <a:sym typeface="Poppins"/>
            </a:endParaRPr>
          </a:p>
          <a:p>
            <a:pPr indent="-361950" lvl="0" marL="457200" marR="0" rtl="0" algn="l">
              <a:spcBef>
                <a:spcPts val="0"/>
              </a:spcBef>
              <a:spcAft>
                <a:spcPts val="0"/>
              </a:spcAft>
              <a:buClr>
                <a:srgbClr val="11009C"/>
              </a:buClr>
              <a:buSzPts val="2100"/>
              <a:buFont typeface="Poppins"/>
              <a:buChar char="●"/>
            </a:pPr>
            <a:r>
              <a:rPr lang="es" sz="2100">
                <a:solidFill>
                  <a:srgbClr val="11009C"/>
                </a:solidFill>
                <a:latin typeface="Poppins"/>
                <a:ea typeface="Poppins"/>
                <a:cs typeface="Poppins"/>
                <a:sym typeface="Poppins"/>
              </a:rPr>
              <a:t>Robot origami</a:t>
            </a:r>
            <a:endParaRPr sz="2100">
              <a:solidFill>
                <a:srgbClr val="11009C"/>
              </a:solidFill>
              <a:latin typeface="Poppins"/>
              <a:ea typeface="Poppins"/>
              <a:cs typeface="Poppins"/>
              <a:sym typeface="Poppins"/>
            </a:endParaRPr>
          </a:p>
        </p:txBody>
      </p:sp>
      <p:grpSp>
        <p:nvGrpSpPr>
          <p:cNvPr id="390" name="Google Shape;390;p41"/>
          <p:cNvGrpSpPr/>
          <p:nvPr/>
        </p:nvGrpSpPr>
        <p:grpSpPr>
          <a:xfrm>
            <a:off x="-126275" y="4746700"/>
            <a:ext cx="9270322" cy="401792"/>
            <a:chOff x="0" y="-29340"/>
            <a:chExt cx="2901600" cy="5177731"/>
          </a:xfrm>
        </p:grpSpPr>
        <p:pic>
          <p:nvPicPr>
            <p:cNvPr id="391" name="Google Shape;391;p41"/>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392" name="Google Shape;392;p4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93" name="Google Shape;393;p4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94" name="Google Shape;394;p41"/>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2"/>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a:t>
            </a:r>
            <a:r>
              <a:rPr lang="es" sz="3300">
                <a:solidFill>
                  <a:srgbClr val="11009C"/>
                </a:solidFill>
                <a:latin typeface="Poppins SemiBold"/>
                <a:ea typeface="Poppins SemiBold"/>
                <a:cs typeface="Poppins SemiBold"/>
                <a:sym typeface="Poppins SemiBold"/>
              </a:rPr>
              <a:t>nsamblado</a:t>
            </a:r>
            <a:endParaRPr sz="3300">
              <a:solidFill>
                <a:srgbClr val="11009C"/>
              </a:solidFill>
              <a:latin typeface="Poppins SemiBold"/>
              <a:ea typeface="Poppins SemiBold"/>
              <a:cs typeface="Poppins SemiBold"/>
              <a:sym typeface="Poppins SemiBold"/>
            </a:endParaRPr>
          </a:p>
        </p:txBody>
      </p:sp>
      <p:grpSp>
        <p:nvGrpSpPr>
          <p:cNvPr id="400" name="Google Shape;400;p42"/>
          <p:cNvGrpSpPr/>
          <p:nvPr/>
        </p:nvGrpSpPr>
        <p:grpSpPr>
          <a:xfrm>
            <a:off x="521769" y="322345"/>
            <a:ext cx="613322" cy="307165"/>
            <a:chOff x="7228638" y="333378"/>
            <a:chExt cx="1193466" cy="597714"/>
          </a:xfrm>
        </p:grpSpPr>
        <p:sp>
          <p:nvSpPr>
            <p:cNvPr id="401" name="Google Shape;401;p42"/>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42"/>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03" name="Google Shape;403;p42"/>
          <p:cNvPicPr preferRelativeResize="0"/>
          <p:nvPr/>
        </p:nvPicPr>
        <p:blipFill>
          <a:blip r:embed="rId3">
            <a:alphaModFix/>
          </a:blip>
          <a:stretch>
            <a:fillRect/>
          </a:stretch>
        </p:blipFill>
        <p:spPr>
          <a:xfrm>
            <a:off x="686000" y="947499"/>
            <a:ext cx="3616225" cy="3616225"/>
          </a:xfrm>
          <a:prstGeom prst="rect">
            <a:avLst/>
          </a:prstGeom>
          <a:noFill/>
          <a:ln>
            <a:noFill/>
          </a:ln>
        </p:spPr>
      </p:pic>
      <p:sp>
        <p:nvSpPr>
          <p:cNvPr id="404" name="Google Shape;404;p42"/>
          <p:cNvSpPr txBox="1"/>
          <p:nvPr/>
        </p:nvSpPr>
        <p:spPr>
          <a:xfrm>
            <a:off x="4672651" y="2259375"/>
            <a:ext cx="3616200" cy="715800"/>
          </a:xfrm>
          <a:prstGeom prst="rect">
            <a:avLst/>
          </a:prstGeom>
          <a:noFill/>
          <a:ln>
            <a:noFill/>
          </a:ln>
        </p:spPr>
        <p:txBody>
          <a:bodyPr anchorCtr="0" anchor="t" bIns="34275" lIns="68575" spcFirstLastPara="1" rIns="68575" wrap="square" tIns="34275">
            <a:spAutoFit/>
          </a:bodyPr>
          <a:lstStyle/>
          <a:p>
            <a:pPr indent="-361950" lvl="0" marL="457200" marR="0" rtl="0" algn="l">
              <a:spcBef>
                <a:spcPts val="0"/>
              </a:spcBef>
              <a:spcAft>
                <a:spcPts val="0"/>
              </a:spcAft>
              <a:buClr>
                <a:srgbClr val="11009C"/>
              </a:buClr>
              <a:buSzPts val="2100"/>
              <a:buFont typeface="Poppins SemiBold"/>
              <a:buChar char="●"/>
            </a:pPr>
            <a:r>
              <a:rPr lang="es" sz="2100">
                <a:solidFill>
                  <a:srgbClr val="11009C"/>
                </a:solidFill>
                <a:latin typeface="Poppins SemiBold"/>
                <a:ea typeface="Poppins SemiBold"/>
                <a:cs typeface="Poppins SemiBold"/>
                <a:sym typeface="Poppins SemiBold"/>
              </a:rPr>
              <a:t>Introducir el servo en nuestro origami</a:t>
            </a:r>
            <a:endParaRPr sz="2100">
              <a:solidFill>
                <a:srgbClr val="11009C"/>
              </a:solidFill>
              <a:latin typeface="Poppins SemiBold"/>
              <a:ea typeface="Poppins SemiBold"/>
              <a:cs typeface="Poppins SemiBold"/>
              <a:sym typeface="Poppins SemiBold"/>
            </a:endParaRPr>
          </a:p>
        </p:txBody>
      </p:sp>
      <p:sp>
        <p:nvSpPr>
          <p:cNvPr id="405" name="Google Shape;405;p42"/>
          <p:cNvSpPr/>
          <p:nvPr/>
        </p:nvSpPr>
        <p:spPr>
          <a:xfrm>
            <a:off x="1912325" y="3663450"/>
            <a:ext cx="439500" cy="4395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42"/>
          <p:cNvSpPr/>
          <p:nvPr/>
        </p:nvSpPr>
        <p:spPr>
          <a:xfrm>
            <a:off x="3537450" y="2094025"/>
            <a:ext cx="439500" cy="4395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07" name="Google Shape;407;p42"/>
          <p:cNvCxnSpPr>
            <a:stCxn id="405" idx="6"/>
            <a:endCxn id="406" idx="2"/>
          </p:cNvCxnSpPr>
          <p:nvPr/>
        </p:nvCxnSpPr>
        <p:spPr>
          <a:xfrm flipH="1" rot="10800000">
            <a:off x="2351825" y="2313900"/>
            <a:ext cx="1185600" cy="1569300"/>
          </a:xfrm>
          <a:prstGeom prst="curvedConnector3">
            <a:avLst>
              <a:gd fmla="val 50001" name="adj1"/>
            </a:avLst>
          </a:prstGeom>
          <a:noFill/>
          <a:ln cap="flat" cmpd="sng" w="28575">
            <a:solidFill>
              <a:srgbClr val="FF00FF"/>
            </a:solidFill>
            <a:prstDash val="solid"/>
            <a:round/>
            <a:headEnd len="med" w="med" type="none"/>
            <a:tailEnd len="med" w="med" type="none"/>
          </a:ln>
        </p:spPr>
      </p:cxnSp>
      <p:pic>
        <p:nvPicPr>
          <p:cNvPr id="408" name="Google Shape;408;p42"/>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409" name="Google Shape;409;p42"/>
          <p:cNvGrpSpPr/>
          <p:nvPr/>
        </p:nvGrpSpPr>
        <p:grpSpPr>
          <a:xfrm>
            <a:off x="-126275" y="4746700"/>
            <a:ext cx="9270322" cy="401792"/>
            <a:chOff x="0" y="-29340"/>
            <a:chExt cx="2901600" cy="5177731"/>
          </a:xfrm>
        </p:grpSpPr>
        <p:pic>
          <p:nvPicPr>
            <p:cNvPr id="410" name="Google Shape;410;p42"/>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411" name="Google Shape;411;p4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12" name="Google Shape;412;p4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3"/>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a:t>
            </a:r>
            <a:r>
              <a:rPr lang="es" sz="3300">
                <a:solidFill>
                  <a:srgbClr val="11009C"/>
                </a:solidFill>
                <a:latin typeface="Poppins SemiBold"/>
                <a:ea typeface="Poppins SemiBold"/>
                <a:cs typeface="Poppins SemiBold"/>
                <a:sym typeface="Poppins SemiBold"/>
              </a:rPr>
              <a:t>nsamblado</a:t>
            </a:r>
            <a:endParaRPr sz="3300">
              <a:solidFill>
                <a:srgbClr val="11009C"/>
              </a:solidFill>
              <a:latin typeface="Poppins SemiBold"/>
              <a:ea typeface="Poppins SemiBold"/>
              <a:cs typeface="Poppins SemiBold"/>
              <a:sym typeface="Poppins SemiBold"/>
            </a:endParaRPr>
          </a:p>
        </p:txBody>
      </p:sp>
      <p:grpSp>
        <p:nvGrpSpPr>
          <p:cNvPr id="418" name="Google Shape;418;p43"/>
          <p:cNvGrpSpPr/>
          <p:nvPr/>
        </p:nvGrpSpPr>
        <p:grpSpPr>
          <a:xfrm>
            <a:off x="521769" y="322345"/>
            <a:ext cx="613322" cy="307165"/>
            <a:chOff x="7228638" y="333378"/>
            <a:chExt cx="1193466" cy="597714"/>
          </a:xfrm>
        </p:grpSpPr>
        <p:sp>
          <p:nvSpPr>
            <p:cNvPr id="419" name="Google Shape;419;p43"/>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43"/>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21" name="Google Shape;421;p43"/>
          <p:cNvPicPr preferRelativeResize="0"/>
          <p:nvPr/>
        </p:nvPicPr>
        <p:blipFill>
          <a:blip r:embed="rId3">
            <a:alphaModFix/>
          </a:blip>
          <a:stretch>
            <a:fillRect/>
          </a:stretch>
        </p:blipFill>
        <p:spPr>
          <a:xfrm>
            <a:off x="109900" y="879225"/>
            <a:ext cx="3908352" cy="3908352"/>
          </a:xfrm>
          <a:prstGeom prst="rect">
            <a:avLst/>
          </a:prstGeom>
          <a:noFill/>
          <a:ln>
            <a:noFill/>
          </a:ln>
        </p:spPr>
      </p:pic>
      <p:sp>
        <p:nvSpPr>
          <p:cNvPr id="422" name="Google Shape;422;p43"/>
          <p:cNvSpPr/>
          <p:nvPr/>
        </p:nvSpPr>
        <p:spPr>
          <a:xfrm>
            <a:off x="1298150" y="4110400"/>
            <a:ext cx="439500" cy="4395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43"/>
          <p:cNvSpPr/>
          <p:nvPr/>
        </p:nvSpPr>
        <p:spPr>
          <a:xfrm>
            <a:off x="1737650" y="2389225"/>
            <a:ext cx="298200" cy="2982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4" name="Google Shape;424;p43"/>
          <p:cNvCxnSpPr>
            <a:stCxn id="422" idx="6"/>
            <a:endCxn id="423" idx="2"/>
          </p:cNvCxnSpPr>
          <p:nvPr/>
        </p:nvCxnSpPr>
        <p:spPr>
          <a:xfrm flipH="1" rot="10800000">
            <a:off x="1737650" y="2538250"/>
            <a:ext cx="600" cy="1791900"/>
          </a:xfrm>
          <a:prstGeom prst="curvedConnector5">
            <a:avLst>
              <a:gd fmla="val 39687500" name="adj1"/>
              <a:gd fmla="val 51969" name="adj2"/>
              <a:gd fmla="val -39687500" name="adj3"/>
            </a:avLst>
          </a:prstGeom>
          <a:noFill/>
          <a:ln cap="flat" cmpd="sng" w="28575">
            <a:solidFill>
              <a:srgbClr val="FF00FF"/>
            </a:solidFill>
            <a:prstDash val="solid"/>
            <a:round/>
            <a:headEnd len="med" w="med" type="none"/>
            <a:tailEnd len="med" w="med" type="none"/>
          </a:ln>
        </p:spPr>
      </p:cxnSp>
      <p:sp>
        <p:nvSpPr>
          <p:cNvPr id="425" name="Google Shape;425;p43"/>
          <p:cNvSpPr/>
          <p:nvPr/>
        </p:nvSpPr>
        <p:spPr>
          <a:xfrm>
            <a:off x="2328325" y="2320150"/>
            <a:ext cx="307200" cy="3072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6" name="Google Shape;426;p43"/>
          <p:cNvCxnSpPr>
            <a:stCxn id="422" idx="6"/>
            <a:endCxn id="425" idx="2"/>
          </p:cNvCxnSpPr>
          <p:nvPr/>
        </p:nvCxnSpPr>
        <p:spPr>
          <a:xfrm flipH="1" rot="10800000">
            <a:off x="1737650" y="2473750"/>
            <a:ext cx="590700" cy="1856400"/>
          </a:xfrm>
          <a:prstGeom prst="curvedConnector3">
            <a:avLst>
              <a:gd fmla="val 49998" name="adj1"/>
            </a:avLst>
          </a:prstGeom>
          <a:noFill/>
          <a:ln cap="flat" cmpd="sng" w="28575">
            <a:solidFill>
              <a:srgbClr val="FF00FF"/>
            </a:solidFill>
            <a:prstDash val="solid"/>
            <a:round/>
            <a:headEnd len="med" w="med" type="none"/>
            <a:tailEnd len="med" w="med" type="none"/>
          </a:ln>
        </p:spPr>
      </p:cxnSp>
      <p:sp>
        <p:nvSpPr>
          <p:cNvPr id="427" name="Google Shape;427;p43"/>
          <p:cNvSpPr txBox="1"/>
          <p:nvPr/>
        </p:nvSpPr>
        <p:spPr>
          <a:xfrm>
            <a:off x="4519976" y="2115839"/>
            <a:ext cx="3730200" cy="715800"/>
          </a:xfrm>
          <a:prstGeom prst="rect">
            <a:avLst/>
          </a:prstGeom>
          <a:noFill/>
          <a:ln>
            <a:noFill/>
          </a:ln>
        </p:spPr>
        <p:txBody>
          <a:bodyPr anchorCtr="0" anchor="t" bIns="34275" lIns="68575" spcFirstLastPara="1" rIns="68575" wrap="square" tIns="34275">
            <a:spAutoFit/>
          </a:bodyPr>
          <a:lstStyle/>
          <a:p>
            <a:pPr indent="-361950" lvl="0" marL="457200" marR="0" rtl="0" algn="l">
              <a:spcBef>
                <a:spcPts val="0"/>
              </a:spcBef>
              <a:spcAft>
                <a:spcPts val="0"/>
              </a:spcAft>
              <a:buClr>
                <a:srgbClr val="11009C"/>
              </a:buClr>
              <a:buSzPts val="2100"/>
              <a:buFont typeface="Poppins SemiBold"/>
              <a:buChar char="●"/>
            </a:pPr>
            <a:r>
              <a:rPr lang="es" sz="2100">
                <a:solidFill>
                  <a:srgbClr val="11009C"/>
                </a:solidFill>
                <a:latin typeface="Poppins SemiBold"/>
                <a:ea typeface="Poppins SemiBold"/>
                <a:cs typeface="Poppins SemiBold"/>
                <a:sym typeface="Poppins SemiBold"/>
              </a:rPr>
              <a:t>Atornillar el servo en la pared</a:t>
            </a:r>
            <a:endParaRPr sz="2100">
              <a:solidFill>
                <a:srgbClr val="11009C"/>
              </a:solidFill>
              <a:latin typeface="Poppins SemiBold"/>
              <a:ea typeface="Poppins SemiBold"/>
              <a:cs typeface="Poppins SemiBold"/>
              <a:sym typeface="Poppins SemiBold"/>
            </a:endParaRPr>
          </a:p>
        </p:txBody>
      </p:sp>
      <p:pic>
        <p:nvPicPr>
          <p:cNvPr id="428" name="Google Shape;428;p43"/>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429" name="Google Shape;429;p43"/>
          <p:cNvGrpSpPr/>
          <p:nvPr/>
        </p:nvGrpSpPr>
        <p:grpSpPr>
          <a:xfrm>
            <a:off x="-126275" y="4746700"/>
            <a:ext cx="9270322" cy="401792"/>
            <a:chOff x="0" y="-29340"/>
            <a:chExt cx="2901600" cy="5177731"/>
          </a:xfrm>
        </p:grpSpPr>
        <p:pic>
          <p:nvPicPr>
            <p:cNvPr id="430" name="Google Shape;430;p43"/>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431" name="Google Shape;431;p4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32" name="Google Shape;432;p43"/>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a:t>
            </a:r>
            <a:r>
              <a:rPr lang="es" sz="3300">
                <a:solidFill>
                  <a:srgbClr val="11009C"/>
                </a:solidFill>
                <a:latin typeface="Poppins SemiBold"/>
                <a:ea typeface="Poppins SemiBold"/>
                <a:cs typeface="Poppins SemiBold"/>
                <a:sym typeface="Poppins SemiBold"/>
              </a:rPr>
              <a:t>nsamblado</a:t>
            </a:r>
            <a:endParaRPr sz="3300">
              <a:solidFill>
                <a:srgbClr val="11009C"/>
              </a:solidFill>
              <a:latin typeface="Poppins SemiBold"/>
              <a:ea typeface="Poppins SemiBold"/>
              <a:cs typeface="Poppins SemiBold"/>
              <a:sym typeface="Poppins SemiBold"/>
            </a:endParaRPr>
          </a:p>
        </p:txBody>
      </p:sp>
      <p:grpSp>
        <p:nvGrpSpPr>
          <p:cNvPr id="438" name="Google Shape;438;p44"/>
          <p:cNvGrpSpPr/>
          <p:nvPr/>
        </p:nvGrpSpPr>
        <p:grpSpPr>
          <a:xfrm>
            <a:off x="521769" y="322345"/>
            <a:ext cx="613322" cy="307165"/>
            <a:chOff x="7228638" y="333378"/>
            <a:chExt cx="1193466" cy="597714"/>
          </a:xfrm>
        </p:grpSpPr>
        <p:sp>
          <p:nvSpPr>
            <p:cNvPr id="439" name="Google Shape;439;p44"/>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40" name="Google Shape;440;p44"/>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41" name="Google Shape;441;p44"/>
          <p:cNvPicPr preferRelativeResize="0"/>
          <p:nvPr/>
        </p:nvPicPr>
        <p:blipFill>
          <a:blip r:embed="rId3">
            <a:alphaModFix/>
          </a:blip>
          <a:stretch>
            <a:fillRect/>
          </a:stretch>
        </p:blipFill>
        <p:spPr>
          <a:xfrm>
            <a:off x="4199900" y="1347800"/>
            <a:ext cx="3481974" cy="3481974"/>
          </a:xfrm>
          <a:prstGeom prst="rect">
            <a:avLst/>
          </a:prstGeom>
          <a:noFill/>
          <a:ln>
            <a:noFill/>
          </a:ln>
        </p:spPr>
      </p:pic>
      <p:pic>
        <p:nvPicPr>
          <p:cNvPr id="442" name="Google Shape;442;p44"/>
          <p:cNvPicPr preferRelativeResize="0"/>
          <p:nvPr/>
        </p:nvPicPr>
        <p:blipFill>
          <a:blip r:embed="rId4">
            <a:alphaModFix/>
          </a:blip>
          <a:stretch>
            <a:fillRect/>
          </a:stretch>
        </p:blipFill>
        <p:spPr>
          <a:xfrm>
            <a:off x="521775" y="1347800"/>
            <a:ext cx="3481974" cy="3481974"/>
          </a:xfrm>
          <a:prstGeom prst="rect">
            <a:avLst/>
          </a:prstGeom>
          <a:noFill/>
          <a:ln>
            <a:noFill/>
          </a:ln>
        </p:spPr>
      </p:pic>
      <p:sp>
        <p:nvSpPr>
          <p:cNvPr id="443" name="Google Shape;443;p44"/>
          <p:cNvSpPr/>
          <p:nvPr/>
        </p:nvSpPr>
        <p:spPr>
          <a:xfrm>
            <a:off x="6228025" y="2915600"/>
            <a:ext cx="613200" cy="6132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44"/>
          <p:cNvSpPr/>
          <p:nvPr/>
        </p:nvSpPr>
        <p:spPr>
          <a:xfrm>
            <a:off x="2299325" y="2496500"/>
            <a:ext cx="613200" cy="6132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44"/>
          <p:cNvSpPr txBox="1"/>
          <p:nvPr/>
        </p:nvSpPr>
        <p:spPr>
          <a:xfrm>
            <a:off x="1177704" y="955388"/>
            <a:ext cx="4647300" cy="392400"/>
          </a:xfrm>
          <a:prstGeom prst="rect">
            <a:avLst/>
          </a:prstGeom>
          <a:noFill/>
          <a:ln>
            <a:noFill/>
          </a:ln>
        </p:spPr>
        <p:txBody>
          <a:bodyPr anchorCtr="0" anchor="t" bIns="34275" lIns="68575" spcFirstLastPara="1" rIns="68575" wrap="square" tIns="34275">
            <a:spAutoFit/>
          </a:bodyPr>
          <a:lstStyle/>
          <a:p>
            <a:pPr indent="-361950" lvl="0" marL="457200" marR="0" rtl="0" algn="l">
              <a:spcBef>
                <a:spcPts val="0"/>
              </a:spcBef>
              <a:spcAft>
                <a:spcPts val="0"/>
              </a:spcAft>
              <a:buClr>
                <a:srgbClr val="11009C"/>
              </a:buClr>
              <a:buSzPts val="2100"/>
              <a:buFont typeface="Poppins SemiBold"/>
              <a:buChar char="●"/>
            </a:pPr>
            <a:r>
              <a:rPr lang="es" sz="2100">
                <a:solidFill>
                  <a:srgbClr val="11009C"/>
                </a:solidFill>
                <a:latin typeface="Poppins SemiBold"/>
                <a:ea typeface="Poppins SemiBold"/>
                <a:cs typeface="Poppins SemiBold"/>
                <a:sym typeface="Poppins SemiBold"/>
              </a:rPr>
              <a:t>Atornillar el servo en la pared</a:t>
            </a:r>
            <a:endParaRPr sz="2100">
              <a:solidFill>
                <a:srgbClr val="11009C"/>
              </a:solidFill>
              <a:latin typeface="Poppins SemiBold"/>
              <a:ea typeface="Poppins SemiBold"/>
              <a:cs typeface="Poppins SemiBold"/>
              <a:sym typeface="Poppins SemiBold"/>
            </a:endParaRPr>
          </a:p>
        </p:txBody>
      </p:sp>
      <p:pic>
        <p:nvPicPr>
          <p:cNvPr id="446" name="Google Shape;446;p44"/>
          <p:cNvPicPr preferRelativeResize="0"/>
          <p:nvPr/>
        </p:nvPicPr>
        <p:blipFill rotWithShape="1">
          <a:blip r:embed="rId5">
            <a:alphaModFix/>
          </a:blip>
          <a:srcRect b="21938" l="9222" r="8365" t="22367"/>
          <a:stretch/>
        </p:blipFill>
        <p:spPr>
          <a:xfrm>
            <a:off x="7612167" y="244316"/>
            <a:ext cx="1360523" cy="612003"/>
          </a:xfrm>
          <a:prstGeom prst="rect">
            <a:avLst/>
          </a:prstGeom>
          <a:noFill/>
          <a:ln>
            <a:noFill/>
          </a:ln>
        </p:spPr>
      </p:pic>
      <p:grpSp>
        <p:nvGrpSpPr>
          <p:cNvPr id="447" name="Google Shape;447;p44"/>
          <p:cNvGrpSpPr/>
          <p:nvPr/>
        </p:nvGrpSpPr>
        <p:grpSpPr>
          <a:xfrm>
            <a:off x="-126275" y="4746700"/>
            <a:ext cx="9270322" cy="401792"/>
            <a:chOff x="0" y="-29340"/>
            <a:chExt cx="2901600" cy="5177731"/>
          </a:xfrm>
        </p:grpSpPr>
        <p:pic>
          <p:nvPicPr>
            <p:cNvPr id="448" name="Google Shape;448;p44"/>
            <p:cNvPicPr preferRelativeResize="0"/>
            <p:nvPr/>
          </p:nvPicPr>
          <p:blipFill rotWithShape="1">
            <a:blip r:embed="rId6">
              <a:alphaModFix/>
            </a:blip>
            <a:srcRect b="68756" l="25893" r="0" t="0"/>
            <a:stretch/>
          </p:blipFill>
          <p:spPr>
            <a:xfrm rot="5400000">
              <a:off x="-1130296" y="1116585"/>
              <a:ext cx="5172836" cy="2890776"/>
            </a:xfrm>
            <a:prstGeom prst="rect">
              <a:avLst/>
            </a:prstGeom>
            <a:noFill/>
            <a:ln>
              <a:noFill/>
            </a:ln>
          </p:spPr>
        </p:pic>
        <p:sp>
          <p:nvSpPr>
            <p:cNvPr id="449" name="Google Shape;449;p4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50" name="Google Shape;450;p44"/>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5"/>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a:t>
            </a:r>
            <a:r>
              <a:rPr lang="es" sz="3300">
                <a:solidFill>
                  <a:srgbClr val="11009C"/>
                </a:solidFill>
                <a:latin typeface="Poppins SemiBold"/>
                <a:ea typeface="Poppins SemiBold"/>
                <a:cs typeface="Poppins SemiBold"/>
                <a:sym typeface="Poppins SemiBold"/>
              </a:rPr>
              <a:t>nsamblado</a:t>
            </a:r>
            <a:endParaRPr sz="3300">
              <a:solidFill>
                <a:srgbClr val="11009C"/>
              </a:solidFill>
              <a:latin typeface="Poppins SemiBold"/>
              <a:ea typeface="Poppins SemiBold"/>
              <a:cs typeface="Poppins SemiBold"/>
              <a:sym typeface="Poppins SemiBold"/>
            </a:endParaRPr>
          </a:p>
        </p:txBody>
      </p:sp>
      <p:grpSp>
        <p:nvGrpSpPr>
          <p:cNvPr id="456" name="Google Shape;456;p45"/>
          <p:cNvGrpSpPr/>
          <p:nvPr/>
        </p:nvGrpSpPr>
        <p:grpSpPr>
          <a:xfrm>
            <a:off x="521769" y="322345"/>
            <a:ext cx="613322" cy="307165"/>
            <a:chOff x="7228638" y="333378"/>
            <a:chExt cx="1193466" cy="597714"/>
          </a:xfrm>
        </p:grpSpPr>
        <p:sp>
          <p:nvSpPr>
            <p:cNvPr id="457" name="Google Shape;457;p45"/>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8" name="Google Shape;458;p45"/>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59" name="Google Shape;459;p45"/>
          <p:cNvPicPr preferRelativeResize="0"/>
          <p:nvPr/>
        </p:nvPicPr>
        <p:blipFill>
          <a:blip r:embed="rId3">
            <a:alphaModFix/>
          </a:blip>
          <a:stretch>
            <a:fillRect/>
          </a:stretch>
        </p:blipFill>
        <p:spPr>
          <a:xfrm>
            <a:off x="578575" y="933675"/>
            <a:ext cx="3851674" cy="3851674"/>
          </a:xfrm>
          <a:prstGeom prst="rect">
            <a:avLst/>
          </a:prstGeom>
          <a:noFill/>
          <a:ln>
            <a:noFill/>
          </a:ln>
        </p:spPr>
      </p:pic>
      <p:sp>
        <p:nvSpPr>
          <p:cNvPr id="460" name="Google Shape;460;p45"/>
          <p:cNvSpPr/>
          <p:nvPr/>
        </p:nvSpPr>
        <p:spPr>
          <a:xfrm>
            <a:off x="344375" y="4110375"/>
            <a:ext cx="439500" cy="4395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45"/>
          <p:cNvSpPr/>
          <p:nvPr/>
        </p:nvSpPr>
        <p:spPr>
          <a:xfrm>
            <a:off x="1969500" y="2540950"/>
            <a:ext cx="439500" cy="4395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2" name="Google Shape;462;p45"/>
          <p:cNvCxnSpPr>
            <a:stCxn id="460" idx="6"/>
            <a:endCxn id="461" idx="2"/>
          </p:cNvCxnSpPr>
          <p:nvPr/>
        </p:nvCxnSpPr>
        <p:spPr>
          <a:xfrm flipH="1" rot="10800000">
            <a:off x="783875" y="2760825"/>
            <a:ext cx="1185600" cy="1569300"/>
          </a:xfrm>
          <a:prstGeom prst="curvedConnector3">
            <a:avLst>
              <a:gd fmla="val 50001" name="adj1"/>
            </a:avLst>
          </a:prstGeom>
          <a:noFill/>
          <a:ln cap="flat" cmpd="sng" w="28575">
            <a:solidFill>
              <a:srgbClr val="FF00FF"/>
            </a:solidFill>
            <a:prstDash val="solid"/>
            <a:round/>
            <a:headEnd len="med" w="med" type="none"/>
            <a:tailEnd len="med" w="med" type="none"/>
          </a:ln>
        </p:spPr>
      </p:cxnSp>
      <p:sp>
        <p:nvSpPr>
          <p:cNvPr id="463" name="Google Shape;463;p45"/>
          <p:cNvSpPr txBox="1"/>
          <p:nvPr/>
        </p:nvSpPr>
        <p:spPr>
          <a:xfrm>
            <a:off x="4672650" y="2259375"/>
            <a:ext cx="4031100" cy="715800"/>
          </a:xfrm>
          <a:prstGeom prst="rect">
            <a:avLst/>
          </a:prstGeom>
          <a:noFill/>
          <a:ln>
            <a:noFill/>
          </a:ln>
        </p:spPr>
        <p:txBody>
          <a:bodyPr anchorCtr="0" anchor="t" bIns="34275" lIns="68575" spcFirstLastPara="1" rIns="68575" wrap="square" tIns="34275">
            <a:spAutoFit/>
          </a:bodyPr>
          <a:lstStyle/>
          <a:p>
            <a:pPr indent="-361950" lvl="0" marL="457200" marR="0" rtl="0" algn="l">
              <a:spcBef>
                <a:spcPts val="0"/>
              </a:spcBef>
              <a:spcAft>
                <a:spcPts val="0"/>
              </a:spcAft>
              <a:buClr>
                <a:srgbClr val="11009C"/>
              </a:buClr>
              <a:buSzPts val="2100"/>
              <a:buFont typeface="Poppins SemiBold"/>
              <a:buChar char="●"/>
            </a:pPr>
            <a:r>
              <a:rPr lang="es" sz="2100">
                <a:solidFill>
                  <a:srgbClr val="11009C"/>
                </a:solidFill>
                <a:latin typeface="Poppins SemiBold"/>
                <a:ea typeface="Poppins SemiBold"/>
                <a:cs typeface="Poppins SemiBold"/>
                <a:sym typeface="Poppins SemiBold"/>
              </a:rPr>
              <a:t>Conectar el cabezal doble</a:t>
            </a:r>
            <a:endParaRPr sz="2100">
              <a:solidFill>
                <a:srgbClr val="11009C"/>
              </a:solidFill>
              <a:latin typeface="Poppins SemiBold"/>
              <a:ea typeface="Poppins SemiBold"/>
              <a:cs typeface="Poppins SemiBold"/>
              <a:sym typeface="Poppins SemiBold"/>
            </a:endParaRPr>
          </a:p>
        </p:txBody>
      </p:sp>
      <p:pic>
        <p:nvPicPr>
          <p:cNvPr id="464" name="Google Shape;464;p45"/>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465" name="Google Shape;465;p45"/>
          <p:cNvGrpSpPr/>
          <p:nvPr/>
        </p:nvGrpSpPr>
        <p:grpSpPr>
          <a:xfrm>
            <a:off x="-126275" y="4746700"/>
            <a:ext cx="9270322" cy="401792"/>
            <a:chOff x="0" y="-29340"/>
            <a:chExt cx="2901600" cy="5177731"/>
          </a:xfrm>
        </p:grpSpPr>
        <p:pic>
          <p:nvPicPr>
            <p:cNvPr id="466" name="Google Shape;466;p45"/>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467" name="Google Shape;467;p4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68" name="Google Shape;468;p4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6"/>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ensamblado</a:t>
            </a:r>
            <a:endParaRPr sz="3300">
              <a:solidFill>
                <a:srgbClr val="11009C"/>
              </a:solidFill>
              <a:latin typeface="Poppins SemiBold"/>
              <a:ea typeface="Poppins SemiBold"/>
              <a:cs typeface="Poppins SemiBold"/>
              <a:sym typeface="Poppins SemiBold"/>
            </a:endParaRPr>
          </a:p>
        </p:txBody>
      </p:sp>
      <p:grpSp>
        <p:nvGrpSpPr>
          <p:cNvPr id="474" name="Google Shape;474;p46"/>
          <p:cNvGrpSpPr/>
          <p:nvPr/>
        </p:nvGrpSpPr>
        <p:grpSpPr>
          <a:xfrm>
            <a:off x="521769" y="322345"/>
            <a:ext cx="613322" cy="307165"/>
            <a:chOff x="7228638" y="333378"/>
            <a:chExt cx="1193466" cy="597714"/>
          </a:xfrm>
        </p:grpSpPr>
        <p:sp>
          <p:nvSpPr>
            <p:cNvPr id="475" name="Google Shape;475;p46"/>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76" name="Google Shape;476;p46"/>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477" name="Google Shape;477;p46"/>
          <p:cNvPicPr preferRelativeResize="0"/>
          <p:nvPr/>
        </p:nvPicPr>
        <p:blipFill>
          <a:blip r:embed="rId3">
            <a:alphaModFix/>
          </a:blip>
          <a:stretch>
            <a:fillRect/>
          </a:stretch>
        </p:blipFill>
        <p:spPr>
          <a:xfrm>
            <a:off x="503423" y="744538"/>
            <a:ext cx="4068577" cy="4068577"/>
          </a:xfrm>
          <a:prstGeom prst="rect">
            <a:avLst/>
          </a:prstGeom>
          <a:noFill/>
          <a:ln>
            <a:noFill/>
          </a:ln>
        </p:spPr>
      </p:pic>
      <p:sp>
        <p:nvSpPr>
          <p:cNvPr id="478" name="Google Shape;478;p46"/>
          <p:cNvSpPr txBox="1"/>
          <p:nvPr/>
        </p:nvSpPr>
        <p:spPr>
          <a:xfrm>
            <a:off x="4672643" y="2259369"/>
            <a:ext cx="3075300" cy="1038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2100">
                <a:solidFill>
                  <a:srgbClr val="11009C"/>
                </a:solidFill>
                <a:latin typeface="Poppins"/>
                <a:ea typeface="Poppins"/>
                <a:cs typeface="Poppins"/>
                <a:sym typeface="Poppins"/>
              </a:rPr>
              <a:t>Conexión del eje entre el cabezal y el origami</a:t>
            </a:r>
            <a:endParaRPr b="1" i="1" sz="2100">
              <a:solidFill>
                <a:srgbClr val="11009C"/>
              </a:solidFill>
              <a:latin typeface="Poppins"/>
              <a:ea typeface="Poppins"/>
              <a:cs typeface="Poppins"/>
              <a:sym typeface="Poppins"/>
            </a:endParaRPr>
          </a:p>
        </p:txBody>
      </p:sp>
      <p:pic>
        <p:nvPicPr>
          <p:cNvPr id="479" name="Google Shape;479;p46"/>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480" name="Google Shape;480;p46"/>
          <p:cNvGrpSpPr/>
          <p:nvPr/>
        </p:nvGrpSpPr>
        <p:grpSpPr>
          <a:xfrm>
            <a:off x="-126275" y="4746700"/>
            <a:ext cx="9270322" cy="401792"/>
            <a:chOff x="0" y="-29340"/>
            <a:chExt cx="2901600" cy="5177731"/>
          </a:xfrm>
        </p:grpSpPr>
        <p:pic>
          <p:nvPicPr>
            <p:cNvPr id="481" name="Google Shape;481;p46"/>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482" name="Google Shape;482;p4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83" name="Google Shape;483;p4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7"/>
          <p:cNvSpPr txBox="1"/>
          <p:nvPr/>
        </p:nvSpPr>
        <p:spPr>
          <a:xfrm>
            <a:off x="1298143" y="187319"/>
            <a:ext cx="30753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FINAL</a:t>
            </a:r>
            <a:endParaRPr sz="3300">
              <a:solidFill>
                <a:srgbClr val="11009C"/>
              </a:solidFill>
              <a:latin typeface="Poppins SemiBold"/>
              <a:ea typeface="Poppins SemiBold"/>
              <a:cs typeface="Poppins SemiBold"/>
              <a:sym typeface="Poppins SemiBold"/>
            </a:endParaRPr>
          </a:p>
        </p:txBody>
      </p:sp>
      <p:grpSp>
        <p:nvGrpSpPr>
          <p:cNvPr id="489" name="Google Shape;489;p47"/>
          <p:cNvGrpSpPr/>
          <p:nvPr/>
        </p:nvGrpSpPr>
        <p:grpSpPr>
          <a:xfrm>
            <a:off x="521769" y="322345"/>
            <a:ext cx="613322" cy="307165"/>
            <a:chOff x="7228638" y="333378"/>
            <a:chExt cx="1193466" cy="597714"/>
          </a:xfrm>
        </p:grpSpPr>
        <p:sp>
          <p:nvSpPr>
            <p:cNvPr id="490" name="Google Shape;490;p47"/>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91" name="Google Shape;491;p47"/>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492" name="Google Shape;492;p47"/>
          <p:cNvGrpSpPr/>
          <p:nvPr/>
        </p:nvGrpSpPr>
        <p:grpSpPr>
          <a:xfrm>
            <a:off x="-126275" y="4746700"/>
            <a:ext cx="9270322" cy="401792"/>
            <a:chOff x="0" y="-29340"/>
            <a:chExt cx="2901600" cy="5177731"/>
          </a:xfrm>
        </p:grpSpPr>
        <p:pic>
          <p:nvPicPr>
            <p:cNvPr id="493" name="Google Shape;493;p47"/>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494" name="Google Shape;494;p4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95" name="Google Shape;495;p4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96" name="Google Shape;496;p47" title="Origami Recoleta.mp4">
            <a:hlinkClick r:id="rId4"/>
          </p:cNvPr>
          <p:cNvPicPr preferRelativeResize="0"/>
          <p:nvPr/>
        </p:nvPicPr>
        <p:blipFill>
          <a:blip r:embed="rId5">
            <a:alphaModFix/>
          </a:blip>
          <a:stretch>
            <a:fillRect/>
          </a:stretch>
        </p:blipFill>
        <p:spPr>
          <a:xfrm>
            <a:off x="1170625" y="840726"/>
            <a:ext cx="6802760" cy="38506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8"/>
          <p:cNvSpPr/>
          <p:nvPr/>
        </p:nvSpPr>
        <p:spPr>
          <a:xfrm>
            <a:off x="151950" y="1033100"/>
            <a:ext cx="8840100" cy="384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8"/>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503" name="Google Shape;503;p48"/>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LINKS </a:t>
            </a:r>
            <a:r>
              <a:rPr lang="es" sz="3300">
                <a:solidFill>
                  <a:srgbClr val="11009C"/>
                </a:solidFill>
                <a:latin typeface="Poppins SemiBold"/>
                <a:ea typeface="Poppins SemiBold"/>
                <a:cs typeface="Poppins SemiBold"/>
                <a:sym typeface="Poppins SemiBold"/>
              </a:rPr>
              <a:t>ÚTILES</a:t>
            </a:r>
            <a:endParaRPr sz="3300">
              <a:solidFill>
                <a:srgbClr val="11009C"/>
              </a:solidFill>
              <a:latin typeface="Poppins SemiBold"/>
              <a:ea typeface="Poppins SemiBold"/>
              <a:cs typeface="Poppins SemiBold"/>
              <a:sym typeface="Poppins SemiBold"/>
            </a:endParaRPr>
          </a:p>
        </p:txBody>
      </p:sp>
      <p:grpSp>
        <p:nvGrpSpPr>
          <p:cNvPr id="504" name="Google Shape;504;p48"/>
          <p:cNvGrpSpPr/>
          <p:nvPr/>
        </p:nvGrpSpPr>
        <p:grpSpPr>
          <a:xfrm>
            <a:off x="521769" y="322345"/>
            <a:ext cx="613322" cy="307165"/>
            <a:chOff x="7228638" y="333378"/>
            <a:chExt cx="1193466" cy="597714"/>
          </a:xfrm>
        </p:grpSpPr>
        <p:sp>
          <p:nvSpPr>
            <p:cNvPr id="505" name="Google Shape;505;p48"/>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06" name="Google Shape;506;p48"/>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507" name="Google Shape;507;p48"/>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11009C"/>
                </a:solidFill>
                <a:latin typeface="Poppins SemiBold"/>
                <a:ea typeface="Poppins SemiBold"/>
                <a:cs typeface="Poppins SemiBold"/>
                <a:sym typeface="Poppins SemiBold"/>
              </a:rPr>
              <a:t>ORIGAMI</a:t>
            </a:r>
            <a:endParaRPr sz="1400">
              <a:solidFill>
                <a:srgbClr val="11009C"/>
              </a:solidFill>
              <a:latin typeface="Poppins SemiBold"/>
              <a:ea typeface="Poppins SemiBold"/>
              <a:cs typeface="Poppins SemiBold"/>
              <a:sym typeface="Poppins SemiBold"/>
            </a:endParaRPr>
          </a:p>
        </p:txBody>
      </p:sp>
      <p:sp>
        <p:nvSpPr>
          <p:cNvPr id="508" name="Google Shape;508;p48"/>
          <p:cNvSpPr txBox="1"/>
          <p:nvPr/>
        </p:nvSpPr>
        <p:spPr>
          <a:xfrm>
            <a:off x="306150" y="1638788"/>
            <a:ext cx="8531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000" u="sng">
                <a:solidFill>
                  <a:schemeClr val="hlink"/>
                </a:solidFill>
                <a:latin typeface="Roboto Mono"/>
                <a:ea typeface="Roboto Mono"/>
                <a:cs typeface="Roboto Mono"/>
                <a:sym typeface="Roboto Mono"/>
                <a:hlinkClick r:id="rId3"/>
              </a:rPr>
              <a:t>https://www.ri.cmu.edu/pub_files/pub4/balkcom_devin_2004_1/balkcom_devin_2004_1.pdf</a:t>
            </a:r>
            <a:endParaRPr sz="2000">
              <a:solidFill>
                <a:schemeClr val="dk1"/>
              </a:solidFill>
              <a:latin typeface="Roboto Mono"/>
              <a:ea typeface="Roboto Mono"/>
              <a:cs typeface="Roboto Mono"/>
              <a:sym typeface="Roboto Mono"/>
            </a:endParaRPr>
          </a:p>
        </p:txBody>
      </p:sp>
      <p:sp>
        <p:nvSpPr>
          <p:cNvPr id="509" name="Google Shape;509;p48"/>
          <p:cNvSpPr txBox="1"/>
          <p:nvPr/>
        </p:nvSpPr>
        <p:spPr>
          <a:xfrm>
            <a:off x="306150" y="1289988"/>
            <a:ext cx="853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000">
                <a:solidFill>
                  <a:schemeClr val="dk1"/>
                </a:solidFill>
                <a:latin typeface="Roboto Mono"/>
                <a:ea typeface="Roboto Mono"/>
                <a:cs typeface="Roboto Mono"/>
                <a:sym typeface="Roboto Mono"/>
              </a:rPr>
              <a:t>TESIS ROBOT ORIGAMI</a:t>
            </a:r>
            <a:endParaRPr sz="2000">
              <a:solidFill>
                <a:schemeClr val="dk1"/>
              </a:solidFill>
              <a:latin typeface="Roboto Mono"/>
              <a:ea typeface="Roboto Mono"/>
              <a:cs typeface="Roboto Mono"/>
              <a:sym typeface="Roboto Mono"/>
            </a:endParaRPr>
          </a:p>
        </p:txBody>
      </p:sp>
      <p:pic>
        <p:nvPicPr>
          <p:cNvPr id="510" name="Google Shape;510;p48"/>
          <p:cNvPicPr preferRelativeResize="0"/>
          <p:nvPr/>
        </p:nvPicPr>
        <p:blipFill rotWithShape="1">
          <a:blip r:embed="rId4">
            <a:alphaModFix/>
          </a:blip>
          <a:srcRect b="21938" l="9222" r="8365" t="22367"/>
          <a:stretch/>
        </p:blipFill>
        <p:spPr>
          <a:xfrm>
            <a:off x="7612167" y="244316"/>
            <a:ext cx="1360523" cy="612003"/>
          </a:xfrm>
          <a:prstGeom prst="rect">
            <a:avLst/>
          </a:prstGeom>
          <a:noFill/>
          <a:ln>
            <a:noFill/>
          </a:ln>
        </p:spPr>
      </p:pic>
      <p:grpSp>
        <p:nvGrpSpPr>
          <p:cNvPr id="511" name="Google Shape;511;p48"/>
          <p:cNvGrpSpPr/>
          <p:nvPr/>
        </p:nvGrpSpPr>
        <p:grpSpPr>
          <a:xfrm>
            <a:off x="-126275" y="4746700"/>
            <a:ext cx="9270322" cy="401792"/>
            <a:chOff x="0" y="-29340"/>
            <a:chExt cx="2901600" cy="5177731"/>
          </a:xfrm>
        </p:grpSpPr>
        <p:pic>
          <p:nvPicPr>
            <p:cNvPr id="512" name="Google Shape;512;p48"/>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513" name="Google Shape;513;p4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14" name="Google Shape;514;p4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UACH-01-01" id="520" name="Google Shape;520;p49"/>
          <p:cNvPicPr preferRelativeResize="0"/>
          <p:nvPr/>
        </p:nvPicPr>
        <p:blipFill>
          <a:blip r:embed="rId3">
            <a:alphaModFix/>
          </a:blip>
          <a:stretch>
            <a:fillRect/>
          </a:stretch>
        </p:blipFill>
        <p:spPr>
          <a:xfrm>
            <a:off x="6857975" y="2847163"/>
            <a:ext cx="1476375" cy="723900"/>
          </a:xfrm>
          <a:prstGeom prst="rect">
            <a:avLst/>
          </a:prstGeom>
          <a:noFill/>
          <a:ln>
            <a:noFill/>
          </a:ln>
        </p:spPr>
      </p:pic>
      <p:pic>
        <p:nvPicPr>
          <p:cNvPr descr="UTFSM-01" id="521" name="Google Shape;521;p49"/>
          <p:cNvPicPr preferRelativeResize="0"/>
          <p:nvPr/>
        </p:nvPicPr>
        <p:blipFill>
          <a:blip r:embed="rId4">
            <a:alphaModFix/>
          </a:blip>
          <a:stretch>
            <a:fillRect/>
          </a:stretch>
        </p:blipFill>
        <p:spPr>
          <a:xfrm>
            <a:off x="759925" y="2877075"/>
            <a:ext cx="1303350" cy="683135"/>
          </a:xfrm>
          <a:prstGeom prst="rect">
            <a:avLst/>
          </a:prstGeom>
          <a:noFill/>
          <a:ln>
            <a:noFill/>
          </a:ln>
        </p:spPr>
      </p:pic>
      <p:pic>
        <p:nvPicPr>
          <p:cNvPr id="522" name="Google Shape;522;p49"/>
          <p:cNvPicPr preferRelativeResize="0"/>
          <p:nvPr/>
        </p:nvPicPr>
        <p:blipFill>
          <a:blip r:embed="rId5">
            <a:alphaModFix/>
          </a:blip>
          <a:stretch>
            <a:fillRect/>
          </a:stretch>
        </p:blipFill>
        <p:spPr>
          <a:xfrm>
            <a:off x="5822801" y="2845825"/>
            <a:ext cx="838115" cy="704851"/>
          </a:xfrm>
          <a:prstGeom prst="rect">
            <a:avLst/>
          </a:prstGeom>
          <a:noFill/>
          <a:ln>
            <a:noFill/>
          </a:ln>
        </p:spPr>
      </p:pic>
      <p:sp>
        <p:nvSpPr>
          <p:cNvPr id="523" name="Google Shape;523;p49"/>
          <p:cNvSpPr txBox="1"/>
          <p:nvPr/>
        </p:nvSpPr>
        <p:spPr>
          <a:xfrm>
            <a:off x="759925" y="1234250"/>
            <a:ext cx="7574400" cy="1251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lang="es" sz="1500">
                <a:solidFill>
                  <a:srgbClr val="000000"/>
                </a:solidFill>
                <a:latin typeface="Proxima Nova"/>
                <a:ea typeface="Proxima Nova"/>
                <a:cs typeface="Proxima Nova"/>
                <a:sym typeface="Proxima Nova"/>
              </a:rPr>
              <a:t>Clubes de Ciencia y Tecnología - Plan de nivelación</a:t>
            </a:r>
            <a:endParaRPr b="1" sz="1500">
              <a:solidFill>
                <a:srgbClr val="000000"/>
              </a:solidFill>
              <a:latin typeface="Proxima Nova"/>
              <a:ea typeface="Proxima Nova"/>
              <a:cs typeface="Proxima Nova"/>
              <a:sym typeface="Proxima Nova"/>
            </a:endParaRPr>
          </a:p>
          <a:p>
            <a:pPr indent="0" lvl="0" marL="0" marR="0" rtl="0" algn="ctr">
              <a:lnSpc>
                <a:spcPct val="115000"/>
              </a:lnSpc>
              <a:spcBef>
                <a:spcPts val="1000"/>
              </a:spcBef>
              <a:spcAft>
                <a:spcPts val="0"/>
              </a:spcAft>
              <a:buClr>
                <a:srgbClr val="000000"/>
              </a:buClr>
              <a:buSzPts val="1000"/>
              <a:buFont typeface="Arial"/>
              <a:buNone/>
            </a:pPr>
            <a:r>
              <a:rPr lang="es" sz="1200">
                <a:solidFill>
                  <a:srgbClr val="000000"/>
                </a:solidFill>
                <a:latin typeface="Proxima Nova"/>
                <a:ea typeface="Proxima Nova"/>
                <a:cs typeface="Proxima Nova"/>
                <a:sym typeface="Proxima Nova"/>
              </a:rPr>
              <a:t>Estos materiales han sido elaborados por Benjamín Espinoza y Gaspar Fábrega para el Programa de Ciencia y Tecnología de Fundación Gabriel &amp; Mary Mustakis. Se permite su uso bajo licencia Creative Commons (CC) por las Universidades Socias del Programa de Ciencia y Tecnología de Fundación Gabriel &amp; Mary Mustakis.</a:t>
            </a:r>
            <a:endParaRPr sz="1200">
              <a:solidFill>
                <a:srgbClr val="000000"/>
              </a:solidFill>
              <a:latin typeface="Proxima Nova"/>
              <a:ea typeface="Proxima Nova"/>
              <a:cs typeface="Proxima Nova"/>
              <a:sym typeface="Proxima Nova"/>
            </a:endParaRPr>
          </a:p>
          <a:p>
            <a:pPr indent="0" lvl="0" marL="0" rtl="0" algn="ctr">
              <a:lnSpc>
                <a:spcPct val="115000"/>
              </a:lnSpc>
              <a:spcBef>
                <a:spcPts val="1000"/>
              </a:spcBef>
              <a:spcAft>
                <a:spcPts val="0"/>
              </a:spcAft>
              <a:buClr>
                <a:srgbClr val="000000"/>
              </a:buClr>
              <a:buSzPts val="1000"/>
              <a:buFont typeface="Arial"/>
              <a:buNone/>
            </a:pPr>
            <a:r>
              <a:rPr b="1" lang="es" sz="1200">
                <a:solidFill>
                  <a:srgbClr val="000000"/>
                </a:solidFill>
                <a:latin typeface="Proxima Nova"/>
                <a:ea typeface="Proxima Nova"/>
                <a:cs typeface="Proxima Nova"/>
                <a:sym typeface="Proxima Nova"/>
              </a:rPr>
              <a:t>Versión 2 - Abril 2024</a:t>
            </a:r>
            <a:endParaRPr b="1" sz="1200">
              <a:solidFill>
                <a:srgbClr val="000000"/>
              </a:solidFill>
              <a:latin typeface="Proxima Nova"/>
              <a:ea typeface="Proxima Nova"/>
              <a:cs typeface="Proxima Nova"/>
              <a:sym typeface="Proxima Nova"/>
            </a:endParaRPr>
          </a:p>
        </p:txBody>
      </p:sp>
      <p:sp>
        <p:nvSpPr>
          <p:cNvPr id="524" name="Google Shape;524;p49"/>
          <p:cNvSpPr txBox="1"/>
          <p:nvPr/>
        </p:nvSpPr>
        <p:spPr>
          <a:xfrm>
            <a:off x="2903400" y="4650625"/>
            <a:ext cx="33372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000000"/>
                </a:solidFill>
                <a:latin typeface="Proxima Nova"/>
                <a:ea typeface="Proxima Nova"/>
                <a:cs typeface="Proxima Nova"/>
                <a:sym typeface="Proxima Nova"/>
              </a:rPr>
              <a:t>Publicado Bajo Licencia Creative Commons</a:t>
            </a:r>
            <a:endParaRPr b="1" i="0" sz="900" u="none" cap="none" strike="noStrike">
              <a:solidFill>
                <a:srgbClr val="000000"/>
              </a:solidFill>
              <a:latin typeface="Proxima Nova"/>
              <a:ea typeface="Proxima Nova"/>
              <a:cs typeface="Proxima Nova"/>
              <a:sym typeface="Proxima Nova"/>
            </a:endParaRPr>
          </a:p>
          <a:p>
            <a:pPr indent="0" lvl="0" marL="0" marR="0" rtl="0" algn="ctr">
              <a:lnSpc>
                <a:spcPct val="115000"/>
              </a:lnSpc>
              <a:spcBef>
                <a:spcPts val="0"/>
              </a:spcBef>
              <a:spcAft>
                <a:spcPts val="0"/>
              </a:spcAft>
              <a:buClr>
                <a:srgbClr val="000000"/>
              </a:buClr>
              <a:buSzPts val="900"/>
              <a:buFont typeface="Arial"/>
              <a:buNone/>
            </a:pPr>
            <a:r>
              <a:rPr i="0" lang="es" sz="900" u="none" cap="none" strike="noStrike">
                <a:solidFill>
                  <a:srgbClr val="000000"/>
                </a:solidFill>
                <a:latin typeface="Proxima Nova"/>
                <a:ea typeface="Proxima Nova"/>
                <a:cs typeface="Proxima Nova"/>
                <a:sym typeface="Proxima Nova"/>
              </a:rPr>
              <a:t>Atribución-NoComercial-CompartirIgual (CC BY-NC-SA)</a:t>
            </a:r>
            <a:endParaRPr i="0" sz="900" u="none" cap="none" strike="noStrike">
              <a:solidFill>
                <a:srgbClr val="000000"/>
              </a:solidFill>
              <a:latin typeface="Proxima Nova"/>
              <a:ea typeface="Proxima Nova"/>
              <a:cs typeface="Proxima Nova"/>
              <a:sym typeface="Proxima Nova"/>
            </a:endParaRPr>
          </a:p>
        </p:txBody>
      </p:sp>
      <p:pic>
        <p:nvPicPr>
          <p:cNvPr id="525" name="Google Shape;525;p49"/>
          <p:cNvPicPr preferRelativeResize="0"/>
          <p:nvPr/>
        </p:nvPicPr>
        <p:blipFill rotWithShape="1">
          <a:blip r:embed="rId6">
            <a:alphaModFix/>
          </a:blip>
          <a:srcRect b="0" l="0" r="0" t="0"/>
          <a:stretch/>
        </p:blipFill>
        <p:spPr>
          <a:xfrm>
            <a:off x="4336213" y="3910275"/>
            <a:ext cx="471505" cy="471505"/>
          </a:xfrm>
          <a:prstGeom prst="rect">
            <a:avLst/>
          </a:prstGeom>
          <a:noFill/>
          <a:ln>
            <a:noFill/>
          </a:ln>
        </p:spPr>
      </p:pic>
      <p:pic>
        <p:nvPicPr>
          <p:cNvPr id="526" name="Google Shape;526;p49"/>
          <p:cNvPicPr preferRelativeResize="0"/>
          <p:nvPr/>
        </p:nvPicPr>
        <p:blipFill rotWithShape="1">
          <a:blip r:embed="rId7">
            <a:alphaModFix/>
          </a:blip>
          <a:srcRect b="0" l="0" r="0" t="0"/>
          <a:stretch/>
        </p:blipFill>
        <p:spPr>
          <a:xfrm>
            <a:off x="4135386" y="4411750"/>
            <a:ext cx="873238" cy="291096"/>
          </a:xfrm>
          <a:prstGeom prst="rect">
            <a:avLst/>
          </a:prstGeom>
          <a:noFill/>
          <a:ln>
            <a:noFill/>
          </a:ln>
        </p:spPr>
      </p:pic>
      <p:pic>
        <p:nvPicPr>
          <p:cNvPr id="527" name="Google Shape;527;p49"/>
          <p:cNvPicPr preferRelativeResize="0"/>
          <p:nvPr/>
        </p:nvPicPr>
        <p:blipFill>
          <a:blip r:embed="rId8">
            <a:alphaModFix/>
          </a:blip>
          <a:stretch>
            <a:fillRect/>
          </a:stretch>
        </p:blipFill>
        <p:spPr>
          <a:xfrm>
            <a:off x="2731486" y="3949"/>
            <a:ext cx="3680762" cy="1132713"/>
          </a:xfrm>
          <a:prstGeom prst="rect">
            <a:avLst/>
          </a:prstGeom>
          <a:noFill/>
          <a:ln>
            <a:noFill/>
          </a:ln>
        </p:spPr>
      </p:pic>
      <p:grpSp>
        <p:nvGrpSpPr>
          <p:cNvPr id="528" name="Google Shape;528;p49"/>
          <p:cNvGrpSpPr/>
          <p:nvPr/>
        </p:nvGrpSpPr>
        <p:grpSpPr>
          <a:xfrm>
            <a:off x="1401723" y="2909269"/>
            <a:ext cx="6290455" cy="732213"/>
            <a:chOff x="1013333" y="3795825"/>
            <a:chExt cx="8388391" cy="976283"/>
          </a:xfrm>
        </p:grpSpPr>
        <p:pic>
          <p:nvPicPr>
            <p:cNvPr descr="https://lh5.googleusercontent.com/wP2h_lc6--vyMzu5qXgRG-Bbe6w1LN7Ph5RgxIP2Ngd_pFZFcUDkC-cp09ZNvc-Xm3iTwoQ8go_elSTWCw68Lrn_HKTBlb9E-8CWQqnHg6t8L9JidsYDttMUJ7XHVUWj9hjtPLtPZtU" id="529" name="Google Shape;529;p49"/>
            <p:cNvPicPr preferRelativeResize="0"/>
            <p:nvPr/>
          </p:nvPicPr>
          <p:blipFill rotWithShape="1">
            <a:blip r:embed="rId9">
              <a:alphaModFix/>
            </a:blip>
            <a:srcRect b="0" l="5141" r="0" t="3428"/>
            <a:stretch/>
          </p:blipFill>
          <p:spPr>
            <a:xfrm>
              <a:off x="4796200" y="3836108"/>
              <a:ext cx="921960" cy="936000"/>
            </a:xfrm>
            <a:prstGeom prst="rect">
              <a:avLst/>
            </a:prstGeom>
            <a:noFill/>
            <a:ln>
              <a:noFill/>
            </a:ln>
          </p:spPr>
        </p:pic>
        <p:pic>
          <p:nvPicPr>
            <p:cNvPr descr="UTFSM-01" id="530" name="Google Shape;530;p49"/>
            <p:cNvPicPr preferRelativeResize="0"/>
            <p:nvPr/>
          </p:nvPicPr>
          <p:blipFill>
            <a:blip r:embed="rId4">
              <a:alphaModFix/>
            </a:blip>
            <a:stretch>
              <a:fillRect/>
            </a:stretch>
          </p:blipFill>
          <p:spPr>
            <a:xfrm>
              <a:off x="1013333" y="3836100"/>
              <a:ext cx="1806480" cy="936000"/>
            </a:xfrm>
            <a:prstGeom prst="rect">
              <a:avLst/>
            </a:prstGeom>
            <a:noFill/>
            <a:ln>
              <a:noFill/>
            </a:ln>
          </p:spPr>
        </p:pic>
        <p:pic>
          <p:nvPicPr>
            <p:cNvPr id="531" name="Google Shape;531;p49"/>
            <p:cNvPicPr preferRelativeResize="0"/>
            <p:nvPr/>
          </p:nvPicPr>
          <p:blipFill>
            <a:blip r:embed="rId10">
              <a:alphaModFix/>
            </a:blip>
            <a:stretch>
              <a:fillRect/>
            </a:stretch>
          </p:blipFill>
          <p:spPr>
            <a:xfrm>
              <a:off x="3228251" y="3795833"/>
              <a:ext cx="1159522" cy="936000"/>
            </a:xfrm>
            <a:prstGeom prst="rect">
              <a:avLst/>
            </a:prstGeom>
            <a:noFill/>
            <a:ln>
              <a:noFill/>
            </a:ln>
          </p:spPr>
        </p:pic>
        <p:pic>
          <p:nvPicPr>
            <p:cNvPr id="532" name="Google Shape;532;p49"/>
            <p:cNvPicPr preferRelativeResize="0"/>
            <p:nvPr/>
          </p:nvPicPr>
          <p:blipFill>
            <a:blip r:embed="rId5">
              <a:alphaModFix/>
            </a:blip>
            <a:stretch>
              <a:fillRect/>
            </a:stretch>
          </p:blipFill>
          <p:spPr>
            <a:xfrm>
              <a:off x="6126574" y="3836096"/>
              <a:ext cx="1111725" cy="935999"/>
            </a:xfrm>
            <a:prstGeom prst="rect">
              <a:avLst/>
            </a:prstGeom>
            <a:noFill/>
            <a:ln>
              <a:noFill/>
            </a:ln>
          </p:spPr>
        </p:pic>
        <p:pic>
          <p:nvPicPr>
            <p:cNvPr id="533" name="Google Shape;533;p49"/>
            <p:cNvPicPr preferRelativeResize="0"/>
            <p:nvPr/>
          </p:nvPicPr>
          <p:blipFill rotWithShape="1">
            <a:blip r:embed="rId11">
              <a:alphaModFix/>
            </a:blip>
            <a:srcRect b="18725" l="7227" r="0" t="17082"/>
            <a:stretch/>
          </p:blipFill>
          <p:spPr>
            <a:xfrm>
              <a:off x="7646725" y="3795825"/>
              <a:ext cx="1754999" cy="936000"/>
            </a:xfrm>
            <a:prstGeom prst="rect">
              <a:avLst/>
            </a:prstGeom>
            <a:noFill/>
            <a:ln>
              <a:noFill/>
            </a:ln>
          </p:spPr>
        </p:pic>
      </p:grpSp>
      <p:pic>
        <p:nvPicPr>
          <p:cNvPr id="534" name="Google Shape;534;p49"/>
          <p:cNvPicPr preferRelativeResize="0"/>
          <p:nvPr/>
        </p:nvPicPr>
        <p:blipFill rotWithShape="1">
          <a:blip r:embed="rId12">
            <a:alphaModFix/>
          </a:blip>
          <a:srcRect b="309" l="25827" r="0" t="0"/>
          <a:stretch/>
        </p:blipFill>
        <p:spPr>
          <a:xfrm rot="-5400000">
            <a:off x="2027107" y="-2027109"/>
            <a:ext cx="5223134" cy="9277347"/>
          </a:xfrm>
          <a:prstGeom prst="rect">
            <a:avLst/>
          </a:prstGeom>
          <a:noFill/>
          <a:ln>
            <a:noFill/>
          </a:ln>
        </p:spPr>
      </p:pic>
      <p:sp>
        <p:nvSpPr>
          <p:cNvPr id="535" name="Google Shape;535;p49"/>
          <p:cNvSpPr/>
          <p:nvPr/>
        </p:nvSpPr>
        <p:spPr>
          <a:xfrm>
            <a:off x="0" y="-4538"/>
            <a:ext cx="9277500" cy="5211600"/>
          </a:xfrm>
          <a:prstGeom prst="rect">
            <a:avLst/>
          </a:prstGeom>
          <a:solidFill>
            <a:srgbClr val="002060">
              <a:alpha val="4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Poppins"/>
              <a:ea typeface="Poppins"/>
              <a:cs typeface="Poppins"/>
              <a:sym typeface="Poppins"/>
            </a:endParaRPr>
          </a:p>
        </p:txBody>
      </p:sp>
      <p:sp>
        <p:nvSpPr>
          <p:cNvPr id="536" name="Google Shape;536;p49"/>
          <p:cNvSpPr txBox="1"/>
          <p:nvPr/>
        </p:nvSpPr>
        <p:spPr>
          <a:xfrm>
            <a:off x="1238541" y="1228118"/>
            <a:ext cx="6647700" cy="979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i="1" lang="es" sz="1000">
                <a:solidFill>
                  <a:srgbClr val="FFFFFF"/>
                </a:solidFill>
                <a:latin typeface="Poppins"/>
                <a:ea typeface="Poppins"/>
                <a:cs typeface="Poppins"/>
                <a:sym typeface="Poppins"/>
              </a:rPr>
              <a:t>Clubes de Ciencia y Tecnología - Arte Tecnológico</a:t>
            </a:r>
            <a:endParaRPr b="1" i="1" sz="10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000"/>
              <a:buFont typeface="Arial"/>
              <a:buNone/>
            </a:pPr>
            <a:r>
              <a:rPr b="1" i="0" lang="es" sz="1000" u="none" cap="none" strike="noStrike">
                <a:solidFill>
                  <a:srgbClr val="FFFFFF"/>
                </a:solidFill>
                <a:latin typeface="Poppins"/>
                <a:ea typeface="Poppins"/>
                <a:cs typeface="Poppins"/>
                <a:sym typeface="Poppins"/>
              </a:rPr>
              <a:t>Versión </a:t>
            </a:r>
            <a:r>
              <a:rPr b="1" lang="es" sz="1000">
                <a:solidFill>
                  <a:srgbClr val="FFFFFF"/>
                </a:solidFill>
                <a:latin typeface="Poppins"/>
                <a:ea typeface="Poppins"/>
                <a:cs typeface="Poppins"/>
                <a:sym typeface="Poppins"/>
              </a:rPr>
              <a:t>2</a:t>
            </a:r>
            <a:r>
              <a:rPr b="1" i="0" lang="es" sz="1000" u="none" cap="none" strike="noStrike">
                <a:solidFill>
                  <a:srgbClr val="FFFFFF"/>
                </a:solidFill>
                <a:latin typeface="Poppins"/>
                <a:ea typeface="Poppins"/>
                <a:cs typeface="Poppins"/>
                <a:sym typeface="Poppins"/>
              </a:rPr>
              <a:t>, 202</a:t>
            </a:r>
            <a:r>
              <a:rPr b="1" lang="es" sz="1000">
                <a:solidFill>
                  <a:srgbClr val="FFFFFF"/>
                </a:solidFill>
                <a:latin typeface="Poppins"/>
                <a:ea typeface="Poppins"/>
                <a:cs typeface="Poppins"/>
                <a:sym typeface="Poppins"/>
              </a:rPr>
              <a:t>5</a:t>
            </a:r>
            <a:endParaRPr b="1" i="0" sz="10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000"/>
              <a:buFont typeface="Arial"/>
              <a:buNone/>
            </a:pPr>
            <a:r>
              <a:rPr b="0" i="0" lang="es" sz="1000" u="none" cap="none" strike="noStrike">
                <a:solidFill>
                  <a:srgbClr val="FFFFFF"/>
                </a:solidFill>
                <a:latin typeface="Poppins"/>
                <a:ea typeface="Poppins"/>
                <a:cs typeface="Poppins"/>
                <a:sym typeface="Poppins"/>
              </a:rPr>
              <a:t>Estos materiales han sido elaborados de manera colaborativa entre los equipos de las Universidades Socias del Programa de Robótica Educativa de la Fundación Gabriel &amp; Mary Mustakis.</a:t>
            </a:r>
            <a:endParaRPr b="0" i="0" sz="1000" u="none" cap="none" strike="noStrike">
              <a:solidFill>
                <a:srgbClr val="FFFFFF"/>
              </a:solidFill>
              <a:latin typeface="Poppins"/>
              <a:ea typeface="Poppins"/>
              <a:cs typeface="Poppins"/>
              <a:sym typeface="Poppins"/>
            </a:endParaRPr>
          </a:p>
        </p:txBody>
      </p:sp>
      <p:pic>
        <p:nvPicPr>
          <p:cNvPr id="537" name="Google Shape;537;p49"/>
          <p:cNvPicPr preferRelativeResize="0"/>
          <p:nvPr/>
        </p:nvPicPr>
        <p:blipFill rotWithShape="1">
          <a:blip r:embed="rId13">
            <a:alphaModFix/>
          </a:blip>
          <a:srcRect b="0" l="0" r="0" t="0"/>
          <a:stretch/>
        </p:blipFill>
        <p:spPr>
          <a:xfrm>
            <a:off x="3231328" y="257197"/>
            <a:ext cx="2662178" cy="820166"/>
          </a:xfrm>
          <a:prstGeom prst="rect">
            <a:avLst/>
          </a:prstGeom>
          <a:noFill/>
          <a:ln>
            <a:noFill/>
          </a:ln>
        </p:spPr>
      </p:pic>
      <p:sp>
        <p:nvSpPr>
          <p:cNvPr id="538" name="Google Shape;538;p49"/>
          <p:cNvSpPr txBox="1"/>
          <p:nvPr/>
        </p:nvSpPr>
        <p:spPr>
          <a:xfrm>
            <a:off x="2766215" y="4662465"/>
            <a:ext cx="35925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FFFFFF"/>
                </a:solidFill>
                <a:latin typeface="Poppins"/>
                <a:ea typeface="Poppins"/>
                <a:cs typeface="Poppins"/>
                <a:sym typeface="Poppins"/>
              </a:rPr>
              <a:t>Publicado Bajo Licencia Creative Commons</a:t>
            </a:r>
            <a:endParaRPr b="1" i="0" sz="9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900"/>
              <a:buFont typeface="Arial"/>
              <a:buNone/>
            </a:pPr>
            <a:r>
              <a:rPr b="0" i="0" lang="es" sz="900" u="none" cap="none" strike="noStrike">
                <a:solidFill>
                  <a:srgbClr val="FFFFFF"/>
                </a:solidFill>
                <a:latin typeface="Poppins"/>
                <a:ea typeface="Poppins"/>
                <a:cs typeface="Poppins"/>
                <a:sym typeface="Poppins"/>
              </a:rPr>
              <a:t>Atribución-NoComercial-CompartirIgual (CC BY-NC-SA)</a:t>
            </a:r>
            <a:endParaRPr b="0" i="0" sz="900" u="none" cap="none" strike="noStrike">
              <a:solidFill>
                <a:srgbClr val="FFFFFF"/>
              </a:solidFill>
              <a:latin typeface="Poppins"/>
              <a:ea typeface="Poppins"/>
              <a:cs typeface="Poppins"/>
              <a:sym typeface="Poppins"/>
            </a:endParaRPr>
          </a:p>
        </p:txBody>
      </p:sp>
      <p:pic>
        <p:nvPicPr>
          <p:cNvPr id="539" name="Google Shape;539;p49"/>
          <p:cNvPicPr preferRelativeResize="0"/>
          <p:nvPr/>
        </p:nvPicPr>
        <p:blipFill rotWithShape="1">
          <a:blip r:embed="rId14">
            <a:alphaModFix/>
          </a:blip>
          <a:srcRect b="0" l="0" r="0" t="0"/>
          <a:stretch/>
        </p:blipFill>
        <p:spPr>
          <a:xfrm>
            <a:off x="1443526" y="2207618"/>
            <a:ext cx="6237780" cy="1381142"/>
          </a:xfrm>
          <a:prstGeom prst="rect">
            <a:avLst/>
          </a:prstGeom>
          <a:noFill/>
          <a:ln>
            <a:noFill/>
          </a:ln>
        </p:spPr>
      </p:pic>
      <p:pic>
        <p:nvPicPr>
          <p:cNvPr id="540" name="Google Shape;540;p49"/>
          <p:cNvPicPr preferRelativeResize="0"/>
          <p:nvPr/>
        </p:nvPicPr>
        <p:blipFill rotWithShape="1">
          <a:blip r:embed="rId15">
            <a:alphaModFix/>
          </a:blip>
          <a:srcRect b="0" l="0" r="0" t="0"/>
          <a:stretch/>
        </p:blipFill>
        <p:spPr>
          <a:xfrm>
            <a:off x="4003616" y="3846309"/>
            <a:ext cx="1117600" cy="800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